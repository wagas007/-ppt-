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1445" r:id="rId3"/>
    <p:sldId id="2081" r:id="rId4"/>
    <p:sldId id="2082" r:id="rId5"/>
    <p:sldId id="2086" r:id="rId6"/>
    <p:sldId id="2087" r:id="rId7"/>
    <p:sldId id="1453" r:id="rId8"/>
    <p:sldId id="345" r:id="rId9"/>
    <p:sldId id="344" r:id="rId10"/>
    <p:sldId id="346" r:id="rId11"/>
    <p:sldId id="2085" r:id="rId12"/>
    <p:sldId id="2080" r:id="rId13"/>
  </p:sldIdLst>
  <p:sldSz cx="9144000" cy="6858000" type="screen4x3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33"/>
    <a:srgbClr val="FF66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AF606853-7671-496A-8E4F-DF71F8EC918B}" styleName="深色樣式 1 - 輔色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94" autoAdjust="0"/>
    <p:restoredTop sz="94664" autoAdjust="0"/>
  </p:normalViewPr>
  <p:slideViewPr>
    <p:cSldViewPr>
      <p:cViewPr varScale="1">
        <p:scale>
          <a:sx n="100" d="100"/>
          <a:sy n="100" d="100"/>
        </p:scale>
        <p:origin x="102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8591EA-FF98-4F5B-9F6A-5385586DB50E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A6C66-092F-482D-9766-FC02784EA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497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2DC37-56BB-523F-FE76-561D328D8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40CEC48-99D0-7EA4-C1B8-7FF9867FF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4297DC1-0136-C7E8-220F-5C8A0B011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A27220-A917-FE33-7B22-BCF9E1848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C1026A-3CDA-4A5E-881D-993E44C8B60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1789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7AE-FF8D-73B1-7FEE-F43540F7E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E1E6AFC-7830-880E-A6DC-138C292B7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B09D222-3080-4DB9-B8CA-69D5866A0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EA1DC1-BE22-1EC9-C3C3-4AD5A090BB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C1026A-3CDA-4A5E-881D-993E44C8B60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2485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ACB6B-C6D1-AF31-F30E-6E876573E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D3644CC-196C-DC1F-F9ED-D1C72C313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8FFBA40-8DA2-4B1D-1721-51627AC92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10E0D94-98C8-D143-5704-E73E9A584C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C1026A-3CDA-4A5E-881D-993E44C8B60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459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CFBF4-6938-83D2-80EF-33529CBB4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F82DDC91-A920-271B-14EE-4D27D7B64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3BAA901-475B-EC42-E4C1-900CE8789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461D53-9943-DF87-8623-1D846FA913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C1026A-3CDA-4A5E-881D-993E44C8B60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7051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E856B-B475-6FB1-7777-DF25EEDA1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6CFE297B-6A58-BDFA-6D0F-8CC3E87EE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9A6A659-046B-4730-E197-D75C45FFD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9E40A7-B82D-76F7-8650-A118F2C9D7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C1026A-3CDA-4A5E-881D-993E44C8B60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2473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FDB9B-A62E-C368-3A06-990873EA3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D285D87-8671-DEE5-0ED8-DCB492062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EE1BB49-309A-FC83-EF77-57D2A2200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B8E71A-3F82-E9BF-6362-6AE2F9B3D3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C1026A-3CDA-4A5E-881D-993E44C8B60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0334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30C99-8DA5-6D30-4302-4143480D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D0B561A-A9FF-8B87-5C8F-46EFEB8DA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04528ED-5490-38D0-E889-101AD837B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9805CB-E17B-E10D-C541-706116CB83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C1026A-3CDA-4A5E-881D-993E44C8B60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9368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95A03-C6A2-B85D-7F23-224A6FE42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72742CD1-068A-7A33-445E-3DEA592A6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937D310-5B77-D2D9-6025-E41824AA3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47B17-8C72-368D-A6F6-78D2D3EBDA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C1026A-3CDA-4A5E-881D-993E44C8B60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2328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EDE2A-AB5E-72D0-8DDF-5DF4E04A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BE67F932-C1F6-A1DF-9469-ACFB433C0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D650E01-F59E-CEBB-C0C7-A3004F425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D8E567-E8E8-5B7E-1999-C282E59904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C1026A-3CDA-4A5E-881D-993E44C8B60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5637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5419B-EEE3-D0B8-A263-D033E7974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70B7568-4BA8-E314-6E5F-B3CDC606A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F46CD8-2C5B-2F10-E41E-A033F33FA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8164B2-56B9-B455-0384-C59C4F7439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C1026A-3CDA-4A5E-881D-993E44C8B60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2038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192.168.88.9\wagas_nas\03.行銷企劃部\13.收發用\Joan\簡報\封面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588"/>
            <a:ext cx="9147176" cy="686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932040" y="1412782"/>
            <a:ext cx="3670176" cy="1470025"/>
          </a:xfrm>
        </p:spPr>
        <p:txBody>
          <a:bodyPr>
            <a:normAutofit/>
          </a:bodyPr>
          <a:lstStyle>
            <a:lvl1pPr>
              <a:defRPr sz="3600"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652120" y="3068960"/>
            <a:ext cx="2952328" cy="936104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3E6C-4EA5-4B04-8FD2-4C1598DB14FC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7598-DEDA-4D52-90EB-5C6AC81AA3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36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3E6C-4EA5-4B04-8FD2-4C1598DB14FC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7598-DEDA-4D52-90EB-5C6AC81AA3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0954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\\192.168.88.9\wagas_nas\03.行銷企劃部\13.收發用\Joan\簡報\標頁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7" y="-1588"/>
            <a:ext cx="9147176" cy="686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20075" y="3140972"/>
            <a:ext cx="3202633" cy="1362075"/>
          </a:xfrm>
        </p:spPr>
        <p:txBody>
          <a:bodyPr anchor="t">
            <a:normAutofit/>
          </a:bodyPr>
          <a:lstStyle>
            <a:lvl1pPr algn="l">
              <a:defRPr sz="1800" b="0" cap="all"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427985" y="1124746"/>
            <a:ext cx="4464496" cy="1500187"/>
          </a:xfrm>
        </p:spPr>
        <p:txBody>
          <a:bodyPr anchor="b">
            <a:normAutofit/>
          </a:bodyPr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3E6C-4EA5-4B04-8FD2-4C1598DB14FC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7598-DEDA-4D52-90EB-5C6AC81AA3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1023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3E6C-4EA5-4B04-8FD2-4C1598DB14FC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7598-DEDA-4D52-90EB-5C6AC81AA3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046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3E6C-4EA5-4B04-8FD2-4C1598DB14FC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7598-DEDA-4D52-90EB-5C6AC81AA3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1511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\\192.168.88.9\wagas_nas\03.行銷企劃部\13.收發用\Joan\簡報\封底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-1588"/>
            <a:ext cx="9147176" cy="686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1628800"/>
            <a:ext cx="5616624" cy="1143000"/>
          </a:xfrm>
        </p:spPr>
        <p:txBody>
          <a:bodyPr>
            <a:normAutofit/>
          </a:bodyPr>
          <a:lstStyle>
            <a:lvl1pPr algn="l">
              <a:defRPr sz="3600"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3E6C-4EA5-4B04-8FD2-4C1598DB14FC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7598-DEDA-4D52-90EB-5C6AC81AA3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3240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3E6C-4EA5-4B04-8FD2-4C1598DB14FC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7598-DEDA-4D52-90EB-5C6AC81AA3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8513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3E6C-4EA5-4B04-8FD2-4C1598DB14FC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7598-DEDA-4D52-90EB-5C6AC81AA3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6974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3E6C-4EA5-4B04-8FD2-4C1598DB14FC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7598-DEDA-4D52-90EB-5C6AC81AA3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187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3E6C-4EA5-4B04-8FD2-4C1598DB14FC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7598-DEDA-4D52-90EB-5C6AC81AA3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2394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3E6C-4EA5-4B04-8FD2-4C1598DB14FC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27598-DEDA-4D52-90EB-5C6AC81AA3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986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fld id="{75A83E6C-4EA5-4B04-8FD2-4C1598DB14FC}" type="datetimeFigureOut">
              <a:rPr lang="zh-TW" altLang="en-US" smtClean="0"/>
              <a:pPr/>
              <a:t>2026/3/6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fld id="{1B527598-DEDA-4D52-90EB-5C6AC81AA394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2" descr="C:\Users\WA077\Desktop\ai素材\logo\logo RGB-長-英(白底)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8" y="260350"/>
            <a:ext cx="2174875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13"/>
          <p:cNvCxnSpPr/>
          <p:nvPr/>
        </p:nvCxnSpPr>
        <p:spPr>
          <a:xfrm flipV="1">
            <a:off x="179390" y="1027113"/>
            <a:ext cx="8783637" cy="25400"/>
          </a:xfrm>
          <a:prstGeom prst="line">
            <a:avLst/>
          </a:prstGeom>
          <a:ln w="12700" cmpd="sng">
            <a:solidFill>
              <a:srgbClr val="C7C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6569077" y="6262694"/>
            <a:ext cx="2395538" cy="434975"/>
          </a:xfrm>
          <a:prstGeom prst="rect">
            <a:avLst/>
          </a:prstGeom>
          <a:ln>
            <a:noFill/>
          </a:ln>
        </p:spPr>
        <p:txBody>
          <a:bodyPr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defRPr/>
            </a:pPr>
            <a:endParaRPr lang="en-GB" altLang="zh-TW" sz="1000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  <a:cs typeface="Heiti TC Light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3355975" y="6262694"/>
            <a:ext cx="2395538" cy="434975"/>
          </a:xfrm>
          <a:prstGeom prst="rect">
            <a:avLst/>
          </a:prstGeom>
          <a:ln>
            <a:noFill/>
          </a:ln>
        </p:spPr>
        <p:txBody>
          <a:bodyPr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GB" sz="10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cxnSp>
        <p:nvCxnSpPr>
          <p:cNvPr id="11" name="Straight Connector 8"/>
          <p:cNvCxnSpPr/>
          <p:nvPr/>
        </p:nvCxnSpPr>
        <p:spPr>
          <a:xfrm flipV="1">
            <a:off x="179390" y="6165850"/>
            <a:ext cx="8783637" cy="25400"/>
          </a:xfrm>
          <a:prstGeom prst="line">
            <a:avLst/>
          </a:prstGeom>
          <a:ln w="12700" cmpd="sng">
            <a:solidFill>
              <a:srgbClr val="C7C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" descr="MG Tagline.pn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90" y="6240463"/>
            <a:ext cx="2592387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628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ctrTitle"/>
          </p:nvPr>
        </p:nvSpPr>
        <p:spPr>
          <a:xfrm>
            <a:off x="4572000" y="1556792"/>
            <a:ext cx="4608512" cy="1470025"/>
          </a:xfrm>
        </p:spPr>
        <p:txBody>
          <a:bodyPr>
            <a:normAutofit/>
          </a:bodyPr>
          <a:lstStyle/>
          <a:p>
            <a:r>
              <a:rPr lang="en-US" altLang="zh-TW" dirty="0"/>
              <a:t>2026</a:t>
            </a:r>
            <a:r>
              <a:rPr lang="zh-TW" altLang="en-US" dirty="0"/>
              <a:t>合作架構對焦會</a:t>
            </a:r>
          </a:p>
        </p:txBody>
      </p:sp>
    </p:spTree>
    <p:extLst>
      <p:ext uri="{BB962C8B-B14F-4D97-AF65-F5344CB8AC3E}">
        <p14:creationId xmlns:p14="http://schemas.microsoft.com/office/powerpoint/2010/main" val="3475855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142DA-F0CF-9D43-654C-5D12517AF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投影片編號版面配置區 1">
            <a:extLst>
              <a:ext uri="{FF2B5EF4-FFF2-40B4-BE49-F238E27FC236}">
                <a16:creationId xmlns:a16="http://schemas.microsoft.com/office/drawing/2014/main" id="{E72A6DEB-0B84-C3CA-2289-6BB5A798D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65623" y="6562264"/>
            <a:ext cx="2057400" cy="273844"/>
          </a:xfrm>
        </p:spPr>
        <p:txBody>
          <a:bodyPr/>
          <a:lstStyle/>
          <a:p>
            <a:fld id="{2E95FD34-61D0-4C5A-B773-4E2676150C65}" type="slidenum">
              <a:rPr lang="zh-TW" altLang="en-US" smtClean="0"/>
              <a:t>2</a:t>
            </a:fld>
            <a:endParaRPr lang="zh-TW" altLang="en-US" dirty="0"/>
          </a:p>
        </p:txBody>
      </p:sp>
      <p:sp>
        <p:nvSpPr>
          <p:cNvPr id="44" name="文字方塊 4">
            <a:extLst>
              <a:ext uri="{FF2B5EF4-FFF2-40B4-BE49-F238E27FC236}">
                <a16:creationId xmlns:a16="http://schemas.microsoft.com/office/drawing/2014/main" id="{4BCD35D7-A273-26F9-62DA-4DB1E64A1702}"/>
              </a:ext>
            </a:extLst>
          </p:cNvPr>
          <p:cNvSpPr txBox="1"/>
          <p:nvPr/>
        </p:nvSpPr>
        <p:spPr>
          <a:xfrm>
            <a:off x="194411" y="460275"/>
            <a:ext cx="5979774" cy="48474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altLang="zh-TW" sz="2700" b="1" dirty="0">
                <a:latin typeface="微軟正黑體" pitchFamily="34" charset="-120"/>
                <a:ea typeface="微軟正黑體" pitchFamily="34" charset="-120"/>
              </a:rPr>
              <a:t>2026</a:t>
            </a:r>
            <a:r>
              <a:rPr lang="zh-TW" altLang="en-US" sz="2700" b="1" dirty="0">
                <a:latin typeface="微軟正黑體" pitchFamily="34" charset="-120"/>
                <a:ea typeface="微軟正黑體" pitchFamily="34" charset="-120"/>
              </a:rPr>
              <a:t>旺來推進策略</a:t>
            </a: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4312E56C-03A7-7FF7-45FF-631AACB2D410}"/>
              </a:ext>
            </a:extLst>
          </p:cNvPr>
          <p:cNvSpPr txBox="1"/>
          <p:nvPr/>
        </p:nvSpPr>
        <p:spPr>
          <a:xfrm>
            <a:off x="497241" y="3106019"/>
            <a:ext cx="1907527" cy="16110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b="1" u="sng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零售通路結盟策略</a:t>
            </a:r>
            <a:br>
              <a:rPr lang="zh-TW" altLang="en-US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上架會員招募</a:t>
            </a:r>
            <a:endParaRPr lang="en-US" altLang="zh-TW" dirty="0">
              <a:solidFill>
                <a:srgbClr val="48484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平台行銷導流</a:t>
            </a:r>
            <a:endParaRPr lang="en-US" altLang="zh-TW" dirty="0">
              <a:solidFill>
                <a:srgbClr val="48484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場地智取合作</a:t>
            </a:r>
            <a:endParaRPr dirty="0">
              <a:solidFill>
                <a:srgbClr val="48484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C0D617BF-93C8-FADC-5D07-E8ECC54A0B5C}"/>
              </a:ext>
            </a:extLst>
          </p:cNvPr>
          <p:cNvSpPr txBox="1"/>
          <p:nvPr/>
        </p:nvSpPr>
        <p:spPr>
          <a:xfrm>
            <a:off x="6647341" y="3106019"/>
            <a:ext cx="1964574" cy="1195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b="1" u="sng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瓦斯同業加盟策略</a:t>
            </a:r>
            <a:br>
              <a:rPr lang="zh-TW" altLang="en-US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供應商合作</a:t>
            </a:r>
            <a:endParaRPr lang="en-US" altLang="zh-TW" dirty="0">
              <a:solidFill>
                <a:srgbClr val="48484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夥伴轉加盟</a:t>
            </a:r>
            <a:endParaRPr dirty="0">
              <a:solidFill>
                <a:srgbClr val="48484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A09B31D6-D4CE-9BEB-12AF-936923F7BB16}"/>
              </a:ext>
            </a:extLst>
          </p:cNvPr>
          <p:cNvGrpSpPr/>
          <p:nvPr/>
        </p:nvGrpSpPr>
        <p:grpSpPr>
          <a:xfrm>
            <a:off x="2489553" y="2060848"/>
            <a:ext cx="3956126" cy="4104456"/>
            <a:chOff x="3635733" y="705822"/>
            <a:chExt cx="4920533" cy="5114608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32D09123-EC23-0126-E858-491A53EC74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667" r="18484"/>
            <a:stretch>
              <a:fillRect/>
            </a:stretch>
          </p:blipFill>
          <p:spPr bwMode="auto">
            <a:xfrm>
              <a:off x="3635733" y="705822"/>
              <a:ext cx="4920533" cy="5114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圖片 72">
              <a:extLst>
                <a:ext uri="{FF2B5EF4-FFF2-40B4-BE49-F238E27FC236}">
                  <a16:creationId xmlns:a16="http://schemas.microsoft.com/office/drawing/2014/main" id="{3EBEC1A7-99F9-06D8-4705-13A3F23FA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6214" y="3012015"/>
              <a:ext cx="855899" cy="855899"/>
            </a:xfrm>
            <a:prstGeom prst="rect">
              <a:avLst/>
            </a:prstGeom>
          </p:spPr>
        </p:pic>
        <p:pic>
          <p:nvPicPr>
            <p:cNvPr id="74" name="圖片 73">
              <a:extLst>
                <a:ext uri="{FF2B5EF4-FFF2-40B4-BE49-F238E27FC236}">
                  <a16:creationId xmlns:a16="http://schemas.microsoft.com/office/drawing/2014/main" id="{F64DC306-1AE1-77F9-092C-278C19E31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6517" y="3012015"/>
              <a:ext cx="826532" cy="826532"/>
            </a:xfrm>
            <a:prstGeom prst="rect">
              <a:avLst/>
            </a:prstGeom>
          </p:spPr>
        </p:pic>
      </p:grpSp>
      <p:sp>
        <p:nvSpPr>
          <p:cNvPr id="3" name="TextBox 10">
            <a:extLst>
              <a:ext uri="{FF2B5EF4-FFF2-40B4-BE49-F238E27FC236}">
                <a16:creationId xmlns:a16="http://schemas.microsoft.com/office/drawing/2014/main" id="{49F76AC1-4501-DCF2-D9DE-950E5AEDB005}"/>
              </a:ext>
            </a:extLst>
          </p:cNvPr>
          <p:cNvSpPr txBox="1"/>
          <p:nvPr/>
        </p:nvSpPr>
        <p:spPr>
          <a:xfrm>
            <a:off x="3203848" y="1312871"/>
            <a:ext cx="2593333" cy="1195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b="1" u="sng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智能自取系統策略  </a:t>
            </a:r>
            <a:endParaRPr lang="en-US" altLang="zh-TW" b="1" u="sng" dirty="0">
              <a:solidFill>
                <a:srgbClr val="48484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 OMO </a:t>
            </a:r>
            <a:r>
              <a:rPr lang="zh-TW" altLang="en-US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供應平台的載體</a:t>
            </a:r>
            <a:endParaRPr lang="en-US" altLang="zh-TW" dirty="0">
              <a:solidFill>
                <a:srgbClr val="48484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快速複製與擴張的關鍵</a:t>
            </a:r>
            <a:endParaRPr dirty="0">
              <a:solidFill>
                <a:srgbClr val="48484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FBAFB47-96B2-9094-726C-90AFB1EC40B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619" t="38515" r="6219"/>
          <a:stretch>
            <a:fillRect/>
          </a:stretch>
        </p:blipFill>
        <p:spPr>
          <a:xfrm>
            <a:off x="3956343" y="3971352"/>
            <a:ext cx="1055637" cy="60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8000">
        <p:fade/>
      </p:transition>
    </mc:Choice>
    <mc:Fallback xmlns="">
      <p:transition spd="med" advClick="0" advTm="8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2217D-27AF-28A3-6D0D-A6572568A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投影片編號版面配置區 1">
            <a:extLst>
              <a:ext uri="{FF2B5EF4-FFF2-40B4-BE49-F238E27FC236}">
                <a16:creationId xmlns:a16="http://schemas.microsoft.com/office/drawing/2014/main" id="{26637705-9AB2-2B06-F07C-5ABB1142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4020" y="6584156"/>
            <a:ext cx="2057400" cy="273844"/>
          </a:xfrm>
        </p:spPr>
        <p:txBody>
          <a:bodyPr/>
          <a:lstStyle/>
          <a:p>
            <a:fld id="{2E95FD34-61D0-4C5A-B773-4E2676150C65}" type="slidenum">
              <a:rPr lang="zh-TW" altLang="en-US" smtClean="0"/>
              <a:t>3</a:t>
            </a:fld>
            <a:endParaRPr lang="zh-TW" altLang="en-US" dirty="0"/>
          </a:p>
        </p:txBody>
      </p:sp>
      <p:sp>
        <p:nvSpPr>
          <p:cNvPr id="44" name="文字方塊 4">
            <a:extLst>
              <a:ext uri="{FF2B5EF4-FFF2-40B4-BE49-F238E27FC236}">
                <a16:creationId xmlns:a16="http://schemas.microsoft.com/office/drawing/2014/main" id="{2612CE0F-5DF2-1859-0559-440E8936B298}"/>
              </a:ext>
            </a:extLst>
          </p:cNvPr>
          <p:cNvSpPr txBox="1"/>
          <p:nvPr/>
        </p:nvSpPr>
        <p:spPr>
          <a:xfrm>
            <a:off x="179512" y="404664"/>
            <a:ext cx="5979774" cy="48474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altLang="zh-TW" sz="2700" b="1" dirty="0">
                <a:latin typeface="微軟正黑體" pitchFamily="34" charset="-120"/>
                <a:ea typeface="微軟正黑體" pitchFamily="34" charset="-120"/>
              </a:rPr>
              <a:t>2026</a:t>
            </a:r>
            <a:r>
              <a:rPr lang="zh-TW" altLang="en-US" sz="2700" b="1" dirty="0">
                <a:latin typeface="微軟正黑體" pitchFamily="34" charset="-120"/>
                <a:ea typeface="微軟正黑體" pitchFamily="34" charset="-120"/>
              </a:rPr>
              <a:t>桃園都規劃邏輯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41D16AB-64CC-D758-0BD8-1797EB3DEE85}"/>
              </a:ext>
            </a:extLst>
          </p:cNvPr>
          <p:cNvSpPr txBox="1"/>
          <p:nvPr/>
        </p:nvSpPr>
        <p:spPr>
          <a:xfrm>
            <a:off x="436234" y="3616145"/>
            <a:ext cx="3032918" cy="2118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市場規模簡述</a:t>
            </a: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人口：約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230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桶裝瓦斯戶：約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34.5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萬戶</a:t>
            </a: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瓦斯行數：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家</a:t>
            </a: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分裝場：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14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處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AE67D1F-9978-D9FE-1204-3344D2670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497" y="1412776"/>
            <a:ext cx="4393116" cy="4606214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4BB1A85-5C44-A1A1-3BBA-C2F458A06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2" y="2962881"/>
            <a:ext cx="425795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➡ </a:t>
            </a: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依總分排序，確立</a:t>
            </a:r>
            <a:r>
              <a:rPr kumimoji="0" lang="zh-TW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桃園都</a:t>
            </a: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優先順序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4B44857-98E2-4D1D-BC76-C329892B9D1C}"/>
              </a:ext>
            </a:extLst>
          </p:cNvPr>
          <p:cNvSpPr txBox="1"/>
          <p:nvPr/>
        </p:nvSpPr>
        <p:spPr>
          <a:xfrm>
            <a:off x="179512" y="1391032"/>
            <a:ext cx="4811126" cy="1287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b="1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桃園都規劃邏輯</a:t>
            </a:r>
            <a:r>
              <a:rPr lang="zh-TW" altLang="en-US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：以</a:t>
            </a:r>
            <a:r>
              <a:rPr lang="zh-TW" altLang="en-US" b="1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區域人口數</a:t>
            </a:r>
            <a:r>
              <a:rPr lang="zh-TW" altLang="en-US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b="1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分裝場數</a:t>
            </a:r>
            <a:r>
              <a:rPr lang="zh-TW" altLang="en-US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b="1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桶裝瓦斯戶數</a:t>
            </a:r>
            <a:r>
              <a:rPr lang="zh-TW" altLang="en-US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b="1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瓦斯同業數</a:t>
            </a:r>
            <a:r>
              <a:rPr lang="zh-TW" altLang="en-US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b="1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零售通路店數、捷運站</a:t>
            </a:r>
            <a:r>
              <a:rPr lang="zh-TW" altLang="en-US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等進行分析基礎，挑選佈建處之行政區。</a:t>
            </a:r>
          </a:p>
        </p:txBody>
      </p:sp>
    </p:spTree>
    <p:extLst>
      <p:ext uri="{BB962C8B-B14F-4D97-AF65-F5344CB8AC3E}">
        <p14:creationId xmlns:p14="http://schemas.microsoft.com/office/powerpoint/2010/main" val="367550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8000">
        <p:fade/>
      </p:transition>
    </mc:Choice>
    <mc:Fallback xmlns="">
      <p:transition spd="med" advClick="0" advTm="8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2CCA1-F358-A1A6-3A04-0BA4F470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投影片編號版面配置區 1">
            <a:extLst>
              <a:ext uri="{FF2B5EF4-FFF2-40B4-BE49-F238E27FC236}">
                <a16:creationId xmlns:a16="http://schemas.microsoft.com/office/drawing/2014/main" id="{068B55B6-1A04-1E93-0FC2-4C7F40F45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54086" y="6554051"/>
            <a:ext cx="2057400" cy="273844"/>
          </a:xfrm>
        </p:spPr>
        <p:txBody>
          <a:bodyPr/>
          <a:lstStyle/>
          <a:p>
            <a:fld id="{2E95FD34-61D0-4C5A-B773-4E2676150C65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44" name="文字方塊 4">
            <a:extLst>
              <a:ext uri="{FF2B5EF4-FFF2-40B4-BE49-F238E27FC236}">
                <a16:creationId xmlns:a16="http://schemas.microsoft.com/office/drawing/2014/main" id="{2C46AA01-A3C1-C0B1-42E4-F2EAEB456F4C}"/>
              </a:ext>
            </a:extLst>
          </p:cNvPr>
          <p:cNvSpPr txBox="1"/>
          <p:nvPr/>
        </p:nvSpPr>
        <p:spPr>
          <a:xfrm>
            <a:off x="88978" y="404664"/>
            <a:ext cx="5979774" cy="48474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zh-TW" altLang="en-US" sz="2700" b="1" dirty="0">
                <a:latin typeface="微軟正黑體" pitchFamily="34" charset="-120"/>
                <a:ea typeface="微軟正黑體" pitchFamily="34" charset="-120"/>
              </a:rPr>
              <a:t>桃園都佈建結構</a:t>
            </a: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2A2214F3-90D2-5AC2-4BE4-41C60F46FA4A}"/>
              </a:ext>
            </a:extLst>
          </p:cNvPr>
          <p:cNvGrpSpPr/>
          <p:nvPr/>
        </p:nvGrpSpPr>
        <p:grpSpPr>
          <a:xfrm>
            <a:off x="-324661" y="1844824"/>
            <a:ext cx="9101658" cy="3161026"/>
            <a:chOff x="1156204" y="2110748"/>
            <a:chExt cx="9101658" cy="3161026"/>
          </a:xfrm>
        </p:grpSpPr>
        <p:grpSp>
          <p:nvGrpSpPr>
            <p:cNvPr id="25" name="组合 1">
              <a:extLst>
                <a:ext uri="{FF2B5EF4-FFF2-40B4-BE49-F238E27FC236}">
                  <a16:creationId xmlns:a16="http://schemas.microsoft.com/office/drawing/2014/main" id="{E8906669-2151-CA04-0130-BB8F0B6222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06705" y="2110748"/>
              <a:ext cx="1204073" cy="1175321"/>
              <a:chOff x="9042917" y="1709941"/>
              <a:chExt cx="1533652" cy="1498851"/>
            </a:xfrm>
          </p:grpSpPr>
          <p:sp>
            <p:nvSpPr>
              <p:cNvPr id="29" name="Oval 6">
                <a:extLst>
                  <a:ext uri="{FF2B5EF4-FFF2-40B4-BE49-F238E27FC236}">
                    <a16:creationId xmlns:a16="http://schemas.microsoft.com/office/drawing/2014/main" id="{CE0100A4-8C7A-79AB-1600-9199D946827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9661662" y="2384902"/>
                <a:ext cx="261738" cy="263107"/>
              </a:xfrm>
              <a:prstGeom prst="ellipse">
                <a:avLst/>
              </a:prstGeom>
              <a:solidFill>
                <a:srgbClr val="FF0000"/>
              </a:solidFill>
              <a:ln w="19050" cap="rnd">
                <a:solidFill>
                  <a:srgbClr val="181715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800">
                  <a:solidFill>
                    <a:srgbClr val="FFFFFF"/>
                  </a:solidFill>
                  <a:latin typeface="Bauhaus 93" pitchFamily="82" charset="0"/>
                </a:endParaRPr>
              </a:p>
            </p:txBody>
          </p:sp>
          <p:sp>
            <p:nvSpPr>
              <p:cNvPr id="26" name="Oval 4">
                <a:extLst>
                  <a:ext uri="{FF2B5EF4-FFF2-40B4-BE49-F238E27FC236}">
                    <a16:creationId xmlns:a16="http://schemas.microsoft.com/office/drawing/2014/main" id="{0B0CC662-01BB-28E9-7B14-A91E4A31C7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9042917" y="1709941"/>
                <a:ext cx="1533652" cy="1498851"/>
              </a:xfrm>
              <a:prstGeom prst="ellipse">
                <a:avLst/>
              </a:prstGeom>
              <a:noFill/>
              <a:ln w="19050" cap="rnd">
                <a:solidFill>
                  <a:srgbClr val="181715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800">
                  <a:solidFill>
                    <a:srgbClr val="FFFFFF"/>
                  </a:solidFill>
                  <a:latin typeface="Bauhaus 93" pitchFamily="82" charset="0"/>
                </a:endParaRPr>
              </a:p>
            </p:txBody>
          </p:sp>
          <p:sp>
            <p:nvSpPr>
              <p:cNvPr id="27" name="Oval 5">
                <a:extLst>
                  <a:ext uri="{FF2B5EF4-FFF2-40B4-BE49-F238E27FC236}">
                    <a16:creationId xmlns:a16="http://schemas.microsoft.com/office/drawing/2014/main" id="{31C7AAA5-C82B-1E28-8D56-6CCAF131439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9323981" y="2018132"/>
                <a:ext cx="934467" cy="929502"/>
              </a:xfrm>
              <a:prstGeom prst="ellipse">
                <a:avLst/>
              </a:prstGeom>
              <a:noFill/>
              <a:ln w="19050" cap="rnd">
                <a:solidFill>
                  <a:srgbClr val="181715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800">
                  <a:solidFill>
                    <a:srgbClr val="FFFFFF"/>
                  </a:solidFill>
                  <a:latin typeface="Bauhaus 93" pitchFamily="82" charset="0"/>
                </a:endParaRPr>
              </a:p>
            </p:txBody>
          </p:sp>
          <p:sp>
            <p:nvSpPr>
              <p:cNvPr id="28" name="Oval 6">
                <a:extLst>
                  <a:ext uri="{FF2B5EF4-FFF2-40B4-BE49-F238E27FC236}">
                    <a16:creationId xmlns:a16="http://schemas.microsoft.com/office/drawing/2014/main" id="{1416A3E1-46F0-D289-05E9-1A273094105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9514052" y="2232217"/>
                <a:ext cx="542942" cy="541311"/>
              </a:xfrm>
              <a:prstGeom prst="ellipse">
                <a:avLst/>
              </a:prstGeom>
              <a:noFill/>
              <a:ln w="19050" cap="rnd">
                <a:solidFill>
                  <a:srgbClr val="181715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2800">
                  <a:solidFill>
                    <a:srgbClr val="FFFFFF"/>
                  </a:solidFill>
                  <a:latin typeface="Bauhaus 93" pitchFamily="82" charset="0"/>
                </a:endParaRPr>
              </a:p>
            </p:txBody>
          </p:sp>
        </p:grpSp>
        <p:grpSp>
          <p:nvGrpSpPr>
            <p:cNvPr id="30" name="组合 2">
              <a:extLst>
                <a:ext uri="{FF2B5EF4-FFF2-40B4-BE49-F238E27FC236}">
                  <a16:creationId xmlns:a16="http://schemas.microsoft.com/office/drawing/2014/main" id="{443034F2-A130-1151-384B-633784DFD531}"/>
                </a:ext>
              </a:extLst>
            </p:cNvPr>
            <p:cNvGrpSpPr>
              <a:grpSpLocks/>
            </p:cNvGrpSpPr>
            <p:nvPr/>
          </p:nvGrpSpPr>
          <p:grpSpPr bwMode="auto">
            <a:xfrm rot="2690928">
              <a:off x="6520455" y="3111682"/>
              <a:ext cx="3737407" cy="2118913"/>
              <a:chOff x="3988635" y="-1342990"/>
              <a:chExt cx="3740843" cy="2115957"/>
            </a:xfrm>
          </p:grpSpPr>
          <p:sp>
            <p:nvSpPr>
              <p:cNvPr id="31" name="TextBox 15">
                <a:extLst>
                  <a:ext uri="{FF2B5EF4-FFF2-40B4-BE49-F238E27FC236}">
                    <a16:creationId xmlns:a16="http://schemas.microsoft.com/office/drawing/2014/main" id="{3D37187D-73D2-9559-14E8-005D6B51F2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8909072">
                <a:off x="3988635" y="-1072314"/>
                <a:ext cx="2126592" cy="456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TW" altLang="en-US" b="1" dirty="0">
                    <a:solidFill>
                      <a:srgbClr val="DC3D2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桃園區佈建</a:t>
                </a:r>
                <a:endParaRPr lang="zh-CN" altLang="en-US" b="1" dirty="0">
                  <a:solidFill>
                    <a:srgbClr val="DC3D2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FD0E9F6A-1215-7077-035A-1B978DEC2868}"/>
                  </a:ext>
                </a:extLst>
              </p:cNvPr>
              <p:cNvSpPr/>
              <p:nvPr/>
            </p:nvSpPr>
            <p:spPr>
              <a:xfrm rot="18909072">
                <a:off x="4812191" y="-1342990"/>
                <a:ext cx="2917287" cy="21159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zh-TW" altLang="en-US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桃園區 </a:t>
                </a:r>
                <a:r>
                  <a:rPr lang="en-US" altLang="zh-TW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* 2 (</a:t>
                </a:r>
                <a:r>
                  <a:rPr lang="zh-TW" altLang="en-US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核心戰區</a:t>
                </a:r>
                <a:r>
                  <a:rPr lang="en-US" altLang="zh-TW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)</a:t>
                </a:r>
              </a:p>
              <a:p>
                <a:pPr marL="171450" indent="-17145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zh-TW" altLang="en-US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中壢區 </a:t>
                </a:r>
                <a:r>
                  <a:rPr lang="en-US" altLang="zh-TW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* 1</a:t>
                </a:r>
              </a:p>
              <a:p>
                <a:pPr marL="171450" indent="-17145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zh-TW" altLang="en-US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平鎮區 </a:t>
                </a:r>
                <a:r>
                  <a:rPr lang="en-US" altLang="zh-TW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* 1</a:t>
                </a:r>
              </a:p>
              <a:p>
                <a:pPr marL="171450" indent="-17145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zh-TW" altLang="en-US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龜山區 </a:t>
                </a:r>
                <a:r>
                  <a:rPr lang="en-US" altLang="zh-TW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* 1</a:t>
                </a:r>
              </a:p>
              <a:p>
                <a:pPr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TW" altLang="en-US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合計 </a:t>
                </a:r>
                <a:r>
                  <a:rPr lang="en-US" altLang="zh-TW" b="1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5</a:t>
                </a:r>
                <a:r>
                  <a:rPr lang="en-US" altLang="zh-TW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zh-TW" altLang="en-US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處示範點</a:t>
                </a:r>
                <a:endParaRPr lang="en-US" altLang="zh-TW" kern="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33" name="组合 33">
              <a:extLst>
                <a:ext uri="{FF2B5EF4-FFF2-40B4-BE49-F238E27FC236}">
                  <a16:creationId xmlns:a16="http://schemas.microsoft.com/office/drawing/2014/main" id="{C9DF3C84-7301-9974-A32B-B2A7931B3CFF}"/>
                </a:ext>
              </a:extLst>
            </p:cNvPr>
            <p:cNvGrpSpPr>
              <a:grpSpLocks/>
            </p:cNvGrpSpPr>
            <p:nvPr/>
          </p:nvGrpSpPr>
          <p:grpSpPr bwMode="auto">
            <a:xfrm rot="2690928">
              <a:off x="3795689" y="3084154"/>
              <a:ext cx="3518735" cy="2187620"/>
              <a:chOff x="867156" y="1840412"/>
              <a:chExt cx="3518065" cy="2184568"/>
            </a:xfrm>
          </p:grpSpPr>
          <p:sp>
            <p:nvSpPr>
              <p:cNvPr id="34" name="TextBox 15">
                <a:extLst>
                  <a:ext uri="{FF2B5EF4-FFF2-40B4-BE49-F238E27FC236}">
                    <a16:creationId xmlns:a16="http://schemas.microsoft.com/office/drawing/2014/main" id="{9E38B1C9-DB36-F9DD-1D89-8354496A08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8909072">
                <a:off x="867156" y="1840412"/>
                <a:ext cx="2582187" cy="456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TW" altLang="en-US" b="1" dirty="0">
                    <a:solidFill>
                      <a:srgbClr val="4FA33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佈建原則</a:t>
                </a:r>
                <a:endParaRPr lang="zh-CN" altLang="en-US" b="1" dirty="0">
                  <a:solidFill>
                    <a:srgbClr val="4FA33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2A82D02C-2A1F-FDE3-8073-792EB2B4CCCC}"/>
                  </a:ext>
                </a:extLst>
              </p:cNvPr>
              <p:cNvSpPr/>
              <p:nvPr/>
            </p:nvSpPr>
            <p:spPr>
              <a:xfrm rot="18909072">
                <a:off x="1672858" y="1909023"/>
                <a:ext cx="2712363" cy="21159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zh-TW" altLang="en-US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智取櫃為主</a:t>
                </a:r>
                <a:endParaRPr lang="en-US" altLang="zh-TW" kern="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171450" indent="-17145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zh-TW" altLang="en-US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不破壞既有商圈秩序</a:t>
                </a:r>
                <a:endParaRPr lang="en-US" altLang="zh-TW" kern="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171450" indent="-17145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zh-TW" altLang="en-US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共創期以新增會員為主</a:t>
                </a:r>
                <a:endParaRPr lang="en-US" altLang="zh-TW" kern="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171450" indent="-17145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zh-TW" altLang="en-US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可形成配送密度</a:t>
                </a:r>
                <a:endParaRPr lang="en-US" altLang="zh-TW" kern="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171450" indent="-17145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zh-TW" altLang="en-US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供應鏈可支撐</a:t>
                </a:r>
                <a:endParaRPr lang="zh-CN" altLang="en-US" kern="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36" name="组合 36">
              <a:extLst>
                <a:ext uri="{FF2B5EF4-FFF2-40B4-BE49-F238E27FC236}">
                  <a16:creationId xmlns:a16="http://schemas.microsoft.com/office/drawing/2014/main" id="{67428CEF-AB9F-974D-0BDE-93C3CDC45125}"/>
                </a:ext>
              </a:extLst>
            </p:cNvPr>
            <p:cNvGrpSpPr>
              <a:grpSpLocks/>
            </p:cNvGrpSpPr>
            <p:nvPr/>
          </p:nvGrpSpPr>
          <p:grpSpPr bwMode="auto">
            <a:xfrm rot="2690928">
              <a:off x="1156204" y="3365265"/>
              <a:ext cx="3282946" cy="1703415"/>
              <a:chOff x="-2156524" y="5185646"/>
              <a:chExt cx="3282320" cy="1703887"/>
            </a:xfrm>
          </p:grpSpPr>
          <p:sp>
            <p:nvSpPr>
              <p:cNvPr id="37" name="TextBox 15">
                <a:extLst>
                  <a:ext uri="{FF2B5EF4-FFF2-40B4-BE49-F238E27FC236}">
                    <a16:creationId xmlns:a16="http://schemas.microsoft.com/office/drawing/2014/main" id="{7589F23D-9541-AC6C-1014-A318A60444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8909072">
                <a:off x="-2156524" y="5523478"/>
                <a:ext cx="1291979" cy="4570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TW" altLang="en-US" b="1" dirty="0">
                    <a:solidFill>
                      <a:srgbClr val="8F4695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戰略目標</a:t>
                </a:r>
                <a:endParaRPr lang="zh-CN" altLang="en-US" b="1" dirty="0">
                  <a:solidFill>
                    <a:srgbClr val="8F469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F707894A-0034-D212-AD59-0A0177CBE102}"/>
                  </a:ext>
                </a:extLst>
              </p:cNvPr>
              <p:cNvSpPr/>
              <p:nvPr/>
            </p:nvSpPr>
            <p:spPr>
              <a:xfrm rot="18909072">
                <a:off x="-1586567" y="5185646"/>
                <a:ext cx="2712363" cy="1703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en-US" altLang="zh-CN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2026</a:t>
                </a:r>
                <a:r>
                  <a:rPr lang="zh-TW" altLang="en-US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：完成桃園都模型</a:t>
                </a:r>
                <a:endParaRPr lang="en-US" altLang="zh-CN" kern="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171450" indent="-17145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en-US" altLang="zh-CN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2027</a:t>
                </a:r>
                <a:r>
                  <a:rPr lang="zh-TW" altLang="en-US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：轉化為正式加盟</a:t>
                </a:r>
                <a:br>
                  <a:rPr lang="en-US" altLang="zh-TW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</a:br>
                <a:r>
                  <a:rPr lang="en-US" altLang="zh-TW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          </a:t>
                </a:r>
                <a:r>
                  <a:rPr lang="zh-TW" altLang="en-US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架構</a:t>
                </a:r>
                <a:endParaRPr lang="en-US" altLang="zh-TW" kern="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171450" indent="-17145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zh-TW" altLang="en-US" kern="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未 來：區域擴張模板</a:t>
                </a:r>
                <a:endParaRPr lang="en-US" altLang="zh-TW" kern="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50" name="AutoShape 12">
            <a:extLst>
              <a:ext uri="{FF2B5EF4-FFF2-40B4-BE49-F238E27FC236}">
                <a16:creationId xmlns:a16="http://schemas.microsoft.com/office/drawing/2014/main" id="{98FB417F-676D-218C-12A6-25BFED36A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3" y="2370114"/>
            <a:ext cx="6953336" cy="206315"/>
          </a:xfrm>
          <a:prstGeom prst="rightArrow">
            <a:avLst>
              <a:gd name="adj1" fmla="val 23564"/>
              <a:gd name="adj2" fmla="val 5649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1" name="Oval 13">
            <a:extLst>
              <a:ext uri="{FF2B5EF4-FFF2-40B4-BE49-F238E27FC236}">
                <a16:creationId xmlns:a16="http://schemas.microsoft.com/office/drawing/2014/main" id="{9000E581-B82E-51F9-C214-9BF71A27D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356" y="2320144"/>
            <a:ext cx="277812" cy="27463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2" name="Oval 14">
            <a:extLst>
              <a:ext uri="{FF2B5EF4-FFF2-40B4-BE49-F238E27FC236}">
                <a16:creationId xmlns:a16="http://schemas.microsoft.com/office/drawing/2014/main" id="{130CD204-892C-0A7A-6A27-3A4C9A88C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476" y="2329259"/>
            <a:ext cx="279400" cy="2746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3" name="Oval 15">
            <a:extLst>
              <a:ext uri="{FF2B5EF4-FFF2-40B4-BE49-F238E27FC236}">
                <a16:creationId xmlns:a16="http://schemas.microsoft.com/office/drawing/2014/main" id="{C5E8CF23-1145-CDA9-D4AE-833B51B55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343" y="2322307"/>
            <a:ext cx="277812" cy="274638"/>
          </a:xfrm>
          <a:prstGeom prst="ellipse">
            <a:avLst/>
          </a:prstGeom>
          <a:solidFill>
            <a:srgbClr val="4FA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4" name="TextBox 5">
            <a:extLst>
              <a:ext uri="{FF2B5EF4-FFF2-40B4-BE49-F238E27FC236}">
                <a16:creationId xmlns:a16="http://schemas.microsoft.com/office/drawing/2014/main" id="{DCE10BA2-A22C-E6CD-A1C4-884B262DB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781" y="2270932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EAE7D4"/>
                </a:solidFill>
                <a:latin typeface="Broadway" pitchFamily="82" charset="0"/>
              </a:rPr>
              <a:t>1</a:t>
            </a:r>
            <a:endParaRPr lang="zh-CN" altLang="en-US" dirty="0">
              <a:solidFill>
                <a:srgbClr val="EAE7D4"/>
              </a:solidFill>
              <a:latin typeface="Broadway" pitchFamily="82" charset="0"/>
            </a:endParaRPr>
          </a:p>
        </p:txBody>
      </p:sp>
      <p:sp>
        <p:nvSpPr>
          <p:cNvPr id="55" name="TextBox 47">
            <a:extLst>
              <a:ext uri="{FF2B5EF4-FFF2-40B4-BE49-F238E27FC236}">
                <a16:creationId xmlns:a16="http://schemas.microsoft.com/office/drawing/2014/main" id="{98BDA4F2-17CC-E2F3-1BCD-485EB88DE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880" y="2273095"/>
            <a:ext cx="228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EAE7D4"/>
                </a:solidFill>
                <a:latin typeface="Broadway" pitchFamily="82" charset="0"/>
              </a:rPr>
              <a:t>2</a:t>
            </a:r>
            <a:endParaRPr lang="zh-CN" altLang="en-US" dirty="0">
              <a:solidFill>
                <a:srgbClr val="EAE7D4"/>
              </a:solidFill>
              <a:latin typeface="Broadway" pitchFamily="82" charset="0"/>
            </a:endParaRPr>
          </a:p>
        </p:txBody>
      </p:sp>
      <p:sp>
        <p:nvSpPr>
          <p:cNvPr id="56" name="TextBox 49">
            <a:extLst>
              <a:ext uri="{FF2B5EF4-FFF2-40B4-BE49-F238E27FC236}">
                <a16:creationId xmlns:a16="http://schemas.microsoft.com/office/drawing/2014/main" id="{D5A09FEF-2043-4BD1-627F-E18D04365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0776" y="2276872"/>
            <a:ext cx="2301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EAE7D4"/>
                </a:solidFill>
                <a:latin typeface="Broadway" pitchFamily="82" charset="0"/>
              </a:rPr>
              <a:t>3</a:t>
            </a:r>
            <a:endParaRPr lang="zh-CN" altLang="en-US" dirty="0">
              <a:solidFill>
                <a:srgbClr val="EAE7D4"/>
              </a:solidFill>
              <a:latin typeface="Broadway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010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8000">
        <p:fade/>
      </p:transition>
    </mc:Choice>
    <mc:Fallback xmlns="">
      <p:transition spd="med" advClick="0" advTm="8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7469-BF9F-9D43-FC31-C0D814383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投影片編號版面配置區 1">
            <a:extLst>
              <a:ext uri="{FF2B5EF4-FFF2-40B4-BE49-F238E27FC236}">
                <a16:creationId xmlns:a16="http://schemas.microsoft.com/office/drawing/2014/main" id="{5B4191D1-1B42-A11E-9F2C-BAD63184E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4020" y="6584156"/>
            <a:ext cx="2057400" cy="273844"/>
          </a:xfrm>
        </p:spPr>
        <p:txBody>
          <a:bodyPr/>
          <a:lstStyle/>
          <a:p>
            <a:fld id="{2E95FD34-61D0-4C5A-B773-4E2676150C65}" type="slidenum">
              <a:rPr lang="zh-TW" altLang="en-US" smtClean="0"/>
              <a:t>5</a:t>
            </a:fld>
            <a:endParaRPr lang="zh-TW" altLang="en-US" dirty="0"/>
          </a:p>
        </p:txBody>
      </p:sp>
      <p:sp>
        <p:nvSpPr>
          <p:cNvPr id="44" name="文字方塊 4">
            <a:extLst>
              <a:ext uri="{FF2B5EF4-FFF2-40B4-BE49-F238E27FC236}">
                <a16:creationId xmlns:a16="http://schemas.microsoft.com/office/drawing/2014/main" id="{E16EF8A4-2827-B7AF-9AB3-FD781EEBE892}"/>
              </a:ext>
            </a:extLst>
          </p:cNvPr>
          <p:cNvSpPr txBox="1"/>
          <p:nvPr/>
        </p:nvSpPr>
        <p:spPr>
          <a:xfrm>
            <a:off x="179512" y="404664"/>
            <a:ext cx="5979774" cy="48474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altLang="zh-TW" sz="2700" b="1" dirty="0">
                <a:latin typeface="微軟正黑體" pitchFamily="34" charset="-120"/>
                <a:ea typeface="微軟正黑體" pitchFamily="34" charset="-120"/>
              </a:rPr>
              <a:t>2026</a:t>
            </a:r>
            <a:r>
              <a:rPr lang="zh-TW" altLang="en-US" sz="2700" b="1" dirty="0">
                <a:latin typeface="微軟正黑體" pitchFamily="34" charset="-120"/>
                <a:ea typeface="微軟正黑體" pitchFamily="34" charset="-120"/>
              </a:rPr>
              <a:t>桃園都規劃邏輯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D850DF3-95CC-D805-0121-14A840767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668660"/>
              </p:ext>
            </p:extLst>
          </p:nvPr>
        </p:nvGraphicFramePr>
        <p:xfrm>
          <a:off x="762485" y="1700808"/>
          <a:ext cx="7619029" cy="4061445"/>
        </p:xfrm>
        <a:graphic>
          <a:graphicData uri="http://schemas.openxmlformats.org/drawingml/2006/table">
            <a:tbl>
              <a:tblPr/>
              <a:tblGrid>
                <a:gridCol w="689788">
                  <a:extLst>
                    <a:ext uri="{9D8B030D-6E8A-4147-A177-3AD203B41FA5}">
                      <a16:colId xmlns:a16="http://schemas.microsoft.com/office/drawing/2014/main" val="802051233"/>
                    </a:ext>
                  </a:extLst>
                </a:gridCol>
                <a:gridCol w="1144422">
                  <a:extLst>
                    <a:ext uri="{9D8B030D-6E8A-4147-A177-3AD203B41FA5}">
                      <a16:colId xmlns:a16="http://schemas.microsoft.com/office/drawing/2014/main" val="2570240359"/>
                    </a:ext>
                  </a:extLst>
                </a:gridCol>
                <a:gridCol w="1081715">
                  <a:extLst>
                    <a:ext uri="{9D8B030D-6E8A-4147-A177-3AD203B41FA5}">
                      <a16:colId xmlns:a16="http://schemas.microsoft.com/office/drawing/2014/main" val="2337823405"/>
                    </a:ext>
                  </a:extLst>
                </a:gridCol>
                <a:gridCol w="987651">
                  <a:extLst>
                    <a:ext uri="{9D8B030D-6E8A-4147-A177-3AD203B41FA5}">
                      <a16:colId xmlns:a16="http://schemas.microsoft.com/office/drawing/2014/main" val="213507240"/>
                    </a:ext>
                  </a:extLst>
                </a:gridCol>
                <a:gridCol w="877913">
                  <a:extLst>
                    <a:ext uri="{9D8B030D-6E8A-4147-A177-3AD203B41FA5}">
                      <a16:colId xmlns:a16="http://schemas.microsoft.com/office/drawing/2014/main" val="3660496677"/>
                    </a:ext>
                  </a:extLst>
                </a:gridCol>
                <a:gridCol w="877913">
                  <a:extLst>
                    <a:ext uri="{9D8B030D-6E8A-4147-A177-3AD203B41FA5}">
                      <a16:colId xmlns:a16="http://schemas.microsoft.com/office/drawing/2014/main" val="2156384454"/>
                    </a:ext>
                  </a:extLst>
                </a:gridCol>
                <a:gridCol w="689788">
                  <a:extLst>
                    <a:ext uri="{9D8B030D-6E8A-4147-A177-3AD203B41FA5}">
                      <a16:colId xmlns:a16="http://schemas.microsoft.com/office/drawing/2014/main" val="4024378923"/>
                    </a:ext>
                  </a:extLst>
                </a:gridCol>
                <a:gridCol w="1269839">
                  <a:extLst>
                    <a:ext uri="{9D8B030D-6E8A-4147-A177-3AD203B41FA5}">
                      <a16:colId xmlns:a16="http://schemas.microsoft.com/office/drawing/2014/main" val="23123493"/>
                    </a:ext>
                  </a:extLst>
                </a:gridCol>
              </a:tblGrid>
              <a:tr h="3333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行政區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人口（約）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推估桶裝</a:t>
                      </a:r>
                      <a:br>
                        <a:rPr lang="en-US" altLang="zh-TW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瓦斯戶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家用戶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瓦斯行數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>
                          <a:solidFill>
                            <a:srgbClr val="0000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每萬戶瓦斯行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分裝場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通路商場合計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830845"/>
                  </a:ext>
                </a:extLst>
              </a:tr>
              <a:tr h="278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桃園區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475,000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79,821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59,800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2.9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062301"/>
                  </a:ext>
                </a:extLst>
              </a:tr>
              <a:tr h="4181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中壢區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425,000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71,416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53,100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2.9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205545"/>
                  </a:ext>
                </a:extLst>
              </a:tr>
              <a:tr h="278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平鎮區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230,000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38,641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33,800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3.1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796048"/>
                  </a:ext>
                </a:extLst>
              </a:tr>
              <a:tr h="278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楊梅區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180,000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30,256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31,800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2.7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739984"/>
                  </a:ext>
                </a:extLst>
              </a:tr>
              <a:tr h="278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八德區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210,000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35,298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30,900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3.1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746767"/>
                  </a:ext>
                </a:extLst>
              </a:tr>
              <a:tr h="278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龜山區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165,000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27,737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20,300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3.3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844162"/>
                  </a:ext>
                </a:extLst>
              </a:tr>
              <a:tr h="278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蘆竹區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170,000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28,578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21,200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3.2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255796"/>
                  </a:ext>
                </a:extLst>
              </a:tr>
              <a:tr h="1690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大溪區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95,000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15,968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18,300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3.1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445130"/>
                  </a:ext>
                </a:extLst>
              </a:tr>
              <a:tr h="1690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大園區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90,000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15,128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16,400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2.9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–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84511"/>
                  </a:ext>
                </a:extLst>
              </a:tr>
              <a:tr h="1690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觀音區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75,000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12,606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14,500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2.7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–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6960"/>
                  </a:ext>
                </a:extLst>
              </a:tr>
              <a:tr h="1690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新屋區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50,000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8,404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9,700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–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25028"/>
                  </a:ext>
                </a:extLst>
              </a:tr>
              <a:tr h="1690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龍潭區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125,000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21,009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21,200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2.7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–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039935"/>
                  </a:ext>
                </a:extLst>
              </a:tr>
              <a:tr h="1690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復興區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12,000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2,017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2,400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–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130794"/>
                  </a:ext>
                </a:extLst>
              </a:tr>
              <a:tr h="1690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合計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≈</a:t>
                      </a: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2,302,000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TW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≈</a:t>
                      </a:r>
                      <a:r>
                        <a:rPr lang="en-US" altLang="zh-TW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386,800</a:t>
                      </a:r>
                      <a:endParaRPr lang="zh-TW" alt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≈</a:t>
                      </a: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333,700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103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39.6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41</a:t>
                      </a:r>
                    </a:p>
                  </a:txBody>
                  <a:tcPr marL="6243" marR="6243" marT="624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923855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33FDA3F0-1D49-7EA0-346A-8F2E93D737D6}"/>
              </a:ext>
            </a:extLst>
          </p:cNvPr>
          <p:cNvSpPr txBox="1"/>
          <p:nvPr/>
        </p:nvSpPr>
        <p:spPr>
          <a:xfrm>
            <a:off x="239833" y="1268760"/>
            <a:ext cx="2900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基礎數據資料</a:t>
            </a:r>
          </a:p>
        </p:txBody>
      </p:sp>
    </p:spTree>
    <p:extLst>
      <p:ext uri="{BB962C8B-B14F-4D97-AF65-F5344CB8AC3E}">
        <p14:creationId xmlns:p14="http://schemas.microsoft.com/office/powerpoint/2010/main" val="366097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8000">
        <p:fade/>
      </p:transition>
    </mc:Choice>
    <mc:Fallback xmlns="">
      <p:transition spd="med" advClick="0" advTm="8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BAF7F-2A74-A1A6-4D41-53F49F091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投影片編號版面配置區 1">
            <a:extLst>
              <a:ext uri="{FF2B5EF4-FFF2-40B4-BE49-F238E27FC236}">
                <a16:creationId xmlns:a16="http://schemas.microsoft.com/office/drawing/2014/main" id="{D0525FEC-AE19-2309-D2C4-CCD7BB79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4020" y="6584156"/>
            <a:ext cx="2057400" cy="273844"/>
          </a:xfrm>
        </p:spPr>
        <p:txBody>
          <a:bodyPr/>
          <a:lstStyle/>
          <a:p>
            <a:fld id="{2E95FD34-61D0-4C5A-B773-4E2676150C65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44" name="文字方塊 4">
            <a:extLst>
              <a:ext uri="{FF2B5EF4-FFF2-40B4-BE49-F238E27FC236}">
                <a16:creationId xmlns:a16="http://schemas.microsoft.com/office/drawing/2014/main" id="{B8DA0D7D-1F75-C76C-FE59-C2277C011495}"/>
              </a:ext>
            </a:extLst>
          </p:cNvPr>
          <p:cNvSpPr txBox="1"/>
          <p:nvPr/>
        </p:nvSpPr>
        <p:spPr>
          <a:xfrm>
            <a:off x="179512" y="404664"/>
            <a:ext cx="5979774" cy="48474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altLang="zh-TW" sz="2700" b="1" dirty="0">
                <a:latin typeface="微軟正黑體" pitchFamily="34" charset="-120"/>
                <a:ea typeface="微軟正黑體" pitchFamily="34" charset="-120"/>
              </a:rPr>
              <a:t>2026</a:t>
            </a:r>
            <a:r>
              <a:rPr lang="zh-TW" altLang="en-US" sz="2700" b="1" dirty="0">
                <a:latin typeface="微軟正黑體" pitchFamily="34" charset="-120"/>
                <a:ea typeface="微軟正黑體" pitchFamily="34" charset="-120"/>
              </a:rPr>
              <a:t>桃園都規劃邏輯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8D244F8-06A3-7AB6-B259-A88F26323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365235"/>
              </p:ext>
            </p:extLst>
          </p:nvPr>
        </p:nvGraphicFramePr>
        <p:xfrm>
          <a:off x="611560" y="1988840"/>
          <a:ext cx="8208912" cy="2929890"/>
        </p:xfrm>
        <a:graphic>
          <a:graphicData uri="http://schemas.openxmlformats.org/drawingml/2006/table">
            <a:tbl>
              <a:tblPr/>
              <a:tblGrid>
                <a:gridCol w="1216135">
                  <a:extLst>
                    <a:ext uri="{9D8B030D-6E8A-4147-A177-3AD203B41FA5}">
                      <a16:colId xmlns:a16="http://schemas.microsoft.com/office/drawing/2014/main" val="1368482190"/>
                    </a:ext>
                  </a:extLst>
                </a:gridCol>
                <a:gridCol w="3176353">
                  <a:extLst>
                    <a:ext uri="{9D8B030D-6E8A-4147-A177-3AD203B41FA5}">
                      <a16:colId xmlns:a16="http://schemas.microsoft.com/office/drawing/2014/main" val="1823545857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2983463988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資料項目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資料來源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40979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人口（約）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內政部戶政司－戶籍人口統計資料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依各行政區戶籍人口統計資料整理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51712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推估桶裝瓦斯戶數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經濟部能源署－液化石油氣統計資料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桶裝液化石油氣用戶數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房屋稅籍住宅類數量－天然氣用戶數－低度使用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用電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戶數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80976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家用戶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行政院主計總處－家庭戶數統計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依各行政區家庭戶數資料估算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51531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瓦斯行數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經濟部商業司－商工登記公示資料查詢系統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查詢「液化石油氣零售業／桶裝瓦斯行」登記資料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281979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分裝場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經濟部能源署－液化石油氣分裝場名冊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依能源署公告之合法分裝場名單整理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5295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通路商場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各企業門市據點公開資料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包含愛買、家樂福、全國電子、特力屋等公開門市據點資訊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829654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42E284AA-23E4-F232-CB94-D686449E4AAC}"/>
              </a:ext>
            </a:extLst>
          </p:cNvPr>
          <p:cNvSpPr txBox="1"/>
          <p:nvPr/>
        </p:nvSpPr>
        <p:spPr>
          <a:xfrm>
            <a:off x="253029" y="1301050"/>
            <a:ext cx="1294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資料來源</a:t>
            </a:r>
          </a:p>
        </p:txBody>
      </p:sp>
    </p:spTree>
    <p:extLst>
      <p:ext uri="{BB962C8B-B14F-4D97-AF65-F5344CB8AC3E}">
        <p14:creationId xmlns:p14="http://schemas.microsoft.com/office/powerpoint/2010/main" val="931900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8000">
        <p:fade/>
      </p:transition>
    </mc:Choice>
    <mc:Fallback xmlns="">
      <p:transition spd="med" advClick="0" advTm="8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90EC2-DFF7-AC54-2E9F-8210ACF2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投影片編號版面配置區 1">
            <a:extLst>
              <a:ext uri="{FF2B5EF4-FFF2-40B4-BE49-F238E27FC236}">
                <a16:creationId xmlns:a16="http://schemas.microsoft.com/office/drawing/2014/main" id="{13AB83E1-C6F6-9A3B-53FF-6BC3A5F32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74346" y="6611540"/>
            <a:ext cx="2057400" cy="273844"/>
          </a:xfrm>
        </p:spPr>
        <p:txBody>
          <a:bodyPr/>
          <a:lstStyle/>
          <a:p>
            <a:fld id="{2E95FD34-61D0-4C5A-B773-4E2676150C65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44" name="文字方塊 4">
            <a:extLst>
              <a:ext uri="{FF2B5EF4-FFF2-40B4-BE49-F238E27FC236}">
                <a16:creationId xmlns:a16="http://schemas.microsoft.com/office/drawing/2014/main" id="{56B3EB61-5A39-F210-E566-64A2AA789213}"/>
              </a:ext>
            </a:extLst>
          </p:cNvPr>
          <p:cNvSpPr txBox="1"/>
          <p:nvPr/>
        </p:nvSpPr>
        <p:spPr>
          <a:xfrm>
            <a:off x="110296" y="481094"/>
            <a:ext cx="5979774" cy="48474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zh-TW" altLang="en-US" sz="2700" b="1" dirty="0">
                <a:latin typeface="微軟正黑體" pitchFamily="34" charset="-120"/>
                <a:ea typeface="微軟正黑體" pitchFamily="34" charset="-120"/>
              </a:rPr>
              <a:t>模組規劃原則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B1987AD-EB65-7465-426F-89D78D9ADBFA}"/>
              </a:ext>
            </a:extLst>
          </p:cNvPr>
          <p:cNvSpPr txBox="1"/>
          <p:nvPr/>
        </p:nvSpPr>
        <p:spPr>
          <a:xfrm>
            <a:off x="787180" y="1303079"/>
            <a:ext cx="4805231" cy="2118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b="1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以零售通路據點放置智取櫃：</a:t>
            </a:r>
            <a:endParaRPr lang="en-US" altLang="zh-TW" b="1" dirty="0">
              <a:solidFill>
                <a:srgbClr val="48484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場地租借</a:t>
            </a:r>
            <a:r>
              <a:rPr lang="en-US" altLang="zh-TW" b="1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b="1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智取櫃放置</a:t>
            </a:r>
            <a:endParaRPr lang="en-US" altLang="zh-TW" b="1" dirty="0">
              <a:solidFill>
                <a:srgbClr val="48484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b="1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邀請同業成為旺來加盟夥伴：</a:t>
            </a:r>
            <a:endParaRPr lang="en-US" altLang="zh-TW" b="1" dirty="0">
              <a:solidFill>
                <a:srgbClr val="48484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b="1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r>
              <a:rPr lang="zh-TW" altLang="en-US" b="1" dirty="0">
                <a:solidFill>
                  <a:srgbClr val="48484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年特約合作期間，依營運情況優化，由夥伴轉加盟。</a:t>
            </a:r>
            <a:endParaRPr lang="en-US" altLang="zh-TW" b="1" dirty="0">
              <a:solidFill>
                <a:srgbClr val="48484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5875FD17-0EFC-D1F8-010D-7FF10D3113D4}"/>
              </a:ext>
            </a:extLst>
          </p:cNvPr>
          <p:cNvGrpSpPr/>
          <p:nvPr/>
        </p:nvGrpSpPr>
        <p:grpSpPr>
          <a:xfrm>
            <a:off x="6343745" y="1750552"/>
            <a:ext cx="1586577" cy="3629881"/>
            <a:chOff x="8458327" y="1191069"/>
            <a:chExt cx="2115436" cy="4839841"/>
          </a:xfrm>
        </p:grpSpPr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5EBC3EBB-D212-6B0D-6859-EFE6B5B967F0}"/>
                </a:ext>
              </a:extLst>
            </p:cNvPr>
            <p:cNvGrpSpPr/>
            <p:nvPr/>
          </p:nvGrpSpPr>
          <p:grpSpPr>
            <a:xfrm>
              <a:off x="9131184" y="1191069"/>
              <a:ext cx="1442579" cy="1334156"/>
              <a:chOff x="3612021" y="1524001"/>
              <a:chExt cx="1442579" cy="1334156"/>
            </a:xfrm>
          </p:grpSpPr>
          <p:sp>
            <p:nvSpPr>
              <p:cNvPr id="52" name="矩形: 圓角 51">
                <a:extLst>
                  <a:ext uri="{FF2B5EF4-FFF2-40B4-BE49-F238E27FC236}">
                    <a16:creationId xmlns:a16="http://schemas.microsoft.com/office/drawing/2014/main" id="{76E09731-6F96-DBCC-835A-C0B19D654FCD}"/>
                  </a:ext>
                </a:extLst>
              </p:cNvPr>
              <p:cNvSpPr/>
              <p:nvPr/>
            </p:nvSpPr>
            <p:spPr>
              <a:xfrm>
                <a:off x="3612021" y="1524001"/>
                <a:ext cx="1442579" cy="1334156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grpSp>
            <p:nvGrpSpPr>
              <p:cNvPr id="53" name="群組 52">
                <a:extLst>
                  <a:ext uri="{FF2B5EF4-FFF2-40B4-BE49-F238E27FC236}">
                    <a16:creationId xmlns:a16="http://schemas.microsoft.com/office/drawing/2014/main" id="{AB3D54DD-B58C-7930-CBFC-833337E61B2D}"/>
                  </a:ext>
                </a:extLst>
              </p:cNvPr>
              <p:cNvGrpSpPr/>
              <p:nvPr/>
            </p:nvGrpSpPr>
            <p:grpSpPr>
              <a:xfrm>
                <a:off x="3740147" y="1648217"/>
                <a:ext cx="1144852" cy="455414"/>
                <a:chOff x="3897205" y="1192803"/>
                <a:chExt cx="1144852" cy="455414"/>
              </a:xfrm>
            </p:grpSpPr>
            <p:sp>
              <p:nvSpPr>
                <p:cNvPr id="57" name="矩形: 圓角 56">
                  <a:extLst>
                    <a:ext uri="{FF2B5EF4-FFF2-40B4-BE49-F238E27FC236}">
                      <a16:creationId xmlns:a16="http://schemas.microsoft.com/office/drawing/2014/main" id="{72EE22EF-C5CC-DF2E-1D41-D261252E983A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46FEF17A-FCC9-46A8-AD1D-E9E0878A1D8F}"/>
                    </a:ext>
                  </a:extLst>
                </p:cNvPr>
                <p:cNvSpPr txBox="1"/>
                <p:nvPr/>
              </p:nvSpPr>
              <p:spPr>
                <a:xfrm>
                  <a:off x="4034581" y="1247814"/>
                  <a:ext cx="938719" cy="4001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智取櫃</a:t>
                  </a:r>
                </a:p>
              </p:txBody>
            </p:sp>
          </p:grpSp>
          <p:grpSp>
            <p:nvGrpSpPr>
              <p:cNvPr id="54" name="群組 53">
                <a:extLst>
                  <a:ext uri="{FF2B5EF4-FFF2-40B4-BE49-F238E27FC236}">
                    <a16:creationId xmlns:a16="http://schemas.microsoft.com/office/drawing/2014/main" id="{9FD9054D-A532-912F-138A-B0AB97962312}"/>
                  </a:ext>
                </a:extLst>
              </p:cNvPr>
              <p:cNvGrpSpPr/>
              <p:nvPr/>
            </p:nvGrpSpPr>
            <p:grpSpPr>
              <a:xfrm>
                <a:off x="3740147" y="2295534"/>
                <a:ext cx="1144852" cy="455414"/>
                <a:chOff x="3897205" y="1192803"/>
                <a:chExt cx="1144852" cy="455414"/>
              </a:xfrm>
            </p:grpSpPr>
            <p:sp>
              <p:nvSpPr>
                <p:cNvPr id="55" name="矩形: 圓角 54">
                  <a:extLst>
                    <a:ext uri="{FF2B5EF4-FFF2-40B4-BE49-F238E27FC236}">
                      <a16:creationId xmlns:a16="http://schemas.microsoft.com/office/drawing/2014/main" id="{DEF25A50-2349-FC26-5C52-F7B95F8C1D59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FAE9263D-0705-A523-C56A-30DC30E0C806}"/>
                    </a:ext>
                  </a:extLst>
                </p:cNvPr>
                <p:cNvSpPr txBox="1"/>
                <p:nvPr/>
              </p:nvSpPr>
              <p:spPr>
                <a:xfrm>
                  <a:off x="4026768" y="1237248"/>
                  <a:ext cx="938719" cy="4001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場地費</a:t>
                  </a:r>
                </a:p>
              </p:txBody>
            </p:sp>
          </p:grpSp>
        </p:grpSp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BBDFCB28-B55D-49AA-C788-47830B1193AE}"/>
                </a:ext>
              </a:extLst>
            </p:cNvPr>
            <p:cNvGrpSpPr/>
            <p:nvPr/>
          </p:nvGrpSpPr>
          <p:grpSpPr>
            <a:xfrm>
              <a:off x="9131183" y="3934400"/>
              <a:ext cx="1442579" cy="2096510"/>
              <a:chOff x="3598077" y="3058263"/>
              <a:chExt cx="1442579" cy="2096510"/>
            </a:xfrm>
          </p:grpSpPr>
          <p:sp>
            <p:nvSpPr>
              <p:cNvPr id="40" name="矩形: 圓角 39">
                <a:extLst>
                  <a:ext uri="{FF2B5EF4-FFF2-40B4-BE49-F238E27FC236}">
                    <a16:creationId xmlns:a16="http://schemas.microsoft.com/office/drawing/2014/main" id="{B0412057-F8D1-D5CE-7C13-1BD5D2E47807}"/>
                  </a:ext>
                </a:extLst>
              </p:cNvPr>
              <p:cNvSpPr/>
              <p:nvPr/>
            </p:nvSpPr>
            <p:spPr>
              <a:xfrm>
                <a:off x="3598077" y="3058263"/>
                <a:ext cx="1442579" cy="209651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grpSp>
            <p:nvGrpSpPr>
              <p:cNvPr id="41" name="群組 40">
                <a:extLst>
                  <a:ext uri="{FF2B5EF4-FFF2-40B4-BE49-F238E27FC236}">
                    <a16:creationId xmlns:a16="http://schemas.microsoft.com/office/drawing/2014/main" id="{3D1E6C07-D51C-CFEF-E18C-F3B4AFB2739C}"/>
                  </a:ext>
                </a:extLst>
              </p:cNvPr>
              <p:cNvGrpSpPr/>
              <p:nvPr/>
            </p:nvGrpSpPr>
            <p:grpSpPr>
              <a:xfrm>
                <a:off x="3743679" y="3244318"/>
                <a:ext cx="1144852" cy="461360"/>
                <a:chOff x="3897205" y="1192803"/>
                <a:chExt cx="1144852" cy="461360"/>
              </a:xfrm>
            </p:grpSpPr>
            <p:sp>
              <p:nvSpPr>
                <p:cNvPr id="50" name="矩形: 圓角 49">
                  <a:extLst>
                    <a:ext uri="{FF2B5EF4-FFF2-40B4-BE49-F238E27FC236}">
                      <a16:creationId xmlns:a16="http://schemas.microsoft.com/office/drawing/2014/main" id="{BCFFA6F3-113D-F7EC-41F5-BBAFCB829FE5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53B853F7-3A99-4CB7-0894-276DB0D718D6}"/>
                    </a:ext>
                  </a:extLst>
                </p:cNvPr>
                <p:cNvSpPr txBox="1"/>
                <p:nvPr/>
              </p:nvSpPr>
              <p:spPr>
                <a:xfrm>
                  <a:off x="4125520" y="1254054"/>
                  <a:ext cx="707887" cy="4001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灌氣</a:t>
                  </a:r>
                </a:p>
              </p:txBody>
            </p:sp>
          </p:grpSp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49304662-1B8C-1D40-DE5F-1726100FF852}"/>
                  </a:ext>
                </a:extLst>
              </p:cNvPr>
              <p:cNvGrpSpPr/>
              <p:nvPr/>
            </p:nvGrpSpPr>
            <p:grpSpPr>
              <a:xfrm>
                <a:off x="3743679" y="3891635"/>
                <a:ext cx="1144852" cy="455414"/>
                <a:chOff x="3897205" y="1192803"/>
                <a:chExt cx="1144852" cy="455414"/>
              </a:xfrm>
            </p:grpSpPr>
            <p:sp>
              <p:nvSpPr>
                <p:cNvPr id="48" name="矩形: 圓角 47">
                  <a:extLst>
                    <a:ext uri="{FF2B5EF4-FFF2-40B4-BE49-F238E27FC236}">
                      <a16:creationId xmlns:a16="http://schemas.microsoft.com/office/drawing/2014/main" id="{20E2D03F-BE87-53F4-2B98-07322DF16C37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3840ADDE-75FE-FAF8-7EC8-9CB980143AA9}"/>
                    </a:ext>
                  </a:extLst>
                </p:cNvPr>
                <p:cNvSpPr txBox="1"/>
                <p:nvPr/>
              </p:nvSpPr>
              <p:spPr>
                <a:xfrm>
                  <a:off x="4125520" y="1232486"/>
                  <a:ext cx="707887" cy="4001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配送</a:t>
                  </a:r>
                </a:p>
              </p:txBody>
            </p:sp>
          </p:grpSp>
          <p:grpSp>
            <p:nvGrpSpPr>
              <p:cNvPr id="45" name="群組 44">
                <a:extLst>
                  <a:ext uri="{FF2B5EF4-FFF2-40B4-BE49-F238E27FC236}">
                    <a16:creationId xmlns:a16="http://schemas.microsoft.com/office/drawing/2014/main" id="{75A62821-1E65-D6FA-CA9B-1EBE6389ED44}"/>
                  </a:ext>
                </a:extLst>
              </p:cNvPr>
              <p:cNvGrpSpPr/>
              <p:nvPr/>
            </p:nvGrpSpPr>
            <p:grpSpPr>
              <a:xfrm>
                <a:off x="3743679" y="4499252"/>
                <a:ext cx="1144852" cy="455414"/>
                <a:chOff x="3897205" y="1192803"/>
                <a:chExt cx="1144852" cy="455414"/>
              </a:xfrm>
            </p:grpSpPr>
            <p:sp>
              <p:nvSpPr>
                <p:cNvPr id="46" name="矩形: 圓角 45">
                  <a:extLst>
                    <a:ext uri="{FF2B5EF4-FFF2-40B4-BE49-F238E27FC236}">
                      <a16:creationId xmlns:a16="http://schemas.microsoft.com/office/drawing/2014/main" id="{C71B0DB7-9491-8BCA-DD79-C8B084443EB3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A3F79D97-153F-0CD7-CD85-7A986768A07C}"/>
                    </a:ext>
                  </a:extLst>
                </p:cNvPr>
                <p:cNvSpPr txBox="1"/>
                <p:nvPr/>
              </p:nvSpPr>
              <p:spPr>
                <a:xfrm>
                  <a:off x="4138650" y="1227279"/>
                  <a:ext cx="707887" cy="4001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安裝</a:t>
                  </a:r>
                </a:p>
              </p:txBody>
            </p:sp>
          </p:grpSp>
        </p:grpSp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0BEEEE87-F09B-5925-5286-D2BA3C3426BF}"/>
                </a:ext>
              </a:extLst>
            </p:cNvPr>
            <p:cNvSpPr/>
            <p:nvPr/>
          </p:nvSpPr>
          <p:spPr>
            <a:xfrm>
              <a:off x="9123603" y="2601420"/>
              <a:ext cx="1442579" cy="1233433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 dirty="0"/>
            </a:p>
          </p:txBody>
        </p:sp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8B8FF7FB-487B-6A8E-A07E-FF3E15AC6373}"/>
                </a:ext>
              </a:extLst>
            </p:cNvPr>
            <p:cNvGrpSpPr/>
            <p:nvPr/>
          </p:nvGrpSpPr>
          <p:grpSpPr>
            <a:xfrm>
              <a:off x="9272466" y="3284677"/>
              <a:ext cx="1144852" cy="455414"/>
              <a:chOff x="3897205" y="1192803"/>
              <a:chExt cx="1144852" cy="455414"/>
            </a:xfrm>
            <a:solidFill>
              <a:schemeClr val="accent5"/>
            </a:solidFill>
          </p:grpSpPr>
          <p:sp>
            <p:nvSpPr>
              <p:cNvPr id="38" name="矩形: 圓角 37">
                <a:extLst>
                  <a:ext uri="{FF2B5EF4-FFF2-40B4-BE49-F238E27FC236}">
                    <a16:creationId xmlns:a16="http://schemas.microsoft.com/office/drawing/2014/main" id="{F90B6FEF-BFFB-EF43-B30A-BD1499F5AA07}"/>
                  </a:ext>
                </a:extLst>
              </p:cNvPr>
              <p:cNvSpPr/>
              <p:nvPr/>
            </p:nvSpPr>
            <p:spPr>
              <a:xfrm>
                <a:off x="3897205" y="1192803"/>
                <a:ext cx="1144852" cy="455414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98AF3256-B990-7E78-18FE-1F7B573ABCA9}"/>
                  </a:ext>
                </a:extLst>
              </p:cNvPr>
              <p:cNvSpPr txBox="1"/>
              <p:nvPr/>
            </p:nvSpPr>
            <p:spPr>
              <a:xfrm>
                <a:off x="4146464" y="1221715"/>
                <a:ext cx="707887" cy="400109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35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授權</a:t>
                </a:r>
              </a:p>
            </p:txBody>
          </p:sp>
        </p:grpSp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92BC95C6-DF92-AE88-1BC8-288363489BAD}"/>
                </a:ext>
              </a:extLst>
            </p:cNvPr>
            <p:cNvGrpSpPr/>
            <p:nvPr/>
          </p:nvGrpSpPr>
          <p:grpSpPr>
            <a:xfrm>
              <a:off x="9272466" y="2699066"/>
              <a:ext cx="1144852" cy="455414"/>
              <a:chOff x="3897205" y="1192803"/>
              <a:chExt cx="1144852" cy="455414"/>
            </a:xfrm>
            <a:solidFill>
              <a:schemeClr val="accent5"/>
            </a:solidFill>
          </p:grpSpPr>
          <p:sp>
            <p:nvSpPr>
              <p:cNvPr id="36" name="矩形: 圓角 35">
                <a:extLst>
                  <a:ext uri="{FF2B5EF4-FFF2-40B4-BE49-F238E27FC236}">
                    <a16:creationId xmlns:a16="http://schemas.microsoft.com/office/drawing/2014/main" id="{45B7C7A7-8115-DA7D-FEB3-10265AA53B50}"/>
                  </a:ext>
                </a:extLst>
              </p:cNvPr>
              <p:cNvSpPr/>
              <p:nvPr/>
            </p:nvSpPr>
            <p:spPr>
              <a:xfrm>
                <a:off x="3897205" y="1192803"/>
                <a:ext cx="1144852" cy="455414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A160FD89-5722-9F7E-242C-1800CC30BE62}"/>
                  </a:ext>
                </a:extLst>
              </p:cNvPr>
              <p:cNvSpPr txBox="1"/>
              <p:nvPr/>
            </p:nvSpPr>
            <p:spPr>
              <a:xfrm>
                <a:off x="4146464" y="1221715"/>
                <a:ext cx="707887" cy="400109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35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容器</a:t>
                </a:r>
              </a:p>
            </p:txBody>
          </p:sp>
        </p:grpSp>
        <p:sp>
          <p:nvSpPr>
            <p:cNvPr id="33" name="左中括弧 32">
              <a:extLst>
                <a:ext uri="{FF2B5EF4-FFF2-40B4-BE49-F238E27FC236}">
                  <a16:creationId xmlns:a16="http://schemas.microsoft.com/office/drawing/2014/main" id="{1977D154-8D3E-0BFA-1C13-35A0612BB860}"/>
                </a:ext>
              </a:extLst>
            </p:cNvPr>
            <p:cNvSpPr/>
            <p:nvPr/>
          </p:nvSpPr>
          <p:spPr>
            <a:xfrm>
              <a:off x="8458327" y="1858146"/>
              <a:ext cx="318879" cy="3399234"/>
            </a:xfrm>
            <a:prstGeom prst="leftBracket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350" dirty="0"/>
            </a:p>
          </p:txBody>
        </p:sp>
      </p:grpSp>
      <p:pic>
        <p:nvPicPr>
          <p:cNvPr id="2" name="圖片 1">
            <a:extLst>
              <a:ext uri="{FF2B5EF4-FFF2-40B4-BE49-F238E27FC236}">
                <a16:creationId xmlns:a16="http://schemas.microsoft.com/office/drawing/2014/main" id="{27FA7DA9-7B19-4842-7B8E-AAF6C016B4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19" t="38515" r="6219"/>
          <a:stretch>
            <a:fillRect/>
          </a:stretch>
        </p:blipFill>
        <p:spPr>
          <a:xfrm>
            <a:off x="1115616" y="3703466"/>
            <a:ext cx="3718407" cy="21189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3602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8000">
        <p:fade/>
      </p:transition>
    </mc:Choice>
    <mc:Fallback xmlns="">
      <p:transition spd="med" advClick="0" advTm="8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FAF6F-70AE-3A4C-DF47-CC22789AB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1">
            <a:extLst>
              <a:ext uri="{FF2B5EF4-FFF2-40B4-BE49-F238E27FC236}">
                <a16:creationId xmlns:a16="http://schemas.microsoft.com/office/drawing/2014/main" id="{0A9BE00D-6063-0CDA-B0F5-3D50F943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504049"/>
            <a:ext cx="2057400" cy="273844"/>
          </a:xfrm>
        </p:spPr>
        <p:txBody>
          <a:bodyPr/>
          <a:lstStyle/>
          <a:p>
            <a:fld id="{2E95FD34-61D0-4C5A-B773-4E2676150C6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857BE44-2E69-C1F9-9AF5-7C3FCF41BE19}"/>
              </a:ext>
            </a:extLst>
          </p:cNvPr>
          <p:cNvSpPr txBox="1"/>
          <p:nvPr/>
        </p:nvSpPr>
        <p:spPr>
          <a:xfrm>
            <a:off x="189866" y="430973"/>
            <a:ext cx="7040163" cy="48474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altLang="zh-TW" sz="2700" b="1" dirty="0">
                <a:latin typeface="微軟正黑體"/>
                <a:ea typeface="微軟正黑體"/>
              </a:rPr>
              <a:t>A</a:t>
            </a:r>
            <a:r>
              <a:rPr lang="zh-TW" altLang="en-US" sz="2700" b="1" dirty="0">
                <a:latin typeface="微軟正黑體"/>
                <a:ea typeface="微軟正黑體"/>
              </a:rPr>
              <a:t>型</a:t>
            </a:r>
            <a:r>
              <a:rPr lang="en-US" altLang="zh-TW" sz="2700" b="1" dirty="0">
                <a:latin typeface="微軟正黑體"/>
                <a:ea typeface="微軟正黑體"/>
              </a:rPr>
              <a:t>_</a:t>
            </a:r>
            <a:r>
              <a:rPr lang="zh-TW" altLang="en-US" sz="2700" b="1" dirty="0">
                <a:latin typeface="微軟正黑體"/>
                <a:ea typeface="微軟正黑體"/>
              </a:rPr>
              <a:t>雙資本型</a:t>
            </a:r>
          </a:p>
        </p:txBody>
      </p: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6DBD722D-B8BC-2157-D28F-41F9F73A0F33}"/>
              </a:ext>
            </a:extLst>
          </p:cNvPr>
          <p:cNvGrpSpPr/>
          <p:nvPr/>
        </p:nvGrpSpPr>
        <p:grpSpPr>
          <a:xfrm>
            <a:off x="2123728" y="1501425"/>
            <a:ext cx="4218090" cy="4087815"/>
            <a:chOff x="767790" y="1255903"/>
            <a:chExt cx="5056204" cy="4839841"/>
          </a:xfrm>
        </p:grpSpPr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6A856428-554F-9E85-8362-5373EF7F3836}"/>
                </a:ext>
              </a:extLst>
            </p:cNvPr>
            <p:cNvGrpSpPr/>
            <p:nvPr/>
          </p:nvGrpSpPr>
          <p:grpSpPr>
            <a:xfrm>
              <a:off x="5296656" y="3098664"/>
              <a:ext cx="527338" cy="497069"/>
              <a:chOff x="5130800" y="1694599"/>
              <a:chExt cx="527338" cy="497069"/>
            </a:xfrm>
          </p:grpSpPr>
          <p:sp>
            <p:nvSpPr>
              <p:cNvPr id="22" name="流程圖: 接點 21">
                <a:extLst>
                  <a:ext uri="{FF2B5EF4-FFF2-40B4-BE49-F238E27FC236}">
                    <a16:creationId xmlns:a16="http://schemas.microsoft.com/office/drawing/2014/main" id="{AC379451-5353-CA11-8CB9-B937F03E56F8}"/>
                  </a:ext>
                </a:extLst>
              </p:cNvPr>
              <p:cNvSpPr/>
              <p:nvPr/>
            </p:nvSpPr>
            <p:spPr>
              <a:xfrm>
                <a:off x="5130800" y="1694599"/>
                <a:ext cx="438150" cy="409032"/>
              </a:xfrm>
              <a:prstGeom prst="flowChartConnector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53EB46EC-B82A-6DEA-57FD-415DF706D10E}"/>
                  </a:ext>
                </a:extLst>
              </p:cNvPr>
              <p:cNvSpPr txBox="1"/>
              <p:nvPr/>
            </p:nvSpPr>
            <p:spPr>
              <a:xfrm>
                <a:off x="5169188" y="1699225"/>
                <a:ext cx="488950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9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旺來</a:t>
                </a:r>
              </a:p>
            </p:txBody>
          </p:sp>
        </p:grpSp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627AECB8-3E26-B3D4-91BF-67D6CEE37850}"/>
                </a:ext>
              </a:extLst>
            </p:cNvPr>
            <p:cNvGrpSpPr/>
            <p:nvPr/>
          </p:nvGrpSpPr>
          <p:grpSpPr>
            <a:xfrm>
              <a:off x="2961218" y="1646445"/>
              <a:ext cx="510272" cy="492443"/>
              <a:chOff x="5130800" y="1666163"/>
              <a:chExt cx="510272" cy="492443"/>
            </a:xfrm>
          </p:grpSpPr>
          <p:sp>
            <p:nvSpPr>
              <p:cNvPr id="30" name="流程圖: 接點 29">
                <a:extLst>
                  <a:ext uri="{FF2B5EF4-FFF2-40B4-BE49-F238E27FC236}">
                    <a16:creationId xmlns:a16="http://schemas.microsoft.com/office/drawing/2014/main" id="{2D78D0A3-03AD-B262-5E18-722520AB4994}"/>
                  </a:ext>
                </a:extLst>
              </p:cNvPr>
              <p:cNvSpPr/>
              <p:nvPr/>
            </p:nvSpPr>
            <p:spPr>
              <a:xfrm>
                <a:off x="5130800" y="1694599"/>
                <a:ext cx="438150" cy="409032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F7095B61-358E-88C9-8668-526247CAB4BC}"/>
                  </a:ext>
                </a:extLst>
              </p:cNvPr>
              <p:cNvSpPr txBox="1"/>
              <p:nvPr/>
            </p:nvSpPr>
            <p:spPr>
              <a:xfrm>
                <a:off x="5152122" y="1666163"/>
                <a:ext cx="488950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9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同業</a:t>
                </a:r>
              </a:p>
            </p:txBody>
          </p:sp>
        </p:grpSp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E4FB9944-5C4F-108D-6A42-B09317D2AE6F}"/>
                </a:ext>
              </a:extLst>
            </p:cNvPr>
            <p:cNvGrpSpPr/>
            <p:nvPr/>
          </p:nvGrpSpPr>
          <p:grpSpPr>
            <a:xfrm>
              <a:off x="2935818" y="4818010"/>
              <a:ext cx="514349" cy="500556"/>
              <a:chOff x="5130800" y="1694599"/>
              <a:chExt cx="514349" cy="500556"/>
            </a:xfrm>
          </p:grpSpPr>
          <p:sp>
            <p:nvSpPr>
              <p:cNvPr id="33" name="流程圖: 接點 32">
                <a:extLst>
                  <a:ext uri="{FF2B5EF4-FFF2-40B4-BE49-F238E27FC236}">
                    <a16:creationId xmlns:a16="http://schemas.microsoft.com/office/drawing/2014/main" id="{71047214-20E9-EB88-D6A6-52B9D6082AFD}"/>
                  </a:ext>
                </a:extLst>
              </p:cNvPr>
              <p:cNvSpPr/>
              <p:nvPr/>
            </p:nvSpPr>
            <p:spPr>
              <a:xfrm>
                <a:off x="5130800" y="1694599"/>
                <a:ext cx="438150" cy="409032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5278E7C5-2C89-B148-B575-C80A366352E8}"/>
                  </a:ext>
                </a:extLst>
              </p:cNvPr>
              <p:cNvSpPr txBox="1"/>
              <p:nvPr/>
            </p:nvSpPr>
            <p:spPr>
              <a:xfrm>
                <a:off x="5156199" y="1702712"/>
                <a:ext cx="488950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9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同業</a:t>
                </a:r>
              </a:p>
            </p:txBody>
          </p:sp>
        </p:grpSp>
        <p:grpSp>
          <p:nvGrpSpPr>
            <p:cNvPr id="86" name="群組 85">
              <a:extLst>
                <a:ext uri="{FF2B5EF4-FFF2-40B4-BE49-F238E27FC236}">
                  <a16:creationId xmlns:a16="http://schemas.microsoft.com/office/drawing/2014/main" id="{78463411-F46E-9C24-1201-FE9EB9316797}"/>
                </a:ext>
              </a:extLst>
            </p:cNvPr>
            <p:cNvGrpSpPr/>
            <p:nvPr/>
          </p:nvGrpSpPr>
          <p:grpSpPr>
            <a:xfrm>
              <a:off x="3586999" y="1255903"/>
              <a:ext cx="1442579" cy="1334156"/>
              <a:chOff x="3612021" y="1524001"/>
              <a:chExt cx="1442579" cy="1334156"/>
            </a:xfrm>
          </p:grpSpPr>
          <p:sp>
            <p:nvSpPr>
              <p:cNvPr id="75" name="矩形: 圓角 74">
                <a:extLst>
                  <a:ext uri="{FF2B5EF4-FFF2-40B4-BE49-F238E27FC236}">
                    <a16:creationId xmlns:a16="http://schemas.microsoft.com/office/drawing/2014/main" id="{A4A1D6E8-7C40-1F1C-8393-8FF0BB59D7B7}"/>
                  </a:ext>
                </a:extLst>
              </p:cNvPr>
              <p:cNvSpPr/>
              <p:nvPr/>
            </p:nvSpPr>
            <p:spPr>
              <a:xfrm>
                <a:off x="3612021" y="1524001"/>
                <a:ext cx="1442579" cy="1334156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grpSp>
            <p:nvGrpSpPr>
              <p:cNvPr id="57" name="群組 56">
                <a:extLst>
                  <a:ext uri="{FF2B5EF4-FFF2-40B4-BE49-F238E27FC236}">
                    <a16:creationId xmlns:a16="http://schemas.microsoft.com/office/drawing/2014/main" id="{75FEC997-D9E7-209D-7474-2BC7F1CB58DF}"/>
                  </a:ext>
                </a:extLst>
              </p:cNvPr>
              <p:cNvGrpSpPr/>
              <p:nvPr/>
            </p:nvGrpSpPr>
            <p:grpSpPr>
              <a:xfrm>
                <a:off x="3740147" y="1648217"/>
                <a:ext cx="1144852" cy="455414"/>
                <a:chOff x="3897205" y="1192803"/>
                <a:chExt cx="1144852" cy="455414"/>
              </a:xfrm>
            </p:grpSpPr>
            <p:sp>
              <p:nvSpPr>
                <p:cNvPr id="58" name="矩形: 圓角 57">
                  <a:extLst>
                    <a:ext uri="{FF2B5EF4-FFF2-40B4-BE49-F238E27FC236}">
                      <a16:creationId xmlns:a16="http://schemas.microsoft.com/office/drawing/2014/main" id="{BC2DDE9B-F5CC-FC79-4BC9-0CB9011005F6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90B57B54-2B13-184D-C04D-84A681E0CC40}"/>
                    </a:ext>
                  </a:extLst>
                </p:cNvPr>
                <p:cNvSpPr txBox="1"/>
                <p:nvPr/>
              </p:nvSpPr>
              <p:spPr>
                <a:xfrm>
                  <a:off x="4034581" y="1247814"/>
                  <a:ext cx="938719" cy="4001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智取櫃</a:t>
                  </a:r>
                </a:p>
              </p:txBody>
            </p:sp>
          </p:grpSp>
          <p:grpSp>
            <p:nvGrpSpPr>
              <p:cNvPr id="60" name="群組 59">
                <a:extLst>
                  <a:ext uri="{FF2B5EF4-FFF2-40B4-BE49-F238E27FC236}">
                    <a16:creationId xmlns:a16="http://schemas.microsoft.com/office/drawing/2014/main" id="{97F8C967-C758-95FB-220A-CA10647D18E7}"/>
                  </a:ext>
                </a:extLst>
              </p:cNvPr>
              <p:cNvGrpSpPr/>
              <p:nvPr/>
            </p:nvGrpSpPr>
            <p:grpSpPr>
              <a:xfrm>
                <a:off x="3740147" y="2295534"/>
                <a:ext cx="1144852" cy="455414"/>
                <a:chOff x="3897205" y="1192803"/>
                <a:chExt cx="1144852" cy="455414"/>
              </a:xfrm>
            </p:grpSpPr>
            <p:sp>
              <p:nvSpPr>
                <p:cNvPr id="61" name="矩形: 圓角 60">
                  <a:extLst>
                    <a:ext uri="{FF2B5EF4-FFF2-40B4-BE49-F238E27FC236}">
                      <a16:creationId xmlns:a16="http://schemas.microsoft.com/office/drawing/2014/main" id="{E12AB0CE-2743-553F-2A57-FF9706E6163E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8265D592-7577-B3AE-D3E8-022F05D77BFD}"/>
                    </a:ext>
                  </a:extLst>
                </p:cNvPr>
                <p:cNvSpPr txBox="1"/>
                <p:nvPr/>
              </p:nvSpPr>
              <p:spPr>
                <a:xfrm>
                  <a:off x="4026768" y="1237248"/>
                  <a:ext cx="938719" cy="4001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場地費</a:t>
                  </a:r>
                </a:p>
              </p:txBody>
            </p:sp>
          </p:grpSp>
        </p:grpSp>
        <p:grpSp>
          <p:nvGrpSpPr>
            <p:cNvPr id="85" name="群組 84">
              <a:extLst>
                <a:ext uri="{FF2B5EF4-FFF2-40B4-BE49-F238E27FC236}">
                  <a16:creationId xmlns:a16="http://schemas.microsoft.com/office/drawing/2014/main" id="{6099542D-98D2-3A76-D97F-11941FC98504}"/>
                </a:ext>
              </a:extLst>
            </p:cNvPr>
            <p:cNvGrpSpPr/>
            <p:nvPr/>
          </p:nvGrpSpPr>
          <p:grpSpPr>
            <a:xfrm>
              <a:off x="3586998" y="3999234"/>
              <a:ext cx="1442579" cy="2096510"/>
              <a:chOff x="3598077" y="3058263"/>
              <a:chExt cx="1442579" cy="2096510"/>
            </a:xfrm>
          </p:grpSpPr>
          <p:sp>
            <p:nvSpPr>
              <p:cNvPr id="55" name="矩形: 圓角 54">
                <a:extLst>
                  <a:ext uri="{FF2B5EF4-FFF2-40B4-BE49-F238E27FC236}">
                    <a16:creationId xmlns:a16="http://schemas.microsoft.com/office/drawing/2014/main" id="{80569538-7FA5-B98B-DD33-8AD97D548D72}"/>
                  </a:ext>
                </a:extLst>
              </p:cNvPr>
              <p:cNvSpPr/>
              <p:nvPr/>
            </p:nvSpPr>
            <p:spPr>
              <a:xfrm>
                <a:off x="3598077" y="3058263"/>
                <a:ext cx="1442579" cy="209651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grpSp>
            <p:nvGrpSpPr>
              <p:cNvPr id="63" name="群組 62">
                <a:extLst>
                  <a:ext uri="{FF2B5EF4-FFF2-40B4-BE49-F238E27FC236}">
                    <a16:creationId xmlns:a16="http://schemas.microsoft.com/office/drawing/2014/main" id="{1B0E22A7-1B82-AE84-1E4A-5833ECDDB9FB}"/>
                  </a:ext>
                </a:extLst>
              </p:cNvPr>
              <p:cNvGrpSpPr/>
              <p:nvPr/>
            </p:nvGrpSpPr>
            <p:grpSpPr>
              <a:xfrm>
                <a:off x="3743679" y="3244318"/>
                <a:ext cx="1144852" cy="461360"/>
                <a:chOff x="3897205" y="1192803"/>
                <a:chExt cx="1144852" cy="461360"/>
              </a:xfrm>
            </p:grpSpPr>
            <p:sp>
              <p:nvSpPr>
                <p:cNvPr id="64" name="矩形: 圓角 63">
                  <a:extLst>
                    <a:ext uri="{FF2B5EF4-FFF2-40B4-BE49-F238E27FC236}">
                      <a16:creationId xmlns:a16="http://schemas.microsoft.com/office/drawing/2014/main" id="{63444AAE-5E90-5605-8816-7D1E572D77BC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FCACA76B-7BBD-E26B-29A8-9A2FBF3DFC73}"/>
                    </a:ext>
                  </a:extLst>
                </p:cNvPr>
                <p:cNvSpPr txBox="1"/>
                <p:nvPr/>
              </p:nvSpPr>
              <p:spPr>
                <a:xfrm>
                  <a:off x="4125520" y="1254054"/>
                  <a:ext cx="707887" cy="4001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灌氣</a:t>
                  </a:r>
                </a:p>
              </p:txBody>
            </p:sp>
          </p:grpSp>
          <p:grpSp>
            <p:nvGrpSpPr>
              <p:cNvPr id="66" name="群組 65">
                <a:extLst>
                  <a:ext uri="{FF2B5EF4-FFF2-40B4-BE49-F238E27FC236}">
                    <a16:creationId xmlns:a16="http://schemas.microsoft.com/office/drawing/2014/main" id="{F228EB04-4B1C-9148-AA27-C929E0CD64DE}"/>
                  </a:ext>
                </a:extLst>
              </p:cNvPr>
              <p:cNvGrpSpPr/>
              <p:nvPr/>
            </p:nvGrpSpPr>
            <p:grpSpPr>
              <a:xfrm>
                <a:off x="3743679" y="3891635"/>
                <a:ext cx="1144852" cy="455414"/>
                <a:chOff x="3897205" y="1192803"/>
                <a:chExt cx="1144852" cy="455414"/>
              </a:xfrm>
            </p:grpSpPr>
            <p:sp>
              <p:nvSpPr>
                <p:cNvPr id="67" name="矩形: 圓角 66">
                  <a:extLst>
                    <a:ext uri="{FF2B5EF4-FFF2-40B4-BE49-F238E27FC236}">
                      <a16:creationId xmlns:a16="http://schemas.microsoft.com/office/drawing/2014/main" id="{C6EC5303-C9E2-FFA5-8ADF-F35C812A9DE8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8F8445C3-1CAF-DFD1-D219-BE973045F250}"/>
                    </a:ext>
                  </a:extLst>
                </p:cNvPr>
                <p:cNvSpPr txBox="1"/>
                <p:nvPr/>
              </p:nvSpPr>
              <p:spPr>
                <a:xfrm>
                  <a:off x="4125520" y="1232486"/>
                  <a:ext cx="707887" cy="4001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配送</a:t>
                  </a:r>
                </a:p>
              </p:txBody>
            </p:sp>
          </p:grpSp>
          <p:grpSp>
            <p:nvGrpSpPr>
              <p:cNvPr id="69" name="群組 68">
                <a:extLst>
                  <a:ext uri="{FF2B5EF4-FFF2-40B4-BE49-F238E27FC236}">
                    <a16:creationId xmlns:a16="http://schemas.microsoft.com/office/drawing/2014/main" id="{BF600F9E-9B37-0895-6FFE-07C090CAD91D}"/>
                  </a:ext>
                </a:extLst>
              </p:cNvPr>
              <p:cNvGrpSpPr/>
              <p:nvPr/>
            </p:nvGrpSpPr>
            <p:grpSpPr>
              <a:xfrm>
                <a:off x="3743679" y="4499252"/>
                <a:ext cx="1144852" cy="455414"/>
                <a:chOff x="3897205" y="1192803"/>
                <a:chExt cx="1144852" cy="455414"/>
              </a:xfrm>
            </p:grpSpPr>
            <p:sp>
              <p:nvSpPr>
                <p:cNvPr id="70" name="矩形: 圓角 69">
                  <a:extLst>
                    <a:ext uri="{FF2B5EF4-FFF2-40B4-BE49-F238E27FC236}">
                      <a16:creationId xmlns:a16="http://schemas.microsoft.com/office/drawing/2014/main" id="{2607CDA1-71D1-C57A-46AB-85B0D3EB7814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F25D02B5-2F87-9424-68D3-6C01C9D21317}"/>
                    </a:ext>
                  </a:extLst>
                </p:cNvPr>
                <p:cNvSpPr txBox="1"/>
                <p:nvPr/>
              </p:nvSpPr>
              <p:spPr>
                <a:xfrm>
                  <a:off x="4138650" y="1227279"/>
                  <a:ext cx="707887" cy="4001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安裝</a:t>
                  </a:r>
                </a:p>
              </p:txBody>
            </p:sp>
          </p:grpSp>
        </p:grpSp>
        <p:sp>
          <p:nvSpPr>
            <p:cNvPr id="78" name="矩形: 圓角 77">
              <a:extLst>
                <a:ext uri="{FF2B5EF4-FFF2-40B4-BE49-F238E27FC236}">
                  <a16:creationId xmlns:a16="http://schemas.microsoft.com/office/drawing/2014/main" id="{94572A04-2A84-D753-DBF7-E937D7D48067}"/>
                </a:ext>
              </a:extLst>
            </p:cNvPr>
            <p:cNvSpPr/>
            <p:nvPr/>
          </p:nvSpPr>
          <p:spPr>
            <a:xfrm>
              <a:off x="3579418" y="2666254"/>
              <a:ext cx="1442579" cy="1233433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 dirty="0"/>
            </a:p>
          </p:txBody>
        </p:sp>
        <p:grpSp>
          <p:nvGrpSpPr>
            <p:cNvPr id="79" name="群組 78">
              <a:extLst>
                <a:ext uri="{FF2B5EF4-FFF2-40B4-BE49-F238E27FC236}">
                  <a16:creationId xmlns:a16="http://schemas.microsoft.com/office/drawing/2014/main" id="{CA97F9BA-7BB7-4D4D-4F2C-7BC47B2338D9}"/>
                </a:ext>
              </a:extLst>
            </p:cNvPr>
            <p:cNvGrpSpPr/>
            <p:nvPr/>
          </p:nvGrpSpPr>
          <p:grpSpPr>
            <a:xfrm>
              <a:off x="3728281" y="3349511"/>
              <a:ext cx="1144852" cy="455414"/>
              <a:chOff x="3897205" y="1192803"/>
              <a:chExt cx="1144852" cy="455414"/>
            </a:xfrm>
            <a:solidFill>
              <a:schemeClr val="accent5"/>
            </a:solidFill>
          </p:grpSpPr>
          <p:sp>
            <p:nvSpPr>
              <p:cNvPr id="80" name="矩形: 圓角 79">
                <a:extLst>
                  <a:ext uri="{FF2B5EF4-FFF2-40B4-BE49-F238E27FC236}">
                    <a16:creationId xmlns:a16="http://schemas.microsoft.com/office/drawing/2014/main" id="{D8C354B1-B83D-B18D-E11E-52D91512B07D}"/>
                  </a:ext>
                </a:extLst>
              </p:cNvPr>
              <p:cNvSpPr/>
              <p:nvPr/>
            </p:nvSpPr>
            <p:spPr>
              <a:xfrm>
                <a:off x="3897205" y="1192803"/>
                <a:ext cx="1144852" cy="455414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53357F45-A946-7135-8D97-03DD9D8354E8}"/>
                  </a:ext>
                </a:extLst>
              </p:cNvPr>
              <p:cNvSpPr txBox="1"/>
              <p:nvPr/>
            </p:nvSpPr>
            <p:spPr>
              <a:xfrm>
                <a:off x="4146464" y="1221715"/>
                <a:ext cx="707887" cy="400109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35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授權</a:t>
                </a:r>
              </a:p>
            </p:txBody>
          </p:sp>
        </p:grpSp>
        <p:grpSp>
          <p:nvGrpSpPr>
            <p:cNvPr id="82" name="群組 81">
              <a:extLst>
                <a:ext uri="{FF2B5EF4-FFF2-40B4-BE49-F238E27FC236}">
                  <a16:creationId xmlns:a16="http://schemas.microsoft.com/office/drawing/2014/main" id="{4DCF23D2-162E-3A4E-162D-46B8C7430355}"/>
                </a:ext>
              </a:extLst>
            </p:cNvPr>
            <p:cNvGrpSpPr/>
            <p:nvPr/>
          </p:nvGrpSpPr>
          <p:grpSpPr>
            <a:xfrm>
              <a:off x="3728281" y="2763900"/>
              <a:ext cx="1144852" cy="455414"/>
              <a:chOff x="3897205" y="1192803"/>
              <a:chExt cx="1144852" cy="455414"/>
            </a:xfrm>
            <a:solidFill>
              <a:schemeClr val="accent5"/>
            </a:solidFill>
          </p:grpSpPr>
          <p:sp>
            <p:nvSpPr>
              <p:cNvPr id="83" name="矩形: 圓角 82">
                <a:extLst>
                  <a:ext uri="{FF2B5EF4-FFF2-40B4-BE49-F238E27FC236}">
                    <a16:creationId xmlns:a16="http://schemas.microsoft.com/office/drawing/2014/main" id="{3CF6C1C9-53B1-1B68-E8F0-FA5ED6372674}"/>
                  </a:ext>
                </a:extLst>
              </p:cNvPr>
              <p:cNvSpPr/>
              <p:nvPr/>
            </p:nvSpPr>
            <p:spPr>
              <a:xfrm>
                <a:off x="3897205" y="1192803"/>
                <a:ext cx="1144852" cy="455414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69AEDE05-E989-5B79-ED98-83155A6CFAA8}"/>
                  </a:ext>
                </a:extLst>
              </p:cNvPr>
              <p:cNvSpPr txBox="1"/>
              <p:nvPr/>
            </p:nvSpPr>
            <p:spPr>
              <a:xfrm>
                <a:off x="4146464" y="1221715"/>
                <a:ext cx="707887" cy="400109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35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容器</a:t>
                </a:r>
              </a:p>
            </p:txBody>
          </p:sp>
        </p:grpSp>
        <p:grpSp>
          <p:nvGrpSpPr>
            <p:cNvPr id="90" name="群組 89">
              <a:extLst>
                <a:ext uri="{FF2B5EF4-FFF2-40B4-BE49-F238E27FC236}">
                  <a16:creationId xmlns:a16="http://schemas.microsoft.com/office/drawing/2014/main" id="{AFA2B140-9843-BF24-17F9-03BF7EE27176}"/>
                </a:ext>
              </a:extLst>
            </p:cNvPr>
            <p:cNvGrpSpPr/>
            <p:nvPr/>
          </p:nvGrpSpPr>
          <p:grpSpPr>
            <a:xfrm>
              <a:off x="767790" y="3201293"/>
              <a:ext cx="1201378" cy="455414"/>
              <a:chOff x="3897205" y="1192803"/>
              <a:chExt cx="1249669" cy="455414"/>
            </a:xfrm>
          </p:grpSpPr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3F7FCBD6-3386-22CC-F9E9-7F701309702C}"/>
                  </a:ext>
                </a:extLst>
              </p:cNvPr>
              <p:cNvSpPr/>
              <p:nvPr/>
            </p:nvSpPr>
            <p:spPr>
              <a:xfrm>
                <a:off x="3897205" y="1192803"/>
                <a:ext cx="1144852" cy="45541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1350" dirty="0"/>
                  <a:t>智智</a:t>
                </a:r>
              </a:p>
            </p:txBody>
          </p:sp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C868CE12-28E2-CBC3-6A1E-84A964F01C0A}"/>
                  </a:ext>
                </a:extLst>
              </p:cNvPr>
              <p:cNvSpPr txBox="1"/>
              <p:nvPr/>
            </p:nvSpPr>
            <p:spPr>
              <a:xfrm>
                <a:off x="3930311" y="1239186"/>
                <a:ext cx="1216563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35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新櫃設置</a:t>
                </a:r>
              </a:p>
            </p:txBody>
          </p:sp>
        </p:grpSp>
      </p:grpSp>
      <p:sp>
        <p:nvSpPr>
          <p:cNvPr id="2" name="左中括弧 1">
            <a:extLst>
              <a:ext uri="{FF2B5EF4-FFF2-40B4-BE49-F238E27FC236}">
                <a16:creationId xmlns:a16="http://schemas.microsoft.com/office/drawing/2014/main" id="{97D7C5DB-5638-24EA-2C50-4BF68BA7BB5E}"/>
              </a:ext>
            </a:extLst>
          </p:cNvPr>
          <p:cNvSpPr/>
          <p:nvPr/>
        </p:nvSpPr>
        <p:spPr>
          <a:xfrm>
            <a:off x="3494918" y="2077968"/>
            <a:ext cx="239159" cy="2549426"/>
          </a:xfrm>
          <a:prstGeom prst="leftBracket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69880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8000">
        <p:fade/>
      </p:transition>
    </mc:Choice>
    <mc:Fallback xmlns="">
      <p:transition spd="med" advClick="0" advTm="8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55CEE-3541-6EC8-F8A3-C28DD6F82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1">
            <a:extLst>
              <a:ext uri="{FF2B5EF4-FFF2-40B4-BE49-F238E27FC236}">
                <a16:creationId xmlns:a16="http://schemas.microsoft.com/office/drawing/2014/main" id="{EFB87844-B076-93F6-B727-2D6BD4D81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2680" y="5720449"/>
            <a:ext cx="2057400" cy="273844"/>
          </a:xfrm>
        </p:spPr>
        <p:txBody>
          <a:bodyPr/>
          <a:lstStyle/>
          <a:p>
            <a:fld id="{2E95FD34-61D0-4C5A-B773-4E2676150C65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D6278A5-761B-589B-883B-7103B1BA1CE4}"/>
              </a:ext>
            </a:extLst>
          </p:cNvPr>
          <p:cNvSpPr txBox="1"/>
          <p:nvPr/>
        </p:nvSpPr>
        <p:spPr>
          <a:xfrm>
            <a:off x="42517" y="492127"/>
            <a:ext cx="7040163" cy="48474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altLang="zh-TW" sz="2700" b="1" dirty="0">
                <a:latin typeface="微軟正黑體"/>
                <a:ea typeface="微軟正黑體"/>
              </a:rPr>
              <a:t>B</a:t>
            </a:r>
            <a:r>
              <a:rPr lang="zh-TW" altLang="en-US" sz="2700" b="1" dirty="0">
                <a:latin typeface="微軟正黑體"/>
                <a:ea typeface="微軟正黑體"/>
              </a:rPr>
              <a:t>型</a:t>
            </a:r>
            <a:r>
              <a:rPr lang="en-US" altLang="zh-TW" sz="2700" b="1" dirty="0">
                <a:latin typeface="微軟正黑體"/>
                <a:ea typeface="微軟正黑體"/>
              </a:rPr>
              <a:t>_</a:t>
            </a:r>
            <a:r>
              <a:rPr lang="zh-TW" altLang="en-US" sz="2700" b="1" dirty="0">
                <a:latin typeface="微軟正黑體"/>
                <a:ea typeface="微軟正黑體"/>
              </a:rPr>
              <a:t>業者設備型</a:t>
            </a:r>
          </a:p>
        </p:txBody>
      </p: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690F6D26-9A4C-94BC-B85B-C76EA7950694}"/>
              </a:ext>
            </a:extLst>
          </p:cNvPr>
          <p:cNvGrpSpPr/>
          <p:nvPr/>
        </p:nvGrpSpPr>
        <p:grpSpPr>
          <a:xfrm>
            <a:off x="2195736" y="1588424"/>
            <a:ext cx="4178646" cy="4000816"/>
            <a:chOff x="767790" y="1156187"/>
            <a:chExt cx="4991474" cy="4732994"/>
          </a:xfrm>
        </p:grpSpPr>
        <p:grpSp>
          <p:nvGrpSpPr>
            <p:cNvPr id="62" name="群組 61">
              <a:extLst>
                <a:ext uri="{FF2B5EF4-FFF2-40B4-BE49-F238E27FC236}">
                  <a16:creationId xmlns:a16="http://schemas.microsoft.com/office/drawing/2014/main" id="{0CC389F6-7CCA-8CCA-823A-CAA764B2EB3B}"/>
                </a:ext>
              </a:extLst>
            </p:cNvPr>
            <p:cNvGrpSpPr/>
            <p:nvPr/>
          </p:nvGrpSpPr>
          <p:grpSpPr>
            <a:xfrm>
              <a:off x="3641012" y="1156187"/>
              <a:ext cx="1442579" cy="1325527"/>
              <a:chOff x="3612021" y="1523999"/>
              <a:chExt cx="1442579" cy="1325527"/>
            </a:xfrm>
          </p:grpSpPr>
          <p:sp>
            <p:nvSpPr>
              <p:cNvPr id="55" name="矩形: 圓角 54">
                <a:extLst>
                  <a:ext uri="{FF2B5EF4-FFF2-40B4-BE49-F238E27FC236}">
                    <a16:creationId xmlns:a16="http://schemas.microsoft.com/office/drawing/2014/main" id="{95302F75-84A8-CBE0-B481-F3C6D9382287}"/>
                  </a:ext>
                </a:extLst>
              </p:cNvPr>
              <p:cNvSpPr/>
              <p:nvPr/>
            </p:nvSpPr>
            <p:spPr>
              <a:xfrm>
                <a:off x="3612021" y="1523999"/>
                <a:ext cx="1442579" cy="132552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F947E554-42DA-CDA2-9672-AE8DD1793417}"/>
                  </a:ext>
                </a:extLst>
              </p:cNvPr>
              <p:cNvGrpSpPr/>
              <p:nvPr/>
            </p:nvGrpSpPr>
            <p:grpSpPr>
              <a:xfrm>
                <a:off x="3740147" y="1648217"/>
                <a:ext cx="1144852" cy="455414"/>
                <a:chOff x="3897205" y="1192803"/>
                <a:chExt cx="1144852" cy="455414"/>
              </a:xfrm>
            </p:grpSpPr>
            <p:sp>
              <p:nvSpPr>
                <p:cNvPr id="2" name="矩形: 圓角 1">
                  <a:extLst>
                    <a:ext uri="{FF2B5EF4-FFF2-40B4-BE49-F238E27FC236}">
                      <a16:creationId xmlns:a16="http://schemas.microsoft.com/office/drawing/2014/main" id="{DA4DFF07-8F64-9605-B756-DE77DE998987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BEAF0ADE-4FB7-B080-7FB2-3D664EBCE6A3}"/>
                    </a:ext>
                  </a:extLst>
                </p:cNvPr>
                <p:cNvSpPr txBox="1"/>
                <p:nvPr/>
              </p:nvSpPr>
              <p:spPr>
                <a:xfrm>
                  <a:off x="4034581" y="1247812"/>
                  <a:ext cx="93871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智取櫃</a:t>
                  </a:r>
                </a:p>
              </p:txBody>
            </p:sp>
          </p:grpSp>
          <p:grpSp>
            <p:nvGrpSpPr>
              <p:cNvPr id="7" name="群組 6">
                <a:extLst>
                  <a:ext uri="{FF2B5EF4-FFF2-40B4-BE49-F238E27FC236}">
                    <a16:creationId xmlns:a16="http://schemas.microsoft.com/office/drawing/2014/main" id="{340D58F0-41D5-CE8E-C40E-E70AE9166952}"/>
                  </a:ext>
                </a:extLst>
              </p:cNvPr>
              <p:cNvGrpSpPr/>
              <p:nvPr/>
            </p:nvGrpSpPr>
            <p:grpSpPr>
              <a:xfrm>
                <a:off x="3740147" y="2295534"/>
                <a:ext cx="1144852" cy="455414"/>
                <a:chOff x="3897205" y="1192803"/>
                <a:chExt cx="1144852" cy="455414"/>
              </a:xfrm>
            </p:grpSpPr>
            <p:sp>
              <p:nvSpPr>
                <p:cNvPr id="8" name="矩形: 圓角 7">
                  <a:extLst>
                    <a:ext uri="{FF2B5EF4-FFF2-40B4-BE49-F238E27FC236}">
                      <a16:creationId xmlns:a16="http://schemas.microsoft.com/office/drawing/2014/main" id="{A321E8A8-5C0C-B8CC-3B55-8F4419A2FB07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7B0D3347-1E04-1BF6-D96D-5C2BA2F3D57E}"/>
                    </a:ext>
                  </a:extLst>
                </p:cNvPr>
                <p:cNvSpPr txBox="1"/>
                <p:nvPr/>
              </p:nvSpPr>
              <p:spPr>
                <a:xfrm>
                  <a:off x="4026768" y="1237248"/>
                  <a:ext cx="93871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場地費</a:t>
                  </a:r>
                </a:p>
              </p:txBody>
            </p:sp>
          </p:grpSp>
        </p:grpSp>
        <p:grpSp>
          <p:nvGrpSpPr>
            <p:cNvPr id="61" name="群組 60">
              <a:extLst>
                <a:ext uri="{FF2B5EF4-FFF2-40B4-BE49-F238E27FC236}">
                  <a16:creationId xmlns:a16="http://schemas.microsoft.com/office/drawing/2014/main" id="{B75AF4F6-6894-3437-8C06-39DD1B6F49E2}"/>
                </a:ext>
              </a:extLst>
            </p:cNvPr>
            <p:cNvGrpSpPr/>
            <p:nvPr/>
          </p:nvGrpSpPr>
          <p:grpSpPr>
            <a:xfrm>
              <a:off x="3641012" y="3916938"/>
              <a:ext cx="1442579" cy="1972243"/>
              <a:chOff x="3612021" y="3084055"/>
              <a:chExt cx="1442579" cy="1972243"/>
            </a:xfrm>
          </p:grpSpPr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26116D28-9C09-8A09-098A-8E257AF0E8BF}"/>
                  </a:ext>
                </a:extLst>
              </p:cNvPr>
              <p:cNvSpPr/>
              <p:nvPr/>
            </p:nvSpPr>
            <p:spPr>
              <a:xfrm>
                <a:off x="3612021" y="3084055"/>
                <a:ext cx="1442579" cy="1972243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A4474940-371D-9754-819D-DAD78F40A3E8}"/>
                  </a:ext>
                </a:extLst>
              </p:cNvPr>
              <p:cNvGrpSpPr/>
              <p:nvPr/>
            </p:nvGrpSpPr>
            <p:grpSpPr>
              <a:xfrm>
                <a:off x="3743679" y="3244318"/>
                <a:ext cx="1144852" cy="461361"/>
                <a:chOff x="3897205" y="1192803"/>
                <a:chExt cx="1144852" cy="461361"/>
              </a:xfrm>
            </p:grpSpPr>
            <p:sp>
              <p:nvSpPr>
                <p:cNvPr id="11" name="矩形: 圓角 10">
                  <a:extLst>
                    <a:ext uri="{FF2B5EF4-FFF2-40B4-BE49-F238E27FC236}">
                      <a16:creationId xmlns:a16="http://schemas.microsoft.com/office/drawing/2014/main" id="{DE6E14B9-4BD3-C447-04FA-CC9D920C3B20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10372FD7-8159-1882-2027-9DC946BBF39B}"/>
                    </a:ext>
                  </a:extLst>
                </p:cNvPr>
                <p:cNvSpPr txBox="1"/>
                <p:nvPr/>
              </p:nvSpPr>
              <p:spPr>
                <a:xfrm>
                  <a:off x="4125520" y="1254054"/>
                  <a:ext cx="70788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灌氣</a:t>
                  </a:r>
                </a:p>
              </p:txBody>
            </p:sp>
          </p:grpSp>
          <p:grpSp>
            <p:nvGrpSpPr>
              <p:cNvPr id="13" name="群組 12">
                <a:extLst>
                  <a:ext uri="{FF2B5EF4-FFF2-40B4-BE49-F238E27FC236}">
                    <a16:creationId xmlns:a16="http://schemas.microsoft.com/office/drawing/2014/main" id="{E52A8082-06F4-1C86-709B-C2C730C97691}"/>
                  </a:ext>
                </a:extLst>
              </p:cNvPr>
              <p:cNvGrpSpPr/>
              <p:nvPr/>
            </p:nvGrpSpPr>
            <p:grpSpPr>
              <a:xfrm>
                <a:off x="3743679" y="3891635"/>
                <a:ext cx="1144852" cy="455414"/>
                <a:chOff x="3897205" y="1192803"/>
                <a:chExt cx="1144852" cy="455414"/>
              </a:xfrm>
            </p:grpSpPr>
            <p:sp>
              <p:nvSpPr>
                <p:cNvPr id="14" name="矩形: 圓角 13">
                  <a:extLst>
                    <a:ext uri="{FF2B5EF4-FFF2-40B4-BE49-F238E27FC236}">
                      <a16:creationId xmlns:a16="http://schemas.microsoft.com/office/drawing/2014/main" id="{59BAE382-95A8-3406-5212-88DDA8FB1952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1BDB6734-C8E1-6316-80CA-A1196F36769A}"/>
                    </a:ext>
                  </a:extLst>
                </p:cNvPr>
                <p:cNvSpPr txBox="1"/>
                <p:nvPr/>
              </p:nvSpPr>
              <p:spPr>
                <a:xfrm>
                  <a:off x="4125520" y="1232484"/>
                  <a:ext cx="70788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配送</a:t>
                  </a:r>
                </a:p>
              </p:txBody>
            </p:sp>
          </p:grpSp>
          <p:grpSp>
            <p:nvGrpSpPr>
              <p:cNvPr id="16" name="群組 15">
                <a:extLst>
                  <a:ext uri="{FF2B5EF4-FFF2-40B4-BE49-F238E27FC236}">
                    <a16:creationId xmlns:a16="http://schemas.microsoft.com/office/drawing/2014/main" id="{9ABFFFC2-561B-1EB8-51F2-C949EDF56354}"/>
                  </a:ext>
                </a:extLst>
              </p:cNvPr>
              <p:cNvGrpSpPr/>
              <p:nvPr/>
            </p:nvGrpSpPr>
            <p:grpSpPr>
              <a:xfrm>
                <a:off x="3743679" y="4499252"/>
                <a:ext cx="1144852" cy="455414"/>
                <a:chOff x="3897205" y="1192803"/>
                <a:chExt cx="1144852" cy="455414"/>
              </a:xfrm>
            </p:grpSpPr>
            <p:sp>
              <p:nvSpPr>
                <p:cNvPr id="17" name="矩形: 圓角 16">
                  <a:extLst>
                    <a:ext uri="{FF2B5EF4-FFF2-40B4-BE49-F238E27FC236}">
                      <a16:creationId xmlns:a16="http://schemas.microsoft.com/office/drawing/2014/main" id="{70C4420B-1AF5-62B1-E48A-A80E6E91A1BE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C138EE5F-22FA-6501-2631-6B7AA7CA8529}"/>
                    </a:ext>
                  </a:extLst>
                </p:cNvPr>
                <p:cNvSpPr txBox="1"/>
                <p:nvPr/>
              </p:nvSpPr>
              <p:spPr>
                <a:xfrm>
                  <a:off x="4138650" y="1227279"/>
                  <a:ext cx="70788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安裝</a:t>
                  </a:r>
                </a:p>
              </p:txBody>
            </p:sp>
          </p:grpSp>
        </p:grp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06644A87-BA0F-7C1F-63C2-ACBDED76F455}"/>
                </a:ext>
              </a:extLst>
            </p:cNvPr>
            <p:cNvGrpSpPr/>
            <p:nvPr/>
          </p:nvGrpSpPr>
          <p:grpSpPr>
            <a:xfrm>
              <a:off x="767790" y="3201293"/>
              <a:ext cx="1201378" cy="455414"/>
              <a:chOff x="3897205" y="1192803"/>
              <a:chExt cx="1249669" cy="455414"/>
            </a:xfrm>
          </p:grpSpPr>
          <p:sp>
            <p:nvSpPr>
              <p:cNvPr id="20" name="矩形: 圓角 19">
                <a:extLst>
                  <a:ext uri="{FF2B5EF4-FFF2-40B4-BE49-F238E27FC236}">
                    <a16:creationId xmlns:a16="http://schemas.microsoft.com/office/drawing/2014/main" id="{F0BF58FB-3B5A-0251-4798-591E28CBE892}"/>
                  </a:ext>
                </a:extLst>
              </p:cNvPr>
              <p:cNvSpPr/>
              <p:nvPr/>
            </p:nvSpPr>
            <p:spPr>
              <a:xfrm>
                <a:off x="3897205" y="1192803"/>
                <a:ext cx="1144852" cy="45541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1350" dirty="0"/>
                  <a:t>智智</a:t>
                </a:r>
              </a:p>
            </p:txBody>
          </p:sp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96DDCE9-CC4B-26BB-1B5A-33588072704C}"/>
                  </a:ext>
                </a:extLst>
              </p:cNvPr>
              <p:cNvSpPr txBox="1"/>
              <p:nvPr/>
            </p:nvSpPr>
            <p:spPr>
              <a:xfrm>
                <a:off x="3930311" y="1239186"/>
                <a:ext cx="1216563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35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新櫃設置</a:t>
                </a:r>
              </a:p>
            </p:txBody>
          </p:sp>
        </p:grp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A755EF76-5C1C-B3AD-4D05-B601BEDFC31A}"/>
                </a:ext>
              </a:extLst>
            </p:cNvPr>
            <p:cNvGrpSpPr/>
            <p:nvPr/>
          </p:nvGrpSpPr>
          <p:grpSpPr>
            <a:xfrm>
              <a:off x="5230343" y="1946805"/>
              <a:ext cx="513005" cy="492443"/>
              <a:chOff x="5130800" y="1676273"/>
              <a:chExt cx="513005" cy="492443"/>
            </a:xfrm>
          </p:grpSpPr>
          <p:sp>
            <p:nvSpPr>
              <p:cNvPr id="22" name="流程圖: 接點 21">
                <a:extLst>
                  <a:ext uri="{FF2B5EF4-FFF2-40B4-BE49-F238E27FC236}">
                    <a16:creationId xmlns:a16="http://schemas.microsoft.com/office/drawing/2014/main" id="{5ED60C09-9CD7-B8C6-F159-8C7CB1890749}"/>
                  </a:ext>
                </a:extLst>
              </p:cNvPr>
              <p:cNvSpPr/>
              <p:nvPr/>
            </p:nvSpPr>
            <p:spPr>
              <a:xfrm>
                <a:off x="5130800" y="1694599"/>
                <a:ext cx="438150" cy="409032"/>
              </a:xfrm>
              <a:prstGeom prst="flowChartConnector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9F8E91D8-B792-3638-AFBB-DC6B0578D2E5}"/>
                  </a:ext>
                </a:extLst>
              </p:cNvPr>
              <p:cNvSpPr txBox="1"/>
              <p:nvPr/>
            </p:nvSpPr>
            <p:spPr>
              <a:xfrm>
                <a:off x="5154855" y="1676273"/>
                <a:ext cx="488950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9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旺來</a:t>
                </a:r>
              </a:p>
            </p:txBody>
          </p:sp>
        </p:grpSp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D5A59E03-149A-06D2-C433-86280449DF0E}"/>
                </a:ext>
              </a:extLst>
            </p:cNvPr>
            <p:cNvGrpSpPr/>
            <p:nvPr/>
          </p:nvGrpSpPr>
          <p:grpSpPr>
            <a:xfrm>
              <a:off x="2960144" y="4747651"/>
              <a:ext cx="534544" cy="492443"/>
              <a:chOff x="5130800" y="1694599"/>
              <a:chExt cx="534544" cy="492443"/>
            </a:xfrm>
          </p:grpSpPr>
          <p:sp>
            <p:nvSpPr>
              <p:cNvPr id="39" name="流程圖: 接點 38">
                <a:extLst>
                  <a:ext uri="{FF2B5EF4-FFF2-40B4-BE49-F238E27FC236}">
                    <a16:creationId xmlns:a16="http://schemas.microsoft.com/office/drawing/2014/main" id="{146E9AF3-DE9A-06EF-2C7D-985FE3F98E59}"/>
                  </a:ext>
                </a:extLst>
              </p:cNvPr>
              <p:cNvSpPr/>
              <p:nvPr/>
            </p:nvSpPr>
            <p:spPr>
              <a:xfrm>
                <a:off x="5130800" y="1694599"/>
                <a:ext cx="438150" cy="409032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7B295EB-04C9-3554-CF31-AB9860421500}"/>
                  </a:ext>
                </a:extLst>
              </p:cNvPr>
              <p:cNvSpPr txBox="1"/>
              <p:nvPr/>
            </p:nvSpPr>
            <p:spPr>
              <a:xfrm>
                <a:off x="5176394" y="1694599"/>
                <a:ext cx="488950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9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同業</a:t>
                </a:r>
              </a:p>
            </p:txBody>
          </p:sp>
        </p:grpSp>
        <p:sp>
          <p:nvSpPr>
            <p:cNvPr id="59" name="矩形: 圓角 58">
              <a:extLst>
                <a:ext uri="{FF2B5EF4-FFF2-40B4-BE49-F238E27FC236}">
                  <a16:creationId xmlns:a16="http://schemas.microsoft.com/office/drawing/2014/main" id="{4706089B-F9A7-3B96-99F6-803DE03D729D}"/>
                </a:ext>
              </a:extLst>
            </p:cNvPr>
            <p:cNvSpPr/>
            <p:nvPr/>
          </p:nvSpPr>
          <p:spPr>
            <a:xfrm>
              <a:off x="3636773" y="2574339"/>
              <a:ext cx="1442579" cy="1233433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 dirty="0"/>
            </a:p>
          </p:txBody>
        </p:sp>
        <p:grpSp>
          <p:nvGrpSpPr>
            <p:cNvPr id="41" name="群組 40">
              <a:extLst>
                <a:ext uri="{FF2B5EF4-FFF2-40B4-BE49-F238E27FC236}">
                  <a16:creationId xmlns:a16="http://schemas.microsoft.com/office/drawing/2014/main" id="{CE8ED50F-CD4D-B5BA-6832-FCBA9F6C90D8}"/>
                </a:ext>
              </a:extLst>
            </p:cNvPr>
            <p:cNvGrpSpPr/>
            <p:nvPr/>
          </p:nvGrpSpPr>
          <p:grpSpPr>
            <a:xfrm>
              <a:off x="3785636" y="3257596"/>
              <a:ext cx="1144852" cy="455414"/>
              <a:chOff x="3897205" y="1192803"/>
              <a:chExt cx="1144852" cy="455414"/>
            </a:xfrm>
            <a:solidFill>
              <a:schemeClr val="accent5"/>
            </a:solidFill>
          </p:grpSpPr>
          <p:sp>
            <p:nvSpPr>
              <p:cNvPr id="42" name="矩形: 圓角 41">
                <a:extLst>
                  <a:ext uri="{FF2B5EF4-FFF2-40B4-BE49-F238E27FC236}">
                    <a16:creationId xmlns:a16="http://schemas.microsoft.com/office/drawing/2014/main" id="{B603784D-5D1D-B3E1-42CE-5517E82600C0}"/>
                  </a:ext>
                </a:extLst>
              </p:cNvPr>
              <p:cNvSpPr/>
              <p:nvPr/>
            </p:nvSpPr>
            <p:spPr>
              <a:xfrm>
                <a:off x="3897205" y="1192803"/>
                <a:ext cx="1144852" cy="455414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D5400891-5806-2EE6-9063-585C792AA3CD}"/>
                  </a:ext>
                </a:extLst>
              </p:cNvPr>
              <p:cNvSpPr txBox="1"/>
              <p:nvPr/>
            </p:nvSpPr>
            <p:spPr>
              <a:xfrm>
                <a:off x="4146464" y="1221715"/>
                <a:ext cx="707887" cy="400109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35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授權</a:t>
                </a:r>
              </a:p>
            </p:txBody>
          </p:sp>
        </p:grpSp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4108BA76-7C29-A66D-4DA3-20B33202811C}"/>
                </a:ext>
              </a:extLst>
            </p:cNvPr>
            <p:cNvGrpSpPr/>
            <p:nvPr/>
          </p:nvGrpSpPr>
          <p:grpSpPr>
            <a:xfrm>
              <a:off x="5230343" y="2996777"/>
              <a:ext cx="528921" cy="520386"/>
              <a:chOff x="5130800" y="1694599"/>
              <a:chExt cx="528921" cy="520386"/>
            </a:xfrm>
          </p:grpSpPr>
          <p:sp>
            <p:nvSpPr>
              <p:cNvPr id="45" name="流程圖: 接點 44">
                <a:extLst>
                  <a:ext uri="{FF2B5EF4-FFF2-40B4-BE49-F238E27FC236}">
                    <a16:creationId xmlns:a16="http://schemas.microsoft.com/office/drawing/2014/main" id="{8BB7CC0A-09C5-56C4-E432-AF484D03ECEE}"/>
                  </a:ext>
                </a:extLst>
              </p:cNvPr>
              <p:cNvSpPr/>
              <p:nvPr/>
            </p:nvSpPr>
            <p:spPr>
              <a:xfrm>
                <a:off x="5130800" y="1694599"/>
                <a:ext cx="438150" cy="409032"/>
              </a:xfrm>
              <a:prstGeom prst="flowChartConnector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2CEB5863-BAA1-1223-0202-5131E5683812}"/>
                  </a:ext>
                </a:extLst>
              </p:cNvPr>
              <p:cNvSpPr txBox="1"/>
              <p:nvPr/>
            </p:nvSpPr>
            <p:spPr>
              <a:xfrm>
                <a:off x="5170772" y="1722542"/>
                <a:ext cx="488949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9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旺來</a:t>
                </a:r>
              </a:p>
            </p:txBody>
          </p:sp>
        </p:grpSp>
        <p:grpSp>
          <p:nvGrpSpPr>
            <p:cNvPr id="63" name="群組 62">
              <a:extLst>
                <a:ext uri="{FF2B5EF4-FFF2-40B4-BE49-F238E27FC236}">
                  <a16:creationId xmlns:a16="http://schemas.microsoft.com/office/drawing/2014/main" id="{8503C760-2D32-A9D8-E742-A27DACAFC04F}"/>
                </a:ext>
              </a:extLst>
            </p:cNvPr>
            <p:cNvGrpSpPr/>
            <p:nvPr/>
          </p:nvGrpSpPr>
          <p:grpSpPr>
            <a:xfrm>
              <a:off x="3785636" y="2671985"/>
              <a:ext cx="1144852" cy="455414"/>
              <a:chOff x="3897205" y="1192803"/>
              <a:chExt cx="1144852" cy="455414"/>
            </a:xfrm>
            <a:solidFill>
              <a:schemeClr val="accent5"/>
            </a:solidFill>
          </p:grpSpPr>
          <p:sp>
            <p:nvSpPr>
              <p:cNvPr id="64" name="矩形: 圓角 63">
                <a:extLst>
                  <a:ext uri="{FF2B5EF4-FFF2-40B4-BE49-F238E27FC236}">
                    <a16:creationId xmlns:a16="http://schemas.microsoft.com/office/drawing/2014/main" id="{A6CE1121-8A5E-D953-51BA-13AFF331021D}"/>
                  </a:ext>
                </a:extLst>
              </p:cNvPr>
              <p:cNvSpPr/>
              <p:nvPr/>
            </p:nvSpPr>
            <p:spPr>
              <a:xfrm>
                <a:off x="3897205" y="1192803"/>
                <a:ext cx="1144852" cy="455414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23C16675-E910-3C1F-82F7-5086F57BD7BD}"/>
                  </a:ext>
                </a:extLst>
              </p:cNvPr>
              <p:cNvSpPr txBox="1"/>
              <p:nvPr/>
            </p:nvSpPr>
            <p:spPr>
              <a:xfrm>
                <a:off x="4146464" y="1221715"/>
                <a:ext cx="707887" cy="400109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35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容器</a:t>
                </a:r>
              </a:p>
            </p:txBody>
          </p:sp>
        </p:grpSp>
        <p:grpSp>
          <p:nvGrpSpPr>
            <p:cNvPr id="66" name="群組 65">
              <a:extLst>
                <a:ext uri="{FF2B5EF4-FFF2-40B4-BE49-F238E27FC236}">
                  <a16:creationId xmlns:a16="http://schemas.microsoft.com/office/drawing/2014/main" id="{D61758F4-5AA7-4898-C61E-9E2424329203}"/>
                </a:ext>
              </a:extLst>
            </p:cNvPr>
            <p:cNvGrpSpPr/>
            <p:nvPr/>
          </p:nvGrpSpPr>
          <p:grpSpPr>
            <a:xfrm>
              <a:off x="2992425" y="1284180"/>
              <a:ext cx="543369" cy="492443"/>
              <a:chOff x="5130800" y="1675183"/>
              <a:chExt cx="543369" cy="492443"/>
            </a:xfrm>
          </p:grpSpPr>
          <p:sp>
            <p:nvSpPr>
              <p:cNvPr id="67" name="流程圖: 接點 66">
                <a:extLst>
                  <a:ext uri="{FF2B5EF4-FFF2-40B4-BE49-F238E27FC236}">
                    <a16:creationId xmlns:a16="http://schemas.microsoft.com/office/drawing/2014/main" id="{5ADC8896-6980-BB8E-25CD-31CF70A66BD8}"/>
                  </a:ext>
                </a:extLst>
              </p:cNvPr>
              <p:cNvSpPr/>
              <p:nvPr/>
            </p:nvSpPr>
            <p:spPr>
              <a:xfrm>
                <a:off x="5130800" y="1694599"/>
                <a:ext cx="438150" cy="409032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6D2DD350-03D3-A58B-117F-6BA2CFAF6010}"/>
                  </a:ext>
                </a:extLst>
              </p:cNvPr>
              <p:cNvSpPr txBox="1"/>
              <p:nvPr/>
            </p:nvSpPr>
            <p:spPr>
              <a:xfrm>
                <a:off x="5185219" y="1675183"/>
                <a:ext cx="488950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9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同業</a:t>
                </a:r>
              </a:p>
            </p:txBody>
          </p:sp>
        </p:grpSp>
      </p:grpSp>
      <p:sp>
        <p:nvSpPr>
          <p:cNvPr id="3" name="左中括弧 2">
            <a:extLst>
              <a:ext uri="{FF2B5EF4-FFF2-40B4-BE49-F238E27FC236}">
                <a16:creationId xmlns:a16="http://schemas.microsoft.com/office/drawing/2014/main" id="{71C6C030-E7D1-BF70-4C1C-50C382412D2D}"/>
              </a:ext>
            </a:extLst>
          </p:cNvPr>
          <p:cNvSpPr/>
          <p:nvPr/>
        </p:nvSpPr>
        <p:spPr>
          <a:xfrm>
            <a:off x="3519180" y="2154287"/>
            <a:ext cx="239159" cy="2549426"/>
          </a:xfrm>
          <a:prstGeom prst="leftBracket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24356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8000">
        <p:fade/>
      </p:transition>
    </mc:Choice>
    <mc:Fallback xmlns="">
      <p:transition spd="med" advClick="0" advTm="8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4DE99-BF6B-268E-615A-EC1CBE913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1">
            <a:extLst>
              <a:ext uri="{FF2B5EF4-FFF2-40B4-BE49-F238E27FC236}">
                <a16:creationId xmlns:a16="http://schemas.microsoft.com/office/drawing/2014/main" id="{F74E48F5-B10E-C37E-73E9-059BAE360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2680" y="5720449"/>
            <a:ext cx="2057400" cy="273844"/>
          </a:xfrm>
        </p:spPr>
        <p:txBody>
          <a:bodyPr/>
          <a:lstStyle/>
          <a:p>
            <a:fld id="{2E95FD34-61D0-4C5A-B773-4E2676150C65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702E0A7-B338-14F4-B791-B2323937E570}"/>
              </a:ext>
            </a:extLst>
          </p:cNvPr>
          <p:cNvSpPr txBox="1"/>
          <p:nvPr/>
        </p:nvSpPr>
        <p:spPr>
          <a:xfrm>
            <a:off x="135533" y="497971"/>
            <a:ext cx="7040163" cy="48474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altLang="zh-TW" sz="2700" b="1" dirty="0">
                <a:latin typeface="微軟正黑體"/>
                <a:ea typeface="微軟正黑體"/>
              </a:rPr>
              <a:t>C</a:t>
            </a:r>
            <a:r>
              <a:rPr lang="zh-TW" altLang="en-US" sz="2700" b="1" dirty="0">
                <a:latin typeface="微軟正黑體"/>
                <a:ea typeface="微軟正黑體"/>
              </a:rPr>
              <a:t>型</a:t>
            </a:r>
            <a:r>
              <a:rPr lang="en-US" altLang="zh-TW" sz="2700" b="1" dirty="0">
                <a:latin typeface="微軟正黑體"/>
                <a:ea typeface="微軟正黑體"/>
              </a:rPr>
              <a:t>_</a:t>
            </a:r>
            <a:r>
              <a:rPr lang="zh-TW" altLang="en-US" sz="2700" b="1" dirty="0">
                <a:latin typeface="微軟正黑體"/>
                <a:ea typeface="微軟正黑體"/>
              </a:rPr>
              <a:t>業者場租型</a:t>
            </a:r>
          </a:p>
        </p:txBody>
      </p:sp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E7DE92E4-9DFC-323B-8096-28533D0F4CE7}"/>
              </a:ext>
            </a:extLst>
          </p:cNvPr>
          <p:cNvGrpSpPr/>
          <p:nvPr/>
        </p:nvGrpSpPr>
        <p:grpSpPr>
          <a:xfrm>
            <a:off x="2483768" y="1628800"/>
            <a:ext cx="4230789" cy="4032448"/>
            <a:chOff x="767790" y="1156187"/>
            <a:chExt cx="5075605" cy="4732994"/>
          </a:xfrm>
        </p:grpSpPr>
        <p:sp>
          <p:nvSpPr>
            <p:cNvPr id="106" name="矩形: 圓角 105">
              <a:extLst>
                <a:ext uri="{FF2B5EF4-FFF2-40B4-BE49-F238E27FC236}">
                  <a16:creationId xmlns:a16="http://schemas.microsoft.com/office/drawing/2014/main" id="{ECC97395-5B18-4A6C-500A-6EA2090216D2}"/>
                </a:ext>
              </a:extLst>
            </p:cNvPr>
            <p:cNvSpPr/>
            <p:nvPr/>
          </p:nvSpPr>
          <p:spPr>
            <a:xfrm>
              <a:off x="3636070" y="2554326"/>
              <a:ext cx="1442579" cy="1233433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 dirty="0"/>
            </a:p>
          </p:txBody>
        </p: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CAA527BF-EE18-959E-9ADB-E23AD08D0661}"/>
                </a:ext>
              </a:extLst>
            </p:cNvPr>
            <p:cNvGrpSpPr/>
            <p:nvPr/>
          </p:nvGrpSpPr>
          <p:grpSpPr>
            <a:xfrm>
              <a:off x="5284128" y="2966748"/>
              <a:ext cx="559267" cy="492443"/>
              <a:chOff x="5130800" y="1679040"/>
              <a:chExt cx="559267" cy="492443"/>
            </a:xfrm>
          </p:grpSpPr>
          <p:sp>
            <p:nvSpPr>
              <p:cNvPr id="22" name="流程圖: 接點 21">
                <a:extLst>
                  <a:ext uri="{FF2B5EF4-FFF2-40B4-BE49-F238E27FC236}">
                    <a16:creationId xmlns:a16="http://schemas.microsoft.com/office/drawing/2014/main" id="{C6FFA136-FC7B-1656-ECA8-DFB65734968F}"/>
                  </a:ext>
                </a:extLst>
              </p:cNvPr>
              <p:cNvSpPr/>
              <p:nvPr/>
            </p:nvSpPr>
            <p:spPr>
              <a:xfrm>
                <a:off x="5130800" y="1694599"/>
                <a:ext cx="438150" cy="409032"/>
              </a:xfrm>
              <a:prstGeom prst="flowChartConnector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D5A128D-4B3D-FBF5-6DFF-335834CC9E04}"/>
                  </a:ext>
                </a:extLst>
              </p:cNvPr>
              <p:cNvSpPr txBox="1"/>
              <p:nvPr/>
            </p:nvSpPr>
            <p:spPr>
              <a:xfrm>
                <a:off x="5201117" y="1679040"/>
                <a:ext cx="488950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9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旺來</a:t>
                </a:r>
              </a:p>
            </p:txBody>
          </p:sp>
        </p:grpSp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28D7F783-8C5B-D74B-B7DD-6909506FEBAE}"/>
                </a:ext>
              </a:extLst>
            </p:cNvPr>
            <p:cNvGrpSpPr/>
            <p:nvPr/>
          </p:nvGrpSpPr>
          <p:grpSpPr>
            <a:xfrm>
              <a:off x="3027839" y="1909206"/>
              <a:ext cx="522950" cy="492443"/>
              <a:chOff x="5130800" y="1652892"/>
              <a:chExt cx="522950" cy="492443"/>
            </a:xfrm>
          </p:grpSpPr>
          <p:sp>
            <p:nvSpPr>
              <p:cNvPr id="30" name="流程圖: 接點 29">
                <a:extLst>
                  <a:ext uri="{FF2B5EF4-FFF2-40B4-BE49-F238E27FC236}">
                    <a16:creationId xmlns:a16="http://schemas.microsoft.com/office/drawing/2014/main" id="{AA1B20C3-C7CF-0E12-18F8-2BC2F2CBD59A}"/>
                  </a:ext>
                </a:extLst>
              </p:cNvPr>
              <p:cNvSpPr/>
              <p:nvPr/>
            </p:nvSpPr>
            <p:spPr>
              <a:xfrm>
                <a:off x="5130800" y="1694599"/>
                <a:ext cx="438150" cy="409032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B090F7E8-4FE4-EC77-5FE9-13F882314E30}"/>
                  </a:ext>
                </a:extLst>
              </p:cNvPr>
              <p:cNvSpPr txBox="1"/>
              <p:nvPr/>
            </p:nvSpPr>
            <p:spPr>
              <a:xfrm>
                <a:off x="5164800" y="1652892"/>
                <a:ext cx="488950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9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同業</a:t>
                </a:r>
              </a:p>
            </p:txBody>
          </p:sp>
        </p:grpSp>
        <p:grpSp>
          <p:nvGrpSpPr>
            <p:cNvPr id="43" name="群組 42">
              <a:extLst>
                <a:ext uri="{FF2B5EF4-FFF2-40B4-BE49-F238E27FC236}">
                  <a16:creationId xmlns:a16="http://schemas.microsoft.com/office/drawing/2014/main" id="{2C319713-E63A-810F-70F6-5A3225524C3D}"/>
                </a:ext>
              </a:extLst>
            </p:cNvPr>
            <p:cNvGrpSpPr/>
            <p:nvPr/>
          </p:nvGrpSpPr>
          <p:grpSpPr>
            <a:xfrm>
              <a:off x="5284014" y="1243082"/>
              <a:ext cx="559381" cy="492443"/>
              <a:chOff x="5130800" y="1673084"/>
              <a:chExt cx="559381" cy="492443"/>
            </a:xfrm>
          </p:grpSpPr>
          <p:sp>
            <p:nvSpPr>
              <p:cNvPr id="44" name="流程圖: 接點 43">
                <a:extLst>
                  <a:ext uri="{FF2B5EF4-FFF2-40B4-BE49-F238E27FC236}">
                    <a16:creationId xmlns:a16="http://schemas.microsoft.com/office/drawing/2014/main" id="{F597AB5A-AADB-302B-8950-CF428D7FC199}"/>
                  </a:ext>
                </a:extLst>
              </p:cNvPr>
              <p:cNvSpPr/>
              <p:nvPr/>
            </p:nvSpPr>
            <p:spPr>
              <a:xfrm>
                <a:off x="5130800" y="1694599"/>
                <a:ext cx="438150" cy="409032"/>
              </a:xfrm>
              <a:prstGeom prst="flowChartConnector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B329B404-664D-62A8-4B0D-84163066E069}"/>
                  </a:ext>
                </a:extLst>
              </p:cNvPr>
              <p:cNvSpPr txBox="1"/>
              <p:nvPr/>
            </p:nvSpPr>
            <p:spPr>
              <a:xfrm>
                <a:off x="5201231" y="1673084"/>
                <a:ext cx="488950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9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旺來</a:t>
                </a:r>
              </a:p>
            </p:txBody>
          </p:sp>
        </p:grpSp>
        <p:grpSp>
          <p:nvGrpSpPr>
            <p:cNvPr id="81" name="群組 80">
              <a:extLst>
                <a:ext uri="{FF2B5EF4-FFF2-40B4-BE49-F238E27FC236}">
                  <a16:creationId xmlns:a16="http://schemas.microsoft.com/office/drawing/2014/main" id="{4D600D3B-27AE-63B0-569D-FB661C175340}"/>
                </a:ext>
              </a:extLst>
            </p:cNvPr>
            <p:cNvGrpSpPr/>
            <p:nvPr/>
          </p:nvGrpSpPr>
          <p:grpSpPr>
            <a:xfrm>
              <a:off x="3641012" y="1156187"/>
              <a:ext cx="1442579" cy="1325527"/>
              <a:chOff x="3612021" y="1523999"/>
              <a:chExt cx="1442579" cy="1325527"/>
            </a:xfrm>
          </p:grpSpPr>
          <p:sp>
            <p:nvSpPr>
              <p:cNvPr id="82" name="矩形: 圓角 81">
                <a:extLst>
                  <a:ext uri="{FF2B5EF4-FFF2-40B4-BE49-F238E27FC236}">
                    <a16:creationId xmlns:a16="http://schemas.microsoft.com/office/drawing/2014/main" id="{A8188F38-E11C-089A-D4AE-D8F17EE07286}"/>
                  </a:ext>
                </a:extLst>
              </p:cNvPr>
              <p:cNvSpPr/>
              <p:nvPr/>
            </p:nvSpPr>
            <p:spPr>
              <a:xfrm>
                <a:off x="3612021" y="1523999"/>
                <a:ext cx="1442579" cy="132552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grpSp>
            <p:nvGrpSpPr>
              <p:cNvPr id="83" name="群組 82">
                <a:extLst>
                  <a:ext uri="{FF2B5EF4-FFF2-40B4-BE49-F238E27FC236}">
                    <a16:creationId xmlns:a16="http://schemas.microsoft.com/office/drawing/2014/main" id="{5B33C591-54C4-0A19-767E-864D59E23B10}"/>
                  </a:ext>
                </a:extLst>
              </p:cNvPr>
              <p:cNvGrpSpPr/>
              <p:nvPr/>
            </p:nvGrpSpPr>
            <p:grpSpPr>
              <a:xfrm>
                <a:off x="3740147" y="1648217"/>
                <a:ext cx="1144852" cy="455414"/>
                <a:chOff x="3897205" y="1192803"/>
                <a:chExt cx="1144852" cy="455414"/>
              </a:xfrm>
            </p:grpSpPr>
            <p:sp>
              <p:nvSpPr>
                <p:cNvPr id="87" name="矩形: 圓角 86">
                  <a:extLst>
                    <a:ext uri="{FF2B5EF4-FFF2-40B4-BE49-F238E27FC236}">
                      <a16:creationId xmlns:a16="http://schemas.microsoft.com/office/drawing/2014/main" id="{BA6E29B9-5906-2C4D-2046-F6666027B4B0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80A78E69-7891-6F40-99EC-515A9E10AA1C}"/>
                    </a:ext>
                  </a:extLst>
                </p:cNvPr>
                <p:cNvSpPr txBox="1"/>
                <p:nvPr/>
              </p:nvSpPr>
              <p:spPr>
                <a:xfrm>
                  <a:off x="4034581" y="1247812"/>
                  <a:ext cx="93871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智取櫃</a:t>
                  </a:r>
                </a:p>
              </p:txBody>
            </p:sp>
          </p:grpSp>
          <p:grpSp>
            <p:nvGrpSpPr>
              <p:cNvPr id="84" name="群組 83">
                <a:extLst>
                  <a:ext uri="{FF2B5EF4-FFF2-40B4-BE49-F238E27FC236}">
                    <a16:creationId xmlns:a16="http://schemas.microsoft.com/office/drawing/2014/main" id="{56CA3456-2F95-84AE-E28B-9C2E6DFC50A4}"/>
                  </a:ext>
                </a:extLst>
              </p:cNvPr>
              <p:cNvGrpSpPr/>
              <p:nvPr/>
            </p:nvGrpSpPr>
            <p:grpSpPr>
              <a:xfrm>
                <a:off x="3740147" y="2295534"/>
                <a:ext cx="1144852" cy="455414"/>
                <a:chOff x="3897205" y="1192803"/>
                <a:chExt cx="1144852" cy="455414"/>
              </a:xfrm>
            </p:grpSpPr>
            <p:sp>
              <p:nvSpPr>
                <p:cNvPr id="85" name="矩形: 圓角 84">
                  <a:extLst>
                    <a:ext uri="{FF2B5EF4-FFF2-40B4-BE49-F238E27FC236}">
                      <a16:creationId xmlns:a16="http://schemas.microsoft.com/office/drawing/2014/main" id="{2D97CABD-A506-EC9A-B2A7-B64FC9AF2AD6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98F51636-E7DB-758A-BAF7-1898CE03A745}"/>
                    </a:ext>
                  </a:extLst>
                </p:cNvPr>
                <p:cNvSpPr txBox="1"/>
                <p:nvPr/>
              </p:nvSpPr>
              <p:spPr>
                <a:xfrm>
                  <a:off x="4026768" y="1237248"/>
                  <a:ext cx="93871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場地費</a:t>
                  </a:r>
                </a:p>
              </p:txBody>
            </p:sp>
          </p:grpSp>
        </p:grpSp>
        <p:grpSp>
          <p:nvGrpSpPr>
            <p:cNvPr id="89" name="群組 88">
              <a:extLst>
                <a:ext uri="{FF2B5EF4-FFF2-40B4-BE49-F238E27FC236}">
                  <a16:creationId xmlns:a16="http://schemas.microsoft.com/office/drawing/2014/main" id="{5CB222C9-E358-9F4E-584F-44E610D953A3}"/>
                </a:ext>
              </a:extLst>
            </p:cNvPr>
            <p:cNvGrpSpPr/>
            <p:nvPr/>
          </p:nvGrpSpPr>
          <p:grpSpPr>
            <a:xfrm>
              <a:off x="3641012" y="3916938"/>
              <a:ext cx="1442579" cy="1972243"/>
              <a:chOff x="3612021" y="3084055"/>
              <a:chExt cx="1442579" cy="1972243"/>
            </a:xfrm>
          </p:grpSpPr>
          <p:sp>
            <p:nvSpPr>
              <p:cNvPr id="90" name="矩形: 圓角 89">
                <a:extLst>
                  <a:ext uri="{FF2B5EF4-FFF2-40B4-BE49-F238E27FC236}">
                    <a16:creationId xmlns:a16="http://schemas.microsoft.com/office/drawing/2014/main" id="{8088AAD2-6C2B-277A-E2AF-6BEF27ECC32D}"/>
                  </a:ext>
                </a:extLst>
              </p:cNvPr>
              <p:cNvSpPr/>
              <p:nvPr/>
            </p:nvSpPr>
            <p:spPr>
              <a:xfrm>
                <a:off x="3612021" y="3084055"/>
                <a:ext cx="1442579" cy="1972243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grpSp>
            <p:nvGrpSpPr>
              <p:cNvPr id="91" name="群組 90">
                <a:extLst>
                  <a:ext uri="{FF2B5EF4-FFF2-40B4-BE49-F238E27FC236}">
                    <a16:creationId xmlns:a16="http://schemas.microsoft.com/office/drawing/2014/main" id="{57DACFB3-B53A-D2B6-BCA4-AABE5538D899}"/>
                  </a:ext>
                </a:extLst>
              </p:cNvPr>
              <p:cNvGrpSpPr/>
              <p:nvPr/>
            </p:nvGrpSpPr>
            <p:grpSpPr>
              <a:xfrm>
                <a:off x="3743679" y="3244318"/>
                <a:ext cx="1144852" cy="461361"/>
                <a:chOff x="3897205" y="1192803"/>
                <a:chExt cx="1144852" cy="461361"/>
              </a:xfrm>
            </p:grpSpPr>
            <p:sp>
              <p:nvSpPr>
                <p:cNvPr id="98" name="矩形: 圓角 97">
                  <a:extLst>
                    <a:ext uri="{FF2B5EF4-FFF2-40B4-BE49-F238E27FC236}">
                      <a16:creationId xmlns:a16="http://schemas.microsoft.com/office/drawing/2014/main" id="{93B5933C-B029-2325-E221-F40AEA3A5653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99" name="文字方塊 98">
                  <a:extLst>
                    <a:ext uri="{FF2B5EF4-FFF2-40B4-BE49-F238E27FC236}">
                      <a16:creationId xmlns:a16="http://schemas.microsoft.com/office/drawing/2014/main" id="{049DCBEB-3D6A-DB88-4454-185EC2A8D82A}"/>
                    </a:ext>
                  </a:extLst>
                </p:cNvPr>
                <p:cNvSpPr txBox="1"/>
                <p:nvPr/>
              </p:nvSpPr>
              <p:spPr>
                <a:xfrm>
                  <a:off x="4125520" y="1254054"/>
                  <a:ext cx="70788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灌氣</a:t>
                  </a:r>
                </a:p>
              </p:txBody>
            </p:sp>
          </p:grpSp>
          <p:grpSp>
            <p:nvGrpSpPr>
              <p:cNvPr id="92" name="群組 91">
                <a:extLst>
                  <a:ext uri="{FF2B5EF4-FFF2-40B4-BE49-F238E27FC236}">
                    <a16:creationId xmlns:a16="http://schemas.microsoft.com/office/drawing/2014/main" id="{8466F1F1-CE07-A06A-C84C-6FE780315601}"/>
                  </a:ext>
                </a:extLst>
              </p:cNvPr>
              <p:cNvGrpSpPr/>
              <p:nvPr/>
            </p:nvGrpSpPr>
            <p:grpSpPr>
              <a:xfrm>
                <a:off x="3743679" y="3891635"/>
                <a:ext cx="1144852" cy="455414"/>
                <a:chOff x="3897205" y="1192803"/>
                <a:chExt cx="1144852" cy="455414"/>
              </a:xfrm>
            </p:grpSpPr>
            <p:sp>
              <p:nvSpPr>
                <p:cNvPr id="96" name="矩形: 圓角 95">
                  <a:extLst>
                    <a:ext uri="{FF2B5EF4-FFF2-40B4-BE49-F238E27FC236}">
                      <a16:creationId xmlns:a16="http://schemas.microsoft.com/office/drawing/2014/main" id="{5180AB37-5602-4DB6-63AE-9D98B2596194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97" name="文字方塊 96">
                  <a:extLst>
                    <a:ext uri="{FF2B5EF4-FFF2-40B4-BE49-F238E27FC236}">
                      <a16:creationId xmlns:a16="http://schemas.microsoft.com/office/drawing/2014/main" id="{E39FBD86-7E5B-D6C9-5801-5F873B1E71CA}"/>
                    </a:ext>
                  </a:extLst>
                </p:cNvPr>
                <p:cNvSpPr txBox="1"/>
                <p:nvPr/>
              </p:nvSpPr>
              <p:spPr>
                <a:xfrm>
                  <a:off x="4125520" y="1232484"/>
                  <a:ext cx="70788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配送</a:t>
                  </a:r>
                </a:p>
              </p:txBody>
            </p:sp>
          </p:grpSp>
          <p:grpSp>
            <p:nvGrpSpPr>
              <p:cNvPr id="93" name="群組 92">
                <a:extLst>
                  <a:ext uri="{FF2B5EF4-FFF2-40B4-BE49-F238E27FC236}">
                    <a16:creationId xmlns:a16="http://schemas.microsoft.com/office/drawing/2014/main" id="{DF99C043-4E9C-569F-2CBA-CF55F4F5EA79}"/>
                  </a:ext>
                </a:extLst>
              </p:cNvPr>
              <p:cNvGrpSpPr/>
              <p:nvPr/>
            </p:nvGrpSpPr>
            <p:grpSpPr>
              <a:xfrm>
                <a:off x="3743679" y="4499252"/>
                <a:ext cx="1144852" cy="455414"/>
                <a:chOff x="3897205" y="1192803"/>
                <a:chExt cx="1144852" cy="455414"/>
              </a:xfrm>
            </p:grpSpPr>
            <p:sp>
              <p:nvSpPr>
                <p:cNvPr id="94" name="矩形: 圓角 93">
                  <a:extLst>
                    <a:ext uri="{FF2B5EF4-FFF2-40B4-BE49-F238E27FC236}">
                      <a16:creationId xmlns:a16="http://schemas.microsoft.com/office/drawing/2014/main" id="{FA8ED03D-96BE-DA30-D8B4-FBD63282D782}"/>
                    </a:ext>
                  </a:extLst>
                </p:cNvPr>
                <p:cNvSpPr/>
                <p:nvPr/>
              </p:nvSpPr>
              <p:spPr>
                <a:xfrm>
                  <a:off x="3897205" y="1192803"/>
                  <a:ext cx="1144852" cy="4554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 dirty="0"/>
                </a:p>
              </p:txBody>
            </p:sp>
            <p:sp>
              <p:nvSpPr>
                <p:cNvPr id="95" name="文字方塊 94">
                  <a:extLst>
                    <a:ext uri="{FF2B5EF4-FFF2-40B4-BE49-F238E27FC236}">
                      <a16:creationId xmlns:a16="http://schemas.microsoft.com/office/drawing/2014/main" id="{EFFE7C16-C725-BFC5-1F26-A3B4246E23F1}"/>
                    </a:ext>
                  </a:extLst>
                </p:cNvPr>
                <p:cNvSpPr txBox="1"/>
                <p:nvPr/>
              </p:nvSpPr>
              <p:spPr>
                <a:xfrm>
                  <a:off x="4138650" y="1227279"/>
                  <a:ext cx="70788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sz="135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安裝</a:t>
                  </a:r>
                </a:p>
              </p:txBody>
            </p:sp>
          </p:grpSp>
        </p:grpSp>
        <p:grpSp>
          <p:nvGrpSpPr>
            <p:cNvPr id="100" name="群組 99">
              <a:extLst>
                <a:ext uri="{FF2B5EF4-FFF2-40B4-BE49-F238E27FC236}">
                  <a16:creationId xmlns:a16="http://schemas.microsoft.com/office/drawing/2014/main" id="{F66CF538-4127-8E02-0956-16F0BCB49160}"/>
                </a:ext>
              </a:extLst>
            </p:cNvPr>
            <p:cNvGrpSpPr/>
            <p:nvPr/>
          </p:nvGrpSpPr>
          <p:grpSpPr>
            <a:xfrm>
              <a:off x="3785636" y="3257596"/>
              <a:ext cx="1144852" cy="455414"/>
              <a:chOff x="3897205" y="1192803"/>
              <a:chExt cx="1144852" cy="455414"/>
            </a:xfrm>
            <a:solidFill>
              <a:schemeClr val="accent5"/>
            </a:solidFill>
          </p:grpSpPr>
          <p:sp>
            <p:nvSpPr>
              <p:cNvPr id="101" name="矩形: 圓角 100">
                <a:extLst>
                  <a:ext uri="{FF2B5EF4-FFF2-40B4-BE49-F238E27FC236}">
                    <a16:creationId xmlns:a16="http://schemas.microsoft.com/office/drawing/2014/main" id="{51C3FA69-2736-4CC6-CD6C-AF4A6CA5C35C}"/>
                  </a:ext>
                </a:extLst>
              </p:cNvPr>
              <p:cNvSpPr/>
              <p:nvPr/>
            </p:nvSpPr>
            <p:spPr>
              <a:xfrm>
                <a:off x="3897205" y="1192803"/>
                <a:ext cx="1144852" cy="455414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102" name="文字方塊 101">
                <a:extLst>
                  <a:ext uri="{FF2B5EF4-FFF2-40B4-BE49-F238E27FC236}">
                    <a16:creationId xmlns:a16="http://schemas.microsoft.com/office/drawing/2014/main" id="{EFBC8860-006E-D9A5-37DA-5A9557D1B81A}"/>
                  </a:ext>
                </a:extLst>
              </p:cNvPr>
              <p:cNvSpPr txBox="1"/>
              <p:nvPr/>
            </p:nvSpPr>
            <p:spPr>
              <a:xfrm>
                <a:off x="4146464" y="1221715"/>
                <a:ext cx="707887" cy="400109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35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授權</a:t>
                </a:r>
              </a:p>
            </p:txBody>
          </p:sp>
        </p:grpSp>
        <p:grpSp>
          <p:nvGrpSpPr>
            <p:cNvPr id="103" name="群組 102">
              <a:extLst>
                <a:ext uri="{FF2B5EF4-FFF2-40B4-BE49-F238E27FC236}">
                  <a16:creationId xmlns:a16="http://schemas.microsoft.com/office/drawing/2014/main" id="{49BB4415-1DF2-18B9-EED3-A760937903D1}"/>
                </a:ext>
              </a:extLst>
            </p:cNvPr>
            <p:cNvGrpSpPr/>
            <p:nvPr/>
          </p:nvGrpSpPr>
          <p:grpSpPr>
            <a:xfrm>
              <a:off x="3785636" y="2671985"/>
              <a:ext cx="1144852" cy="455414"/>
              <a:chOff x="3897205" y="1192803"/>
              <a:chExt cx="1144852" cy="455414"/>
            </a:xfrm>
            <a:solidFill>
              <a:schemeClr val="accent5"/>
            </a:solidFill>
          </p:grpSpPr>
          <p:sp>
            <p:nvSpPr>
              <p:cNvPr id="104" name="矩形: 圓角 103">
                <a:extLst>
                  <a:ext uri="{FF2B5EF4-FFF2-40B4-BE49-F238E27FC236}">
                    <a16:creationId xmlns:a16="http://schemas.microsoft.com/office/drawing/2014/main" id="{33F19870-A2DF-FC87-E10E-A6A0D12CAEA7}"/>
                  </a:ext>
                </a:extLst>
              </p:cNvPr>
              <p:cNvSpPr/>
              <p:nvPr/>
            </p:nvSpPr>
            <p:spPr>
              <a:xfrm>
                <a:off x="3897205" y="1192803"/>
                <a:ext cx="1144852" cy="455414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 dirty="0"/>
              </a:p>
            </p:txBody>
          </p:sp>
          <p:sp>
            <p:nvSpPr>
              <p:cNvPr id="105" name="文字方塊 104">
                <a:extLst>
                  <a:ext uri="{FF2B5EF4-FFF2-40B4-BE49-F238E27FC236}">
                    <a16:creationId xmlns:a16="http://schemas.microsoft.com/office/drawing/2014/main" id="{11BC3A7B-0CBF-ABF9-06A5-A129FA0FDC2A}"/>
                  </a:ext>
                </a:extLst>
              </p:cNvPr>
              <p:cNvSpPr txBox="1"/>
              <p:nvPr/>
            </p:nvSpPr>
            <p:spPr>
              <a:xfrm>
                <a:off x="4146464" y="1221715"/>
                <a:ext cx="707887" cy="400109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35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容器</a:t>
                </a:r>
              </a:p>
            </p:txBody>
          </p:sp>
        </p:grpSp>
        <p:grpSp>
          <p:nvGrpSpPr>
            <p:cNvPr id="107" name="群組 106">
              <a:extLst>
                <a:ext uri="{FF2B5EF4-FFF2-40B4-BE49-F238E27FC236}">
                  <a16:creationId xmlns:a16="http://schemas.microsoft.com/office/drawing/2014/main" id="{79CBAF04-7851-8F9A-8918-D9E038C08AAA}"/>
                </a:ext>
              </a:extLst>
            </p:cNvPr>
            <p:cNvGrpSpPr/>
            <p:nvPr/>
          </p:nvGrpSpPr>
          <p:grpSpPr>
            <a:xfrm>
              <a:off x="3053239" y="4625300"/>
              <a:ext cx="510779" cy="492443"/>
              <a:chOff x="5130800" y="1694599"/>
              <a:chExt cx="510779" cy="492443"/>
            </a:xfrm>
          </p:grpSpPr>
          <p:sp>
            <p:nvSpPr>
              <p:cNvPr id="108" name="流程圖: 接點 107">
                <a:extLst>
                  <a:ext uri="{FF2B5EF4-FFF2-40B4-BE49-F238E27FC236}">
                    <a16:creationId xmlns:a16="http://schemas.microsoft.com/office/drawing/2014/main" id="{0E906AFB-1555-71C9-0292-52366F0F1301}"/>
                  </a:ext>
                </a:extLst>
              </p:cNvPr>
              <p:cNvSpPr/>
              <p:nvPr/>
            </p:nvSpPr>
            <p:spPr>
              <a:xfrm>
                <a:off x="5130800" y="1694599"/>
                <a:ext cx="438150" cy="409032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09" name="文字方塊 108">
                <a:extLst>
                  <a:ext uri="{FF2B5EF4-FFF2-40B4-BE49-F238E27FC236}">
                    <a16:creationId xmlns:a16="http://schemas.microsoft.com/office/drawing/2014/main" id="{2AA3CB5D-426D-942E-65E8-9DA0A354A6CB}"/>
                  </a:ext>
                </a:extLst>
              </p:cNvPr>
              <p:cNvSpPr txBox="1"/>
              <p:nvPr/>
            </p:nvSpPr>
            <p:spPr>
              <a:xfrm>
                <a:off x="5152629" y="1694599"/>
                <a:ext cx="488950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9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同業</a:t>
                </a:r>
              </a:p>
            </p:txBody>
          </p:sp>
        </p:grpSp>
        <p:grpSp>
          <p:nvGrpSpPr>
            <p:cNvPr id="110" name="群組 109">
              <a:extLst>
                <a:ext uri="{FF2B5EF4-FFF2-40B4-BE49-F238E27FC236}">
                  <a16:creationId xmlns:a16="http://schemas.microsoft.com/office/drawing/2014/main" id="{0510B029-AAA2-64F1-A29D-8B37A6BB8C1C}"/>
                </a:ext>
              </a:extLst>
            </p:cNvPr>
            <p:cNvGrpSpPr/>
            <p:nvPr/>
          </p:nvGrpSpPr>
          <p:grpSpPr>
            <a:xfrm>
              <a:off x="767790" y="3201293"/>
              <a:ext cx="1201378" cy="455414"/>
              <a:chOff x="3897205" y="1192803"/>
              <a:chExt cx="1249669" cy="455414"/>
            </a:xfrm>
          </p:grpSpPr>
          <p:sp>
            <p:nvSpPr>
              <p:cNvPr id="111" name="矩形: 圓角 110">
                <a:extLst>
                  <a:ext uri="{FF2B5EF4-FFF2-40B4-BE49-F238E27FC236}">
                    <a16:creationId xmlns:a16="http://schemas.microsoft.com/office/drawing/2014/main" id="{F5E9246D-6AB5-FC68-7F20-4D116A145B99}"/>
                  </a:ext>
                </a:extLst>
              </p:cNvPr>
              <p:cNvSpPr/>
              <p:nvPr/>
            </p:nvSpPr>
            <p:spPr>
              <a:xfrm>
                <a:off x="3897205" y="1192803"/>
                <a:ext cx="1144852" cy="45541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1350" dirty="0"/>
                  <a:t>智智</a:t>
                </a:r>
              </a:p>
            </p:txBody>
          </p:sp>
          <p:sp>
            <p:nvSpPr>
              <p:cNvPr id="112" name="文字方塊 111">
                <a:extLst>
                  <a:ext uri="{FF2B5EF4-FFF2-40B4-BE49-F238E27FC236}">
                    <a16:creationId xmlns:a16="http://schemas.microsoft.com/office/drawing/2014/main" id="{0D3E47C6-A080-701D-E8ED-BE71F82B4DF9}"/>
                  </a:ext>
                </a:extLst>
              </p:cNvPr>
              <p:cNvSpPr txBox="1"/>
              <p:nvPr/>
            </p:nvSpPr>
            <p:spPr>
              <a:xfrm>
                <a:off x="3930311" y="1239186"/>
                <a:ext cx="1216563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35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新櫃設置</a:t>
                </a:r>
              </a:p>
            </p:txBody>
          </p:sp>
        </p:grpSp>
      </p:grpSp>
      <p:sp>
        <p:nvSpPr>
          <p:cNvPr id="2" name="左中括弧 1">
            <a:extLst>
              <a:ext uri="{FF2B5EF4-FFF2-40B4-BE49-F238E27FC236}">
                <a16:creationId xmlns:a16="http://schemas.microsoft.com/office/drawing/2014/main" id="{B96687FA-89EE-3B0F-A0E4-900651594147}"/>
              </a:ext>
            </a:extLst>
          </p:cNvPr>
          <p:cNvSpPr/>
          <p:nvPr/>
        </p:nvSpPr>
        <p:spPr>
          <a:xfrm>
            <a:off x="3880045" y="2209257"/>
            <a:ext cx="239159" cy="2549426"/>
          </a:xfrm>
          <a:prstGeom prst="leftBracket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23311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8000">
        <p:fade/>
      </p:transition>
    </mc:Choice>
    <mc:Fallback xmlns="">
      <p:transition spd="med" advClick="0" advTm="8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3F3AB-86BA-51E8-1007-9A0E8A9FD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投影片編號版面配置區 1">
            <a:extLst>
              <a:ext uri="{FF2B5EF4-FFF2-40B4-BE49-F238E27FC236}">
                <a16:creationId xmlns:a16="http://schemas.microsoft.com/office/drawing/2014/main" id="{15BA6890-BB42-4EC9-7364-388B96166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20272" y="6306894"/>
            <a:ext cx="2057400" cy="273844"/>
          </a:xfrm>
        </p:spPr>
        <p:txBody>
          <a:bodyPr/>
          <a:lstStyle/>
          <a:p>
            <a:fld id="{2E95FD34-61D0-4C5A-B773-4E2676150C65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44" name="文字方塊 4">
            <a:extLst>
              <a:ext uri="{FF2B5EF4-FFF2-40B4-BE49-F238E27FC236}">
                <a16:creationId xmlns:a16="http://schemas.microsoft.com/office/drawing/2014/main" id="{A2E5475D-9726-7EEC-94CF-1D1D2FAA75A4}"/>
              </a:ext>
            </a:extLst>
          </p:cNvPr>
          <p:cNvSpPr txBox="1"/>
          <p:nvPr/>
        </p:nvSpPr>
        <p:spPr>
          <a:xfrm>
            <a:off x="179512" y="404664"/>
            <a:ext cx="5979774" cy="48474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zh-TW" altLang="en-US" sz="2700" b="1" dirty="0">
                <a:latin typeface="微軟正黑體" pitchFamily="34" charset="-120"/>
                <a:ea typeface="微軟正黑體" pitchFamily="34" charset="-120"/>
              </a:rPr>
              <a:t>結語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80D045A-FE7D-9D1A-5034-99A23821B146}"/>
              </a:ext>
            </a:extLst>
          </p:cNvPr>
          <p:cNvSpPr txBox="1"/>
          <p:nvPr/>
        </p:nvSpPr>
        <p:spPr>
          <a:xfrm>
            <a:off x="2339752" y="1988840"/>
            <a:ext cx="4042300" cy="1686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2026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成功標準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桃園都智取櫃穩定運作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桃園都模型完整可複製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7777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8000">
        <p:fade/>
      </p:transition>
    </mc:Choice>
    <mc:Fallback xmlns="">
      <p:transition spd="med" advClick="0" advTm="8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5608B-08C2-838F-C056-2D646153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93D2BFA-7E34-8157-8DBC-AE1C668AC5C1}"/>
              </a:ext>
            </a:extLst>
          </p:cNvPr>
          <p:cNvSpPr txBox="1"/>
          <p:nvPr/>
        </p:nvSpPr>
        <p:spPr>
          <a:xfrm>
            <a:off x="683568" y="1988840"/>
            <a:ext cx="72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  <a:cs typeface="Tahoma" pitchFamily="34" charset="0"/>
              </a:rPr>
              <a:t>謝謝聆聽 </a:t>
            </a:r>
            <a:endParaRPr lang="en-US" altLang="zh-TW" sz="4000" b="1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517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38386</TotalTime>
  <Words>743</Words>
  <Application>Microsoft Office PowerPoint</Application>
  <PresentationFormat>如螢幕大小 (4:3)</PresentationFormat>
  <Paragraphs>261</Paragraphs>
  <Slides>12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微軟正黑體</vt:lpstr>
      <vt:lpstr>Arial</vt:lpstr>
      <vt:lpstr>Bauhaus 93</vt:lpstr>
      <vt:lpstr>Broadway</vt:lpstr>
      <vt:lpstr>Calibri</vt:lpstr>
      <vt:lpstr>Office 佈景主題</vt:lpstr>
      <vt:lpstr>2026合作架構對焦會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WGTC-Patrick林威宏</dc:creator>
  <cp:lastModifiedBy>WGTC-James洪志偉</cp:lastModifiedBy>
  <cp:revision>1249</cp:revision>
  <cp:lastPrinted>2021-01-11T13:10:23Z</cp:lastPrinted>
  <dcterms:created xsi:type="dcterms:W3CDTF">2018-03-09T07:39:35Z</dcterms:created>
  <dcterms:modified xsi:type="dcterms:W3CDTF">2026-03-06T02:57:51Z</dcterms:modified>
</cp:coreProperties>
</file>