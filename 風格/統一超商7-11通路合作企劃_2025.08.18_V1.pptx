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D6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icrosoft JhengHei"/>
                <a:cs typeface="Microsoft JhengHe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6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icrosoft JhengHei"/>
                <a:cs typeface="Microsoft JhengHe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icrosoft JhengHei"/>
                <a:cs typeface="Microsoft JhengHe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9191" y="1027175"/>
            <a:ext cx="11711940" cy="25400"/>
          </a:xfrm>
          <a:custGeom>
            <a:avLst/>
            <a:gdLst/>
            <a:ahLst/>
            <a:cxnLst/>
            <a:rect l="l" t="t" r="r" b="b"/>
            <a:pathLst>
              <a:path w="11711940" h="25400">
                <a:moveTo>
                  <a:pt x="0" y="25400"/>
                </a:moveTo>
                <a:lnTo>
                  <a:pt x="11711508" y="0"/>
                </a:lnTo>
              </a:path>
            </a:pathLst>
          </a:custGeom>
          <a:ln w="12700">
            <a:solidFill>
              <a:srgbClr val="C6C5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39191" y="6165850"/>
            <a:ext cx="11711940" cy="25400"/>
          </a:xfrm>
          <a:custGeom>
            <a:avLst/>
            <a:gdLst/>
            <a:ahLst/>
            <a:cxnLst/>
            <a:rect l="l" t="t" r="r" b="b"/>
            <a:pathLst>
              <a:path w="11711940" h="25400">
                <a:moveTo>
                  <a:pt x="0" y="25400"/>
                </a:moveTo>
                <a:lnTo>
                  <a:pt x="11711508" y="0"/>
                </a:lnTo>
              </a:path>
            </a:pathLst>
          </a:custGeom>
          <a:ln w="12700">
            <a:solidFill>
              <a:srgbClr val="C6C5C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285" y="6298503"/>
            <a:ext cx="2516362" cy="38556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646" y="274637"/>
            <a:ext cx="2271903" cy="6588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584" y="5502109"/>
            <a:ext cx="2581656" cy="121936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584" y="5909081"/>
            <a:ext cx="2203704" cy="6797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icrosoft JhengHei"/>
                <a:cs typeface="Microsoft JhengHe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icrosoft JhengHei"/>
                <a:cs typeface="Microsoft JhengHe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9191" y="1027175"/>
            <a:ext cx="11711940" cy="25400"/>
          </a:xfrm>
          <a:custGeom>
            <a:avLst/>
            <a:gdLst/>
            <a:ahLst/>
            <a:cxnLst/>
            <a:rect l="l" t="t" r="r" b="b"/>
            <a:pathLst>
              <a:path w="11711940" h="25400">
                <a:moveTo>
                  <a:pt x="0" y="25400"/>
                </a:moveTo>
                <a:lnTo>
                  <a:pt x="11711508" y="0"/>
                </a:lnTo>
              </a:path>
            </a:pathLst>
          </a:custGeom>
          <a:ln w="12700">
            <a:solidFill>
              <a:srgbClr val="C6C5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39191" y="6165850"/>
            <a:ext cx="11711940" cy="25400"/>
          </a:xfrm>
          <a:custGeom>
            <a:avLst/>
            <a:gdLst/>
            <a:ahLst/>
            <a:cxnLst/>
            <a:rect l="l" t="t" r="r" b="b"/>
            <a:pathLst>
              <a:path w="11711940" h="25400">
                <a:moveTo>
                  <a:pt x="0" y="25400"/>
                </a:moveTo>
                <a:lnTo>
                  <a:pt x="11711508" y="0"/>
                </a:lnTo>
              </a:path>
            </a:pathLst>
          </a:custGeom>
          <a:ln w="12700">
            <a:solidFill>
              <a:srgbClr val="C6C5C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7285" y="6298503"/>
            <a:ext cx="2516362" cy="38556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4646" y="274637"/>
            <a:ext cx="2271903" cy="6588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979" y="403352"/>
            <a:ext cx="55124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7184" y="1182370"/>
            <a:ext cx="6264275" cy="140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D6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905868" y="6548168"/>
            <a:ext cx="2406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icrosoft JhengHei"/>
                <a:cs typeface="Microsoft JhengHe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Relationship Id="rId24" Type="http://schemas.openxmlformats.org/officeDocument/2006/relationships/image" Target="../media/image38.png"/><Relationship Id="rId25" Type="http://schemas.openxmlformats.org/officeDocument/2006/relationships/image" Target="../media/image39.png"/><Relationship Id="rId26" Type="http://schemas.openxmlformats.org/officeDocument/2006/relationships/image" Target="../media/image40.png"/><Relationship Id="rId27" Type="http://schemas.openxmlformats.org/officeDocument/2006/relationships/image" Target="../media/image41.png"/><Relationship Id="rId28" Type="http://schemas.openxmlformats.org/officeDocument/2006/relationships/image" Target="../media/image42.png"/><Relationship Id="rId29" Type="http://schemas.openxmlformats.org/officeDocument/2006/relationships/image" Target="../media/image43.png"/><Relationship Id="rId30" Type="http://schemas.openxmlformats.org/officeDocument/2006/relationships/image" Target="../media/image44.png"/><Relationship Id="rId31" Type="http://schemas.openxmlformats.org/officeDocument/2006/relationships/image" Target="../media/image45.png"/><Relationship Id="rId32" Type="http://schemas.openxmlformats.org/officeDocument/2006/relationships/image" Target="../media/image46.png"/><Relationship Id="rId33" Type="http://schemas.openxmlformats.org/officeDocument/2006/relationships/image" Target="../media/image47.png"/><Relationship Id="rId34" Type="http://schemas.openxmlformats.org/officeDocument/2006/relationships/image" Target="../media/image48.png"/><Relationship Id="rId35" Type="http://schemas.openxmlformats.org/officeDocument/2006/relationships/image" Target="../media/image49.png"/><Relationship Id="rId36" Type="http://schemas.openxmlformats.org/officeDocument/2006/relationships/image" Target="../media/image50.png"/><Relationship Id="rId37" Type="http://schemas.openxmlformats.org/officeDocument/2006/relationships/image" Target="../media/image51.png"/><Relationship Id="rId38" Type="http://schemas.openxmlformats.org/officeDocument/2006/relationships/image" Target="../media/image52.png"/><Relationship Id="rId39" Type="http://schemas.openxmlformats.org/officeDocument/2006/relationships/image" Target="../media/image53.png"/><Relationship Id="rId40" Type="http://schemas.openxmlformats.org/officeDocument/2006/relationships/image" Target="../media/image54.png"/><Relationship Id="rId41" Type="http://schemas.openxmlformats.org/officeDocument/2006/relationships/image" Target="../media/image55.png"/><Relationship Id="rId42" Type="http://schemas.openxmlformats.org/officeDocument/2006/relationships/image" Target="../media/image56.png"/><Relationship Id="rId43" Type="http://schemas.openxmlformats.org/officeDocument/2006/relationships/image" Target="../media/image57.png"/><Relationship Id="rId44" Type="http://schemas.openxmlformats.org/officeDocument/2006/relationships/image" Target="../media/image58.png"/><Relationship Id="rId45" Type="http://schemas.openxmlformats.org/officeDocument/2006/relationships/image" Target="../media/image5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9.png"/><Relationship Id="rId3" Type="http://schemas.openxmlformats.org/officeDocument/2006/relationships/image" Target="../media/image70.jpg"/><Relationship Id="rId4" Type="http://schemas.openxmlformats.org/officeDocument/2006/relationships/image" Target="../media/image71.png"/><Relationship Id="rId5" Type="http://schemas.openxmlformats.org/officeDocument/2006/relationships/image" Target="../media/image72.jpg"/><Relationship Id="rId6" Type="http://schemas.openxmlformats.org/officeDocument/2006/relationships/image" Target="../media/image73.png"/><Relationship Id="rId7" Type="http://schemas.openxmlformats.org/officeDocument/2006/relationships/image" Target="../media/image7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jp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Relationship Id="rId18" Type="http://schemas.openxmlformats.org/officeDocument/2006/relationships/image" Target="../media/image91.png"/><Relationship Id="rId19" Type="http://schemas.openxmlformats.org/officeDocument/2006/relationships/image" Target="../media/image92.png"/><Relationship Id="rId20" Type="http://schemas.openxmlformats.org/officeDocument/2006/relationships/image" Target="../media/image93.png"/><Relationship Id="rId21" Type="http://schemas.openxmlformats.org/officeDocument/2006/relationships/image" Target="../media/image94.png"/><Relationship Id="rId22" Type="http://schemas.openxmlformats.org/officeDocument/2006/relationships/image" Target="../media/image95.png"/><Relationship Id="rId23" Type="http://schemas.openxmlformats.org/officeDocument/2006/relationships/image" Target="../media/image96.png"/><Relationship Id="rId24" Type="http://schemas.openxmlformats.org/officeDocument/2006/relationships/image" Target="../media/image97.png"/><Relationship Id="rId25" Type="http://schemas.openxmlformats.org/officeDocument/2006/relationships/image" Target="../media/image98.png"/><Relationship Id="rId26" Type="http://schemas.openxmlformats.org/officeDocument/2006/relationships/image" Target="../media/image99.png"/><Relationship Id="rId27" Type="http://schemas.openxmlformats.org/officeDocument/2006/relationships/image" Target="../media/image100.png"/><Relationship Id="rId28" Type="http://schemas.openxmlformats.org/officeDocument/2006/relationships/image" Target="../media/image101.png"/><Relationship Id="rId29" Type="http://schemas.openxmlformats.org/officeDocument/2006/relationships/image" Target="../media/image102.png"/><Relationship Id="rId30" Type="http://schemas.openxmlformats.org/officeDocument/2006/relationships/image" Target="../media/image103.png"/><Relationship Id="rId31" Type="http://schemas.openxmlformats.org/officeDocument/2006/relationships/image" Target="../media/image104.png"/><Relationship Id="rId32" Type="http://schemas.openxmlformats.org/officeDocument/2006/relationships/image" Target="../media/image105.png"/><Relationship Id="rId33" Type="http://schemas.openxmlformats.org/officeDocument/2006/relationships/image" Target="../media/image106.png"/><Relationship Id="rId34" Type="http://schemas.openxmlformats.org/officeDocument/2006/relationships/image" Target="../media/image107.png"/><Relationship Id="rId35" Type="http://schemas.openxmlformats.org/officeDocument/2006/relationships/image" Target="../media/image108.png"/><Relationship Id="rId36" Type="http://schemas.openxmlformats.org/officeDocument/2006/relationships/image" Target="../media/image109.png"/><Relationship Id="rId37" Type="http://schemas.openxmlformats.org/officeDocument/2006/relationships/image" Target="../media/image110.png"/><Relationship Id="rId38" Type="http://schemas.openxmlformats.org/officeDocument/2006/relationships/image" Target="../media/image111.png"/><Relationship Id="rId39" Type="http://schemas.openxmlformats.org/officeDocument/2006/relationships/image" Target="../media/image112.png"/><Relationship Id="rId40" Type="http://schemas.openxmlformats.org/officeDocument/2006/relationships/image" Target="../media/image113.png"/><Relationship Id="rId41" Type="http://schemas.openxmlformats.org/officeDocument/2006/relationships/image" Target="../media/image114.png"/><Relationship Id="rId42" Type="http://schemas.openxmlformats.org/officeDocument/2006/relationships/image" Target="../media/image115.png"/><Relationship Id="rId43" Type="http://schemas.openxmlformats.org/officeDocument/2006/relationships/image" Target="../media/image116.png"/><Relationship Id="rId44" Type="http://schemas.openxmlformats.org/officeDocument/2006/relationships/image" Target="../media/image117.png"/><Relationship Id="rId45" Type="http://schemas.openxmlformats.org/officeDocument/2006/relationships/image" Target="../media/image11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011" y="1686051"/>
              <a:ext cx="7970139" cy="51719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52" y="0"/>
              <a:ext cx="7021195" cy="3007360"/>
            </a:xfrm>
            <a:custGeom>
              <a:avLst/>
              <a:gdLst/>
              <a:ahLst/>
              <a:cxnLst/>
              <a:rect l="l" t="t" r="r" b="b"/>
              <a:pathLst>
                <a:path w="7021195" h="3007360">
                  <a:moveTo>
                    <a:pt x="7020813" y="0"/>
                  </a:moveTo>
                  <a:lnTo>
                    <a:pt x="0" y="0"/>
                  </a:lnTo>
                  <a:lnTo>
                    <a:pt x="3509140" y="3006852"/>
                  </a:lnTo>
                  <a:lnTo>
                    <a:pt x="7020813" y="0"/>
                  </a:lnTo>
                  <a:close/>
                </a:path>
              </a:pathLst>
            </a:custGeom>
            <a:solidFill>
              <a:srgbClr val="E373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3514090" cy="5969000"/>
            </a:xfrm>
            <a:custGeom>
              <a:avLst/>
              <a:gdLst/>
              <a:ahLst/>
              <a:cxnLst/>
              <a:rect l="l" t="t" r="r" b="b"/>
              <a:pathLst>
                <a:path w="3514089" h="5969000">
                  <a:moveTo>
                    <a:pt x="0" y="0"/>
                  </a:moveTo>
                  <a:lnTo>
                    <a:pt x="0" y="5969000"/>
                  </a:lnTo>
                  <a:lnTo>
                    <a:pt x="3513963" y="3013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53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233" y="556171"/>
              <a:ext cx="1004824" cy="8928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825" y="1502206"/>
              <a:ext cx="2598038" cy="73197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151368" y="5979058"/>
            <a:ext cx="3475990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50" b="1">
                <a:solidFill>
                  <a:srgbClr val="FD5000"/>
                </a:solidFill>
                <a:latin typeface="Microsoft JhengHei"/>
                <a:cs typeface="Microsoft JhengHei"/>
              </a:rPr>
              <a:t>安心、暖心、放心</a:t>
            </a:r>
            <a:endParaRPr sz="34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58608" y="4139673"/>
            <a:ext cx="4323715" cy="126682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333333"/>
                </a:solidFill>
                <a:latin typeface="Microsoft JhengHei"/>
                <a:cs typeface="Microsoft JhengHei"/>
              </a:rPr>
              <a:t>專為7-</a:t>
            </a:r>
            <a:r>
              <a:rPr dirty="0" sz="1800" spc="-70">
                <a:solidFill>
                  <a:srgbClr val="333333"/>
                </a:solidFill>
                <a:latin typeface="Microsoft JhengHei"/>
                <a:cs typeface="Microsoft JhengHei"/>
              </a:rPr>
              <a:t>ELEVEN</a:t>
            </a: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量身打造的創新合作方案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結合瓦斯安全、便捷服務與會員經濟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共同開創便利商店營運新價值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662421" y="1914906"/>
            <a:ext cx="576580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35"/>
              <a:t>7-</a:t>
            </a:r>
            <a:r>
              <a:rPr dirty="0" sz="4400"/>
              <a:t>ELEVEN  x</a:t>
            </a:r>
            <a:r>
              <a:rPr dirty="0" sz="4400" spc="204"/>
              <a:t> 旺來瓦斯</a:t>
            </a:r>
            <a:endParaRPr sz="4400"/>
          </a:p>
        </p:txBody>
      </p:sp>
      <p:sp>
        <p:nvSpPr>
          <p:cNvPr id="12" name="object 12"/>
          <p:cNvSpPr txBox="1"/>
          <p:nvPr/>
        </p:nvSpPr>
        <p:spPr>
          <a:xfrm>
            <a:off x="5456682" y="2920745"/>
            <a:ext cx="6178550" cy="696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>
                <a:latin typeface="Microsoft JhengHei"/>
                <a:cs typeface="Microsoft JhengHei"/>
              </a:rPr>
              <a:t>攜手共創便利生活新模式</a:t>
            </a:r>
            <a:endParaRPr sz="4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3761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/>
              <a:t>歷程沿革與發展實力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966" y="2842116"/>
            <a:ext cx="9577233" cy="30798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5083" y="947698"/>
            <a:ext cx="5775325" cy="1606550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2500" spc="-275" b="1">
                <a:solidFill>
                  <a:srgbClr val="FD6C00"/>
                </a:solidFill>
                <a:latin typeface="Microsoft JhengHei"/>
                <a:cs typeface="Microsoft JhengHei"/>
              </a:rPr>
              <a:t>穩健發展：從市場調研到轉型創新</a:t>
            </a:r>
            <a:endParaRPr sz="2500">
              <a:latin typeface="Microsoft JhengHei"/>
              <a:cs typeface="Microsoft JhengHei"/>
            </a:endParaRPr>
          </a:p>
          <a:p>
            <a:pPr marL="632460" indent="-28638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632460" algn="l"/>
              </a:tabLst>
            </a:pPr>
            <a:r>
              <a:rPr dirty="0" sz="1800" spc="-190">
                <a:solidFill>
                  <a:srgbClr val="333333"/>
                </a:solidFill>
                <a:latin typeface="Microsoft JhengHei"/>
                <a:cs typeface="Microsoft JhengHei"/>
              </a:rPr>
              <a:t>經歷市場調研、成長期、疫情應對，並積極步入轉型期。</a:t>
            </a:r>
            <a:endParaRPr sz="1800">
              <a:latin typeface="Microsoft JhengHei"/>
              <a:cs typeface="Microsoft JhengHei"/>
            </a:endParaRPr>
          </a:p>
          <a:p>
            <a:pPr marL="632460" indent="-286385">
              <a:lnSpc>
                <a:spcPct val="100000"/>
              </a:lnSpc>
              <a:spcBef>
                <a:spcPts val="2495"/>
              </a:spcBef>
              <a:buFont typeface="Arial MT"/>
              <a:buChar char="•"/>
              <a:tabLst>
                <a:tab pos="632460" algn="l"/>
              </a:tabLst>
            </a:pPr>
            <a:r>
              <a:rPr dirty="0" sz="1800" spc="-190">
                <a:solidFill>
                  <a:srgbClr val="333333"/>
                </a:solidFill>
                <a:latin typeface="Microsoft JhengHei"/>
                <a:cs typeface="Microsoft JhengHei"/>
              </a:rPr>
              <a:t>具備長期規劃與適應市場變化的能力。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41408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現代化品牌營運實力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71" y="1052474"/>
            <a:ext cx="5006340" cy="1362710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dirty="0" sz="2400" spc="-5" b="1">
                <a:solidFill>
                  <a:srgbClr val="FD6C00"/>
                </a:solidFill>
                <a:latin typeface="Microsoft JhengHei"/>
                <a:cs typeface="Microsoft JhengHei"/>
              </a:rPr>
              <a:t>品牌形象與經營規模：專業與保障</a:t>
            </a:r>
            <a:endParaRPr sz="2400">
              <a:latin typeface="Microsoft JhengHei"/>
              <a:cs typeface="Microsoft JhengHei"/>
            </a:endParaRPr>
          </a:p>
          <a:p>
            <a:pPr marL="465455" indent="-28638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465455" algn="l"/>
              </a:tabLst>
            </a:pPr>
            <a:r>
              <a:rPr dirty="0" sz="1800" spc="-195">
                <a:solidFill>
                  <a:srgbClr val="333333"/>
                </a:solidFill>
                <a:latin typeface="Microsoft JhengHei"/>
                <a:cs typeface="Microsoft JhengHei"/>
              </a:rPr>
              <a:t>相較於傳統瓦斯業者，旺來瓦斯具備現代化優勢。</a:t>
            </a:r>
            <a:endParaRPr sz="1800">
              <a:latin typeface="Microsoft JhengHei"/>
              <a:cs typeface="Microsoft JhengHei"/>
            </a:endParaRPr>
          </a:p>
          <a:p>
            <a:pPr marL="46545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5455" algn="l"/>
              </a:tabLst>
            </a:pPr>
            <a:r>
              <a:rPr dirty="0" sz="1800" spc="-190">
                <a:solidFill>
                  <a:srgbClr val="333333"/>
                </a:solidFill>
                <a:latin typeface="Microsoft JhengHei"/>
                <a:cs typeface="Microsoft JhengHei"/>
              </a:rPr>
              <a:t>提供專業、保障的瓦斯服務，提升用戶信任度。</a:t>
            </a:r>
            <a:endParaRPr sz="1800">
              <a:latin typeface="Microsoft JhengHei"/>
              <a:cs typeface="Microsoft JhengHei"/>
            </a:endParaRPr>
          </a:p>
        </p:txBody>
      </p:sp>
      <p:pic>
        <p:nvPicPr>
          <p:cNvPr id="4" name="object 4" descr="C:\Users\C0367\Desktop\11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630" y="2530106"/>
            <a:ext cx="8761095" cy="36497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5511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創新材質提升保障：瓶安桶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088" y="1039927"/>
            <a:ext cx="6453505" cy="1390015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400" spc="-5" b="1">
                <a:solidFill>
                  <a:srgbClr val="FD6C00"/>
                </a:solidFill>
                <a:latin typeface="Microsoft JhengHei"/>
                <a:cs typeface="Microsoft JhengHei"/>
              </a:rPr>
              <a:t>瓶安桶：更安全、安心的選擇</a:t>
            </a:r>
            <a:endParaRPr sz="2400">
              <a:latin typeface="Microsoft JhengHei"/>
              <a:cs typeface="Microsoft JhengHei"/>
            </a:endParaRPr>
          </a:p>
          <a:p>
            <a:pPr marL="476884" indent="-286385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476884" algn="l"/>
              </a:tabLst>
            </a:pPr>
            <a:r>
              <a:rPr dirty="0" sz="1800" spc="-195">
                <a:solidFill>
                  <a:srgbClr val="333333"/>
                </a:solidFill>
                <a:latin typeface="Microsoft JhengHei"/>
                <a:cs typeface="Microsoft JhengHei"/>
              </a:rPr>
              <a:t>採用新型複合材料瓦斯桶，相較傳統金屬瓦斯桶具備更高安全性。</a:t>
            </a:r>
            <a:endParaRPr sz="1800">
              <a:latin typeface="Microsoft JhengHei"/>
              <a:cs typeface="Microsoft JhengHei"/>
            </a:endParaRPr>
          </a:p>
          <a:p>
            <a:pPr marL="476884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76884" algn="l"/>
              </a:tabLst>
            </a:pPr>
            <a:r>
              <a:rPr dirty="0" sz="1800" spc="-190">
                <a:solidFill>
                  <a:srgbClr val="333333"/>
                </a:solidFill>
                <a:latin typeface="Microsoft JhengHei"/>
                <a:cs typeface="Microsoft JhengHei"/>
              </a:rPr>
              <a:t>具體體現旺來瓦斯對用戶安全的承諾，讓用戶使用更放心。</a:t>
            </a:r>
            <a:endParaRPr sz="18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842" y="3470599"/>
            <a:ext cx="1382480" cy="257659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288913" y="4481067"/>
            <a:ext cx="0" cy="1486535"/>
          </a:xfrm>
          <a:custGeom>
            <a:avLst/>
            <a:gdLst/>
            <a:ahLst/>
            <a:cxnLst/>
            <a:rect l="l" t="t" r="r" b="b"/>
            <a:pathLst>
              <a:path w="0" h="1486535">
                <a:moveTo>
                  <a:pt x="0" y="0"/>
                </a:moveTo>
                <a:lnTo>
                  <a:pt x="0" y="1486217"/>
                </a:lnTo>
              </a:path>
            </a:pathLst>
          </a:custGeom>
          <a:ln w="28575">
            <a:solidFill>
              <a:srgbClr val="9FA4A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88913" y="2542032"/>
            <a:ext cx="0" cy="1477645"/>
          </a:xfrm>
          <a:custGeom>
            <a:avLst/>
            <a:gdLst/>
            <a:ahLst/>
            <a:cxnLst/>
            <a:rect l="l" t="t" r="r" b="b"/>
            <a:pathLst>
              <a:path w="0" h="1477645">
                <a:moveTo>
                  <a:pt x="0" y="0"/>
                </a:moveTo>
                <a:lnTo>
                  <a:pt x="0" y="1477365"/>
                </a:lnTo>
              </a:path>
            </a:pathLst>
          </a:custGeom>
          <a:ln w="28575">
            <a:solidFill>
              <a:srgbClr val="9FA4A4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32528" y="4019397"/>
            <a:ext cx="3385820" cy="462280"/>
          </a:xfrm>
          <a:prstGeom prst="rect">
            <a:avLst/>
          </a:prstGeom>
          <a:solidFill>
            <a:srgbClr val="FD5000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400" spc="-20">
                <a:solidFill>
                  <a:srgbClr val="FFFFFF"/>
                </a:solidFill>
                <a:latin typeface="Microsoft JhengHei"/>
                <a:cs typeface="Microsoft JhengHei"/>
              </a:rPr>
              <a:t>旺來創新 v.s</a:t>
            </a:r>
            <a:r>
              <a:rPr dirty="0" sz="2400" spc="-30">
                <a:solidFill>
                  <a:srgbClr val="FFFFFF"/>
                </a:solidFill>
                <a:latin typeface="Microsoft JhengHei"/>
                <a:cs typeface="Microsoft JhengHei"/>
              </a:rPr>
              <a:t>. 傳統守舊</a:t>
            </a:r>
            <a:endParaRPr sz="2400">
              <a:latin typeface="Microsoft JhengHei"/>
              <a:cs typeface="Microsoft JhengHe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7295" y="3020148"/>
            <a:ext cx="1362836" cy="30022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1001" y="5876035"/>
            <a:ext cx="32302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Microsoft JhengHei"/>
                <a:cs typeface="Microsoft JhengHei"/>
              </a:rPr>
              <a:t>資料來源：油價資訊管理與分析系統網站</a:t>
            </a:r>
            <a:endParaRPr sz="1400">
              <a:latin typeface="Microsoft JhengHei"/>
              <a:cs typeface="Microsoft JhengHe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72" y="1100455"/>
            <a:ext cx="5797550" cy="4996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10789" y="1200427"/>
            <a:ext cx="1318260" cy="28803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700"/>
              </a:spcBef>
            </a:pPr>
            <a:r>
              <a:rPr dirty="0" sz="20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瓦斯行</a:t>
            </a:r>
            <a:endParaRPr sz="20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2800" spc="-10" b="1">
                <a:latin typeface="Microsoft JhengHei"/>
                <a:cs typeface="Microsoft JhengHei"/>
              </a:rPr>
              <a:t>2,720</a:t>
            </a:r>
            <a:r>
              <a:rPr dirty="0" sz="2800" spc="-50" b="1">
                <a:latin typeface="Microsoft JhengHei"/>
                <a:cs typeface="Microsoft JhengHei"/>
              </a:rPr>
              <a:t>家</a:t>
            </a:r>
            <a:endParaRPr sz="2800">
              <a:latin typeface="Microsoft JhengHei"/>
              <a:cs typeface="Microsoft JhengHei"/>
            </a:endParaRPr>
          </a:p>
          <a:p>
            <a:pPr marL="276860">
              <a:lnSpc>
                <a:spcPct val="100000"/>
              </a:lnSpc>
              <a:spcBef>
                <a:spcPts val="1095"/>
              </a:spcBef>
            </a:pPr>
            <a:r>
              <a:rPr dirty="0" sz="20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分裝場</a:t>
            </a:r>
            <a:endParaRPr sz="2000">
              <a:latin typeface="Microsoft JhengHei"/>
              <a:cs typeface="Microsoft JhengHei"/>
            </a:endParaRPr>
          </a:p>
          <a:p>
            <a:pPr algn="ctr" marL="635">
              <a:lnSpc>
                <a:spcPct val="100000"/>
              </a:lnSpc>
              <a:spcBef>
                <a:spcPts val="835"/>
              </a:spcBef>
            </a:pPr>
            <a:r>
              <a:rPr dirty="0" sz="2800" b="1">
                <a:latin typeface="Microsoft JhengHei"/>
                <a:cs typeface="Microsoft JhengHei"/>
              </a:rPr>
              <a:t>116</a:t>
            </a:r>
            <a:r>
              <a:rPr dirty="0" sz="2800" spc="-50" b="1">
                <a:latin typeface="Microsoft JhengHei"/>
                <a:cs typeface="Microsoft JhengHei"/>
              </a:rPr>
              <a:t>家</a:t>
            </a:r>
            <a:endParaRPr sz="2800">
              <a:latin typeface="Microsoft JhengHei"/>
              <a:cs typeface="Microsoft JhengHei"/>
            </a:endParaRPr>
          </a:p>
          <a:p>
            <a:pPr marL="276860">
              <a:lnSpc>
                <a:spcPct val="100000"/>
              </a:lnSpc>
              <a:spcBef>
                <a:spcPts val="1000"/>
              </a:spcBef>
            </a:pPr>
            <a:r>
              <a:rPr dirty="0" sz="2000" spc="-25" b="1">
                <a:solidFill>
                  <a:srgbClr val="FFFFFF"/>
                </a:solidFill>
                <a:latin typeface="Microsoft JhengHei"/>
                <a:cs typeface="Microsoft JhengHei"/>
              </a:rPr>
              <a:t>經銷商</a:t>
            </a:r>
            <a:endParaRPr sz="2000">
              <a:latin typeface="Microsoft JhengHei"/>
              <a:cs typeface="Microsoft JhengHei"/>
            </a:endParaRPr>
          </a:p>
          <a:p>
            <a:pPr algn="ctr" marL="635">
              <a:lnSpc>
                <a:spcPct val="100000"/>
              </a:lnSpc>
              <a:spcBef>
                <a:spcPts val="830"/>
              </a:spcBef>
            </a:pPr>
            <a:r>
              <a:rPr dirty="0" sz="2800" b="1">
                <a:latin typeface="Microsoft JhengHei"/>
                <a:cs typeface="Microsoft JhengHei"/>
              </a:rPr>
              <a:t>8</a:t>
            </a:r>
            <a:r>
              <a:rPr dirty="0" sz="2800" spc="-50" b="1">
                <a:latin typeface="Microsoft JhengHei"/>
                <a:cs typeface="Microsoft JhengHei"/>
              </a:rPr>
              <a:t>家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2775966" y="4581347"/>
            <a:ext cx="789305" cy="93980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2000" spc="-25" b="1">
                <a:solidFill>
                  <a:srgbClr val="FFFFFF"/>
                </a:solidFill>
                <a:latin typeface="Microsoft JhengHei"/>
                <a:cs typeface="Microsoft JhengHei"/>
              </a:rPr>
              <a:t>供應商</a:t>
            </a:r>
            <a:endParaRPr sz="2000">
              <a:latin typeface="Microsoft JhengHei"/>
              <a:cs typeface="Microsoft JhengHei"/>
            </a:endParaRPr>
          </a:p>
          <a:p>
            <a:pPr marL="109855">
              <a:lnSpc>
                <a:spcPct val="100000"/>
              </a:lnSpc>
              <a:spcBef>
                <a:spcPts val="830"/>
              </a:spcBef>
            </a:pPr>
            <a:r>
              <a:rPr dirty="0" sz="2800" b="1">
                <a:latin typeface="Microsoft JhengHei"/>
                <a:cs typeface="Microsoft JhengHei"/>
              </a:rPr>
              <a:t>2</a:t>
            </a:r>
            <a:r>
              <a:rPr dirty="0" sz="2800" spc="-50" b="1">
                <a:latin typeface="Microsoft JhengHei"/>
                <a:cs typeface="Microsoft JhengHei"/>
              </a:rPr>
              <a:t>家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市場概況：龐大的潛在商機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19265" y="1276933"/>
            <a:ext cx="5648325" cy="2289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危機</a:t>
            </a:r>
            <a:r>
              <a:rPr dirty="0" sz="2000" spc="-50" b="1">
                <a:latin typeface="Microsoft JhengHei"/>
                <a:cs typeface="Microsoft JhengHei"/>
              </a:rPr>
              <a:t>：</a:t>
            </a:r>
            <a:endParaRPr sz="2000">
              <a:latin typeface="Microsoft JhengHei"/>
              <a:cs typeface="Microsoft JhengHei"/>
            </a:endParaRPr>
          </a:p>
          <a:p>
            <a:pPr marL="299085" marR="5080" indent="-287020">
              <a:lnSpc>
                <a:spcPct val="150000"/>
              </a:lnSpc>
              <a:spcBef>
                <a:spcPts val="7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Microsoft JhengHei"/>
                <a:cs typeface="Microsoft JhengHei"/>
              </a:rPr>
              <a:t>2020</a:t>
            </a:r>
            <a:r>
              <a:rPr dirty="0" sz="1800" spc="-20">
                <a:latin typeface="Microsoft JhengHei"/>
                <a:cs typeface="Microsoft JhengHei"/>
              </a:rPr>
              <a:t> 年統計，全台瓦斯行約有</a:t>
            </a:r>
            <a:r>
              <a:rPr dirty="0" sz="1800">
                <a:latin typeface="Microsoft JhengHei"/>
                <a:cs typeface="Microsoft JhengHei"/>
              </a:rPr>
              <a:t>3,000</a:t>
            </a:r>
            <a:r>
              <a:rPr dirty="0" sz="1800" spc="-25">
                <a:latin typeface="Microsoft JhengHei"/>
                <a:cs typeface="Microsoft JhengHei"/>
              </a:rPr>
              <a:t> 家。至今全台約</a:t>
            </a:r>
            <a:r>
              <a:rPr dirty="0" sz="1800">
                <a:latin typeface="Microsoft JhengHei"/>
                <a:cs typeface="Microsoft JhengHei"/>
              </a:rPr>
              <a:t>有</a:t>
            </a:r>
            <a:r>
              <a:rPr dirty="0" sz="1800" spc="-10">
                <a:latin typeface="Microsoft JhengHei"/>
                <a:cs typeface="Microsoft JhengHei"/>
              </a:rPr>
              <a:t>2,720家瓦斯行。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5">
                <a:latin typeface="Microsoft JhengHei"/>
                <a:cs typeface="Microsoft JhengHei"/>
              </a:rPr>
              <a:t>傳統不鏽鋼瓶重量重，瓦斯行面臨缺工，無人配送。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2000" b="1">
                <a:solidFill>
                  <a:srgbClr val="0000FF"/>
                </a:solidFill>
                <a:latin typeface="Microsoft JhengHei"/>
                <a:cs typeface="Microsoft JhengHei"/>
              </a:rPr>
              <a:t>商機</a:t>
            </a:r>
            <a:r>
              <a:rPr dirty="0" sz="2000" spc="-50" b="1">
                <a:latin typeface="Microsoft JhengHei"/>
                <a:cs typeface="Microsoft JhengHei"/>
              </a:rPr>
              <a:t>：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9265" y="3768090"/>
            <a:ext cx="5570220" cy="181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20">
                <a:latin typeface="Microsoft JhengHei"/>
                <a:cs typeface="Microsoft JhengHei"/>
              </a:rPr>
              <a:t>LPG</a:t>
            </a:r>
            <a:r>
              <a:rPr dirty="0" sz="1800" spc="-5">
                <a:latin typeface="Microsoft JhengHei"/>
                <a:cs typeface="Microsoft JhengHei"/>
              </a:rPr>
              <a:t>為剛需能源商品，市場總量不會降。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">
                <a:latin typeface="Microsoft JhengHei"/>
                <a:cs typeface="Microsoft JhengHei"/>
              </a:rPr>
              <a:t>旺來為複材桶，安全、輕量化。</a:t>
            </a:r>
            <a:endParaRPr sz="1800">
              <a:latin typeface="Microsoft JhengHei"/>
              <a:cs typeface="Microsoft JhengHei"/>
            </a:endParaRPr>
          </a:p>
          <a:p>
            <a:pPr marL="299085" marR="5080" indent="-287020">
              <a:lnSpc>
                <a:spcPct val="150100"/>
              </a:lnSpc>
              <a:spcBef>
                <a:spcPts val="1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">
                <a:latin typeface="Microsoft JhengHei"/>
                <a:cs typeface="Microsoft JhengHei"/>
              </a:rPr>
              <a:t>未來規劃協同通路設置智取櫃，提升用戶便利性，並利用瓦斯回購的特性，將用戶引流回到通路消費。</a:t>
            </a:r>
            <a:endParaRPr sz="1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市場概況：龐大的潛在商機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506" y="1218438"/>
            <a:ext cx="7361555" cy="9220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D6C00"/>
                </a:solidFill>
                <a:latin typeface="Microsoft JhengHei"/>
                <a:cs typeface="Microsoft JhengHei"/>
              </a:rPr>
              <a:t>台灣桶裝瓦斯市場潛力巨大</a:t>
            </a:r>
            <a:endParaRPr sz="2400">
              <a:latin typeface="Microsoft JhengHei"/>
              <a:cs typeface="Microsoft JhengHei"/>
            </a:endParaRPr>
          </a:p>
          <a:p>
            <a:pPr marL="488950" indent="-28638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488950" algn="l"/>
              </a:tabLst>
            </a:pPr>
            <a:r>
              <a:rPr dirty="0" sz="1800" spc="-10" b="1">
                <a:solidFill>
                  <a:srgbClr val="333333"/>
                </a:solidFill>
                <a:latin typeface="Microsoft JhengHei"/>
                <a:cs typeface="Microsoft JhengHei"/>
              </a:rPr>
              <a:t>市場涵蓋家用與商用需求，具備穩定的能源需求與長期用戶黏著度</a:t>
            </a:r>
            <a:r>
              <a:rPr dirty="0" sz="1800" spc="-50">
                <a:solidFill>
                  <a:srgbClr val="333333"/>
                </a:solidFill>
                <a:latin typeface="Microsoft JhengHei"/>
                <a:cs typeface="Microsoft JhengHei"/>
              </a:rPr>
              <a:t>。</a:t>
            </a:r>
            <a:endParaRPr sz="18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449" y="2532976"/>
            <a:ext cx="8981320" cy="32334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市場概況：龐大的潛在商機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506" y="1218438"/>
            <a:ext cx="3324225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D6C00"/>
                </a:solidFill>
                <a:latin typeface="Microsoft JhengHei"/>
                <a:cs typeface="Microsoft JhengHei"/>
              </a:rPr>
              <a:t>台灣桶裝瓦斯市場動態</a:t>
            </a:r>
            <a:endParaRPr sz="2400">
              <a:latin typeface="Microsoft JhengHei"/>
              <a:cs typeface="Microsoft JhengHei"/>
            </a:endParaRPr>
          </a:p>
          <a:p>
            <a:pPr algn="ctr" marL="575945">
              <a:lnSpc>
                <a:spcPct val="100000"/>
              </a:lnSpc>
              <a:spcBef>
                <a:spcPts val="2605"/>
              </a:spcBef>
            </a:pPr>
            <a:r>
              <a:rPr dirty="0" sz="1800" b="1">
                <a:solidFill>
                  <a:srgbClr val="474747"/>
                </a:solidFill>
                <a:latin typeface="Microsoft JhengHei"/>
                <a:cs typeface="Microsoft JhengHei"/>
              </a:rPr>
              <a:t>台灣</a:t>
            </a:r>
            <a:r>
              <a:rPr dirty="0" sz="1800" spc="-10" b="1">
                <a:solidFill>
                  <a:srgbClr val="474747"/>
                </a:solidFill>
                <a:latin typeface="Microsoft JhengHei"/>
                <a:cs typeface="Microsoft JhengHei"/>
              </a:rPr>
              <a:t>LPG</a:t>
            </a:r>
            <a:r>
              <a:rPr dirty="0" sz="1800" spc="-15" b="1">
                <a:solidFill>
                  <a:srgbClr val="474747"/>
                </a:solidFill>
                <a:latin typeface="Microsoft JhengHei"/>
                <a:cs typeface="Microsoft JhengHei"/>
              </a:rPr>
              <a:t>家庭用戶區域分佈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9239" y="2432526"/>
            <a:ext cx="3204210" cy="3079115"/>
            <a:chOff x="689239" y="2432526"/>
            <a:chExt cx="3204210" cy="30791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405" y="2439670"/>
              <a:ext cx="2823818" cy="30643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62405" y="2439670"/>
              <a:ext cx="2823845" cy="3064510"/>
            </a:xfrm>
            <a:custGeom>
              <a:avLst/>
              <a:gdLst/>
              <a:ahLst/>
              <a:cxnLst/>
              <a:rect l="l" t="t" r="r" b="b"/>
              <a:pathLst>
                <a:path w="2823845" h="3064510">
                  <a:moveTo>
                    <a:pt x="1228928" y="0"/>
                  </a:moveTo>
                  <a:lnTo>
                    <a:pt x="1278148" y="722"/>
                  </a:lnTo>
                  <a:lnTo>
                    <a:pt x="1327056" y="2876"/>
                  </a:lnTo>
                  <a:lnTo>
                    <a:pt x="1375625" y="6442"/>
                  </a:lnTo>
                  <a:lnTo>
                    <a:pt x="1423831" y="11403"/>
                  </a:lnTo>
                  <a:lnTo>
                    <a:pt x="1471649" y="17739"/>
                  </a:lnTo>
                  <a:lnTo>
                    <a:pt x="1519054" y="25432"/>
                  </a:lnTo>
                  <a:lnTo>
                    <a:pt x="1566023" y="34461"/>
                  </a:lnTo>
                  <a:lnTo>
                    <a:pt x="1612529" y="44810"/>
                  </a:lnTo>
                  <a:lnTo>
                    <a:pt x="1658547" y="56458"/>
                  </a:lnTo>
                  <a:lnTo>
                    <a:pt x="1704054" y="69386"/>
                  </a:lnTo>
                  <a:lnTo>
                    <a:pt x="1749025" y="83577"/>
                  </a:lnTo>
                  <a:lnTo>
                    <a:pt x="1793434" y="99011"/>
                  </a:lnTo>
                  <a:lnTo>
                    <a:pt x="1837256" y="115669"/>
                  </a:lnTo>
                  <a:lnTo>
                    <a:pt x="1880468" y="133533"/>
                  </a:lnTo>
                  <a:lnTo>
                    <a:pt x="1923044" y="152583"/>
                  </a:lnTo>
                  <a:lnTo>
                    <a:pt x="1964959" y="172801"/>
                  </a:lnTo>
                  <a:lnTo>
                    <a:pt x="2006189" y="194167"/>
                  </a:lnTo>
                  <a:lnTo>
                    <a:pt x="2046708" y="216664"/>
                  </a:lnTo>
                  <a:lnTo>
                    <a:pt x="2086493" y="240271"/>
                  </a:lnTo>
                  <a:lnTo>
                    <a:pt x="2125517" y="264971"/>
                  </a:lnTo>
                  <a:lnTo>
                    <a:pt x="2163757" y="290744"/>
                  </a:lnTo>
                  <a:lnTo>
                    <a:pt x="2201187" y="317571"/>
                  </a:lnTo>
                  <a:lnTo>
                    <a:pt x="2237783" y="345434"/>
                  </a:lnTo>
                  <a:lnTo>
                    <a:pt x="2273520" y="374314"/>
                  </a:lnTo>
                  <a:lnTo>
                    <a:pt x="2308374" y="404191"/>
                  </a:lnTo>
                  <a:lnTo>
                    <a:pt x="2342318" y="435048"/>
                  </a:lnTo>
                  <a:lnTo>
                    <a:pt x="2375329" y="466865"/>
                  </a:lnTo>
                  <a:lnTo>
                    <a:pt x="2407382" y="499623"/>
                  </a:lnTo>
                  <a:lnTo>
                    <a:pt x="2438452" y="533303"/>
                  </a:lnTo>
                  <a:lnTo>
                    <a:pt x="2468514" y="567887"/>
                  </a:lnTo>
                  <a:lnTo>
                    <a:pt x="2497543" y="603356"/>
                  </a:lnTo>
                  <a:lnTo>
                    <a:pt x="2525514" y="639690"/>
                  </a:lnTo>
                  <a:lnTo>
                    <a:pt x="2552404" y="676871"/>
                  </a:lnTo>
                  <a:lnTo>
                    <a:pt x="2578186" y="714881"/>
                  </a:lnTo>
                  <a:lnTo>
                    <a:pt x="2602836" y="753700"/>
                  </a:lnTo>
                  <a:lnTo>
                    <a:pt x="2626330" y="793309"/>
                  </a:lnTo>
                  <a:lnTo>
                    <a:pt x="2648642" y="833689"/>
                  </a:lnTo>
                  <a:lnTo>
                    <a:pt x="2669748" y="874822"/>
                  </a:lnTo>
                  <a:lnTo>
                    <a:pt x="2689623" y="916689"/>
                  </a:lnTo>
                  <a:lnTo>
                    <a:pt x="2708242" y="959271"/>
                  </a:lnTo>
                  <a:lnTo>
                    <a:pt x="2725580" y="1002549"/>
                  </a:lnTo>
                  <a:lnTo>
                    <a:pt x="2741613" y="1046503"/>
                  </a:lnTo>
                  <a:lnTo>
                    <a:pt x="2756315" y="1091117"/>
                  </a:lnTo>
                  <a:lnTo>
                    <a:pt x="2769662" y="1136369"/>
                  </a:lnTo>
                  <a:lnTo>
                    <a:pt x="2781630" y="1182242"/>
                  </a:lnTo>
                  <a:lnTo>
                    <a:pt x="2792362" y="1229496"/>
                  </a:lnTo>
                  <a:lnTo>
                    <a:pt x="2801503" y="1276785"/>
                  </a:lnTo>
                  <a:lnTo>
                    <a:pt x="2809065" y="1324079"/>
                  </a:lnTo>
                  <a:lnTo>
                    <a:pt x="2815063" y="1371349"/>
                  </a:lnTo>
                  <a:lnTo>
                    <a:pt x="2819511" y="1418565"/>
                  </a:lnTo>
                  <a:lnTo>
                    <a:pt x="2822425" y="1465698"/>
                  </a:lnTo>
                  <a:lnTo>
                    <a:pt x="2823818" y="1512719"/>
                  </a:lnTo>
                  <a:lnTo>
                    <a:pt x="2823705" y="1559598"/>
                  </a:lnTo>
                  <a:lnTo>
                    <a:pt x="2822100" y="1606305"/>
                  </a:lnTo>
                  <a:lnTo>
                    <a:pt x="2819018" y="1652812"/>
                  </a:lnTo>
                  <a:lnTo>
                    <a:pt x="2814473" y="1699089"/>
                  </a:lnTo>
                  <a:lnTo>
                    <a:pt x="2808479" y="1745106"/>
                  </a:lnTo>
                  <a:lnTo>
                    <a:pt x="2801052" y="1790834"/>
                  </a:lnTo>
                  <a:lnTo>
                    <a:pt x="2792204" y="1836244"/>
                  </a:lnTo>
                  <a:lnTo>
                    <a:pt x="2781952" y="1881306"/>
                  </a:lnTo>
                  <a:lnTo>
                    <a:pt x="2770308" y="1925990"/>
                  </a:lnTo>
                  <a:lnTo>
                    <a:pt x="2757288" y="1970268"/>
                  </a:lnTo>
                  <a:lnTo>
                    <a:pt x="2742906" y="2014110"/>
                  </a:lnTo>
                  <a:lnTo>
                    <a:pt x="2727176" y="2057486"/>
                  </a:lnTo>
                  <a:lnTo>
                    <a:pt x="2710113" y="2100367"/>
                  </a:lnTo>
                  <a:lnTo>
                    <a:pt x="2691731" y="2142724"/>
                  </a:lnTo>
                  <a:lnTo>
                    <a:pt x="2672045" y="2184526"/>
                  </a:lnTo>
                  <a:lnTo>
                    <a:pt x="2651068" y="2225746"/>
                  </a:lnTo>
                  <a:lnTo>
                    <a:pt x="2628816" y="2266353"/>
                  </a:lnTo>
                  <a:lnTo>
                    <a:pt x="2605303" y="2306317"/>
                  </a:lnTo>
                  <a:lnTo>
                    <a:pt x="2580543" y="2345610"/>
                  </a:lnTo>
                  <a:lnTo>
                    <a:pt x="2554551" y="2384202"/>
                  </a:lnTo>
                  <a:lnTo>
                    <a:pt x="2527341" y="2422064"/>
                  </a:lnTo>
                  <a:lnTo>
                    <a:pt x="2498927" y="2459165"/>
                  </a:lnTo>
                  <a:lnTo>
                    <a:pt x="2469324" y="2495477"/>
                  </a:lnTo>
                  <a:lnTo>
                    <a:pt x="2438547" y="2530971"/>
                  </a:lnTo>
                  <a:lnTo>
                    <a:pt x="2406609" y="2565616"/>
                  </a:lnTo>
                  <a:lnTo>
                    <a:pt x="2373525" y="2599384"/>
                  </a:lnTo>
                  <a:lnTo>
                    <a:pt x="2339310" y="2632245"/>
                  </a:lnTo>
                  <a:lnTo>
                    <a:pt x="2303977" y="2664169"/>
                  </a:lnTo>
                  <a:lnTo>
                    <a:pt x="2267542" y="2695127"/>
                  </a:lnTo>
                  <a:lnTo>
                    <a:pt x="2230019" y="2725090"/>
                  </a:lnTo>
                  <a:lnTo>
                    <a:pt x="2191422" y="2754028"/>
                  </a:lnTo>
                  <a:lnTo>
                    <a:pt x="2151766" y="2781912"/>
                  </a:lnTo>
                  <a:lnTo>
                    <a:pt x="2111064" y="2808713"/>
                  </a:lnTo>
                  <a:lnTo>
                    <a:pt x="2069332" y="2834400"/>
                  </a:lnTo>
                  <a:lnTo>
                    <a:pt x="2026583" y="2858945"/>
                  </a:lnTo>
                  <a:lnTo>
                    <a:pt x="1982833" y="2882318"/>
                  </a:lnTo>
                  <a:lnTo>
                    <a:pt x="1938096" y="2904490"/>
                  </a:lnTo>
                  <a:lnTo>
                    <a:pt x="1893673" y="2924869"/>
                  </a:lnTo>
                  <a:lnTo>
                    <a:pt x="1848868" y="2943833"/>
                  </a:lnTo>
                  <a:lnTo>
                    <a:pt x="1803712" y="2961385"/>
                  </a:lnTo>
                  <a:lnTo>
                    <a:pt x="1758235" y="2977534"/>
                  </a:lnTo>
                  <a:lnTo>
                    <a:pt x="1712469" y="2992284"/>
                  </a:lnTo>
                  <a:lnTo>
                    <a:pt x="1666445" y="3005643"/>
                  </a:lnTo>
                  <a:lnTo>
                    <a:pt x="1620193" y="3017617"/>
                  </a:lnTo>
                  <a:lnTo>
                    <a:pt x="1573745" y="3028213"/>
                  </a:lnTo>
                  <a:lnTo>
                    <a:pt x="1527131" y="3037435"/>
                  </a:lnTo>
                  <a:lnTo>
                    <a:pt x="1480383" y="3045292"/>
                  </a:lnTo>
                  <a:lnTo>
                    <a:pt x="1433531" y="3051788"/>
                  </a:lnTo>
                  <a:lnTo>
                    <a:pt x="1386607" y="3056931"/>
                  </a:lnTo>
                  <a:lnTo>
                    <a:pt x="1339641" y="3060727"/>
                  </a:lnTo>
                  <a:lnTo>
                    <a:pt x="1292664" y="3063182"/>
                  </a:lnTo>
                  <a:lnTo>
                    <a:pt x="1245708" y="3064303"/>
                  </a:lnTo>
                  <a:lnTo>
                    <a:pt x="1198802" y="3064095"/>
                  </a:lnTo>
                  <a:lnTo>
                    <a:pt x="1151979" y="3062565"/>
                  </a:lnTo>
                  <a:lnTo>
                    <a:pt x="1105270" y="3059720"/>
                  </a:lnTo>
                  <a:lnTo>
                    <a:pt x="1058704" y="3055566"/>
                  </a:lnTo>
                  <a:lnTo>
                    <a:pt x="1012313" y="3050109"/>
                  </a:lnTo>
                  <a:lnTo>
                    <a:pt x="966128" y="3043355"/>
                  </a:lnTo>
                  <a:lnTo>
                    <a:pt x="920181" y="3035311"/>
                  </a:lnTo>
                  <a:lnTo>
                    <a:pt x="874501" y="3025983"/>
                  </a:lnTo>
                  <a:lnTo>
                    <a:pt x="829120" y="3015377"/>
                  </a:lnTo>
                  <a:lnTo>
                    <a:pt x="784069" y="3003501"/>
                  </a:lnTo>
                  <a:lnTo>
                    <a:pt x="739379" y="2990359"/>
                  </a:lnTo>
                  <a:lnTo>
                    <a:pt x="695080" y="2975959"/>
                  </a:lnTo>
                  <a:lnTo>
                    <a:pt x="651205" y="2960307"/>
                  </a:lnTo>
                  <a:lnTo>
                    <a:pt x="607783" y="2943408"/>
                  </a:lnTo>
                  <a:lnTo>
                    <a:pt x="564846" y="2925270"/>
                  </a:lnTo>
                  <a:lnTo>
                    <a:pt x="522424" y="2905899"/>
                  </a:lnTo>
                  <a:lnTo>
                    <a:pt x="480549" y="2885301"/>
                  </a:lnTo>
                  <a:lnTo>
                    <a:pt x="439251" y="2863483"/>
                  </a:lnTo>
                  <a:lnTo>
                    <a:pt x="398562" y="2840450"/>
                  </a:lnTo>
                  <a:lnTo>
                    <a:pt x="358513" y="2816209"/>
                  </a:lnTo>
                  <a:lnTo>
                    <a:pt x="319134" y="2790767"/>
                  </a:lnTo>
                  <a:lnTo>
                    <a:pt x="280456" y="2764129"/>
                  </a:lnTo>
                  <a:lnTo>
                    <a:pt x="242511" y="2736302"/>
                  </a:lnTo>
                  <a:lnTo>
                    <a:pt x="205329" y="2707293"/>
                  </a:lnTo>
                  <a:lnTo>
                    <a:pt x="168941" y="2677108"/>
                  </a:lnTo>
                  <a:lnTo>
                    <a:pt x="133378" y="2645752"/>
                  </a:lnTo>
                  <a:lnTo>
                    <a:pt x="98672" y="2613233"/>
                  </a:lnTo>
                  <a:lnTo>
                    <a:pt x="64853" y="2579557"/>
                  </a:lnTo>
                  <a:lnTo>
                    <a:pt x="31952" y="2544729"/>
                  </a:lnTo>
                  <a:lnTo>
                    <a:pt x="0" y="2508757"/>
                  </a:lnTo>
                  <a:lnTo>
                    <a:pt x="1228928" y="1532127"/>
                  </a:lnTo>
                  <a:lnTo>
                    <a:pt x="1228928" y="0"/>
                  </a:lnTo>
                  <a:close/>
                </a:path>
              </a:pathLst>
            </a:custGeom>
            <a:ln w="1428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382" y="2439670"/>
              <a:ext cx="1594951" cy="25087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6382" y="2439670"/>
              <a:ext cx="1595120" cy="2508885"/>
            </a:xfrm>
            <a:custGeom>
              <a:avLst/>
              <a:gdLst/>
              <a:ahLst/>
              <a:cxnLst/>
              <a:rect l="l" t="t" r="r" b="b"/>
              <a:pathLst>
                <a:path w="1595120" h="2508885">
                  <a:moveTo>
                    <a:pt x="366022" y="2508757"/>
                  </a:moveTo>
                  <a:lnTo>
                    <a:pt x="333924" y="2470242"/>
                  </a:lnTo>
                  <a:lnTo>
                    <a:pt x="303267" y="2430942"/>
                  </a:lnTo>
                  <a:lnTo>
                    <a:pt x="274056" y="2390891"/>
                  </a:lnTo>
                  <a:lnTo>
                    <a:pt x="246295" y="2350126"/>
                  </a:lnTo>
                  <a:lnTo>
                    <a:pt x="219991" y="2308681"/>
                  </a:lnTo>
                  <a:lnTo>
                    <a:pt x="195146" y="2266592"/>
                  </a:lnTo>
                  <a:lnTo>
                    <a:pt x="171766" y="2223894"/>
                  </a:lnTo>
                  <a:lnTo>
                    <a:pt x="149856" y="2180623"/>
                  </a:lnTo>
                  <a:lnTo>
                    <a:pt x="129419" y="2136814"/>
                  </a:lnTo>
                  <a:lnTo>
                    <a:pt x="110462" y="2092502"/>
                  </a:lnTo>
                  <a:lnTo>
                    <a:pt x="92987" y="2047723"/>
                  </a:lnTo>
                  <a:lnTo>
                    <a:pt x="77001" y="2002512"/>
                  </a:lnTo>
                  <a:lnTo>
                    <a:pt x="62507" y="1956904"/>
                  </a:lnTo>
                  <a:lnTo>
                    <a:pt x="49511" y="1910935"/>
                  </a:lnTo>
                  <a:lnTo>
                    <a:pt x="38016" y="1864640"/>
                  </a:lnTo>
                  <a:lnTo>
                    <a:pt x="28028" y="1818054"/>
                  </a:lnTo>
                  <a:lnTo>
                    <a:pt x="19552" y="1771213"/>
                  </a:lnTo>
                  <a:lnTo>
                    <a:pt x="12591" y="1724152"/>
                  </a:lnTo>
                  <a:lnTo>
                    <a:pt x="7151" y="1676906"/>
                  </a:lnTo>
                  <a:lnTo>
                    <a:pt x="3236" y="1629511"/>
                  </a:lnTo>
                  <a:lnTo>
                    <a:pt x="850" y="1582002"/>
                  </a:lnTo>
                  <a:lnTo>
                    <a:pt x="0" y="1534414"/>
                  </a:lnTo>
                  <a:lnTo>
                    <a:pt x="688" y="1486783"/>
                  </a:lnTo>
                  <a:lnTo>
                    <a:pt x="2920" y="1439145"/>
                  </a:lnTo>
                  <a:lnTo>
                    <a:pt x="6700" y="1391533"/>
                  </a:lnTo>
                  <a:lnTo>
                    <a:pt x="12034" y="1343985"/>
                  </a:lnTo>
                  <a:lnTo>
                    <a:pt x="18925" y="1296535"/>
                  </a:lnTo>
                  <a:lnTo>
                    <a:pt x="27379" y="1249218"/>
                  </a:lnTo>
                  <a:lnTo>
                    <a:pt x="37400" y="1202070"/>
                  </a:lnTo>
                  <a:lnTo>
                    <a:pt x="48992" y="1155126"/>
                  </a:lnTo>
                  <a:lnTo>
                    <a:pt x="62161" y="1108421"/>
                  </a:lnTo>
                  <a:lnTo>
                    <a:pt x="76910" y="1061992"/>
                  </a:lnTo>
                  <a:lnTo>
                    <a:pt x="93246" y="1015872"/>
                  </a:lnTo>
                  <a:lnTo>
                    <a:pt x="111171" y="970098"/>
                  </a:lnTo>
                  <a:lnTo>
                    <a:pt x="130692" y="924705"/>
                  </a:lnTo>
                  <a:lnTo>
                    <a:pt x="151811" y="879728"/>
                  </a:lnTo>
                  <a:lnTo>
                    <a:pt x="173791" y="836620"/>
                  </a:lnTo>
                  <a:lnTo>
                    <a:pt x="197053" y="794380"/>
                  </a:lnTo>
                  <a:lnTo>
                    <a:pt x="221568" y="753027"/>
                  </a:lnTo>
                  <a:lnTo>
                    <a:pt x="247309" y="712577"/>
                  </a:lnTo>
                  <a:lnTo>
                    <a:pt x="274244" y="673049"/>
                  </a:lnTo>
                  <a:lnTo>
                    <a:pt x="302347" y="634459"/>
                  </a:lnTo>
                  <a:lnTo>
                    <a:pt x="331588" y="596827"/>
                  </a:lnTo>
                  <a:lnTo>
                    <a:pt x="361939" y="560169"/>
                  </a:lnTo>
                  <a:lnTo>
                    <a:pt x="393369" y="524502"/>
                  </a:lnTo>
                  <a:lnTo>
                    <a:pt x="425852" y="489845"/>
                  </a:lnTo>
                  <a:lnTo>
                    <a:pt x="459357" y="456215"/>
                  </a:lnTo>
                  <a:lnTo>
                    <a:pt x="493855" y="423630"/>
                  </a:lnTo>
                  <a:lnTo>
                    <a:pt x="529319" y="392107"/>
                  </a:lnTo>
                  <a:lnTo>
                    <a:pt x="565719" y="361664"/>
                  </a:lnTo>
                  <a:lnTo>
                    <a:pt x="603027" y="332318"/>
                  </a:lnTo>
                  <a:lnTo>
                    <a:pt x="641212" y="304088"/>
                  </a:lnTo>
                  <a:lnTo>
                    <a:pt x="680248" y="276990"/>
                  </a:lnTo>
                  <a:lnTo>
                    <a:pt x="720104" y="251042"/>
                  </a:lnTo>
                  <a:lnTo>
                    <a:pt x="760752" y="226263"/>
                  </a:lnTo>
                  <a:lnTo>
                    <a:pt x="802164" y="202668"/>
                  </a:lnTo>
                  <a:lnTo>
                    <a:pt x="844309" y="180277"/>
                  </a:lnTo>
                  <a:lnTo>
                    <a:pt x="887160" y="159107"/>
                  </a:lnTo>
                  <a:lnTo>
                    <a:pt x="930687" y="139175"/>
                  </a:lnTo>
                  <a:lnTo>
                    <a:pt x="974862" y="120498"/>
                  </a:lnTo>
                  <a:lnTo>
                    <a:pt x="1019656" y="103095"/>
                  </a:lnTo>
                  <a:lnTo>
                    <a:pt x="1065040" y="86984"/>
                  </a:lnTo>
                  <a:lnTo>
                    <a:pt x="1110985" y="72181"/>
                  </a:lnTo>
                  <a:lnTo>
                    <a:pt x="1157462" y="58704"/>
                  </a:lnTo>
                  <a:lnTo>
                    <a:pt x="1204443" y="46571"/>
                  </a:lnTo>
                  <a:lnTo>
                    <a:pt x="1251898" y="35799"/>
                  </a:lnTo>
                  <a:lnTo>
                    <a:pt x="1299799" y="26407"/>
                  </a:lnTo>
                  <a:lnTo>
                    <a:pt x="1348117" y="18411"/>
                  </a:lnTo>
                  <a:lnTo>
                    <a:pt x="1396823" y="11830"/>
                  </a:lnTo>
                  <a:lnTo>
                    <a:pt x="1445888" y="6681"/>
                  </a:lnTo>
                  <a:lnTo>
                    <a:pt x="1495284" y="2981"/>
                  </a:lnTo>
                  <a:lnTo>
                    <a:pt x="1544981" y="748"/>
                  </a:lnTo>
                  <a:lnTo>
                    <a:pt x="1594951" y="0"/>
                  </a:lnTo>
                  <a:lnTo>
                    <a:pt x="1594951" y="1532127"/>
                  </a:lnTo>
                  <a:lnTo>
                    <a:pt x="366022" y="2508757"/>
                  </a:lnTo>
                  <a:close/>
                </a:path>
              </a:pathLst>
            </a:custGeom>
            <a:ln w="14287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88847" y="3314191"/>
            <a:ext cx="939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474747"/>
                </a:solidFill>
                <a:latin typeface="Microsoft JhengHei"/>
                <a:cs typeface="Microsoft JhengHei"/>
              </a:rPr>
              <a:t>其他地區</a:t>
            </a:r>
            <a:r>
              <a:rPr dirty="0" sz="1800" spc="-50" b="1">
                <a:solidFill>
                  <a:srgbClr val="474747"/>
                </a:solidFill>
                <a:latin typeface="Microsoft JhengHei"/>
                <a:cs typeface="Microsoft JhengHei"/>
              </a:rPr>
              <a:t> </a:t>
            </a:r>
            <a:r>
              <a:rPr dirty="0" sz="1800" spc="-25" b="1">
                <a:solidFill>
                  <a:srgbClr val="474747"/>
                </a:solidFill>
                <a:latin typeface="Microsoft JhengHei"/>
                <a:cs typeface="Microsoft JhengHei"/>
              </a:rPr>
              <a:t>36%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5701" y="3849700"/>
            <a:ext cx="502284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474747"/>
                </a:solidFill>
                <a:latin typeface="Microsoft JhengHei"/>
                <a:cs typeface="Microsoft JhengHei"/>
              </a:rPr>
              <a:t>六都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1800" spc="-25" b="1">
                <a:solidFill>
                  <a:srgbClr val="474747"/>
                </a:solidFill>
                <a:latin typeface="Microsoft JhengHei"/>
                <a:cs typeface="Microsoft JhengHei"/>
              </a:rPr>
              <a:t>64%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36256" y="2307671"/>
            <a:ext cx="3997960" cy="1672589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25" b="1">
                <a:solidFill>
                  <a:srgbClr val="474747"/>
                </a:solidFill>
                <a:latin typeface="Microsoft JhengHei"/>
                <a:cs typeface="Microsoft JhengHei"/>
              </a:rPr>
              <a:t>分析：</a:t>
            </a:r>
            <a:endParaRPr sz="1800">
              <a:latin typeface="Microsoft JhengHei"/>
              <a:cs typeface="Microsoft JhengHei"/>
            </a:endParaRPr>
          </a:p>
          <a:p>
            <a:pPr algn="just"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74747"/>
                </a:solidFill>
                <a:latin typeface="Microsoft JhengHei"/>
                <a:cs typeface="Microsoft JhengHei"/>
              </a:rPr>
              <a:t>台灣</a:t>
            </a:r>
            <a:r>
              <a:rPr dirty="0" sz="1800" spc="-20">
                <a:solidFill>
                  <a:srgbClr val="474747"/>
                </a:solidFill>
                <a:latin typeface="Microsoft JhengHei"/>
                <a:cs typeface="Microsoft JhengHei"/>
              </a:rPr>
              <a:t>LPG</a:t>
            </a:r>
            <a:r>
              <a:rPr dirty="0" sz="1800">
                <a:solidFill>
                  <a:srgbClr val="474747"/>
                </a:solidFill>
                <a:latin typeface="Microsoft JhengHei"/>
                <a:cs typeface="Microsoft JhengHei"/>
              </a:rPr>
              <a:t>家庭用戶區域分佈，</a:t>
            </a:r>
            <a:r>
              <a:rPr dirty="0" sz="1800" spc="-20">
                <a:solidFill>
                  <a:srgbClr val="202020"/>
                </a:solidFill>
                <a:latin typeface="Microsoft JhengHei"/>
                <a:cs typeface="Microsoft JhengHei"/>
              </a:rPr>
              <a:t>主要市</a:t>
            </a:r>
            <a:r>
              <a:rPr dirty="0" sz="1800" spc="-5">
                <a:solidFill>
                  <a:srgbClr val="202020"/>
                </a:solidFill>
                <a:latin typeface="Microsoft JhengHei"/>
                <a:cs typeface="Microsoft JhengHei"/>
              </a:rPr>
              <a:t>場集中於六都：因此旺來預計從台中</a:t>
            </a:r>
            <a:r>
              <a:rPr dirty="0" sz="1800" spc="-15">
                <a:solidFill>
                  <a:srgbClr val="202020"/>
                </a:solidFill>
                <a:latin typeface="Microsoft JhengHei"/>
                <a:cs typeface="Microsoft JhengHei"/>
              </a:rPr>
              <a:t>為基礎，前進六都市場。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25257" y="1912080"/>
            <a:ext cx="700405" cy="471805"/>
            <a:chOff x="4725257" y="1912080"/>
            <a:chExt cx="700405" cy="471805"/>
          </a:xfrm>
        </p:grpSpPr>
        <p:sp>
          <p:nvSpPr>
            <p:cNvPr id="13" name="object 13"/>
            <p:cNvSpPr/>
            <p:nvPr/>
          </p:nvSpPr>
          <p:spPr>
            <a:xfrm>
              <a:off x="4732401" y="19192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685800" y="342900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571500" y="457200"/>
                  </a:lnTo>
                  <a:lnTo>
                    <a:pt x="571500" y="342900"/>
                  </a:lnTo>
                  <a:close/>
                </a:path>
                <a:path w="685800" h="457200">
                  <a:moveTo>
                    <a:pt x="685800" y="342900"/>
                  </a:moveTo>
                  <a:lnTo>
                    <a:pt x="571500" y="342900"/>
                  </a:lnTo>
                  <a:lnTo>
                    <a:pt x="571500" y="457200"/>
                  </a:lnTo>
                  <a:lnTo>
                    <a:pt x="628650" y="457200"/>
                  </a:lnTo>
                  <a:lnTo>
                    <a:pt x="650867" y="452699"/>
                  </a:lnTo>
                  <a:lnTo>
                    <a:pt x="669036" y="440436"/>
                  </a:lnTo>
                  <a:lnTo>
                    <a:pt x="681299" y="422267"/>
                  </a:lnTo>
                  <a:lnTo>
                    <a:pt x="685800" y="400050"/>
                  </a:lnTo>
                  <a:lnTo>
                    <a:pt x="685800" y="342900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32401" y="19192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900"/>
                  </a:moveTo>
                  <a:lnTo>
                    <a:pt x="685800" y="114300"/>
                  </a:lnTo>
                </a:path>
                <a:path w="685800" h="342900">
                  <a:moveTo>
                    <a:pt x="0" y="342900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5257" y="2259742"/>
              <a:ext cx="123825" cy="1238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1519" y="1912080"/>
              <a:ext cx="123825" cy="1238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46701" y="237642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1519" y="2259742"/>
              <a:ext cx="123825" cy="12382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525357" y="1912080"/>
            <a:ext cx="1614805" cy="471805"/>
            <a:chOff x="5525357" y="1912080"/>
            <a:chExt cx="1614805" cy="471805"/>
          </a:xfrm>
        </p:grpSpPr>
        <p:sp>
          <p:nvSpPr>
            <p:cNvPr id="20" name="object 20"/>
            <p:cNvSpPr/>
            <p:nvPr/>
          </p:nvSpPr>
          <p:spPr>
            <a:xfrm>
              <a:off x="5532501" y="19192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600200" y="342900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485900" y="457200"/>
                  </a:lnTo>
                  <a:lnTo>
                    <a:pt x="1485900" y="342900"/>
                  </a:lnTo>
                  <a:close/>
                </a:path>
                <a:path w="1600200" h="457200">
                  <a:moveTo>
                    <a:pt x="1600200" y="342900"/>
                  </a:moveTo>
                  <a:lnTo>
                    <a:pt x="1485900" y="342900"/>
                  </a:lnTo>
                  <a:lnTo>
                    <a:pt x="1485900" y="457200"/>
                  </a:lnTo>
                  <a:lnTo>
                    <a:pt x="1543050" y="457200"/>
                  </a:lnTo>
                  <a:lnTo>
                    <a:pt x="1565267" y="452699"/>
                  </a:lnTo>
                  <a:lnTo>
                    <a:pt x="1583435" y="440436"/>
                  </a:lnTo>
                  <a:lnTo>
                    <a:pt x="1595699" y="422267"/>
                  </a:lnTo>
                  <a:lnTo>
                    <a:pt x="1600200" y="400050"/>
                  </a:lnTo>
                  <a:lnTo>
                    <a:pt x="1600200" y="342900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532501" y="19192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900"/>
                  </a:lnTo>
                </a:path>
                <a:path w="1600200" h="342900">
                  <a:moveTo>
                    <a:pt x="0" y="342900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5357" y="2259742"/>
              <a:ext cx="123825" cy="1238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6019" y="1912080"/>
              <a:ext cx="123825" cy="1238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646801" y="2376423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6019" y="2259742"/>
              <a:ext cx="123825" cy="123825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4725257" y="2483580"/>
            <a:ext cx="700405" cy="471805"/>
            <a:chOff x="4725257" y="2483580"/>
            <a:chExt cx="700405" cy="471805"/>
          </a:xfrm>
        </p:grpSpPr>
        <p:sp>
          <p:nvSpPr>
            <p:cNvPr id="27" name="object 27"/>
            <p:cNvSpPr/>
            <p:nvPr/>
          </p:nvSpPr>
          <p:spPr>
            <a:xfrm>
              <a:off x="4732401" y="24907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685800" y="342900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571500" y="457200"/>
                  </a:lnTo>
                  <a:lnTo>
                    <a:pt x="571500" y="342900"/>
                  </a:lnTo>
                  <a:close/>
                </a:path>
                <a:path w="685800" h="457200">
                  <a:moveTo>
                    <a:pt x="685800" y="342900"/>
                  </a:moveTo>
                  <a:lnTo>
                    <a:pt x="571500" y="342900"/>
                  </a:lnTo>
                  <a:lnTo>
                    <a:pt x="571500" y="457200"/>
                  </a:lnTo>
                  <a:lnTo>
                    <a:pt x="628650" y="457200"/>
                  </a:lnTo>
                  <a:lnTo>
                    <a:pt x="650867" y="452699"/>
                  </a:lnTo>
                  <a:lnTo>
                    <a:pt x="669036" y="440436"/>
                  </a:lnTo>
                  <a:lnTo>
                    <a:pt x="681299" y="422267"/>
                  </a:lnTo>
                  <a:lnTo>
                    <a:pt x="685800" y="400050"/>
                  </a:lnTo>
                  <a:lnTo>
                    <a:pt x="685800" y="342900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DFCA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732401" y="24907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900"/>
                  </a:moveTo>
                  <a:lnTo>
                    <a:pt x="685800" y="114300"/>
                  </a:lnTo>
                </a:path>
                <a:path w="685800" h="342900">
                  <a:moveTo>
                    <a:pt x="0" y="342900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257" y="2831242"/>
              <a:ext cx="123825" cy="1238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1519" y="2483580"/>
              <a:ext cx="123825" cy="1238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846701" y="294792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01519" y="2831242"/>
              <a:ext cx="123825" cy="123825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5525357" y="2483580"/>
            <a:ext cx="1614805" cy="471805"/>
            <a:chOff x="5525357" y="2483580"/>
            <a:chExt cx="1614805" cy="471805"/>
          </a:xfrm>
        </p:grpSpPr>
        <p:sp>
          <p:nvSpPr>
            <p:cNvPr id="34" name="object 34"/>
            <p:cNvSpPr/>
            <p:nvPr/>
          </p:nvSpPr>
          <p:spPr>
            <a:xfrm>
              <a:off x="5532501" y="24907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600200" y="342900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485900" y="457200"/>
                  </a:lnTo>
                  <a:lnTo>
                    <a:pt x="1485900" y="342900"/>
                  </a:lnTo>
                  <a:close/>
                </a:path>
                <a:path w="1600200" h="457200">
                  <a:moveTo>
                    <a:pt x="1600200" y="342900"/>
                  </a:moveTo>
                  <a:lnTo>
                    <a:pt x="1485900" y="342900"/>
                  </a:lnTo>
                  <a:lnTo>
                    <a:pt x="1485900" y="457200"/>
                  </a:lnTo>
                  <a:lnTo>
                    <a:pt x="1543050" y="457200"/>
                  </a:lnTo>
                  <a:lnTo>
                    <a:pt x="1565267" y="452699"/>
                  </a:lnTo>
                  <a:lnTo>
                    <a:pt x="1583435" y="440436"/>
                  </a:lnTo>
                  <a:lnTo>
                    <a:pt x="1595699" y="422267"/>
                  </a:lnTo>
                  <a:lnTo>
                    <a:pt x="1600200" y="400050"/>
                  </a:lnTo>
                  <a:lnTo>
                    <a:pt x="1600200" y="342900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DFCA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532501" y="24907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900"/>
                  </a:lnTo>
                </a:path>
                <a:path w="1600200" h="342900">
                  <a:moveTo>
                    <a:pt x="0" y="342900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25357" y="2831242"/>
              <a:ext cx="123825" cy="1238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16019" y="2483580"/>
              <a:ext cx="123825" cy="12382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646801" y="2947923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16019" y="2831242"/>
              <a:ext cx="123825" cy="123825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4725257" y="3055080"/>
            <a:ext cx="700405" cy="471805"/>
            <a:chOff x="4725257" y="3055080"/>
            <a:chExt cx="700405" cy="471805"/>
          </a:xfrm>
        </p:grpSpPr>
        <p:sp>
          <p:nvSpPr>
            <p:cNvPr id="41" name="object 41"/>
            <p:cNvSpPr/>
            <p:nvPr/>
          </p:nvSpPr>
          <p:spPr>
            <a:xfrm>
              <a:off x="4732401" y="30622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685800" y="342900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571500" y="457200"/>
                  </a:lnTo>
                  <a:lnTo>
                    <a:pt x="571500" y="342900"/>
                  </a:lnTo>
                  <a:close/>
                </a:path>
                <a:path w="685800" h="457200">
                  <a:moveTo>
                    <a:pt x="685800" y="342900"/>
                  </a:moveTo>
                  <a:lnTo>
                    <a:pt x="571500" y="342900"/>
                  </a:lnTo>
                  <a:lnTo>
                    <a:pt x="571500" y="457200"/>
                  </a:lnTo>
                  <a:lnTo>
                    <a:pt x="628650" y="457200"/>
                  </a:lnTo>
                  <a:lnTo>
                    <a:pt x="650867" y="452699"/>
                  </a:lnTo>
                  <a:lnTo>
                    <a:pt x="669036" y="440436"/>
                  </a:lnTo>
                  <a:lnTo>
                    <a:pt x="681299" y="422267"/>
                  </a:lnTo>
                  <a:lnTo>
                    <a:pt x="685800" y="400050"/>
                  </a:lnTo>
                  <a:lnTo>
                    <a:pt x="685800" y="342900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DE8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732401" y="30622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900"/>
                  </a:moveTo>
                  <a:lnTo>
                    <a:pt x="685800" y="114300"/>
                  </a:lnTo>
                </a:path>
                <a:path w="685800" h="342900">
                  <a:moveTo>
                    <a:pt x="0" y="342900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25257" y="3402742"/>
              <a:ext cx="123825" cy="1238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01519" y="3055080"/>
              <a:ext cx="123825" cy="12382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846701" y="351942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01519" y="3402742"/>
              <a:ext cx="123825" cy="123825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5525357" y="3055080"/>
            <a:ext cx="1614805" cy="471805"/>
            <a:chOff x="5525357" y="3055080"/>
            <a:chExt cx="1614805" cy="471805"/>
          </a:xfrm>
        </p:grpSpPr>
        <p:sp>
          <p:nvSpPr>
            <p:cNvPr id="48" name="object 48"/>
            <p:cNvSpPr/>
            <p:nvPr/>
          </p:nvSpPr>
          <p:spPr>
            <a:xfrm>
              <a:off x="5532501" y="30622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600200" y="342900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485900" y="457200"/>
                  </a:lnTo>
                  <a:lnTo>
                    <a:pt x="1485900" y="342900"/>
                  </a:lnTo>
                  <a:close/>
                </a:path>
                <a:path w="1600200" h="457200">
                  <a:moveTo>
                    <a:pt x="1600200" y="342900"/>
                  </a:moveTo>
                  <a:lnTo>
                    <a:pt x="1485900" y="342900"/>
                  </a:lnTo>
                  <a:lnTo>
                    <a:pt x="1485900" y="457200"/>
                  </a:lnTo>
                  <a:lnTo>
                    <a:pt x="1543050" y="457200"/>
                  </a:lnTo>
                  <a:lnTo>
                    <a:pt x="1565267" y="452699"/>
                  </a:lnTo>
                  <a:lnTo>
                    <a:pt x="1583435" y="440436"/>
                  </a:lnTo>
                  <a:lnTo>
                    <a:pt x="1595699" y="422267"/>
                  </a:lnTo>
                  <a:lnTo>
                    <a:pt x="1600200" y="400050"/>
                  </a:lnTo>
                  <a:lnTo>
                    <a:pt x="1600200" y="342900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DE8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532501" y="30622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900"/>
                  </a:lnTo>
                </a:path>
                <a:path w="1600200" h="342900">
                  <a:moveTo>
                    <a:pt x="0" y="342900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25357" y="3402742"/>
              <a:ext cx="123825" cy="12382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16019" y="3055080"/>
              <a:ext cx="123825" cy="12382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646801" y="3519423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16019" y="3402742"/>
              <a:ext cx="123825" cy="123825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4725257" y="3626580"/>
            <a:ext cx="700405" cy="471805"/>
            <a:chOff x="4725257" y="3626580"/>
            <a:chExt cx="700405" cy="471805"/>
          </a:xfrm>
        </p:grpSpPr>
        <p:sp>
          <p:nvSpPr>
            <p:cNvPr id="55" name="object 55"/>
            <p:cNvSpPr/>
            <p:nvPr/>
          </p:nvSpPr>
          <p:spPr>
            <a:xfrm>
              <a:off x="4732401" y="36337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685800" y="342900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571500" y="457200"/>
                  </a:lnTo>
                  <a:lnTo>
                    <a:pt x="571500" y="342900"/>
                  </a:lnTo>
                  <a:close/>
                </a:path>
                <a:path w="685800" h="457200">
                  <a:moveTo>
                    <a:pt x="685800" y="342900"/>
                  </a:moveTo>
                  <a:lnTo>
                    <a:pt x="571500" y="342900"/>
                  </a:lnTo>
                  <a:lnTo>
                    <a:pt x="571500" y="457200"/>
                  </a:lnTo>
                  <a:lnTo>
                    <a:pt x="628650" y="457200"/>
                  </a:lnTo>
                  <a:lnTo>
                    <a:pt x="650867" y="452699"/>
                  </a:lnTo>
                  <a:lnTo>
                    <a:pt x="669035" y="440436"/>
                  </a:lnTo>
                  <a:lnTo>
                    <a:pt x="681299" y="422267"/>
                  </a:lnTo>
                  <a:lnTo>
                    <a:pt x="685800" y="400050"/>
                  </a:lnTo>
                  <a:lnTo>
                    <a:pt x="685800" y="342900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E456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732401" y="36337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900"/>
                  </a:moveTo>
                  <a:lnTo>
                    <a:pt x="685800" y="114300"/>
                  </a:lnTo>
                </a:path>
                <a:path w="685800" h="342900">
                  <a:moveTo>
                    <a:pt x="0" y="342900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25257" y="3974242"/>
              <a:ext cx="123825" cy="1238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01519" y="3626580"/>
              <a:ext cx="123825" cy="123825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846701" y="409092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01519" y="3974242"/>
              <a:ext cx="123825" cy="123825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5525357" y="3626580"/>
            <a:ext cx="1614805" cy="471805"/>
            <a:chOff x="5525357" y="3626580"/>
            <a:chExt cx="1614805" cy="471805"/>
          </a:xfrm>
        </p:grpSpPr>
        <p:sp>
          <p:nvSpPr>
            <p:cNvPr id="62" name="object 62"/>
            <p:cNvSpPr/>
            <p:nvPr/>
          </p:nvSpPr>
          <p:spPr>
            <a:xfrm>
              <a:off x="5532501" y="36337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600200" y="342900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485900" y="457200"/>
                  </a:lnTo>
                  <a:lnTo>
                    <a:pt x="1485900" y="342900"/>
                  </a:lnTo>
                  <a:close/>
                </a:path>
                <a:path w="1600200" h="457200">
                  <a:moveTo>
                    <a:pt x="1600200" y="342900"/>
                  </a:moveTo>
                  <a:lnTo>
                    <a:pt x="1485900" y="342900"/>
                  </a:lnTo>
                  <a:lnTo>
                    <a:pt x="1485900" y="457200"/>
                  </a:lnTo>
                  <a:lnTo>
                    <a:pt x="1543050" y="457200"/>
                  </a:lnTo>
                  <a:lnTo>
                    <a:pt x="1565267" y="452699"/>
                  </a:lnTo>
                  <a:lnTo>
                    <a:pt x="1583435" y="440436"/>
                  </a:lnTo>
                  <a:lnTo>
                    <a:pt x="1595699" y="422267"/>
                  </a:lnTo>
                  <a:lnTo>
                    <a:pt x="1600200" y="400050"/>
                  </a:lnTo>
                  <a:lnTo>
                    <a:pt x="1600200" y="342900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E456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532501" y="36337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900"/>
                  </a:lnTo>
                </a:path>
                <a:path w="1600200" h="342900">
                  <a:moveTo>
                    <a:pt x="0" y="342900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25357" y="3974242"/>
              <a:ext cx="123825" cy="12382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16019" y="3626580"/>
              <a:ext cx="123825" cy="12382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646801" y="4090923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016019" y="3974242"/>
              <a:ext cx="123825" cy="123825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4725257" y="4198080"/>
            <a:ext cx="700405" cy="471805"/>
            <a:chOff x="4725257" y="4198080"/>
            <a:chExt cx="700405" cy="471805"/>
          </a:xfrm>
        </p:grpSpPr>
        <p:sp>
          <p:nvSpPr>
            <p:cNvPr id="69" name="object 69"/>
            <p:cNvSpPr/>
            <p:nvPr/>
          </p:nvSpPr>
          <p:spPr>
            <a:xfrm>
              <a:off x="4732401" y="42052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685800" y="342900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571500" y="457200"/>
                  </a:lnTo>
                  <a:lnTo>
                    <a:pt x="571500" y="342900"/>
                  </a:lnTo>
                  <a:close/>
                </a:path>
                <a:path w="685800" h="457200">
                  <a:moveTo>
                    <a:pt x="685800" y="342900"/>
                  </a:moveTo>
                  <a:lnTo>
                    <a:pt x="571500" y="342900"/>
                  </a:lnTo>
                  <a:lnTo>
                    <a:pt x="571500" y="457200"/>
                  </a:lnTo>
                  <a:lnTo>
                    <a:pt x="628650" y="457200"/>
                  </a:lnTo>
                  <a:lnTo>
                    <a:pt x="650867" y="452699"/>
                  </a:lnTo>
                  <a:lnTo>
                    <a:pt x="669035" y="440436"/>
                  </a:lnTo>
                  <a:lnTo>
                    <a:pt x="681299" y="422267"/>
                  </a:lnTo>
                  <a:lnTo>
                    <a:pt x="685800" y="400050"/>
                  </a:lnTo>
                  <a:lnTo>
                    <a:pt x="685800" y="342900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DE57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732401" y="42052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900"/>
                  </a:moveTo>
                  <a:lnTo>
                    <a:pt x="685800" y="114300"/>
                  </a:lnTo>
                </a:path>
                <a:path w="685800" h="342900">
                  <a:moveTo>
                    <a:pt x="0" y="342900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25257" y="4545742"/>
              <a:ext cx="123825" cy="12382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01519" y="4198080"/>
              <a:ext cx="123825" cy="12382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846701" y="466242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301519" y="4545742"/>
              <a:ext cx="123825" cy="123825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5525357" y="4198080"/>
            <a:ext cx="1614805" cy="471805"/>
            <a:chOff x="5525357" y="4198080"/>
            <a:chExt cx="1614805" cy="471805"/>
          </a:xfrm>
        </p:grpSpPr>
        <p:sp>
          <p:nvSpPr>
            <p:cNvPr id="76" name="object 76"/>
            <p:cNvSpPr/>
            <p:nvPr/>
          </p:nvSpPr>
          <p:spPr>
            <a:xfrm>
              <a:off x="5532501" y="42052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600200" y="342900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485900" y="457200"/>
                  </a:lnTo>
                  <a:lnTo>
                    <a:pt x="1485900" y="342900"/>
                  </a:lnTo>
                  <a:close/>
                </a:path>
                <a:path w="1600200" h="457200">
                  <a:moveTo>
                    <a:pt x="1600200" y="342900"/>
                  </a:moveTo>
                  <a:lnTo>
                    <a:pt x="1485900" y="342900"/>
                  </a:lnTo>
                  <a:lnTo>
                    <a:pt x="1485900" y="457200"/>
                  </a:lnTo>
                  <a:lnTo>
                    <a:pt x="1543050" y="457200"/>
                  </a:lnTo>
                  <a:lnTo>
                    <a:pt x="1565267" y="452699"/>
                  </a:lnTo>
                  <a:lnTo>
                    <a:pt x="1583435" y="440436"/>
                  </a:lnTo>
                  <a:lnTo>
                    <a:pt x="1595699" y="422267"/>
                  </a:lnTo>
                  <a:lnTo>
                    <a:pt x="1600200" y="400050"/>
                  </a:lnTo>
                  <a:lnTo>
                    <a:pt x="1600200" y="342900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DE57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532501" y="42052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900"/>
                  </a:lnTo>
                </a:path>
                <a:path w="1600200" h="342900">
                  <a:moveTo>
                    <a:pt x="0" y="342900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25357" y="4545742"/>
              <a:ext cx="123825" cy="123825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16019" y="4198080"/>
              <a:ext cx="123825" cy="123825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646801" y="4662423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16019" y="4545742"/>
              <a:ext cx="123825" cy="123825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4725257" y="4769580"/>
            <a:ext cx="700405" cy="471805"/>
            <a:chOff x="4725257" y="4769580"/>
            <a:chExt cx="700405" cy="471805"/>
          </a:xfrm>
        </p:grpSpPr>
        <p:sp>
          <p:nvSpPr>
            <p:cNvPr id="83" name="object 83"/>
            <p:cNvSpPr/>
            <p:nvPr/>
          </p:nvSpPr>
          <p:spPr>
            <a:xfrm>
              <a:off x="4732401" y="47767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685800" y="342900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571500" y="457200"/>
                  </a:lnTo>
                  <a:lnTo>
                    <a:pt x="571500" y="342900"/>
                  </a:lnTo>
                  <a:close/>
                </a:path>
                <a:path w="685800" h="457200">
                  <a:moveTo>
                    <a:pt x="685800" y="342900"/>
                  </a:moveTo>
                  <a:lnTo>
                    <a:pt x="571500" y="342900"/>
                  </a:lnTo>
                  <a:lnTo>
                    <a:pt x="571500" y="457200"/>
                  </a:lnTo>
                  <a:lnTo>
                    <a:pt x="628650" y="457200"/>
                  </a:lnTo>
                  <a:lnTo>
                    <a:pt x="650867" y="452699"/>
                  </a:lnTo>
                  <a:lnTo>
                    <a:pt x="669035" y="440436"/>
                  </a:lnTo>
                  <a:lnTo>
                    <a:pt x="681299" y="422267"/>
                  </a:lnTo>
                  <a:lnTo>
                    <a:pt x="685800" y="400050"/>
                  </a:lnTo>
                  <a:lnTo>
                    <a:pt x="685800" y="342900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B95D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732401" y="47767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900"/>
                  </a:moveTo>
                  <a:lnTo>
                    <a:pt x="685800" y="114300"/>
                  </a:lnTo>
                </a:path>
                <a:path w="685800" h="342900">
                  <a:moveTo>
                    <a:pt x="0" y="342900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725257" y="5117242"/>
              <a:ext cx="123825" cy="12382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301519" y="4769580"/>
              <a:ext cx="123825" cy="12382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846701" y="5233923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01519" y="5117242"/>
              <a:ext cx="123825" cy="123825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5525357" y="4769580"/>
            <a:ext cx="1614805" cy="471805"/>
            <a:chOff x="5525357" y="4769580"/>
            <a:chExt cx="1614805" cy="471805"/>
          </a:xfrm>
        </p:grpSpPr>
        <p:sp>
          <p:nvSpPr>
            <p:cNvPr id="90" name="object 90"/>
            <p:cNvSpPr/>
            <p:nvPr/>
          </p:nvSpPr>
          <p:spPr>
            <a:xfrm>
              <a:off x="5532501" y="47767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600200" y="342900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485900" y="457200"/>
                  </a:lnTo>
                  <a:lnTo>
                    <a:pt x="1485900" y="342900"/>
                  </a:lnTo>
                  <a:close/>
                </a:path>
                <a:path w="1600200" h="457200">
                  <a:moveTo>
                    <a:pt x="1600200" y="342900"/>
                  </a:moveTo>
                  <a:lnTo>
                    <a:pt x="1485900" y="342900"/>
                  </a:lnTo>
                  <a:lnTo>
                    <a:pt x="1485900" y="457200"/>
                  </a:lnTo>
                  <a:lnTo>
                    <a:pt x="1543050" y="457200"/>
                  </a:lnTo>
                  <a:lnTo>
                    <a:pt x="1565267" y="452699"/>
                  </a:lnTo>
                  <a:lnTo>
                    <a:pt x="1583435" y="440436"/>
                  </a:lnTo>
                  <a:lnTo>
                    <a:pt x="1595699" y="422267"/>
                  </a:lnTo>
                  <a:lnTo>
                    <a:pt x="1600200" y="400050"/>
                  </a:lnTo>
                  <a:lnTo>
                    <a:pt x="1600200" y="342900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B95D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5532501" y="47767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900"/>
                  </a:lnTo>
                </a:path>
                <a:path w="1600200" h="342900">
                  <a:moveTo>
                    <a:pt x="0" y="342900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525357" y="5117242"/>
              <a:ext cx="123825" cy="12382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016019" y="4769580"/>
              <a:ext cx="123825" cy="123825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646801" y="5233923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016019" y="5117242"/>
              <a:ext cx="123825" cy="123825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4725257" y="5341080"/>
            <a:ext cx="700405" cy="471805"/>
            <a:chOff x="4725257" y="5341080"/>
            <a:chExt cx="700405" cy="471805"/>
          </a:xfrm>
        </p:grpSpPr>
        <p:sp>
          <p:nvSpPr>
            <p:cNvPr id="97" name="object 97"/>
            <p:cNvSpPr/>
            <p:nvPr/>
          </p:nvSpPr>
          <p:spPr>
            <a:xfrm>
              <a:off x="4732401" y="5348223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11"/>
                  </a:lnTo>
                  <a:lnTo>
                    <a:pt x="4482" y="422261"/>
                  </a:lnTo>
                  <a:lnTo>
                    <a:pt x="16716" y="440426"/>
                  </a:lnTo>
                  <a:lnTo>
                    <a:pt x="34879" y="452672"/>
                  </a:lnTo>
                  <a:lnTo>
                    <a:pt x="57150" y="457161"/>
                  </a:lnTo>
                  <a:lnTo>
                    <a:pt x="114300" y="457161"/>
                  </a:lnTo>
                  <a:lnTo>
                    <a:pt x="114300" y="342861"/>
                  </a:lnTo>
                  <a:lnTo>
                    <a:pt x="685800" y="342861"/>
                  </a:lnTo>
                  <a:lnTo>
                    <a:pt x="6858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685800" h="457200">
                  <a:moveTo>
                    <a:pt x="571500" y="342861"/>
                  </a:moveTo>
                  <a:lnTo>
                    <a:pt x="114300" y="342861"/>
                  </a:lnTo>
                  <a:lnTo>
                    <a:pt x="114300" y="457161"/>
                  </a:lnTo>
                  <a:lnTo>
                    <a:pt x="571500" y="457161"/>
                  </a:lnTo>
                  <a:lnTo>
                    <a:pt x="571500" y="342861"/>
                  </a:lnTo>
                  <a:close/>
                </a:path>
                <a:path w="685800" h="457200">
                  <a:moveTo>
                    <a:pt x="685800" y="342861"/>
                  </a:moveTo>
                  <a:lnTo>
                    <a:pt x="571500" y="342861"/>
                  </a:lnTo>
                  <a:lnTo>
                    <a:pt x="571500" y="457161"/>
                  </a:lnTo>
                  <a:lnTo>
                    <a:pt x="628650" y="457161"/>
                  </a:lnTo>
                  <a:lnTo>
                    <a:pt x="650867" y="452672"/>
                  </a:lnTo>
                  <a:lnTo>
                    <a:pt x="669036" y="440426"/>
                  </a:lnTo>
                  <a:lnTo>
                    <a:pt x="681299" y="422261"/>
                  </a:lnTo>
                  <a:lnTo>
                    <a:pt x="685800" y="400011"/>
                  </a:lnTo>
                  <a:lnTo>
                    <a:pt x="685800" y="342861"/>
                  </a:lnTo>
                  <a:close/>
                </a:path>
                <a:path w="685800" h="457200">
                  <a:moveTo>
                    <a:pt x="5715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571500" y="114300"/>
                  </a:lnTo>
                  <a:lnTo>
                    <a:pt x="571500" y="0"/>
                  </a:lnTo>
                  <a:close/>
                </a:path>
                <a:path w="685800" h="457200">
                  <a:moveTo>
                    <a:pt x="62865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685800" y="114300"/>
                  </a:lnTo>
                  <a:lnTo>
                    <a:pt x="685800" y="57150"/>
                  </a:lnTo>
                  <a:lnTo>
                    <a:pt x="681299" y="34879"/>
                  </a:lnTo>
                  <a:lnTo>
                    <a:pt x="669036" y="16716"/>
                  </a:lnTo>
                  <a:lnTo>
                    <a:pt x="650867" y="448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7E6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732401" y="5348223"/>
              <a:ext cx="685800" cy="342900"/>
            </a:xfrm>
            <a:custGeom>
              <a:avLst/>
              <a:gdLst/>
              <a:ahLst/>
              <a:cxnLst/>
              <a:rect l="l" t="t" r="r" b="b"/>
              <a:pathLst>
                <a:path w="6858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685800" h="342900">
                  <a:moveTo>
                    <a:pt x="685800" y="342861"/>
                  </a:moveTo>
                  <a:lnTo>
                    <a:pt x="685800" y="114300"/>
                  </a:lnTo>
                </a:path>
                <a:path w="685800" h="342900">
                  <a:moveTo>
                    <a:pt x="0" y="342861"/>
                  </a:moveTo>
                  <a:lnTo>
                    <a:pt x="0" y="114300"/>
                  </a:lnTo>
                </a:path>
                <a:path w="685800" h="342900">
                  <a:moveTo>
                    <a:pt x="114300" y="0"/>
                  </a:moveTo>
                  <a:lnTo>
                    <a:pt x="5715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725257" y="5688704"/>
              <a:ext cx="123825" cy="12382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01519" y="5341080"/>
              <a:ext cx="123825" cy="123825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4846701" y="5805385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 h="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01519" y="5688704"/>
              <a:ext cx="123825" cy="123825"/>
            </a:xfrm>
            <a:prstGeom prst="rect">
              <a:avLst/>
            </a:prstGeom>
          </p:spPr>
        </p:pic>
      </p:grpSp>
      <p:grpSp>
        <p:nvGrpSpPr>
          <p:cNvPr id="103" name="object 103"/>
          <p:cNvGrpSpPr/>
          <p:nvPr/>
        </p:nvGrpSpPr>
        <p:grpSpPr>
          <a:xfrm>
            <a:off x="5525357" y="5341080"/>
            <a:ext cx="1614805" cy="471805"/>
            <a:chOff x="5525357" y="5341080"/>
            <a:chExt cx="1614805" cy="471805"/>
          </a:xfrm>
        </p:grpSpPr>
        <p:sp>
          <p:nvSpPr>
            <p:cNvPr id="104" name="object 104"/>
            <p:cNvSpPr/>
            <p:nvPr/>
          </p:nvSpPr>
          <p:spPr>
            <a:xfrm>
              <a:off x="5532501" y="5348223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11"/>
                  </a:lnTo>
                  <a:lnTo>
                    <a:pt x="4482" y="422261"/>
                  </a:lnTo>
                  <a:lnTo>
                    <a:pt x="16716" y="440426"/>
                  </a:lnTo>
                  <a:lnTo>
                    <a:pt x="34879" y="452672"/>
                  </a:lnTo>
                  <a:lnTo>
                    <a:pt x="57150" y="457161"/>
                  </a:lnTo>
                  <a:lnTo>
                    <a:pt x="114300" y="457161"/>
                  </a:lnTo>
                  <a:lnTo>
                    <a:pt x="114300" y="342861"/>
                  </a:lnTo>
                  <a:lnTo>
                    <a:pt x="1600200" y="342861"/>
                  </a:lnTo>
                  <a:lnTo>
                    <a:pt x="16002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600200" h="457200">
                  <a:moveTo>
                    <a:pt x="1485900" y="342861"/>
                  </a:moveTo>
                  <a:lnTo>
                    <a:pt x="114300" y="342861"/>
                  </a:lnTo>
                  <a:lnTo>
                    <a:pt x="114300" y="457161"/>
                  </a:lnTo>
                  <a:lnTo>
                    <a:pt x="1485900" y="457161"/>
                  </a:lnTo>
                  <a:lnTo>
                    <a:pt x="1485900" y="342861"/>
                  </a:lnTo>
                  <a:close/>
                </a:path>
                <a:path w="1600200" h="457200">
                  <a:moveTo>
                    <a:pt x="1600200" y="342861"/>
                  </a:moveTo>
                  <a:lnTo>
                    <a:pt x="1485900" y="342861"/>
                  </a:lnTo>
                  <a:lnTo>
                    <a:pt x="1485900" y="457161"/>
                  </a:lnTo>
                  <a:lnTo>
                    <a:pt x="1543050" y="457161"/>
                  </a:lnTo>
                  <a:lnTo>
                    <a:pt x="1565267" y="452672"/>
                  </a:lnTo>
                  <a:lnTo>
                    <a:pt x="1583435" y="440426"/>
                  </a:lnTo>
                  <a:lnTo>
                    <a:pt x="1595699" y="422261"/>
                  </a:lnTo>
                  <a:lnTo>
                    <a:pt x="1600200" y="400011"/>
                  </a:lnTo>
                  <a:lnTo>
                    <a:pt x="1600200" y="342861"/>
                  </a:lnTo>
                  <a:close/>
                </a:path>
                <a:path w="1600200" h="457200">
                  <a:moveTo>
                    <a:pt x="14859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485900" y="114300"/>
                  </a:lnTo>
                  <a:lnTo>
                    <a:pt x="1485900" y="0"/>
                  </a:lnTo>
                  <a:close/>
                </a:path>
                <a:path w="1600200" h="457200">
                  <a:moveTo>
                    <a:pt x="1543050" y="0"/>
                  </a:moveTo>
                  <a:lnTo>
                    <a:pt x="1485900" y="0"/>
                  </a:lnTo>
                  <a:lnTo>
                    <a:pt x="1485900" y="114300"/>
                  </a:lnTo>
                  <a:lnTo>
                    <a:pt x="1600200" y="114300"/>
                  </a:lnTo>
                  <a:lnTo>
                    <a:pt x="1600200" y="57150"/>
                  </a:lnTo>
                  <a:lnTo>
                    <a:pt x="1595699" y="34879"/>
                  </a:lnTo>
                  <a:lnTo>
                    <a:pt x="1583435" y="16716"/>
                  </a:lnTo>
                  <a:lnTo>
                    <a:pt x="1565267" y="4482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7E6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5532501" y="5348223"/>
              <a:ext cx="1600200" cy="342900"/>
            </a:xfrm>
            <a:custGeom>
              <a:avLst/>
              <a:gdLst/>
              <a:ahLst/>
              <a:cxnLst/>
              <a:rect l="l" t="t" r="r" b="b"/>
              <a:pathLst>
                <a:path w="16002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600200" h="342900">
                  <a:moveTo>
                    <a:pt x="1600200" y="114300"/>
                  </a:moveTo>
                  <a:lnTo>
                    <a:pt x="1600200" y="342861"/>
                  </a:lnTo>
                </a:path>
                <a:path w="1600200" h="342900">
                  <a:moveTo>
                    <a:pt x="0" y="342861"/>
                  </a:moveTo>
                  <a:lnTo>
                    <a:pt x="0" y="114300"/>
                  </a:lnTo>
                </a:path>
                <a:path w="1600200" h="342900">
                  <a:moveTo>
                    <a:pt x="114300" y="0"/>
                  </a:moveTo>
                  <a:lnTo>
                    <a:pt x="14859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525357" y="5688704"/>
              <a:ext cx="123825" cy="12382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016019" y="5341080"/>
              <a:ext cx="123825" cy="123825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646801" y="5805385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 h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16019" y="5688704"/>
              <a:ext cx="123825" cy="123825"/>
            </a:xfrm>
            <a:prstGeom prst="rect">
              <a:avLst/>
            </a:prstGeom>
          </p:spPr>
        </p:pic>
      </p:grpSp>
      <p:sp>
        <p:nvSpPr>
          <p:cNvPr id="110" name="object 110"/>
          <p:cNvSpPr txBox="1"/>
          <p:nvPr/>
        </p:nvSpPr>
        <p:spPr>
          <a:xfrm>
            <a:off x="4822952" y="1434541"/>
            <a:ext cx="2362835" cy="4291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74747"/>
                </a:solidFill>
                <a:latin typeface="Microsoft JhengHei"/>
                <a:cs typeface="Microsoft JhengHei"/>
              </a:rPr>
              <a:t>各城市的LPG</a:t>
            </a:r>
            <a:r>
              <a:rPr dirty="0" sz="1800" spc="-25" b="1">
                <a:solidFill>
                  <a:srgbClr val="474747"/>
                </a:solidFill>
                <a:latin typeface="Microsoft JhengHei"/>
                <a:cs typeface="Microsoft JhengHei"/>
              </a:rPr>
              <a:t>使用量</a:t>
            </a:r>
            <a:endParaRPr sz="1800">
              <a:latin typeface="Microsoft JhengHei"/>
              <a:cs typeface="Microsoft JhengHei"/>
            </a:endParaRPr>
          </a:p>
          <a:p>
            <a:pPr marL="12700" marR="5080">
              <a:lnSpc>
                <a:spcPts val="4470"/>
              </a:lnSpc>
              <a:spcBef>
                <a:spcPts val="520"/>
              </a:spcBef>
              <a:tabLst>
                <a:tab pos="772160" algn="l"/>
                <a:tab pos="1287780" algn="l"/>
              </a:tabLst>
            </a:pPr>
            <a:r>
              <a:rPr dirty="0" baseline="1543" sz="2700" b="1">
                <a:solidFill>
                  <a:srgbClr val="FFFFFF"/>
                </a:solidFill>
                <a:latin typeface="Microsoft JhengHei"/>
                <a:cs typeface="Microsoft JhengHei"/>
              </a:rPr>
              <a:t>城</a:t>
            </a:r>
            <a:r>
              <a:rPr dirty="0" baseline="1543" sz="2700" spc="-75" b="1">
                <a:solidFill>
                  <a:srgbClr val="FFFFFF"/>
                </a:solidFill>
                <a:latin typeface="Microsoft JhengHei"/>
                <a:cs typeface="Microsoft JhengHei"/>
              </a:rPr>
              <a:t>市</a:t>
            </a:r>
            <a:r>
              <a:rPr dirty="0" baseline="1543" sz="27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1800" spc="-10" b="1">
                <a:solidFill>
                  <a:srgbClr val="FFFFFF"/>
                </a:solidFill>
                <a:latin typeface="Microsoft JhengHei"/>
                <a:cs typeface="Microsoft JhengHei"/>
              </a:rPr>
              <a:t>LPG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使用（萬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台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北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		</a:t>
            </a:r>
            <a:r>
              <a:rPr dirty="0" baseline="1543" sz="2700" spc="-30" b="1">
                <a:solidFill>
                  <a:srgbClr val="FFFFFF"/>
                </a:solidFill>
                <a:latin typeface="Microsoft JhengHei"/>
                <a:cs typeface="Microsoft JhengHei"/>
              </a:rPr>
              <a:t>29.3</a:t>
            </a:r>
            <a:endParaRPr baseline="1543" sz="2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  <a:tabLst>
                <a:tab pos="1287780" algn="l"/>
              </a:tabLst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新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北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baseline="1543" sz="2700" spc="-30" b="1">
                <a:solidFill>
                  <a:srgbClr val="FFFFFF"/>
                </a:solidFill>
                <a:latin typeface="Microsoft JhengHei"/>
                <a:cs typeface="Microsoft JhengHei"/>
              </a:rPr>
              <a:t>53.2</a:t>
            </a:r>
            <a:endParaRPr baseline="1543" sz="2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  <a:tabLst>
                <a:tab pos="1287780" algn="l"/>
              </a:tabLst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桃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園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baseline="1543" sz="2700" spc="-30" b="1">
                <a:solidFill>
                  <a:srgbClr val="FFFFFF"/>
                </a:solidFill>
                <a:latin typeface="Microsoft JhengHei"/>
                <a:cs typeface="Microsoft JhengHei"/>
              </a:rPr>
              <a:t>41.3</a:t>
            </a:r>
            <a:endParaRPr baseline="1543" sz="2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  <a:tabLst>
                <a:tab pos="1287780" algn="l"/>
              </a:tabLst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台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中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baseline="1543" sz="2700" spc="-30" b="1">
                <a:solidFill>
                  <a:srgbClr val="FFFFFF"/>
                </a:solidFill>
                <a:latin typeface="Microsoft JhengHei"/>
                <a:cs typeface="Microsoft JhengHei"/>
              </a:rPr>
              <a:t>38.0</a:t>
            </a:r>
            <a:endParaRPr baseline="1543" sz="2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  <a:tabLst>
                <a:tab pos="1287780" algn="l"/>
              </a:tabLst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台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南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baseline="1543" sz="2700" spc="-30" b="1">
                <a:solidFill>
                  <a:srgbClr val="FFFFFF"/>
                </a:solidFill>
                <a:latin typeface="Microsoft JhengHei"/>
                <a:cs typeface="Microsoft JhengHei"/>
              </a:rPr>
              <a:t>54.0</a:t>
            </a:r>
            <a:endParaRPr baseline="1543" sz="2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  <a:tabLst>
                <a:tab pos="1287780" algn="l"/>
              </a:tabLst>
            </a:pPr>
            <a:r>
              <a:rPr dirty="0" sz="18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高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雄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baseline="1543" sz="2700" spc="-30" b="1">
                <a:solidFill>
                  <a:srgbClr val="FFFFFF"/>
                </a:solidFill>
                <a:latin typeface="Microsoft JhengHei"/>
                <a:cs typeface="Microsoft JhengHei"/>
              </a:rPr>
              <a:t>72.1</a:t>
            </a:r>
            <a:endParaRPr baseline="1543" sz="2700">
              <a:latin typeface="Microsoft JhengHei"/>
              <a:cs typeface="Microsoft JhengHei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610" y="1375664"/>
            <a:ext cx="10264775" cy="3781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FD6C00"/>
                </a:solidFill>
                <a:latin typeface="Microsoft JhengHei"/>
                <a:cs typeface="Microsoft JhengHei"/>
              </a:rPr>
              <a:t>LPG</a:t>
            </a:r>
            <a:r>
              <a:rPr dirty="0" sz="2400" spc="-10" b="1">
                <a:solidFill>
                  <a:srgbClr val="FD6C00"/>
                </a:solidFill>
                <a:latin typeface="Microsoft JhengHei"/>
                <a:cs typeface="Microsoft JhengHei"/>
              </a:rPr>
              <a:t>回購頻率試算</a:t>
            </a:r>
            <a:endParaRPr sz="2400">
              <a:latin typeface="Microsoft JhengHei"/>
              <a:cs typeface="Microsoft JhengHei"/>
            </a:endParaRPr>
          </a:p>
          <a:p>
            <a:pPr marL="752475">
              <a:lnSpc>
                <a:spcPct val="100000"/>
              </a:lnSpc>
              <a:spcBef>
                <a:spcPts val="2925"/>
              </a:spcBef>
            </a:pP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假設每戶家庭平均每年回購LPG</a:t>
            </a:r>
            <a:r>
              <a:rPr dirty="0" sz="1800" spc="210">
                <a:solidFill>
                  <a:srgbClr val="202020"/>
                </a:solidFill>
                <a:latin typeface="Microsoft JhengHei"/>
                <a:cs typeface="Microsoft JhengHei"/>
              </a:rPr>
              <a:t> 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6</a:t>
            </a:r>
            <a:r>
              <a:rPr dirty="0" sz="1800" spc="65">
                <a:solidFill>
                  <a:srgbClr val="202020"/>
                </a:solidFill>
                <a:latin typeface="Microsoft JhengHei"/>
                <a:cs typeface="Microsoft JhengHei"/>
              </a:rPr>
              <a:t> 次，則全台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LPG</a:t>
            </a:r>
            <a:r>
              <a:rPr dirty="0" sz="1800" spc="20">
                <a:solidFill>
                  <a:srgbClr val="202020"/>
                </a:solidFill>
                <a:latin typeface="Microsoft JhengHei"/>
                <a:cs typeface="Microsoft JhengHei"/>
              </a:rPr>
              <a:t> 回購總量估算如下：</a:t>
            </a:r>
            <a:endParaRPr sz="1800">
              <a:latin typeface="Microsoft JhengHei"/>
              <a:cs typeface="Microsoft JhengHei"/>
            </a:endParaRPr>
          </a:p>
          <a:p>
            <a:pPr marL="752475">
              <a:lnSpc>
                <a:spcPct val="100000"/>
              </a:lnSpc>
              <a:spcBef>
                <a:spcPts val="2160"/>
              </a:spcBef>
            </a:pPr>
            <a:r>
              <a:rPr dirty="0" sz="1800" spc="15">
                <a:solidFill>
                  <a:srgbClr val="202020"/>
                </a:solidFill>
                <a:latin typeface="Microsoft JhengHei"/>
                <a:cs typeface="Microsoft JhengHei"/>
              </a:rPr>
              <a:t>全台回購總量 = 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450</a:t>
            </a:r>
            <a:r>
              <a:rPr dirty="0" sz="1800" spc="60" b="1">
                <a:solidFill>
                  <a:srgbClr val="0000FF"/>
                </a:solidFill>
                <a:latin typeface="Microsoft JhengHei"/>
                <a:cs typeface="Microsoft JhengHei"/>
              </a:rPr>
              <a:t> 萬戶 </a:t>
            </a:r>
            <a:r>
              <a:rPr dirty="0" sz="1800" spc="50">
                <a:solidFill>
                  <a:srgbClr val="202020"/>
                </a:solidFill>
                <a:latin typeface="Microsoft JhengHei"/>
                <a:cs typeface="Microsoft JhengHei"/>
              </a:rPr>
              <a:t>× 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6</a:t>
            </a:r>
            <a:r>
              <a:rPr dirty="0" sz="1800" spc="70" b="1">
                <a:solidFill>
                  <a:srgbClr val="0000FF"/>
                </a:solidFill>
                <a:latin typeface="Microsoft JhengHei"/>
                <a:cs typeface="Microsoft JhengHei"/>
              </a:rPr>
              <a:t> 次 </a:t>
            </a:r>
            <a:r>
              <a:rPr dirty="0" sz="1800" spc="40">
                <a:solidFill>
                  <a:srgbClr val="202020"/>
                </a:solidFill>
                <a:latin typeface="Microsoft JhengHei"/>
                <a:cs typeface="Microsoft JhengHei"/>
              </a:rPr>
              <a:t>/ 年 = </a:t>
            </a:r>
            <a:r>
              <a:rPr dirty="0" sz="1800" spc="60" b="1">
                <a:solidFill>
                  <a:srgbClr val="0000FF"/>
                </a:solidFill>
                <a:latin typeface="Microsoft JhengHei"/>
                <a:cs typeface="Microsoft JhengHei"/>
              </a:rPr>
              <a:t>2,700</a:t>
            </a:r>
            <a:r>
              <a:rPr dirty="0" sz="1800" spc="25" b="1">
                <a:solidFill>
                  <a:srgbClr val="0000FF"/>
                </a:solidFill>
                <a:latin typeface="Microsoft JhengHei"/>
                <a:cs typeface="Microsoft JhengHei"/>
              </a:rPr>
              <a:t>萬次 </a:t>
            </a:r>
            <a:r>
              <a:rPr dirty="0" sz="1800" spc="-5">
                <a:solidFill>
                  <a:srgbClr val="202020"/>
                </a:solidFill>
                <a:latin typeface="Microsoft JhengHei"/>
                <a:cs typeface="Microsoft JhengHei"/>
              </a:rPr>
              <a:t>/ 年</a:t>
            </a:r>
            <a:endParaRPr sz="1800">
              <a:latin typeface="Microsoft JhengHei"/>
              <a:cs typeface="Microsoft JhengHei"/>
            </a:endParaRPr>
          </a:p>
          <a:p>
            <a:pPr marL="752475">
              <a:lnSpc>
                <a:spcPct val="100000"/>
              </a:lnSpc>
              <a:spcBef>
                <a:spcPts val="2165"/>
              </a:spcBef>
            </a:pPr>
            <a:r>
              <a:rPr dirty="0" sz="1800" spc="-20" b="1">
                <a:solidFill>
                  <a:srgbClr val="202020"/>
                </a:solidFill>
                <a:latin typeface="Microsoft JhengHei"/>
                <a:cs typeface="Microsoft JhengHei"/>
              </a:rPr>
              <a:t>說明：</a:t>
            </a:r>
            <a:endParaRPr sz="1800">
              <a:latin typeface="Microsoft JhengHei"/>
              <a:cs typeface="Microsoft JhengHei"/>
            </a:endParaRPr>
          </a:p>
          <a:p>
            <a:pPr marL="1039494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1039494" algn="l"/>
              </a:tabLst>
            </a:pPr>
            <a:r>
              <a:rPr dirty="0" sz="1800" spc="55">
                <a:solidFill>
                  <a:srgbClr val="202020"/>
                </a:solidFill>
                <a:latin typeface="Microsoft JhengHei"/>
                <a:cs typeface="Microsoft JhengHei"/>
              </a:rPr>
              <a:t>回購次數穩定：  一年 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6</a:t>
            </a:r>
            <a:r>
              <a:rPr dirty="0" sz="1800" spc="20" b="1">
                <a:solidFill>
                  <a:srgbClr val="0000FF"/>
                </a:solidFill>
                <a:latin typeface="Microsoft JhengHei"/>
                <a:cs typeface="Microsoft JhengHei"/>
              </a:rPr>
              <a:t>  次</a:t>
            </a:r>
            <a:r>
              <a:rPr dirty="0" sz="1800" spc="-5">
                <a:solidFill>
                  <a:srgbClr val="202020"/>
                </a:solidFill>
                <a:latin typeface="Microsoft JhengHei"/>
                <a:cs typeface="Microsoft JhengHei"/>
              </a:rPr>
              <a:t>的回購頻率，提供了穩定的營收來源和與用戶接觸的機會。</a:t>
            </a:r>
            <a:endParaRPr sz="1800">
              <a:latin typeface="Microsoft JhengHei"/>
              <a:cs typeface="Microsoft JhengHei"/>
            </a:endParaRPr>
          </a:p>
          <a:p>
            <a:pPr marL="1039494" marR="5080" indent="-287020">
              <a:lnSpc>
                <a:spcPts val="4320"/>
              </a:lnSpc>
              <a:spcBef>
                <a:spcPts val="300"/>
              </a:spcBef>
              <a:buFont typeface="Arial MT"/>
              <a:buChar char="•"/>
              <a:tabLst>
                <a:tab pos="1039494" algn="l"/>
              </a:tabLst>
            </a:pPr>
            <a:r>
              <a:rPr dirty="0" sz="1800" spc="70">
                <a:solidFill>
                  <a:srgbClr val="202020"/>
                </a:solidFill>
                <a:latin typeface="Microsoft JhengHei"/>
                <a:cs typeface="Microsoft JhengHei"/>
              </a:rPr>
              <a:t>市場規模龐大： 每年 </a:t>
            </a:r>
            <a:r>
              <a:rPr dirty="0" sz="1800" spc="65" b="1">
                <a:solidFill>
                  <a:srgbClr val="0000FF"/>
                </a:solidFill>
                <a:latin typeface="Microsoft JhengHei"/>
                <a:cs typeface="Microsoft JhengHei"/>
              </a:rPr>
              <a:t>2,700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萬次</a:t>
            </a:r>
            <a:r>
              <a:rPr dirty="0" sz="1800" spc="30">
                <a:solidFill>
                  <a:srgbClr val="202020"/>
                </a:solidFill>
                <a:latin typeface="Microsoft JhengHei"/>
                <a:cs typeface="Microsoft JhengHei"/>
              </a:rPr>
              <a:t>的回購量，代表每年 </a:t>
            </a:r>
            <a:r>
              <a:rPr dirty="0" sz="1800" spc="65" b="1">
                <a:solidFill>
                  <a:srgbClr val="202020"/>
                </a:solidFill>
                <a:latin typeface="Microsoft JhengHei"/>
                <a:cs typeface="Microsoft JhengHei"/>
              </a:rPr>
              <a:t>2,700</a:t>
            </a:r>
            <a:r>
              <a:rPr dirty="0" sz="1800" b="1">
                <a:solidFill>
                  <a:srgbClr val="202020"/>
                </a:solidFill>
                <a:latin typeface="Microsoft JhengHei"/>
                <a:cs typeface="Microsoft JhengHei"/>
              </a:rPr>
              <a:t>萬次</a:t>
            </a:r>
            <a:r>
              <a:rPr dirty="0" sz="1800" spc="-5">
                <a:solidFill>
                  <a:srgbClr val="202020"/>
                </a:solidFill>
                <a:latin typeface="Microsoft JhengHei"/>
                <a:cs typeface="Microsoft JhengHei"/>
              </a:rPr>
              <a:t>回通路消費的機會，龐大的市場商機，通路可以透過優化用戶體驗及服務品質，將回購次數轉化為營收上的提升。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市場概況：龐大的潛在商機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4558" y="1234185"/>
            <a:ext cx="11148695" cy="435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D6C00"/>
                </a:solidFill>
                <a:latin typeface="Microsoft JhengHei"/>
                <a:cs typeface="Microsoft JhengHei"/>
              </a:rPr>
              <a:t>殘氣金退費估算</a:t>
            </a:r>
            <a:endParaRPr sz="2400">
              <a:latin typeface="Microsoft JhengHei"/>
              <a:cs typeface="Microsoft JhengHei"/>
            </a:endParaRPr>
          </a:p>
          <a:p>
            <a:pPr marL="178435" marR="2813685">
              <a:lnSpc>
                <a:spcPct val="200100"/>
              </a:lnSpc>
              <a:spcBef>
                <a:spcPts val="509"/>
              </a:spcBef>
            </a:pPr>
            <a:r>
              <a:rPr dirty="0" sz="1800" spc="15">
                <a:solidFill>
                  <a:srgbClr val="202020"/>
                </a:solidFill>
                <a:latin typeface="Microsoft JhengHei"/>
                <a:cs typeface="Microsoft JhengHei"/>
              </a:rPr>
              <a:t>根據旺來系統統計，平均每桶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LPG</a:t>
            </a:r>
            <a:r>
              <a:rPr dirty="0" sz="1800" spc="60">
                <a:solidFill>
                  <a:srgbClr val="202020"/>
                </a:solidFill>
                <a:latin typeface="Microsoft JhengHei"/>
                <a:cs typeface="Microsoft JhengHei"/>
              </a:rPr>
              <a:t> 的殘氣量約為 </a:t>
            </a:r>
            <a:r>
              <a:rPr dirty="0" sz="1800" spc="55">
                <a:solidFill>
                  <a:srgbClr val="202020"/>
                </a:solidFill>
                <a:latin typeface="Microsoft JhengHei"/>
                <a:cs typeface="Microsoft JhengHei"/>
              </a:rPr>
              <a:t>1.4</a:t>
            </a:r>
            <a:r>
              <a:rPr dirty="0" sz="1800" spc="35">
                <a:solidFill>
                  <a:srgbClr val="202020"/>
                </a:solidFill>
                <a:latin typeface="Microsoft JhengHei"/>
                <a:cs typeface="Microsoft JhengHei"/>
              </a:rPr>
              <a:t> 公斤，以每公斤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45</a:t>
            </a:r>
            <a:r>
              <a:rPr dirty="0" sz="1800" spc="70">
                <a:solidFill>
                  <a:srgbClr val="202020"/>
                </a:solidFill>
                <a:latin typeface="Microsoft JhengHei"/>
                <a:cs typeface="Microsoft JhengHei"/>
              </a:rPr>
              <a:t> 元計算</a:t>
            </a:r>
            <a:r>
              <a:rPr dirty="0" sz="1800" spc="35">
                <a:solidFill>
                  <a:srgbClr val="202020"/>
                </a:solidFill>
                <a:latin typeface="Microsoft JhengHei"/>
                <a:cs typeface="Microsoft JhengHei"/>
              </a:rPr>
              <a:t>每桶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LPG</a:t>
            </a:r>
            <a:r>
              <a:rPr dirty="0" sz="1800" spc="20">
                <a:solidFill>
                  <a:srgbClr val="202020"/>
                </a:solidFill>
                <a:latin typeface="Microsoft JhengHei"/>
                <a:cs typeface="Microsoft JhengHei"/>
              </a:rPr>
              <a:t> 的殘氣金約為： </a:t>
            </a:r>
            <a:r>
              <a:rPr dirty="0" sz="1800" spc="55">
                <a:solidFill>
                  <a:srgbClr val="202020"/>
                </a:solidFill>
                <a:latin typeface="Microsoft JhengHei"/>
                <a:cs typeface="Microsoft JhengHei"/>
              </a:rPr>
              <a:t>1.4</a:t>
            </a:r>
            <a:r>
              <a:rPr dirty="0" sz="1800" spc="45">
                <a:solidFill>
                  <a:srgbClr val="202020"/>
                </a:solidFill>
                <a:latin typeface="Microsoft JhengHei"/>
                <a:cs typeface="Microsoft JhengHei"/>
              </a:rPr>
              <a:t> 公斤  /  桶 ×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45</a:t>
            </a:r>
            <a:r>
              <a:rPr dirty="0" sz="1800" spc="50">
                <a:solidFill>
                  <a:srgbClr val="202020"/>
                </a:solidFill>
                <a:latin typeface="Microsoft JhengHei"/>
                <a:cs typeface="Microsoft JhengHei"/>
              </a:rPr>
              <a:t> 元  / 公斤 =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63</a:t>
            </a:r>
            <a:r>
              <a:rPr dirty="0" sz="1800" spc="40">
                <a:solidFill>
                  <a:srgbClr val="202020"/>
                </a:solidFill>
                <a:latin typeface="Microsoft JhengHei"/>
                <a:cs typeface="Microsoft JhengHei"/>
              </a:rPr>
              <a:t> 元 / 桶</a:t>
            </a:r>
            <a:endParaRPr sz="1800">
              <a:latin typeface="Microsoft JhengHei"/>
              <a:cs typeface="Microsoft JhengHei"/>
            </a:endParaRPr>
          </a:p>
          <a:p>
            <a:pPr marL="178435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若假設每桶LPG</a:t>
            </a:r>
            <a:r>
              <a:rPr dirty="0" sz="1800" spc="75">
                <a:solidFill>
                  <a:srgbClr val="202020"/>
                </a:solidFill>
                <a:latin typeface="Microsoft JhengHei"/>
                <a:cs typeface="Microsoft JhengHei"/>
              </a:rPr>
              <a:t> 退 </a:t>
            </a:r>
            <a:r>
              <a:rPr dirty="0" sz="1800" spc="55">
                <a:solidFill>
                  <a:srgbClr val="202020"/>
                </a:solidFill>
                <a:latin typeface="Microsoft JhengHei"/>
                <a:cs typeface="Microsoft JhengHei"/>
              </a:rPr>
              <a:t>1.4</a:t>
            </a:r>
            <a:r>
              <a:rPr dirty="0" sz="1800" spc="30">
                <a:solidFill>
                  <a:srgbClr val="202020"/>
                </a:solidFill>
                <a:latin typeface="Microsoft JhengHei"/>
                <a:cs typeface="Microsoft JhengHei"/>
              </a:rPr>
              <a:t> 公斤，等於每桶退 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63 元，每戶每年殘氣金：63</a:t>
            </a:r>
            <a:r>
              <a:rPr dirty="0" sz="1800" spc="85">
                <a:solidFill>
                  <a:srgbClr val="202020"/>
                </a:solidFill>
                <a:latin typeface="Microsoft JhengHei"/>
                <a:cs typeface="Microsoft JhengHei"/>
              </a:rPr>
              <a:t> 元 × </a:t>
            </a: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6</a:t>
            </a:r>
            <a:r>
              <a:rPr dirty="0" sz="1800" spc="110">
                <a:solidFill>
                  <a:srgbClr val="202020"/>
                </a:solidFill>
                <a:latin typeface="Microsoft JhengHei"/>
                <a:cs typeface="Microsoft JhengHei"/>
              </a:rPr>
              <a:t> 次 = </a:t>
            </a:r>
            <a:r>
              <a:rPr dirty="0" sz="1800" spc="50">
                <a:solidFill>
                  <a:srgbClr val="202020"/>
                </a:solidFill>
                <a:latin typeface="Microsoft JhengHei"/>
                <a:cs typeface="Microsoft JhengHei"/>
              </a:rPr>
              <a:t>378</a:t>
            </a:r>
            <a:r>
              <a:rPr dirty="0" sz="1800" spc="30">
                <a:solidFill>
                  <a:srgbClr val="202020"/>
                </a:solidFill>
                <a:latin typeface="Microsoft JhengHei"/>
                <a:cs typeface="Microsoft JhengHei"/>
              </a:rPr>
              <a:t> 元／年</a:t>
            </a:r>
            <a:endParaRPr sz="1800">
              <a:latin typeface="Microsoft JhengHei"/>
              <a:cs typeface="Microsoft JhengHei"/>
            </a:endParaRPr>
          </a:p>
          <a:p>
            <a:pPr marL="178435">
              <a:lnSpc>
                <a:spcPct val="100000"/>
              </a:lnSpc>
              <a:spcBef>
                <a:spcPts val="2325"/>
              </a:spcBef>
            </a:pPr>
            <a:r>
              <a:rPr dirty="0" sz="1800">
                <a:solidFill>
                  <a:srgbClr val="202020"/>
                </a:solidFill>
                <a:latin typeface="Microsoft JhengHei"/>
                <a:cs typeface="Microsoft JhengHei"/>
              </a:rPr>
              <a:t>全台總殘氣金市場：450</a:t>
            </a:r>
            <a:r>
              <a:rPr dirty="0" sz="1800" spc="40">
                <a:solidFill>
                  <a:srgbClr val="202020"/>
                </a:solidFill>
                <a:latin typeface="Microsoft JhengHei"/>
                <a:cs typeface="Microsoft JhengHei"/>
              </a:rPr>
              <a:t> 萬戶 × </a:t>
            </a:r>
            <a:r>
              <a:rPr dirty="0" sz="1800" spc="50">
                <a:solidFill>
                  <a:srgbClr val="202020"/>
                </a:solidFill>
                <a:latin typeface="Microsoft JhengHei"/>
                <a:cs typeface="Microsoft JhengHei"/>
              </a:rPr>
              <a:t>378 元 =約 </a:t>
            </a:r>
            <a:r>
              <a:rPr dirty="0" sz="2000" spc="55" b="1">
                <a:solidFill>
                  <a:srgbClr val="0000FF"/>
                </a:solidFill>
                <a:latin typeface="Microsoft JhengHei"/>
                <a:cs typeface="Microsoft JhengHei"/>
              </a:rPr>
              <a:t>17.01</a:t>
            </a:r>
            <a:r>
              <a:rPr dirty="0" sz="2000" spc="40" b="1">
                <a:solidFill>
                  <a:srgbClr val="0000FF"/>
                </a:solidFill>
                <a:latin typeface="Microsoft JhengHei"/>
                <a:cs typeface="Microsoft JhengHei"/>
              </a:rPr>
              <a:t> 億元  </a:t>
            </a:r>
            <a:r>
              <a:rPr dirty="0" sz="1800" spc="10">
                <a:solidFill>
                  <a:srgbClr val="202020"/>
                </a:solidFill>
                <a:latin typeface="Microsoft JhengHei"/>
                <a:cs typeface="Microsoft JhengHei"/>
              </a:rPr>
              <a:t>/ 年</a:t>
            </a:r>
            <a:endParaRPr sz="1800">
              <a:latin typeface="Microsoft JhengHei"/>
              <a:cs typeface="Microsoft JhengHei"/>
            </a:endParaRPr>
          </a:p>
          <a:p>
            <a:pPr marL="178435">
              <a:lnSpc>
                <a:spcPct val="100000"/>
              </a:lnSpc>
              <a:spcBef>
                <a:spcPts val="2240"/>
              </a:spcBef>
            </a:pPr>
            <a:r>
              <a:rPr dirty="0" sz="1800" spc="-20" b="1">
                <a:solidFill>
                  <a:srgbClr val="202020"/>
                </a:solidFill>
                <a:latin typeface="Microsoft JhengHei"/>
                <a:cs typeface="Microsoft JhengHei"/>
              </a:rPr>
              <a:t>說明：</a:t>
            </a:r>
            <a:endParaRPr sz="1800">
              <a:latin typeface="Microsoft JhengHei"/>
              <a:cs typeface="Microsoft JhengHei"/>
            </a:endParaRPr>
          </a:p>
          <a:p>
            <a:pPr marL="464820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464820" algn="l"/>
              </a:tabLst>
            </a:pPr>
            <a:r>
              <a:rPr dirty="0" sz="1800" spc="5">
                <a:solidFill>
                  <a:srgbClr val="202020"/>
                </a:solidFill>
                <a:latin typeface="Microsoft JhengHei"/>
                <a:cs typeface="Microsoft JhengHei"/>
              </a:rPr>
              <a:t>殘氣金市場規模大：  光是殘氣金的退費總額就超過 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17</a:t>
            </a:r>
            <a:r>
              <a:rPr dirty="0" sz="1800" spc="125" b="1">
                <a:solidFill>
                  <a:srgbClr val="0000FF"/>
                </a:solidFill>
                <a:latin typeface="Microsoft JhengHei"/>
                <a:cs typeface="Microsoft JhengHei"/>
              </a:rPr>
              <a:t> 億元  </a:t>
            </a:r>
            <a:r>
              <a:rPr dirty="0" sz="1800" spc="-5">
                <a:solidFill>
                  <a:srgbClr val="202020"/>
                </a:solidFill>
                <a:latin typeface="Microsoft JhengHei"/>
                <a:cs typeface="Microsoft JhengHei"/>
              </a:rPr>
              <a:t>/  年，這代表旺來和通路在現金流與客戶黏</a:t>
            </a:r>
            <a:endParaRPr sz="1800">
              <a:latin typeface="Microsoft JhengHei"/>
              <a:cs typeface="Microsoft JhengHei"/>
            </a:endParaRPr>
          </a:p>
          <a:p>
            <a:pPr marL="464820">
              <a:lnSpc>
                <a:spcPct val="100000"/>
              </a:lnSpc>
              <a:spcBef>
                <a:spcPts val="2160"/>
              </a:spcBef>
            </a:pPr>
            <a:r>
              <a:rPr dirty="0" sz="1800" spc="-5">
                <a:solidFill>
                  <a:srgbClr val="202020"/>
                </a:solidFill>
                <a:latin typeface="Microsoft JhengHei"/>
                <a:cs typeface="Microsoft JhengHei"/>
              </a:rPr>
              <a:t>著度上有潛在的操作空間。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市場概況：龐大的潛在商機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6791" y="1334516"/>
            <a:ext cx="6798817" cy="44716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41619" y="4111244"/>
            <a:ext cx="900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74747"/>
                </a:solidFill>
                <a:latin typeface="Microsoft JhengHei"/>
                <a:cs typeface="Microsoft JhengHei"/>
              </a:rPr>
              <a:t>8</a:t>
            </a:r>
            <a:r>
              <a:rPr dirty="0" sz="1800" spc="-20">
                <a:solidFill>
                  <a:srgbClr val="474747"/>
                </a:solidFill>
                <a:latin typeface="Microsoft JhengHei"/>
                <a:cs typeface="Microsoft JhengHei"/>
              </a:rPr>
              <a:t> 輛小車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10245597" y="3690506"/>
            <a:ext cx="939800" cy="7600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800" spc="-20">
                <a:solidFill>
                  <a:srgbClr val="474747"/>
                </a:solidFill>
                <a:latin typeface="Microsoft JhengHei"/>
                <a:cs typeface="Microsoft JhengHei"/>
              </a:rPr>
              <a:t>配送需求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800" spc="-15">
                <a:solidFill>
                  <a:srgbClr val="474747"/>
                </a:solidFill>
                <a:latin typeface="Microsoft JhengHei"/>
                <a:cs typeface="Microsoft JhengHei"/>
              </a:rPr>
              <a:t>安全送達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5597" y="1441830"/>
            <a:ext cx="1174750" cy="118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內勤團隊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*6</a:t>
            </a:r>
            <a:endParaRPr sz="1800">
              <a:latin typeface="Microsoft JhengHei"/>
              <a:cs typeface="Microsoft JhengHei"/>
            </a:endParaRPr>
          </a:p>
          <a:p>
            <a:pPr marL="12700" marR="239395">
              <a:lnSpc>
                <a:spcPct val="133800"/>
              </a:lnSpc>
              <a:spcBef>
                <a:spcPts val="1200"/>
              </a:spcBef>
            </a:pPr>
            <a:r>
              <a:rPr dirty="0" sz="1800" spc="-15">
                <a:solidFill>
                  <a:srgbClr val="474747"/>
                </a:solidFill>
                <a:latin typeface="Microsoft JhengHei"/>
                <a:cs typeface="Microsoft JhengHei"/>
              </a:rPr>
              <a:t>及時幫助客戶體驗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6004" y="2912109"/>
            <a:ext cx="1168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Microsoft JhengHei"/>
                <a:cs typeface="Microsoft JhengHei"/>
              </a:rPr>
              <a:t>旺來通路服</a:t>
            </a:r>
            <a:r>
              <a:rPr dirty="0" sz="1800" spc="-20">
                <a:solidFill>
                  <a:srgbClr val="FFFFFF"/>
                </a:solidFill>
                <a:latin typeface="Microsoft JhengHei"/>
                <a:cs typeface="Microsoft JhengHei"/>
              </a:rPr>
              <a:t>務配置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3025" y="3215766"/>
            <a:ext cx="1599565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794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合規運輸車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*11</a:t>
            </a:r>
            <a:endParaRPr sz="1800">
              <a:latin typeface="Microsoft JhengHei"/>
              <a:cs typeface="Microsoft JhengHei"/>
            </a:endParaRPr>
          </a:p>
          <a:p>
            <a:pPr algn="r" marR="5080">
              <a:lnSpc>
                <a:spcPct val="100000"/>
              </a:lnSpc>
              <a:spcBef>
                <a:spcPts val="1935"/>
              </a:spcBef>
            </a:pPr>
            <a:r>
              <a:rPr dirty="0" sz="1800">
                <a:solidFill>
                  <a:srgbClr val="474747"/>
                </a:solidFill>
                <a:latin typeface="Microsoft JhengHei"/>
                <a:cs typeface="Microsoft JhengHei"/>
              </a:rPr>
              <a:t>3</a:t>
            </a:r>
            <a:r>
              <a:rPr dirty="0" sz="1800" spc="-20">
                <a:solidFill>
                  <a:srgbClr val="474747"/>
                </a:solidFill>
                <a:latin typeface="Microsoft JhengHei"/>
                <a:cs typeface="Microsoft JhengHei"/>
              </a:rPr>
              <a:t> 輛大車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01782" y="3211448"/>
            <a:ext cx="1536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持證配送師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*11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2759" y="1448561"/>
            <a:ext cx="1179830" cy="1180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分裝場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*3</a:t>
            </a:r>
            <a:endParaRPr sz="1800">
              <a:latin typeface="Microsoft JhengHei"/>
              <a:cs typeface="Microsoft JhengHei"/>
            </a:endParaRPr>
          </a:p>
          <a:p>
            <a:pPr marL="12700" marR="5080" indent="239395">
              <a:lnSpc>
                <a:spcPct val="141300"/>
              </a:lnSpc>
              <a:spcBef>
                <a:spcPts val="825"/>
              </a:spcBef>
            </a:pPr>
            <a:r>
              <a:rPr dirty="0" sz="1800" spc="-15">
                <a:solidFill>
                  <a:srgbClr val="474747"/>
                </a:solidFill>
                <a:latin typeface="Microsoft JhengHei"/>
                <a:cs typeface="Microsoft JhengHei"/>
              </a:rPr>
              <a:t>專業經驗</a:t>
            </a:r>
            <a:r>
              <a:rPr dirty="0" sz="1800" spc="-10">
                <a:solidFill>
                  <a:srgbClr val="474747"/>
                </a:solidFill>
                <a:latin typeface="Microsoft JhengHei"/>
                <a:cs typeface="Microsoft JhengHei"/>
              </a:rPr>
              <a:t>市場洞察力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5013" y="4792726"/>
            <a:ext cx="1422400" cy="113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持證工程師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*3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1800" spc="-15">
                <a:solidFill>
                  <a:srgbClr val="474747"/>
                </a:solidFill>
                <a:latin typeface="Microsoft JhengHei"/>
                <a:cs typeface="Microsoft JhengHei"/>
              </a:rPr>
              <a:t>技術支持</a:t>
            </a:r>
            <a:endParaRPr sz="1800">
              <a:latin typeface="Microsoft JhengHei"/>
              <a:cs typeface="Microsoft JhengHei"/>
            </a:endParaRPr>
          </a:p>
          <a:p>
            <a:pPr marL="31115">
              <a:lnSpc>
                <a:spcPct val="100000"/>
              </a:lnSpc>
              <a:spcBef>
                <a:spcPts val="735"/>
              </a:spcBef>
            </a:pPr>
            <a:r>
              <a:rPr dirty="0" sz="1800" spc="-10">
                <a:solidFill>
                  <a:srgbClr val="474747"/>
                </a:solidFill>
                <a:latin typeface="Microsoft JhengHei"/>
                <a:cs typeface="Microsoft JhengHei"/>
              </a:rPr>
              <a:t>協力廠商團隊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650" y="1243710"/>
            <a:ext cx="3926204" cy="297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D6C00"/>
                </a:solidFill>
                <a:latin typeface="Microsoft JhengHei"/>
                <a:cs typeface="Microsoft JhengHei"/>
              </a:rPr>
              <a:t>旺來通路人力配置</a:t>
            </a:r>
            <a:endParaRPr sz="2400">
              <a:latin typeface="Microsoft JhengHei"/>
              <a:cs typeface="Microsoft JhengHei"/>
            </a:endParaRPr>
          </a:p>
          <a:p>
            <a:pPr marL="146050">
              <a:lnSpc>
                <a:spcPct val="100000"/>
              </a:lnSpc>
              <a:spcBef>
                <a:spcPts val="1950"/>
              </a:spcBef>
            </a:pPr>
            <a:r>
              <a:rPr dirty="0" sz="1800" spc="-10" b="1">
                <a:latin typeface="Microsoft JhengHei"/>
                <a:cs typeface="Microsoft JhengHei"/>
              </a:rPr>
              <a:t>後勤團隊量能：</a:t>
            </a:r>
            <a:endParaRPr sz="1800">
              <a:latin typeface="Microsoft JhengHei"/>
              <a:cs typeface="Microsoft JhengHei"/>
            </a:endParaRPr>
          </a:p>
          <a:p>
            <a:pPr marL="433070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33070" algn="l"/>
              </a:tabLst>
            </a:pPr>
            <a:r>
              <a:rPr dirty="0" sz="1800" spc="-5" b="1">
                <a:latin typeface="Microsoft JhengHei"/>
                <a:cs typeface="Microsoft JhengHei"/>
              </a:rPr>
              <a:t>最高全年訂單量：約</a:t>
            </a:r>
            <a:r>
              <a:rPr dirty="0" sz="1800" spc="-25" b="1">
                <a:latin typeface="Microsoft JhengHei"/>
                <a:cs typeface="Microsoft JhengHei"/>
              </a:rPr>
              <a:t>100,000</a:t>
            </a:r>
            <a:r>
              <a:rPr dirty="0" sz="1800" spc="-50" b="1">
                <a:latin typeface="Microsoft JhengHei"/>
                <a:cs typeface="Microsoft JhengHei"/>
              </a:rPr>
              <a:t>筆</a:t>
            </a:r>
            <a:endParaRPr sz="1800">
              <a:latin typeface="Microsoft JhengHei"/>
              <a:cs typeface="Microsoft JhengHei"/>
            </a:endParaRPr>
          </a:p>
          <a:p>
            <a:pPr marL="433070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33070" algn="l"/>
              </a:tabLst>
            </a:pPr>
            <a:r>
              <a:rPr dirty="0" sz="1800" spc="-5" b="1">
                <a:latin typeface="Microsoft JhengHei"/>
                <a:cs typeface="Microsoft JhengHei"/>
              </a:rPr>
              <a:t>平均每月訂單量：約</a:t>
            </a:r>
            <a:r>
              <a:rPr dirty="0" sz="1800" spc="-25" b="1">
                <a:latin typeface="Microsoft JhengHei"/>
                <a:cs typeface="Microsoft JhengHei"/>
              </a:rPr>
              <a:t>8,333</a:t>
            </a:r>
            <a:r>
              <a:rPr dirty="0" sz="1800" spc="-50" b="1">
                <a:latin typeface="Microsoft JhengHei"/>
                <a:cs typeface="Microsoft JhengHei"/>
              </a:rPr>
              <a:t>筆</a:t>
            </a:r>
            <a:endParaRPr sz="1800">
              <a:latin typeface="Microsoft JhengHei"/>
              <a:cs typeface="Microsoft JhengHei"/>
            </a:endParaRPr>
          </a:p>
          <a:p>
            <a:pPr marL="433070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33070" algn="l"/>
              </a:tabLst>
            </a:pPr>
            <a:r>
              <a:rPr dirty="0" sz="1800" b="1">
                <a:latin typeface="Microsoft JhengHei"/>
                <a:cs typeface="Microsoft JhengHei"/>
              </a:rPr>
              <a:t>單一月份最高訂單量：約</a:t>
            </a:r>
            <a:r>
              <a:rPr dirty="0" sz="1800" spc="-20" b="1">
                <a:latin typeface="Microsoft JhengHei"/>
                <a:cs typeface="Microsoft JhengHei"/>
              </a:rPr>
              <a:t>29,000</a:t>
            </a:r>
            <a:r>
              <a:rPr dirty="0" sz="1800" spc="-50" b="1">
                <a:latin typeface="Microsoft JhengHei"/>
                <a:cs typeface="Microsoft JhengHei"/>
              </a:rPr>
              <a:t>筆</a:t>
            </a:r>
            <a:endParaRPr sz="1800">
              <a:latin typeface="Microsoft JhengHei"/>
              <a:cs typeface="Microsoft JhengHei"/>
            </a:endParaRPr>
          </a:p>
          <a:p>
            <a:pPr marL="433070" indent="-287020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433070" algn="l"/>
              </a:tabLst>
            </a:pPr>
            <a:r>
              <a:rPr dirty="0" sz="1800" spc="-10" b="1">
                <a:latin typeface="Microsoft JhengHei"/>
                <a:cs typeface="Microsoft JhengHei"/>
              </a:rPr>
              <a:t>依台中通路配置，複製到六都。</a:t>
            </a:r>
            <a:endParaRPr sz="1800">
              <a:latin typeface="Microsoft JhengHei"/>
              <a:cs typeface="Microsoft JhengHei"/>
            </a:endParaRPr>
          </a:p>
          <a:p>
            <a:pPr marL="433070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33070" algn="l"/>
                <a:tab pos="1987550" algn="l"/>
              </a:tabLst>
            </a:pPr>
            <a:r>
              <a:rPr dirty="0" sz="1800" b="1">
                <a:latin typeface="Microsoft JhengHei"/>
                <a:cs typeface="Microsoft JhengHei"/>
              </a:rPr>
              <a:t>預</a:t>
            </a:r>
            <a:r>
              <a:rPr dirty="0" sz="1800" spc="-10" b="1">
                <a:latin typeface="Microsoft JhengHei"/>
                <a:cs typeface="Microsoft JhengHei"/>
              </a:rPr>
              <a:t>計</a:t>
            </a:r>
            <a:r>
              <a:rPr dirty="0" sz="1800" b="1">
                <a:latin typeface="Microsoft JhengHei"/>
                <a:cs typeface="Microsoft JhengHei"/>
              </a:rPr>
              <a:t>2025</a:t>
            </a:r>
            <a:r>
              <a:rPr dirty="0" sz="1800" spc="-30" b="1">
                <a:latin typeface="Microsoft JhengHei"/>
                <a:cs typeface="Microsoft JhengHei"/>
              </a:rPr>
              <a:t> </a:t>
            </a:r>
            <a:r>
              <a:rPr dirty="0" sz="1800" spc="-25" b="1">
                <a:latin typeface="Microsoft JhengHei"/>
                <a:cs typeface="Microsoft JhengHei"/>
              </a:rPr>
              <a:t>Q4</a:t>
            </a:r>
            <a:r>
              <a:rPr dirty="0" sz="1800" b="1">
                <a:latin typeface="Microsoft JhengHei"/>
                <a:cs typeface="Microsoft JhengHei"/>
              </a:rPr>
              <a:t>	進入通路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台中</a:t>
            </a:r>
            <a:r>
              <a:rPr dirty="0" sz="1800" b="1">
                <a:latin typeface="Microsoft JhengHei"/>
                <a:cs typeface="Microsoft JhengHei"/>
              </a:rPr>
              <a:t>市</a:t>
            </a:r>
            <a:r>
              <a:rPr dirty="0" sz="1800" spc="-50" b="1">
                <a:latin typeface="Microsoft JhengHei"/>
                <a:cs typeface="Microsoft JhengHei"/>
              </a:rPr>
              <a:t>場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457" y="4189348"/>
            <a:ext cx="5000625" cy="126047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  <a:tab pos="1853564" algn="l"/>
              </a:tabLst>
            </a:pPr>
            <a:r>
              <a:rPr dirty="0" sz="1800" b="1">
                <a:latin typeface="Microsoft JhengHei"/>
                <a:cs typeface="Microsoft JhengHei"/>
              </a:rPr>
              <a:t>預</a:t>
            </a:r>
            <a:r>
              <a:rPr dirty="0" sz="1800" spc="-10" b="1">
                <a:latin typeface="Microsoft JhengHei"/>
                <a:cs typeface="Microsoft JhengHei"/>
              </a:rPr>
              <a:t>計</a:t>
            </a:r>
            <a:r>
              <a:rPr dirty="0" sz="1800" b="1">
                <a:latin typeface="Microsoft JhengHei"/>
                <a:cs typeface="Microsoft JhengHei"/>
              </a:rPr>
              <a:t>2026</a:t>
            </a:r>
            <a:r>
              <a:rPr dirty="0" sz="1800" spc="-30" b="1">
                <a:latin typeface="Microsoft JhengHei"/>
                <a:cs typeface="Microsoft JhengHei"/>
              </a:rPr>
              <a:t> </a:t>
            </a:r>
            <a:r>
              <a:rPr dirty="0" sz="1800" spc="-25" b="1">
                <a:latin typeface="Microsoft JhengHei"/>
                <a:cs typeface="Microsoft JhengHei"/>
              </a:rPr>
              <a:t>Q2</a:t>
            </a:r>
            <a:r>
              <a:rPr dirty="0" sz="1800" b="1">
                <a:latin typeface="Microsoft JhengHei"/>
                <a:cs typeface="Microsoft JhengHei"/>
              </a:rPr>
              <a:t>	擴展北三都</a:t>
            </a:r>
            <a:r>
              <a:rPr dirty="0" sz="1800" spc="-10" b="1">
                <a:latin typeface="Microsoft JhengHei"/>
                <a:cs typeface="Microsoft JhengHei"/>
              </a:rPr>
              <a:t>(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新北、台北、桃園</a:t>
            </a:r>
            <a:r>
              <a:rPr dirty="0" sz="1800" spc="-50" b="1">
                <a:latin typeface="Microsoft JhengHei"/>
                <a:cs typeface="Microsoft JhengHei"/>
              </a:rPr>
              <a:t>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  <a:tab pos="1853564" algn="l"/>
              </a:tabLst>
            </a:pPr>
            <a:r>
              <a:rPr dirty="0" sz="1800" b="1">
                <a:latin typeface="Microsoft JhengHei"/>
                <a:cs typeface="Microsoft JhengHei"/>
              </a:rPr>
              <a:t>預</a:t>
            </a:r>
            <a:r>
              <a:rPr dirty="0" sz="1800" spc="-10" b="1">
                <a:latin typeface="Microsoft JhengHei"/>
                <a:cs typeface="Microsoft JhengHei"/>
              </a:rPr>
              <a:t>計</a:t>
            </a:r>
            <a:r>
              <a:rPr dirty="0" sz="1800" b="1">
                <a:latin typeface="Microsoft JhengHei"/>
                <a:cs typeface="Microsoft JhengHei"/>
              </a:rPr>
              <a:t>2026</a:t>
            </a:r>
            <a:r>
              <a:rPr dirty="0" sz="1800" spc="-30" b="1">
                <a:latin typeface="Microsoft JhengHei"/>
                <a:cs typeface="Microsoft JhengHei"/>
              </a:rPr>
              <a:t> </a:t>
            </a:r>
            <a:r>
              <a:rPr dirty="0" sz="1800" spc="-25" b="1">
                <a:latin typeface="Microsoft JhengHei"/>
                <a:cs typeface="Microsoft JhengHei"/>
              </a:rPr>
              <a:t>Q4</a:t>
            </a:r>
            <a:r>
              <a:rPr dirty="0" sz="1800" b="1">
                <a:latin typeface="Microsoft JhengHei"/>
                <a:cs typeface="Microsoft JhengHei"/>
              </a:rPr>
              <a:t>	南二都佈局</a:t>
            </a:r>
            <a:r>
              <a:rPr dirty="0" sz="1800" spc="-10" b="1">
                <a:latin typeface="Microsoft JhengHei"/>
                <a:cs typeface="Microsoft JhengHei"/>
              </a:rPr>
              <a:t>(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台南、高雄</a:t>
            </a:r>
            <a:r>
              <a:rPr dirty="0" sz="1800" spc="-50" b="1">
                <a:latin typeface="Microsoft JhengHei"/>
                <a:cs typeface="Microsoft JhengHei"/>
              </a:rPr>
              <a:t>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" b="1">
                <a:solidFill>
                  <a:srgbClr val="0000FF"/>
                </a:solidFill>
                <a:latin typeface="Microsoft JhengHei"/>
                <a:cs typeface="Microsoft JhengHei"/>
              </a:rPr>
              <a:t>覆蓋全國</a:t>
            </a:r>
            <a:r>
              <a:rPr dirty="0" sz="1800" spc="-50" b="1">
                <a:latin typeface="Microsoft JhengHei"/>
                <a:cs typeface="Microsoft JhengHei"/>
              </a:rPr>
              <a:t>~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64268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後勤量能：旺來瓦斯的堅實後盾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51574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旺來與</a:t>
            </a:r>
            <a:r>
              <a:rPr dirty="0" spc="-20"/>
              <a:t>7-</a:t>
            </a:r>
            <a:r>
              <a:rPr dirty="0" spc="-30"/>
              <a:t>11</a:t>
            </a:r>
            <a:r>
              <a:rPr dirty="0" spc="-10"/>
              <a:t>生態系統共榮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838" y="1337817"/>
            <a:ext cx="4578350" cy="3806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35" b="1">
                <a:solidFill>
                  <a:srgbClr val="FD6C00"/>
                </a:solidFill>
                <a:latin typeface="Microsoft JhengHei"/>
                <a:cs typeface="Microsoft JhengHei"/>
              </a:rPr>
              <a:t>構建生態系統</a:t>
            </a:r>
            <a:endParaRPr sz="2500">
              <a:latin typeface="Microsoft JhengHei"/>
              <a:cs typeface="Microsoft JhengHei"/>
            </a:endParaRPr>
          </a:p>
          <a:p>
            <a:pPr algn="just" marL="437515" marR="5080" indent="-28702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437515" algn="l"/>
              </a:tabLst>
            </a:pPr>
            <a:r>
              <a:rPr dirty="0" sz="1800">
                <a:solidFill>
                  <a:srgbClr val="333333"/>
                </a:solidFill>
                <a:latin typeface="Microsoft JhengHei"/>
                <a:cs typeface="Microsoft JhengHei"/>
              </a:rPr>
              <a:t>旺來瓦斯透過其獨特的</a:t>
            </a:r>
            <a:r>
              <a:rPr dirty="0" sz="1800" spc="-10">
                <a:solidFill>
                  <a:srgbClr val="333333"/>
                </a:solidFill>
                <a:latin typeface="Microsoft JhengHei"/>
                <a:cs typeface="Microsoft JhengHei"/>
              </a:rPr>
              <a:t>B2B2C營運模式，</a:t>
            </a: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積極串聯供應商、通路夥伴與終端用戶。</a:t>
            </a:r>
            <a:endParaRPr sz="1800">
              <a:latin typeface="Microsoft JhengHei"/>
              <a:cs typeface="Microsoft JhengHei"/>
            </a:endParaRPr>
          </a:p>
          <a:p>
            <a:pPr algn="just" marL="437515" marR="17145" indent="-287020">
              <a:lnSpc>
                <a:spcPct val="150000"/>
              </a:lnSpc>
              <a:buFont typeface="Arial MT"/>
              <a:buChar char="•"/>
              <a:tabLst>
                <a:tab pos="437515" algn="l"/>
              </a:tabLst>
            </a:pP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此模式整合了多元聯盟、優化供應鏈、提供組合服務及精細會員管理，形成完整生</a:t>
            </a:r>
            <a:r>
              <a:rPr dirty="0" sz="1800" spc="-20">
                <a:solidFill>
                  <a:srgbClr val="333333"/>
                </a:solidFill>
                <a:latin typeface="Microsoft JhengHei"/>
                <a:cs typeface="Microsoft JhengHei"/>
              </a:rPr>
              <a:t>態系統。</a:t>
            </a:r>
            <a:endParaRPr sz="1800">
              <a:latin typeface="Microsoft JhengHei"/>
              <a:cs typeface="Microsoft JhengHei"/>
            </a:endParaRPr>
          </a:p>
          <a:p>
            <a:pPr algn="just" marL="437515" marR="17145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37515" algn="l"/>
              </a:tabLst>
            </a:pP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通路夥伴作為此生態系統的重要環節，將獲得更廣泛的合作機會、豐富的資源整合</a:t>
            </a:r>
            <a:r>
              <a:rPr dirty="0" sz="1800" spc="-10">
                <a:solidFill>
                  <a:srgbClr val="333333"/>
                </a:solidFill>
                <a:latin typeface="Microsoft JhengHei"/>
                <a:cs typeface="Microsoft JhengHei"/>
              </a:rPr>
              <a:t>與更高的商業價值。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56200" y="1914525"/>
            <a:ext cx="6797040" cy="3472179"/>
            <a:chOff x="5156200" y="1914525"/>
            <a:chExt cx="6797040" cy="34721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6200" y="1914525"/>
              <a:ext cx="6796653" cy="3471888"/>
            </a:xfrm>
            <a:prstGeom prst="rect">
              <a:avLst/>
            </a:prstGeom>
          </p:spPr>
        </p:pic>
        <p:pic>
          <p:nvPicPr>
            <p:cNvPr id="6" name="object 6" descr="C:\Users\C0367\Desktop\通路_LOGO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8116" y="3985717"/>
              <a:ext cx="1077252" cy="10949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527" y="1007618"/>
            <a:ext cx="8972550" cy="2067560"/>
          </a:xfrm>
          <a:prstGeom prst="rect">
            <a:avLst/>
          </a:prstGeom>
        </p:spPr>
        <p:txBody>
          <a:bodyPr wrap="square" lIns="0" tIns="223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2400" spc="-10" b="1">
                <a:solidFill>
                  <a:srgbClr val="FD6C00"/>
                </a:solidFill>
                <a:latin typeface="Microsoft JhengHei"/>
                <a:cs typeface="Microsoft JhengHei"/>
              </a:rPr>
              <a:t>共創零售新模式</a:t>
            </a:r>
            <a:endParaRPr sz="2400">
              <a:latin typeface="Microsoft JhengHei"/>
              <a:cs typeface="Microsoft JhengHei"/>
            </a:endParaRPr>
          </a:p>
          <a:p>
            <a:pPr marL="499745" indent="-286385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499745" algn="l"/>
              </a:tabLst>
            </a:pPr>
            <a:r>
              <a:rPr dirty="0" sz="1800">
                <a:solidFill>
                  <a:srgbClr val="333333"/>
                </a:solidFill>
                <a:latin typeface="Microsoft JhengHei"/>
                <a:cs typeface="Microsoft JhengHei"/>
              </a:rPr>
              <a:t>旺來提供全面現代化解決方案，協助7-11</a:t>
            </a: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升級服務範疇與營運效率。</a:t>
            </a:r>
            <a:endParaRPr sz="1800">
              <a:latin typeface="Microsoft JhengHei"/>
              <a:cs typeface="Microsoft JhengHei"/>
            </a:endParaRPr>
          </a:p>
          <a:p>
            <a:pPr marL="49974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499745" algn="l"/>
              </a:tabLst>
            </a:pPr>
            <a:r>
              <a:rPr dirty="0" sz="1800" spc="-5">
                <a:solidFill>
                  <a:srgbClr val="333333"/>
                </a:solidFill>
                <a:latin typeface="Microsoft JhengHei"/>
                <a:cs typeface="Microsoft JhengHei"/>
              </a:rPr>
              <a:t>將傳統瓦斯服務無縫融入便利商店生態系統，共同創造全新的消費場景與用戶體驗。</a:t>
            </a:r>
            <a:endParaRPr sz="1800">
              <a:latin typeface="Microsoft JhengHei"/>
              <a:cs typeface="Microsoft JhengHei"/>
            </a:endParaRPr>
          </a:p>
          <a:p>
            <a:pPr marL="103505">
              <a:lnSpc>
                <a:spcPct val="100000"/>
              </a:lnSpc>
              <a:spcBef>
                <a:spcPts val="1914"/>
              </a:spcBef>
            </a:pPr>
            <a:r>
              <a:rPr dirty="0" sz="2400" spc="-135" b="1">
                <a:latin typeface="Microsoft JhengHei"/>
                <a:cs typeface="Microsoft JhengHei"/>
              </a:rPr>
              <a:t>具體方案包括：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2242" y="40335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雙贏策略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3527" y="3329808"/>
            <a:ext cx="5741035" cy="254317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75"/>
              </a:spcBef>
            </a:pPr>
            <a:r>
              <a:rPr dirty="0" sz="1800" spc="-10" b="1">
                <a:solidFill>
                  <a:srgbClr val="FD6C00"/>
                </a:solidFill>
                <a:latin typeface="Microsoft JhengHei"/>
                <a:cs typeface="Microsoft JhengHei"/>
              </a:rPr>
              <a:t>無人智取櫃設置：</a:t>
            </a:r>
            <a:endParaRPr sz="1800">
              <a:latin typeface="Microsoft JhengHei"/>
              <a:cs typeface="Microsoft JhengHei"/>
            </a:endParaRPr>
          </a:p>
          <a:p>
            <a:pPr marL="24765">
              <a:lnSpc>
                <a:spcPct val="100000"/>
              </a:lnSpc>
              <a:spcBef>
                <a:spcPts val="1180"/>
              </a:spcBef>
            </a:pPr>
            <a:r>
              <a:rPr dirty="0" sz="1800" spc="-15" b="1">
                <a:solidFill>
                  <a:srgbClr val="333333"/>
                </a:solidFill>
                <a:latin typeface="Microsoft JhengHei"/>
                <a:cs typeface="Microsoft JhengHei"/>
              </a:rPr>
              <a:t>提升瓦斯桶取用便利性，增加通路來客數，同時大幅降</a:t>
            </a:r>
            <a:endParaRPr sz="1800">
              <a:latin typeface="Microsoft JhengHei"/>
              <a:cs typeface="Microsoft JhengHei"/>
            </a:endParaRPr>
          </a:p>
          <a:p>
            <a:pPr marL="24765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dirty="0" sz="1800" spc="-20" b="1">
                <a:solidFill>
                  <a:srgbClr val="333333"/>
                </a:solidFill>
                <a:latin typeface="Microsoft JhengHei"/>
                <a:cs typeface="Microsoft JhengHei"/>
              </a:rPr>
              <a:t>7-</a:t>
            </a:r>
            <a:r>
              <a:rPr dirty="0" sz="1800" spc="-10" b="1">
                <a:solidFill>
                  <a:srgbClr val="333333"/>
                </a:solidFill>
                <a:latin typeface="Microsoft JhengHei"/>
                <a:cs typeface="Microsoft JhengHei"/>
              </a:rPr>
              <a:t>ELEVEN的營運負擔。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800" spc="-10" b="1">
                <a:solidFill>
                  <a:srgbClr val="FD6C00"/>
                </a:solidFill>
                <a:latin typeface="Microsoft JhengHei"/>
                <a:cs typeface="Microsoft JhengHei"/>
              </a:rPr>
              <a:t>OMO</a:t>
            </a:r>
            <a:r>
              <a:rPr dirty="0" sz="1800" spc="-20" b="1">
                <a:solidFill>
                  <a:srgbClr val="FD6C00"/>
                </a:solidFill>
                <a:latin typeface="Microsoft JhengHei"/>
                <a:cs typeface="Microsoft JhengHei"/>
              </a:rPr>
              <a:t>平台賦能：</a:t>
            </a:r>
            <a:endParaRPr sz="1800">
              <a:latin typeface="Microsoft JhengHei"/>
              <a:cs typeface="Microsoft JhengHei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dirty="0" sz="1800" spc="-5" b="1">
                <a:latin typeface="Microsoft JhengHei"/>
                <a:cs typeface="Microsoft JhengHei"/>
              </a:rPr>
              <a:t>透過線上線下整合，提供產品開發、銷售、客服、行銷、物流及數據管理等全面支持。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3598" y="3329808"/>
            <a:ext cx="5151755" cy="254317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800" spc="-10" b="1">
                <a:solidFill>
                  <a:srgbClr val="FD6C00"/>
                </a:solidFill>
                <a:latin typeface="Microsoft JhengHei"/>
                <a:cs typeface="Microsoft JhengHei"/>
              </a:rPr>
              <a:t>用戶殘氣金轉化：</a:t>
            </a:r>
            <a:endParaRPr sz="1800">
              <a:latin typeface="Microsoft JhengHei"/>
              <a:cs typeface="Microsoft JhengHei"/>
            </a:endParaRPr>
          </a:p>
          <a:p>
            <a:pPr marL="12700" marR="5080">
              <a:lnSpc>
                <a:spcPct val="152200"/>
              </a:lnSpc>
              <a:spcBef>
                <a:spcPts val="50"/>
              </a:spcBef>
            </a:pPr>
            <a:r>
              <a:rPr dirty="0" sz="1800" spc="-10" b="1">
                <a:latin typeface="Microsoft JhengHei"/>
                <a:cs typeface="Microsoft JhengHei"/>
              </a:rPr>
              <a:t>將瓦斯殘氣轉化為OPENPOINT</a:t>
            </a:r>
            <a:r>
              <a:rPr dirty="0" sz="1800" spc="-20" b="1">
                <a:latin typeface="Microsoft JhengHei"/>
                <a:cs typeface="Microsoft JhengHei"/>
              </a:rPr>
              <a:t>會員消費金/點數，</a:t>
            </a:r>
            <a:r>
              <a:rPr dirty="0" sz="1800" spc="-5" b="1">
                <a:latin typeface="Microsoft JhengHei"/>
                <a:cs typeface="Microsoft JhengHei"/>
              </a:rPr>
              <a:t>激勵用戶回購與跨平台消費，創造潛在營收。</a:t>
            </a:r>
            <a:r>
              <a:rPr dirty="0" sz="1800" spc="-50" b="1">
                <a:latin typeface="Microsoft JhengHei"/>
                <a:cs typeface="Microsoft JhengHei"/>
              </a:rPr>
              <a:t> </a:t>
            </a:r>
            <a:r>
              <a:rPr dirty="0" sz="1800" spc="-20" b="1">
                <a:solidFill>
                  <a:srgbClr val="FD6C00"/>
                </a:solidFill>
                <a:latin typeface="Microsoft JhengHei"/>
                <a:cs typeface="Microsoft JhengHei"/>
              </a:rPr>
              <a:t>B2B2C生態系統構建：</a:t>
            </a:r>
            <a:endParaRPr sz="1800">
              <a:latin typeface="Microsoft JhengHei"/>
              <a:cs typeface="Microsoft JhengHei"/>
            </a:endParaRPr>
          </a:p>
          <a:p>
            <a:pPr marL="24765" marR="40005">
              <a:lnSpc>
                <a:spcPct val="150000"/>
              </a:lnSpc>
              <a:spcBef>
                <a:spcPts val="95"/>
              </a:spcBef>
            </a:pPr>
            <a:r>
              <a:rPr dirty="0" sz="1800" b="1">
                <a:latin typeface="Microsoft JhengHei"/>
                <a:cs typeface="Microsoft JhengHei"/>
              </a:rPr>
              <a:t>串聯供應商、通路夥伴與終端用戶，為</a:t>
            </a:r>
            <a:r>
              <a:rPr dirty="0" sz="1800" spc="-20" b="1">
                <a:latin typeface="Microsoft JhengHei"/>
                <a:cs typeface="Microsoft JhengHei"/>
              </a:rPr>
              <a:t>7-</a:t>
            </a:r>
            <a:r>
              <a:rPr dirty="0" sz="1800" spc="-25" b="1">
                <a:latin typeface="Microsoft JhengHei"/>
                <a:cs typeface="Microsoft JhengHei"/>
              </a:rPr>
              <a:t>11</a:t>
            </a:r>
            <a:r>
              <a:rPr dirty="0" sz="1800" spc="-20" b="1">
                <a:latin typeface="Microsoft JhengHei"/>
                <a:cs typeface="Microsoft JhengHei"/>
              </a:rPr>
              <a:t>帶來更</a:t>
            </a:r>
            <a:r>
              <a:rPr dirty="0" sz="1800" spc="-5" b="1">
                <a:latin typeface="Microsoft JhengHei"/>
                <a:cs typeface="Microsoft JhengHei"/>
              </a:rPr>
              <a:t>廣泛的合作機會、資源整合與商業價值。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2577" y="3397503"/>
            <a:ext cx="11561445" cy="2516505"/>
          </a:xfrm>
          <a:custGeom>
            <a:avLst/>
            <a:gdLst/>
            <a:ahLst/>
            <a:cxnLst/>
            <a:rect l="l" t="t" r="r" b="b"/>
            <a:pathLst>
              <a:path w="11561445" h="2516504">
                <a:moveTo>
                  <a:pt x="9639" y="1108075"/>
                </a:moveTo>
                <a:lnTo>
                  <a:pt x="9639" y="149733"/>
                </a:lnTo>
                <a:lnTo>
                  <a:pt x="10185" y="142367"/>
                </a:lnTo>
                <a:lnTo>
                  <a:pt x="36271" y="99313"/>
                </a:lnTo>
                <a:lnTo>
                  <a:pt x="99364" y="60451"/>
                </a:lnTo>
                <a:lnTo>
                  <a:pt x="193941" y="29463"/>
                </a:lnTo>
                <a:lnTo>
                  <a:pt x="311975" y="8762"/>
                </a:lnTo>
                <a:lnTo>
                  <a:pt x="443153" y="126"/>
                </a:lnTo>
                <a:lnTo>
                  <a:pt x="465543" y="0"/>
                </a:lnTo>
                <a:lnTo>
                  <a:pt x="5328602" y="0"/>
                </a:lnTo>
                <a:lnTo>
                  <a:pt x="5460936" y="6476"/>
                </a:lnTo>
                <a:lnTo>
                  <a:pt x="5581840" y="25273"/>
                </a:lnTo>
                <a:lnTo>
                  <a:pt x="5681027" y="54737"/>
                </a:lnTo>
                <a:lnTo>
                  <a:pt x="5749861" y="92456"/>
                </a:lnTo>
                <a:lnTo>
                  <a:pt x="5782373" y="135000"/>
                </a:lnTo>
                <a:lnTo>
                  <a:pt x="5784532" y="149733"/>
                </a:lnTo>
                <a:lnTo>
                  <a:pt x="5784532" y="1108075"/>
                </a:lnTo>
                <a:lnTo>
                  <a:pt x="5764847" y="1151636"/>
                </a:lnTo>
                <a:lnTo>
                  <a:pt x="5707697" y="1191387"/>
                </a:lnTo>
                <a:lnTo>
                  <a:pt x="5617781" y="1223899"/>
                </a:lnTo>
                <a:lnTo>
                  <a:pt x="5503100" y="1246505"/>
                </a:lnTo>
                <a:lnTo>
                  <a:pt x="5373306" y="1257173"/>
                </a:lnTo>
                <a:lnTo>
                  <a:pt x="5328602" y="1257935"/>
                </a:lnTo>
                <a:lnTo>
                  <a:pt x="465543" y="1257935"/>
                </a:lnTo>
                <a:lnTo>
                  <a:pt x="333209" y="1251458"/>
                </a:lnTo>
                <a:lnTo>
                  <a:pt x="212255" y="1232662"/>
                </a:lnTo>
                <a:lnTo>
                  <a:pt x="113118" y="1203071"/>
                </a:lnTo>
                <a:lnTo>
                  <a:pt x="44335" y="1165479"/>
                </a:lnTo>
                <a:lnTo>
                  <a:pt x="11823" y="1122807"/>
                </a:lnTo>
                <a:lnTo>
                  <a:pt x="9639" y="1108075"/>
                </a:lnTo>
                <a:close/>
              </a:path>
              <a:path w="11561445" h="2516504">
                <a:moveTo>
                  <a:pt x="0" y="2366467"/>
                </a:moveTo>
                <a:lnTo>
                  <a:pt x="0" y="1408049"/>
                </a:lnTo>
                <a:lnTo>
                  <a:pt x="546" y="1400683"/>
                </a:lnTo>
                <a:lnTo>
                  <a:pt x="26631" y="1357630"/>
                </a:lnTo>
                <a:lnTo>
                  <a:pt x="89725" y="1318895"/>
                </a:lnTo>
                <a:lnTo>
                  <a:pt x="184302" y="1287780"/>
                </a:lnTo>
                <a:lnTo>
                  <a:pt x="302336" y="1267079"/>
                </a:lnTo>
                <a:lnTo>
                  <a:pt x="433514" y="1258443"/>
                </a:lnTo>
                <a:lnTo>
                  <a:pt x="455904" y="1258316"/>
                </a:lnTo>
                <a:lnTo>
                  <a:pt x="5318950" y="1258316"/>
                </a:lnTo>
                <a:lnTo>
                  <a:pt x="5451284" y="1264793"/>
                </a:lnTo>
                <a:lnTo>
                  <a:pt x="5572315" y="1283589"/>
                </a:lnTo>
                <a:lnTo>
                  <a:pt x="5671375" y="1313053"/>
                </a:lnTo>
                <a:lnTo>
                  <a:pt x="5740209" y="1350772"/>
                </a:lnTo>
                <a:lnTo>
                  <a:pt x="5772721" y="1393444"/>
                </a:lnTo>
                <a:lnTo>
                  <a:pt x="5774880" y="1408049"/>
                </a:lnTo>
                <a:lnTo>
                  <a:pt x="5774880" y="2366467"/>
                </a:lnTo>
                <a:lnTo>
                  <a:pt x="5755195" y="2409939"/>
                </a:lnTo>
                <a:lnTo>
                  <a:pt x="5698045" y="2449664"/>
                </a:lnTo>
                <a:lnTo>
                  <a:pt x="5608129" y="2482227"/>
                </a:lnTo>
                <a:lnTo>
                  <a:pt x="5493448" y="2504821"/>
                </a:lnTo>
                <a:lnTo>
                  <a:pt x="5363654" y="2515501"/>
                </a:lnTo>
                <a:lnTo>
                  <a:pt x="5318950" y="2516212"/>
                </a:lnTo>
                <a:lnTo>
                  <a:pt x="455904" y="2516212"/>
                </a:lnTo>
                <a:lnTo>
                  <a:pt x="323557" y="2509774"/>
                </a:lnTo>
                <a:lnTo>
                  <a:pt x="202615" y="2490978"/>
                </a:lnTo>
                <a:lnTo>
                  <a:pt x="103479" y="2461463"/>
                </a:lnTo>
                <a:lnTo>
                  <a:pt x="34696" y="2423769"/>
                </a:lnTo>
                <a:lnTo>
                  <a:pt x="2184" y="2381148"/>
                </a:lnTo>
                <a:lnTo>
                  <a:pt x="0" y="2366467"/>
                </a:lnTo>
                <a:close/>
              </a:path>
              <a:path w="11561445" h="2516504">
                <a:moveTo>
                  <a:pt x="5786056" y="2366467"/>
                </a:moveTo>
                <a:lnTo>
                  <a:pt x="5786056" y="1408049"/>
                </a:lnTo>
                <a:lnTo>
                  <a:pt x="5786564" y="1400683"/>
                </a:lnTo>
                <a:lnTo>
                  <a:pt x="5812599" y="1357630"/>
                </a:lnTo>
                <a:lnTo>
                  <a:pt x="5875718" y="1318895"/>
                </a:lnTo>
                <a:lnTo>
                  <a:pt x="5970333" y="1287780"/>
                </a:lnTo>
                <a:lnTo>
                  <a:pt x="6088316" y="1267079"/>
                </a:lnTo>
                <a:lnTo>
                  <a:pt x="6219507" y="1258443"/>
                </a:lnTo>
                <a:lnTo>
                  <a:pt x="6241986" y="1258316"/>
                </a:lnTo>
                <a:lnTo>
                  <a:pt x="11104943" y="1258316"/>
                </a:lnTo>
                <a:lnTo>
                  <a:pt x="11237277" y="1264793"/>
                </a:lnTo>
                <a:lnTo>
                  <a:pt x="11358308" y="1283589"/>
                </a:lnTo>
                <a:lnTo>
                  <a:pt x="11457368" y="1313053"/>
                </a:lnTo>
                <a:lnTo>
                  <a:pt x="11526202" y="1350772"/>
                </a:lnTo>
                <a:lnTo>
                  <a:pt x="11558714" y="1393444"/>
                </a:lnTo>
                <a:lnTo>
                  <a:pt x="11560873" y="1408049"/>
                </a:lnTo>
                <a:lnTo>
                  <a:pt x="11560873" y="2366467"/>
                </a:lnTo>
                <a:lnTo>
                  <a:pt x="11541315" y="2409939"/>
                </a:lnTo>
                <a:lnTo>
                  <a:pt x="11484038" y="2449664"/>
                </a:lnTo>
                <a:lnTo>
                  <a:pt x="11394249" y="2482227"/>
                </a:lnTo>
                <a:lnTo>
                  <a:pt x="11279441" y="2504821"/>
                </a:lnTo>
                <a:lnTo>
                  <a:pt x="11149647" y="2515501"/>
                </a:lnTo>
                <a:lnTo>
                  <a:pt x="11104943" y="2516212"/>
                </a:lnTo>
                <a:lnTo>
                  <a:pt x="6241986" y="2516212"/>
                </a:lnTo>
                <a:lnTo>
                  <a:pt x="6109525" y="2509774"/>
                </a:lnTo>
                <a:lnTo>
                  <a:pt x="5988621" y="2490978"/>
                </a:lnTo>
                <a:lnTo>
                  <a:pt x="5889561" y="2461463"/>
                </a:lnTo>
                <a:lnTo>
                  <a:pt x="5820727" y="2423769"/>
                </a:lnTo>
                <a:lnTo>
                  <a:pt x="5788215" y="2381148"/>
                </a:lnTo>
                <a:lnTo>
                  <a:pt x="5786056" y="2366467"/>
                </a:lnTo>
                <a:close/>
              </a:path>
              <a:path w="11561445" h="2516504">
                <a:moveTo>
                  <a:pt x="5776404" y="1108075"/>
                </a:moveTo>
                <a:lnTo>
                  <a:pt x="5776404" y="149733"/>
                </a:lnTo>
                <a:lnTo>
                  <a:pt x="5776912" y="142367"/>
                </a:lnTo>
                <a:lnTo>
                  <a:pt x="5803074" y="99313"/>
                </a:lnTo>
                <a:lnTo>
                  <a:pt x="5866066" y="60451"/>
                </a:lnTo>
                <a:lnTo>
                  <a:pt x="5960681" y="29463"/>
                </a:lnTo>
                <a:lnTo>
                  <a:pt x="6078664" y="8762"/>
                </a:lnTo>
                <a:lnTo>
                  <a:pt x="6209855" y="126"/>
                </a:lnTo>
                <a:lnTo>
                  <a:pt x="6232334" y="0"/>
                </a:lnTo>
                <a:lnTo>
                  <a:pt x="11095291" y="0"/>
                </a:lnTo>
                <a:lnTo>
                  <a:pt x="11227752" y="6476"/>
                </a:lnTo>
                <a:lnTo>
                  <a:pt x="11348656" y="25273"/>
                </a:lnTo>
                <a:lnTo>
                  <a:pt x="11447716" y="54737"/>
                </a:lnTo>
                <a:lnTo>
                  <a:pt x="11516550" y="92456"/>
                </a:lnTo>
                <a:lnTo>
                  <a:pt x="11549062" y="135000"/>
                </a:lnTo>
                <a:lnTo>
                  <a:pt x="11551221" y="149733"/>
                </a:lnTo>
                <a:lnTo>
                  <a:pt x="11551221" y="1108075"/>
                </a:lnTo>
                <a:lnTo>
                  <a:pt x="11531663" y="1151636"/>
                </a:lnTo>
                <a:lnTo>
                  <a:pt x="11474386" y="1191387"/>
                </a:lnTo>
                <a:lnTo>
                  <a:pt x="11384597" y="1223899"/>
                </a:lnTo>
                <a:lnTo>
                  <a:pt x="11269789" y="1246505"/>
                </a:lnTo>
                <a:lnTo>
                  <a:pt x="11139995" y="1257173"/>
                </a:lnTo>
                <a:lnTo>
                  <a:pt x="11095291" y="1257935"/>
                </a:lnTo>
                <a:lnTo>
                  <a:pt x="6232334" y="1257935"/>
                </a:lnTo>
                <a:lnTo>
                  <a:pt x="6100000" y="1251458"/>
                </a:lnTo>
                <a:lnTo>
                  <a:pt x="5978969" y="1232662"/>
                </a:lnTo>
                <a:lnTo>
                  <a:pt x="5879909" y="1203071"/>
                </a:lnTo>
                <a:lnTo>
                  <a:pt x="5811075" y="1165479"/>
                </a:lnTo>
                <a:lnTo>
                  <a:pt x="5778563" y="1122807"/>
                </a:lnTo>
                <a:lnTo>
                  <a:pt x="5776404" y="1108075"/>
                </a:lnTo>
                <a:close/>
              </a:path>
            </a:pathLst>
          </a:custGeom>
          <a:ln w="18709">
            <a:solidFill>
              <a:srgbClr val="FFA1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5969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合作效益：多元收入服務整合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948" y="1215390"/>
            <a:ext cx="3632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D6C00"/>
                </a:solidFill>
                <a:latin typeface="Microsoft JhengHei"/>
                <a:cs typeface="Microsoft JhengHei"/>
              </a:rPr>
              <a:t>7-ELEVEN</a:t>
            </a:r>
            <a:r>
              <a:rPr dirty="0" sz="2400" spc="-10" b="1">
                <a:solidFill>
                  <a:srgbClr val="FD6C00"/>
                </a:solidFill>
                <a:latin typeface="Microsoft JhengHei"/>
                <a:cs typeface="Microsoft JhengHei"/>
              </a:rPr>
              <a:t>的多元收入來源</a:t>
            </a:r>
            <a:endParaRPr sz="24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80" y="1755648"/>
            <a:ext cx="2603042" cy="42926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48150" y="1880108"/>
            <a:ext cx="2692400" cy="719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EABD9"/>
                </a:solidFill>
                <a:latin typeface="Microsoft JhengHei"/>
                <a:cs typeface="Microsoft JhengHei"/>
              </a:rPr>
              <a:t>瓦斯銷售收入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500" spc="-15">
                <a:solidFill>
                  <a:srgbClr val="464646"/>
                </a:solidFill>
                <a:latin typeface="Microsoft JhengHei"/>
                <a:cs typeface="Microsoft JhengHei"/>
              </a:rPr>
              <a:t>透過智取櫃服務產生的直接收入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8150" y="2916682"/>
            <a:ext cx="2501900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AC583"/>
                </a:solidFill>
                <a:latin typeface="Microsoft JhengHei"/>
                <a:cs typeface="Microsoft JhengHei"/>
              </a:rPr>
              <a:t>智取櫃服務收入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500" spc="-5">
                <a:solidFill>
                  <a:srgbClr val="464646"/>
                </a:solidFill>
                <a:latin typeface="Microsoft JhengHei"/>
                <a:cs typeface="Microsoft JhengHei"/>
              </a:rPr>
              <a:t>來自空間租用和管理費的收入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8150" y="3953382"/>
            <a:ext cx="2882900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92BC39"/>
                </a:solidFill>
                <a:latin typeface="Microsoft JhengHei"/>
                <a:cs typeface="Microsoft JhengHei"/>
              </a:rPr>
              <a:t>增值服務收入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500" spc="-5">
                <a:solidFill>
                  <a:srgbClr val="464646"/>
                </a:solidFill>
                <a:latin typeface="Microsoft JhengHei"/>
                <a:cs typeface="Microsoft JhengHei"/>
              </a:rPr>
              <a:t>透過殘氣金和會員經濟產生的收入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8150" y="4989957"/>
            <a:ext cx="2882900" cy="719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DFCA13"/>
                </a:solidFill>
                <a:latin typeface="Microsoft JhengHei"/>
                <a:cs typeface="Microsoft JhengHei"/>
              </a:rPr>
              <a:t>廣告曝光收入</a:t>
            </a:r>
            <a:endParaRPr sz="1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500" spc="-5">
                <a:solidFill>
                  <a:srgbClr val="464646"/>
                </a:solidFill>
                <a:latin typeface="Microsoft JhengHei"/>
                <a:cs typeface="Microsoft JhengHei"/>
              </a:rPr>
              <a:t>來自智取櫃和數位平台的廣告收入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82922" y="1920748"/>
            <a:ext cx="0" cy="762000"/>
          </a:xfrm>
          <a:custGeom>
            <a:avLst/>
            <a:gdLst/>
            <a:ahLst/>
            <a:cxnLst/>
            <a:rect l="l" t="t" r="r" b="b"/>
            <a:pathLst>
              <a:path w="0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25400">
            <a:solidFill>
              <a:srgbClr val="1EAB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82922" y="2987548"/>
            <a:ext cx="0" cy="762000"/>
          </a:xfrm>
          <a:custGeom>
            <a:avLst/>
            <a:gdLst/>
            <a:ahLst/>
            <a:cxnLst/>
            <a:rect l="l" t="t" r="r" b="b"/>
            <a:pathLst>
              <a:path w="0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25400">
            <a:solidFill>
              <a:srgbClr val="3AC58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82922" y="4054347"/>
            <a:ext cx="0" cy="762000"/>
          </a:xfrm>
          <a:custGeom>
            <a:avLst/>
            <a:gdLst/>
            <a:ahLst/>
            <a:cxnLst/>
            <a:rect l="l" t="t" r="r" b="b"/>
            <a:pathLst>
              <a:path w="0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25400">
            <a:solidFill>
              <a:srgbClr val="92BC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82922" y="5121147"/>
            <a:ext cx="0" cy="762635"/>
          </a:xfrm>
          <a:custGeom>
            <a:avLst/>
            <a:gdLst/>
            <a:ahLst/>
            <a:cxnLst/>
            <a:rect l="l" t="t" r="r" b="b"/>
            <a:pathLst>
              <a:path w="0" h="762635">
                <a:moveTo>
                  <a:pt x="0" y="0"/>
                </a:moveTo>
                <a:lnTo>
                  <a:pt x="0" y="762063"/>
                </a:lnTo>
              </a:path>
            </a:pathLst>
          </a:custGeom>
          <a:ln w="25400">
            <a:solidFill>
              <a:srgbClr val="DFCA1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3327272" y="4136897"/>
            <a:ext cx="596900" cy="596900"/>
            <a:chOff x="3327272" y="4136897"/>
            <a:chExt cx="596900" cy="596900"/>
          </a:xfrm>
        </p:grpSpPr>
        <p:sp>
          <p:nvSpPr>
            <p:cNvPr id="14" name="object 14"/>
            <p:cNvSpPr/>
            <p:nvPr/>
          </p:nvSpPr>
          <p:spPr>
            <a:xfrm>
              <a:off x="3339972" y="4149597"/>
              <a:ext cx="340360" cy="546100"/>
            </a:xfrm>
            <a:custGeom>
              <a:avLst/>
              <a:gdLst/>
              <a:ahLst/>
              <a:cxnLst/>
              <a:rect l="l" t="t" r="r" b="b"/>
              <a:pathLst>
                <a:path w="340360" h="546100">
                  <a:moveTo>
                    <a:pt x="134619" y="546100"/>
                  </a:moveTo>
                  <a:lnTo>
                    <a:pt x="71119" y="546100"/>
                  </a:lnTo>
                  <a:lnTo>
                    <a:pt x="57023" y="544576"/>
                  </a:lnTo>
                  <a:lnTo>
                    <a:pt x="20827" y="524509"/>
                  </a:lnTo>
                  <a:lnTo>
                    <a:pt x="1269" y="488060"/>
                  </a:lnTo>
                  <a:lnTo>
                    <a:pt x="0" y="71119"/>
                  </a:lnTo>
                  <a:lnTo>
                    <a:pt x="1524" y="57022"/>
                  </a:lnTo>
                  <a:lnTo>
                    <a:pt x="21716" y="20954"/>
                  </a:lnTo>
                  <a:lnTo>
                    <a:pt x="58038" y="1396"/>
                  </a:lnTo>
                  <a:lnTo>
                    <a:pt x="261619" y="0"/>
                  </a:lnTo>
                  <a:lnTo>
                    <a:pt x="276098" y="1396"/>
                  </a:lnTo>
                  <a:lnTo>
                    <a:pt x="313309" y="19557"/>
                  </a:lnTo>
                  <a:lnTo>
                    <a:pt x="336296" y="53847"/>
                  </a:lnTo>
                  <a:lnTo>
                    <a:pt x="339598" y="67690"/>
                  </a:lnTo>
                  <a:lnTo>
                    <a:pt x="340360" y="215900"/>
                  </a:lnTo>
                </a:path>
                <a:path w="340360" h="546100">
                  <a:moveTo>
                    <a:pt x="0" y="429259"/>
                  </a:moveTo>
                  <a:lnTo>
                    <a:pt x="111760" y="429259"/>
                  </a:lnTo>
                </a:path>
              </a:pathLst>
            </a:custGeom>
            <a:ln w="25400">
              <a:solidFill>
                <a:srgbClr val="92BC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1770" y="4308347"/>
              <a:ext cx="422401" cy="425322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320796" y="3063748"/>
            <a:ext cx="610235" cy="609600"/>
            <a:chOff x="3320796" y="3063748"/>
            <a:chExt cx="610235" cy="6096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7923" y="3116072"/>
              <a:ext cx="126873" cy="12458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33496" y="3076448"/>
              <a:ext cx="584835" cy="584200"/>
            </a:xfrm>
            <a:custGeom>
              <a:avLst/>
              <a:gdLst/>
              <a:ahLst/>
              <a:cxnLst/>
              <a:rect l="l" t="t" r="r" b="b"/>
              <a:pathLst>
                <a:path w="584835" h="584200">
                  <a:moveTo>
                    <a:pt x="76326" y="393700"/>
                  </a:moveTo>
                  <a:lnTo>
                    <a:pt x="76326" y="558800"/>
                  </a:lnTo>
                  <a:lnTo>
                    <a:pt x="80137" y="572388"/>
                  </a:lnTo>
                  <a:lnTo>
                    <a:pt x="90296" y="581532"/>
                  </a:lnTo>
                  <a:lnTo>
                    <a:pt x="152526" y="584200"/>
                  </a:lnTo>
                  <a:lnTo>
                    <a:pt x="165988" y="580389"/>
                  </a:lnTo>
                  <a:lnTo>
                    <a:pt x="175259" y="570229"/>
                  </a:lnTo>
                  <a:lnTo>
                    <a:pt x="177926" y="381000"/>
                  </a:lnTo>
                  <a:lnTo>
                    <a:pt x="197484" y="254000"/>
                  </a:lnTo>
                  <a:lnTo>
                    <a:pt x="208914" y="257555"/>
                  </a:lnTo>
                  <a:lnTo>
                    <a:pt x="216788" y="259968"/>
                  </a:lnTo>
                  <a:lnTo>
                    <a:pt x="223012" y="266064"/>
                  </a:lnTo>
                  <a:lnTo>
                    <a:pt x="225678" y="273812"/>
                  </a:lnTo>
                  <a:lnTo>
                    <a:pt x="268096" y="400812"/>
                  </a:lnTo>
                  <a:lnTo>
                    <a:pt x="274827" y="411352"/>
                  </a:lnTo>
                  <a:lnTo>
                    <a:pt x="285368" y="417322"/>
                  </a:lnTo>
                  <a:lnTo>
                    <a:pt x="297688" y="417575"/>
                  </a:lnTo>
                  <a:lnTo>
                    <a:pt x="309499" y="410844"/>
                  </a:lnTo>
                  <a:lnTo>
                    <a:pt x="316229" y="400812"/>
                  </a:lnTo>
                  <a:lnTo>
                    <a:pt x="317373" y="389254"/>
                  </a:lnTo>
                  <a:lnTo>
                    <a:pt x="273684" y="257555"/>
                  </a:lnTo>
                  <a:lnTo>
                    <a:pt x="252094" y="225043"/>
                  </a:lnTo>
                  <a:lnTo>
                    <a:pt x="129920" y="181101"/>
                  </a:lnTo>
                  <a:lnTo>
                    <a:pt x="104648" y="177800"/>
                  </a:lnTo>
                  <a:lnTo>
                    <a:pt x="92455" y="179324"/>
                  </a:lnTo>
                  <a:lnTo>
                    <a:pt x="50545" y="203453"/>
                  </a:lnTo>
                  <a:lnTo>
                    <a:pt x="1650" y="322325"/>
                  </a:lnTo>
                  <a:lnTo>
                    <a:pt x="0" y="334644"/>
                  </a:lnTo>
                  <a:lnTo>
                    <a:pt x="4317" y="346075"/>
                  </a:lnTo>
                  <a:lnTo>
                    <a:pt x="48132" y="342646"/>
                  </a:lnTo>
                  <a:lnTo>
                    <a:pt x="83692" y="245363"/>
                  </a:lnTo>
                </a:path>
                <a:path w="584835" h="584200">
                  <a:moveTo>
                    <a:pt x="279526" y="469900"/>
                  </a:moveTo>
                  <a:lnTo>
                    <a:pt x="279526" y="558800"/>
                  </a:lnTo>
                  <a:lnTo>
                    <a:pt x="283337" y="572388"/>
                  </a:lnTo>
                  <a:lnTo>
                    <a:pt x="293496" y="581532"/>
                  </a:lnTo>
                  <a:lnTo>
                    <a:pt x="558926" y="584200"/>
                  </a:lnTo>
                  <a:lnTo>
                    <a:pt x="572388" y="580389"/>
                  </a:lnTo>
                  <a:lnTo>
                    <a:pt x="581659" y="570229"/>
                  </a:lnTo>
                  <a:lnTo>
                    <a:pt x="584326" y="25400"/>
                  </a:lnTo>
                  <a:lnTo>
                    <a:pt x="580389" y="11937"/>
                  </a:lnTo>
                  <a:lnTo>
                    <a:pt x="570356" y="2793"/>
                  </a:lnTo>
                  <a:lnTo>
                    <a:pt x="304926" y="0"/>
                  </a:lnTo>
                  <a:lnTo>
                    <a:pt x="291464" y="3937"/>
                  </a:lnTo>
                  <a:lnTo>
                    <a:pt x="282193" y="14097"/>
                  </a:lnTo>
                  <a:lnTo>
                    <a:pt x="279526" y="177800"/>
                  </a:lnTo>
                </a:path>
                <a:path w="584835" h="584200">
                  <a:moveTo>
                    <a:pt x="368426" y="406400"/>
                  </a:moveTo>
                  <a:lnTo>
                    <a:pt x="508126" y="406400"/>
                  </a:lnTo>
                  <a:lnTo>
                    <a:pt x="521588" y="410337"/>
                  </a:lnTo>
                  <a:lnTo>
                    <a:pt x="530859" y="420497"/>
                  </a:lnTo>
                  <a:lnTo>
                    <a:pt x="533526" y="508000"/>
                  </a:lnTo>
                  <a:lnTo>
                    <a:pt x="529589" y="521588"/>
                  </a:lnTo>
                  <a:lnTo>
                    <a:pt x="519556" y="530732"/>
                  </a:lnTo>
                  <a:lnTo>
                    <a:pt x="355726" y="533400"/>
                  </a:lnTo>
                  <a:lnTo>
                    <a:pt x="342264" y="529589"/>
                  </a:lnTo>
                  <a:lnTo>
                    <a:pt x="332993" y="519429"/>
                  </a:lnTo>
                  <a:lnTo>
                    <a:pt x="330326" y="457200"/>
                  </a:lnTo>
                </a:path>
                <a:path w="584835" h="584200">
                  <a:moveTo>
                    <a:pt x="343026" y="50800"/>
                  </a:moveTo>
                  <a:lnTo>
                    <a:pt x="393826" y="50800"/>
                  </a:lnTo>
                  <a:lnTo>
                    <a:pt x="406526" y="50800"/>
                  </a:lnTo>
                  <a:lnTo>
                    <a:pt x="406526" y="63500"/>
                  </a:lnTo>
                  <a:lnTo>
                    <a:pt x="406526" y="88900"/>
                  </a:lnTo>
                  <a:lnTo>
                    <a:pt x="406526" y="101600"/>
                  </a:lnTo>
                  <a:lnTo>
                    <a:pt x="393826" y="101600"/>
                  </a:lnTo>
                  <a:lnTo>
                    <a:pt x="343026" y="101600"/>
                  </a:lnTo>
                  <a:lnTo>
                    <a:pt x="330326" y="101600"/>
                  </a:lnTo>
                  <a:lnTo>
                    <a:pt x="330326" y="88900"/>
                  </a:lnTo>
                  <a:lnTo>
                    <a:pt x="330326" y="63500"/>
                  </a:lnTo>
                  <a:lnTo>
                    <a:pt x="330326" y="50800"/>
                  </a:lnTo>
                  <a:lnTo>
                    <a:pt x="343026" y="50800"/>
                  </a:lnTo>
                </a:path>
                <a:path w="584835" h="584200">
                  <a:moveTo>
                    <a:pt x="343026" y="152400"/>
                  </a:moveTo>
                  <a:lnTo>
                    <a:pt x="393826" y="152400"/>
                  </a:lnTo>
                  <a:lnTo>
                    <a:pt x="406526" y="152400"/>
                  </a:lnTo>
                  <a:lnTo>
                    <a:pt x="406526" y="165100"/>
                  </a:lnTo>
                  <a:lnTo>
                    <a:pt x="406526" y="190500"/>
                  </a:lnTo>
                  <a:lnTo>
                    <a:pt x="406526" y="203200"/>
                  </a:lnTo>
                  <a:lnTo>
                    <a:pt x="393826" y="203200"/>
                  </a:lnTo>
                  <a:lnTo>
                    <a:pt x="343026" y="203200"/>
                  </a:lnTo>
                  <a:lnTo>
                    <a:pt x="330326" y="203200"/>
                  </a:lnTo>
                  <a:lnTo>
                    <a:pt x="330326" y="190500"/>
                  </a:lnTo>
                  <a:lnTo>
                    <a:pt x="330326" y="165100"/>
                  </a:lnTo>
                  <a:lnTo>
                    <a:pt x="330326" y="152400"/>
                  </a:lnTo>
                  <a:lnTo>
                    <a:pt x="343026" y="152400"/>
                  </a:lnTo>
                </a:path>
                <a:path w="584835" h="584200">
                  <a:moveTo>
                    <a:pt x="470026" y="50800"/>
                  </a:moveTo>
                  <a:lnTo>
                    <a:pt x="520826" y="50800"/>
                  </a:lnTo>
                  <a:lnTo>
                    <a:pt x="533526" y="50800"/>
                  </a:lnTo>
                  <a:lnTo>
                    <a:pt x="533526" y="63500"/>
                  </a:lnTo>
                  <a:lnTo>
                    <a:pt x="533526" y="88900"/>
                  </a:lnTo>
                  <a:lnTo>
                    <a:pt x="533526" y="101600"/>
                  </a:lnTo>
                  <a:lnTo>
                    <a:pt x="520826" y="101600"/>
                  </a:lnTo>
                  <a:lnTo>
                    <a:pt x="470026" y="101600"/>
                  </a:lnTo>
                  <a:lnTo>
                    <a:pt x="457326" y="101600"/>
                  </a:lnTo>
                  <a:lnTo>
                    <a:pt x="457326" y="88900"/>
                  </a:lnTo>
                  <a:lnTo>
                    <a:pt x="457326" y="63500"/>
                  </a:lnTo>
                  <a:lnTo>
                    <a:pt x="457326" y="50800"/>
                  </a:lnTo>
                  <a:lnTo>
                    <a:pt x="470026" y="50800"/>
                  </a:lnTo>
                </a:path>
                <a:path w="584835" h="584200">
                  <a:moveTo>
                    <a:pt x="470026" y="152400"/>
                  </a:moveTo>
                  <a:lnTo>
                    <a:pt x="520826" y="152400"/>
                  </a:lnTo>
                  <a:lnTo>
                    <a:pt x="533526" y="152400"/>
                  </a:lnTo>
                  <a:lnTo>
                    <a:pt x="533526" y="165100"/>
                  </a:lnTo>
                  <a:lnTo>
                    <a:pt x="533526" y="190500"/>
                  </a:lnTo>
                  <a:lnTo>
                    <a:pt x="533526" y="203200"/>
                  </a:lnTo>
                  <a:lnTo>
                    <a:pt x="520826" y="203200"/>
                  </a:lnTo>
                  <a:lnTo>
                    <a:pt x="470026" y="203200"/>
                  </a:lnTo>
                  <a:lnTo>
                    <a:pt x="457326" y="203200"/>
                  </a:lnTo>
                  <a:lnTo>
                    <a:pt x="457326" y="190500"/>
                  </a:lnTo>
                  <a:lnTo>
                    <a:pt x="457326" y="165100"/>
                  </a:lnTo>
                  <a:lnTo>
                    <a:pt x="457326" y="152400"/>
                  </a:lnTo>
                  <a:lnTo>
                    <a:pt x="470026" y="152400"/>
                  </a:lnTo>
                </a:path>
                <a:path w="584835" h="584200">
                  <a:moveTo>
                    <a:pt x="384555" y="482726"/>
                  </a:moveTo>
                  <a:lnTo>
                    <a:pt x="386968" y="479298"/>
                  </a:lnTo>
                  <a:lnTo>
                    <a:pt x="394207" y="472948"/>
                  </a:lnTo>
                  <a:lnTo>
                    <a:pt x="441198" y="486155"/>
                  </a:lnTo>
                  <a:lnTo>
                    <a:pt x="454405" y="507491"/>
                  </a:lnTo>
                  <a:lnTo>
                    <a:pt x="450468" y="520826"/>
                  </a:lnTo>
                  <a:lnTo>
                    <a:pt x="447928" y="524255"/>
                  </a:lnTo>
                  <a:lnTo>
                    <a:pt x="440689" y="530606"/>
                  </a:lnTo>
                  <a:lnTo>
                    <a:pt x="429132" y="534034"/>
                  </a:lnTo>
                  <a:lnTo>
                    <a:pt x="393826" y="517398"/>
                  </a:lnTo>
                  <a:lnTo>
                    <a:pt x="390398" y="514985"/>
                  </a:lnTo>
                  <a:lnTo>
                    <a:pt x="383920" y="507746"/>
                  </a:lnTo>
                  <a:lnTo>
                    <a:pt x="380491" y="496062"/>
                  </a:lnTo>
                </a:path>
              </a:pathLst>
            </a:custGeom>
            <a:ln w="25400">
              <a:solidFill>
                <a:srgbClr val="3AC58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3790822" y="3330447"/>
            <a:ext cx="76200" cy="50800"/>
          </a:xfrm>
          <a:custGeom>
            <a:avLst/>
            <a:gdLst/>
            <a:ahLst/>
            <a:cxnLst/>
            <a:rect l="l" t="t" r="r" b="b"/>
            <a:pathLst>
              <a:path w="76200" h="50800">
                <a:moveTo>
                  <a:pt x="12700" y="0"/>
                </a:moveTo>
                <a:lnTo>
                  <a:pt x="63500" y="0"/>
                </a:lnTo>
                <a:lnTo>
                  <a:pt x="76200" y="0"/>
                </a:lnTo>
                <a:lnTo>
                  <a:pt x="76200" y="12700"/>
                </a:lnTo>
                <a:lnTo>
                  <a:pt x="76200" y="38100"/>
                </a:lnTo>
                <a:lnTo>
                  <a:pt x="76200" y="50800"/>
                </a:lnTo>
                <a:lnTo>
                  <a:pt x="63500" y="50800"/>
                </a:lnTo>
                <a:lnTo>
                  <a:pt x="12700" y="50800"/>
                </a:lnTo>
                <a:lnTo>
                  <a:pt x="0" y="50800"/>
                </a:lnTo>
                <a:lnTo>
                  <a:pt x="0" y="38100"/>
                </a:ln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</a:path>
            </a:pathLst>
          </a:custGeom>
          <a:ln w="25400">
            <a:solidFill>
              <a:srgbClr val="3AC58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3321811" y="5201158"/>
            <a:ext cx="608330" cy="600710"/>
            <a:chOff x="3321811" y="5201158"/>
            <a:chExt cx="608330" cy="600710"/>
          </a:xfrm>
        </p:grpSpPr>
        <p:sp>
          <p:nvSpPr>
            <p:cNvPr id="21" name="object 21"/>
            <p:cNvSpPr/>
            <p:nvPr/>
          </p:nvSpPr>
          <p:spPr>
            <a:xfrm>
              <a:off x="3334511" y="5213858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228600" y="457187"/>
                  </a:moveTo>
                  <a:lnTo>
                    <a:pt x="38100" y="457187"/>
                  </a:lnTo>
                  <a:lnTo>
                    <a:pt x="24002" y="454507"/>
                  </a:lnTo>
                  <a:lnTo>
                    <a:pt x="12318" y="447179"/>
                  </a:lnTo>
                  <a:lnTo>
                    <a:pt x="4063" y="436219"/>
                  </a:lnTo>
                  <a:lnTo>
                    <a:pt x="126" y="422656"/>
                  </a:lnTo>
                  <a:lnTo>
                    <a:pt x="0" y="38100"/>
                  </a:lnTo>
                  <a:lnTo>
                    <a:pt x="2666" y="24003"/>
                  </a:lnTo>
                  <a:lnTo>
                    <a:pt x="10033" y="12319"/>
                  </a:lnTo>
                  <a:lnTo>
                    <a:pt x="20954" y="4064"/>
                  </a:lnTo>
                  <a:lnTo>
                    <a:pt x="34543" y="127"/>
                  </a:lnTo>
                  <a:lnTo>
                    <a:pt x="533400" y="0"/>
                  </a:lnTo>
                  <a:lnTo>
                    <a:pt x="547370" y="2667"/>
                  </a:lnTo>
                  <a:lnTo>
                    <a:pt x="559180" y="10033"/>
                  </a:lnTo>
                  <a:lnTo>
                    <a:pt x="567436" y="20955"/>
                  </a:lnTo>
                  <a:lnTo>
                    <a:pt x="571373" y="34544"/>
                  </a:lnTo>
                  <a:lnTo>
                    <a:pt x="571500" y="317500"/>
                  </a:lnTo>
                </a:path>
                <a:path w="571500" h="457200">
                  <a:moveTo>
                    <a:pt x="0" y="114173"/>
                  </a:moveTo>
                  <a:lnTo>
                    <a:pt x="571500" y="114173"/>
                  </a:lnTo>
                </a:path>
                <a:path w="571500" h="457200">
                  <a:moveTo>
                    <a:pt x="0" y="342900"/>
                  </a:moveTo>
                  <a:lnTo>
                    <a:pt x="349250" y="342900"/>
                  </a:lnTo>
                </a:path>
                <a:path w="571500" h="457200">
                  <a:moveTo>
                    <a:pt x="139700" y="0"/>
                  </a:moveTo>
                  <a:lnTo>
                    <a:pt x="139700" y="114300"/>
                  </a:lnTo>
                </a:path>
                <a:path w="571500" h="457200">
                  <a:moveTo>
                    <a:pt x="285750" y="0"/>
                  </a:moveTo>
                  <a:lnTo>
                    <a:pt x="285750" y="114300"/>
                  </a:lnTo>
                </a:path>
                <a:path w="571500" h="457200">
                  <a:moveTo>
                    <a:pt x="431800" y="0"/>
                  </a:moveTo>
                  <a:lnTo>
                    <a:pt x="431800" y="114300"/>
                  </a:lnTo>
                </a:path>
                <a:path w="571500" h="457200">
                  <a:moveTo>
                    <a:pt x="139700" y="342900"/>
                  </a:moveTo>
                  <a:lnTo>
                    <a:pt x="139700" y="457187"/>
                  </a:lnTo>
                </a:path>
              </a:pathLst>
            </a:custGeom>
            <a:ln w="25400">
              <a:solidFill>
                <a:srgbClr val="DFCA1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2482" y="5628831"/>
              <a:ext cx="127760" cy="1397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76395" y="5502529"/>
              <a:ext cx="240665" cy="287020"/>
            </a:xfrm>
            <a:custGeom>
              <a:avLst/>
              <a:gdLst/>
              <a:ahLst/>
              <a:cxnLst/>
              <a:rect l="l" t="t" r="r" b="b"/>
              <a:pathLst>
                <a:path w="240664" h="287020">
                  <a:moveTo>
                    <a:pt x="41148" y="234708"/>
                  </a:moveTo>
                  <a:lnTo>
                    <a:pt x="88518" y="216801"/>
                  </a:lnTo>
                  <a:lnTo>
                    <a:pt x="137794" y="206756"/>
                  </a:lnTo>
                  <a:lnTo>
                    <a:pt x="175513" y="204470"/>
                  </a:lnTo>
                  <a:lnTo>
                    <a:pt x="188213" y="204711"/>
                  </a:lnTo>
                  <a:lnTo>
                    <a:pt x="200787" y="205473"/>
                  </a:lnTo>
                  <a:lnTo>
                    <a:pt x="213487" y="206730"/>
                  </a:lnTo>
                  <a:lnTo>
                    <a:pt x="240537" y="210604"/>
                  </a:lnTo>
                  <a:lnTo>
                    <a:pt x="140842" y="0"/>
                  </a:lnTo>
                  <a:lnTo>
                    <a:pt x="116712" y="38227"/>
                  </a:lnTo>
                  <a:lnTo>
                    <a:pt x="92328" y="68072"/>
                  </a:lnTo>
                  <a:lnTo>
                    <a:pt x="64515" y="94703"/>
                  </a:lnTo>
                  <a:lnTo>
                    <a:pt x="33654" y="117767"/>
                  </a:lnTo>
                  <a:lnTo>
                    <a:pt x="0" y="136956"/>
                  </a:lnTo>
                  <a:lnTo>
                    <a:pt x="41148" y="234708"/>
                  </a:lnTo>
                  <a:close/>
                </a:path>
                <a:path w="240664" h="287020">
                  <a:moveTo>
                    <a:pt x="41148" y="234708"/>
                  </a:moveTo>
                  <a:lnTo>
                    <a:pt x="64134" y="266090"/>
                  </a:lnTo>
                  <a:lnTo>
                    <a:pt x="85343" y="281101"/>
                  </a:lnTo>
                  <a:lnTo>
                    <a:pt x="97154" y="286524"/>
                  </a:lnTo>
                </a:path>
              </a:pathLst>
            </a:custGeom>
            <a:ln w="25400">
              <a:solidFill>
                <a:srgbClr val="DFCA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3327272" y="2005076"/>
            <a:ext cx="596900" cy="594995"/>
            <a:chOff x="3327272" y="2005076"/>
            <a:chExt cx="596900" cy="594995"/>
          </a:xfrm>
        </p:grpSpPr>
        <p:sp>
          <p:nvSpPr>
            <p:cNvPr id="25" name="object 25"/>
            <p:cNvSpPr/>
            <p:nvPr/>
          </p:nvSpPr>
          <p:spPr>
            <a:xfrm>
              <a:off x="3339972" y="2017776"/>
              <a:ext cx="571500" cy="569595"/>
            </a:xfrm>
            <a:custGeom>
              <a:avLst/>
              <a:gdLst/>
              <a:ahLst/>
              <a:cxnLst/>
              <a:rect l="l" t="t" r="r" b="b"/>
              <a:pathLst>
                <a:path w="571500" h="569594">
                  <a:moveTo>
                    <a:pt x="317500" y="162560"/>
                  </a:moveTo>
                  <a:lnTo>
                    <a:pt x="368300" y="162560"/>
                  </a:lnTo>
                  <a:lnTo>
                    <a:pt x="382015" y="165353"/>
                  </a:lnTo>
                  <a:lnTo>
                    <a:pt x="393700" y="172847"/>
                  </a:lnTo>
                  <a:lnTo>
                    <a:pt x="402209" y="183896"/>
                  </a:lnTo>
                  <a:lnTo>
                    <a:pt x="406273" y="197231"/>
                  </a:lnTo>
                  <a:lnTo>
                    <a:pt x="406400" y="523239"/>
                  </a:lnTo>
                  <a:lnTo>
                    <a:pt x="408431" y="537463"/>
                  </a:lnTo>
                  <a:lnTo>
                    <a:pt x="414147" y="550037"/>
                  </a:lnTo>
                  <a:lnTo>
                    <a:pt x="423163" y="560070"/>
                  </a:lnTo>
                  <a:lnTo>
                    <a:pt x="434975" y="566801"/>
                  </a:lnTo>
                  <a:lnTo>
                    <a:pt x="451230" y="568071"/>
                  </a:lnTo>
                  <a:lnTo>
                    <a:pt x="465327" y="565785"/>
                  </a:lnTo>
                  <a:lnTo>
                    <a:pt x="494918" y="531240"/>
                  </a:lnTo>
                  <a:lnTo>
                    <a:pt x="495300" y="104139"/>
                  </a:lnTo>
                  <a:lnTo>
                    <a:pt x="496188" y="91059"/>
                  </a:lnTo>
                  <a:lnTo>
                    <a:pt x="509269" y="53848"/>
                  </a:lnTo>
                  <a:lnTo>
                    <a:pt x="535431" y="24257"/>
                  </a:lnTo>
                  <a:lnTo>
                    <a:pt x="571500" y="0"/>
                  </a:lnTo>
                </a:path>
                <a:path w="571500" h="569594">
                  <a:moveTo>
                    <a:pt x="495300" y="149860"/>
                  </a:moveTo>
                  <a:lnTo>
                    <a:pt x="533400" y="149860"/>
                  </a:lnTo>
                </a:path>
                <a:path w="571500" h="569594">
                  <a:moveTo>
                    <a:pt x="317500" y="544068"/>
                  </a:moveTo>
                  <a:lnTo>
                    <a:pt x="313943" y="558038"/>
                  </a:lnTo>
                  <a:lnTo>
                    <a:pt x="304038" y="566927"/>
                  </a:lnTo>
                  <a:lnTo>
                    <a:pt x="25400" y="569468"/>
                  </a:lnTo>
                  <a:lnTo>
                    <a:pt x="11302" y="565785"/>
                  </a:lnTo>
                  <a:lnTo>
                    <a:pt x="2539" y="556006"/>
                  </a:lnTo>
                  <a:lnTo>
                    <a:pt x="0" y="61468"/>
                  </a:lnTo>
                  <a:lnTo>
                    <a:pt x="3555" y="47371"/>
                  </a:lnTo>
                  <a:lnTo>
                    <a:pt x="13462" y="38481"/>
                  </a:lnTo>
                  <a:lnTo>
                    <a:pt x="292100" y="36068"/>
                  </a:lnTo>
                  <a:lnTo>
                    <a:pt x="306069" y="39624"/>
                  </a:lnTo>
                  <a:lnTo>
                    <a:pt x="314960" y="49529"/>
                  </a:lnTo>
                  <a:lnTo>
                    <a:pt x="317500" y="544068"/>
                  </a:lnTo>
                  <a:close/>
                </a:path>
              </a:pathLst>
            </a:custGeom>
            <a:ln w="25400">
              <a:solidFill>
                <a:srgbClr val="1EAB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7249" y="2117344"/>
              <a:ext cx="203073" cy="101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39972" y="2282444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 h="0">
                  <a:moveTo>
                    <a:pt x="0" y="0"/>
                  </a:moveTo>
                  <a:lnTo>
                    <a:pt x="317373" y="0"/>
                  </a:lnTo>
                </a:path>
              </a:pathLst>
            </a:custGeom>
            <a:ln w="25400">
              <a:solidFill>
                <a:srgbClr val="1EAB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778877" y="1775205"/>
            <a:ext cx="2425700" cy="873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瓦斯銷售分成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帶動店內衝動性消費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20" b="1">
                <a:solidFill>
                  <a:srgbClr val="FD5000"/>
                </a:solidFill>
                <a:latin typeface="Microsoft JhengHei"/>
                <a:cs typeface="Microsoft JhengHei"/>
              </a:rPr>
              <a:t>高頻回購效益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9" name="object 29"/>
          <p:cNvSpPr txBox="1"/>
          <p:nvPr/>
        </p:nvSpPr>
        <p:spPr>
          <a:xfrm>
            <a:off x="7778877" y="2994787"/>
            <a:ext cx="3964304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89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20" b="1">
                <a:solidFill>
                  <a:srgbClr val="FD5000"/>
                </a:solidFill>
                <a:latin typeface="Microsoft JhengHei"/>
                <a:cs typeface="Microsoft JhengHei"/>
              </a:rPr>
              <a:t>7-</a:t>
            </a: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ELEVEN</a:t>
            </a:r>
            <a:r>
              <a:rPr dirty="0" sz="1800" spc="-5" b="1">
                <a:solidFill>
                  <a:srgbClr val="FD5000"/>
                </a:solidFill>
                <a:latin typeface="Microsoft JhengHei"/>
                <a:cs typeface="Microsoft JhengHei"/>
              </a:rPr>
              <a:t>提供智取櫃設置空間，可</a:t>
            </a: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收取相應費用。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78877" y="3998467"/>
            <a:ext cx="3793490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殘氣金轉化消費。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solidFill>
                  <a:srgbClr val="FD5000"/>
                </a:solidFill>
                <a:latin typeface="Microsoft JhengHei"/>
                <a:cs typeface="Microsoft JhengHei"/>
              </a:rPr>
              <a:t>結合</a:t>
            </a: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OPENPOINT會員系統提供專</a:t>
            </a:r>
            <a:endParaRPr sz="1800">
              <a:latin typeface="Microsoft JhengHei"/>
              <a:cs typeface="Microsoft JhengHei"/>
            </a:endParaRPr>
          </a:p>
          <a:p>
            <a:pPr marL="355600">
              <a:lnSpc>
                <a:spcPct val="100000"/>
              </a:lnSpc>
              <a:spcBef>
                <a:spcPts val="190"/>
              </a:spcBef>
            </a:pPr>
            <a:r>
              <a:rPr dirty="0" sz="1800" spc="-15" b="1">
                <a:solidFill>
                  <a:srgbClr val="FD5000"/>
                </a:solidFill>
                <a:latin typeface="Microsoft JhengHei"/>
                <a:cs typeface="Microsoft JhengHei"/>
              </a:rPr>
              <a:t>屬優惠。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spcBef>
                <a:spcPts val="173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智取櫃體廣告位。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spc="-10" b="1">
                <a:solidFill>
                  <a:srgbClr val="FD5000"/>
                </a:solidFill>
                <a:latin typeface="Microsoft JhengHei"/>
                <a:cs typeface="Microsoft JhengHei"/>
              </a:rPr>
              <a:t>數位平台聯動廣告</a:t>
            </a:r>
            <a:endParaRPr sz="1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64" y="1143457"/>
            <a:ext cx="52076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FD6C00"/>
                </a:solidFill>
                <a:latin typeface="Microsoft JhengHei"/>
                <a:cs typeface="Microsoft JhengHei"/>
              </a:rPr>
              <a:t>預計合作時程規劃：達成全台市場覆蓋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5511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合作藍圖：階段性實施計畫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70" y="1780204"/>
            <a:ext cx="6216952" cy="42495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52494" y="2197430"/>
            <a:ext cx="5683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2026</a:t>
            </a:r>
            <a:endParaRPr sz="1800">
              <a:latin typeface="Microsoft JhengHei"/>
              <a:cs typeface="Microsoft JhengHei"/>
            </a:endParaRPr>
          </a:p>
          <a:p>
            <a:pPr marL="121920">
              <a:lnSpc>
                <a:spcPct val="100000"/>
              </a:lnSpc>
            </a:pPr>
            <a:r>
              <a:rPr dirty="0" sz="1800" spc="-25" b="1">
                <a:solidFill>
                  <a:srgbClr val="FFFFFF"/>
                </a:solidFill>
                <a:latin typeface="Microsoft JhengHei"/>
                <a:cs typeface="Microsoft JhengHei"/>
              </a:rPr>
              <a:t>Q4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28599" y="2060058"/>
            <a:ext cx="1854200" cy="87693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 marL="50165">
              <a:lnSpc>
                <a:spcPct val="100000"/>
              </a:lnSpc>
              <a:spcBef>
                <a:spcPts val="21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南二都佈局</a:t>
            </a:r>
            <a:endParaRPr sz="1800">
              <a:latin typeface="Microsoft JhengHei"/>
              <a:cs typeface="Microsoft JhengHei"/>
            </a:endParaRPr>
          </a:p>
          <a:p>
            <a:pPr algn="ctr"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FFFFFF"/>
                </a:solidFill>
                <a:latin typeface="Microsoft JhengHei"/>
                <a:cs typeface="Microsoft JhengHei"/>
              </a:rPr>
              <a:t>在台南和高雄完成</a:t>
            </a:r>
            <a:r>
              <a:rPr dirty="0" sz="1800" spc="-15">
                <a:solidFill>
                  <a:srgbClr val="FFFFFF"/>
                </a:solidFill>
                <a:latin typeface="Microsoft JhengHei"/>
                <a:cs typeface="Microsoft JhengHei"/>
              </a:rPr>
              <a:t>全國覆蓋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9454" y="3634232"/>
            <a:ext cx="5683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2026</a:t>
            </a:r>
            <a:endParaRPr sz="1800">
              <a:latin typeface="Microsoft JhengHei"/>
              <a:cs typeface="Microsoft JhengHei"/>
            </a:endParaRPr>
          </a:p>
          <a:p>
            <a:pPr marL="121920">
              <a:lnSpc>
                <a:spcPct val="100000"/>
              </a:lnSpc>
            </a:pPr>
            <a:r>
              <a:rPr dirty="0" sz="1800" spc="-25" b="1">
                <a:solidFill>
                  <a:srgbClr val="FFFFFF"/>
                </a:solidFill>
                <a:latin typeface="Microsoft JhengHei"/>
                <a:cs typeface="Microsoft JhengHei"/>
              </a:rPr>
              <a:t>Q2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8670" y="3479110"/>
            <a:ext cx="1854200" cy="8820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R="25400">
              <a:lnSpc>
                <a:spcPct val="100000"/>
              </a:lnSpc>
              <a:spcBef>
                <a:spcPts val="229"/>
              </a:spcBef>
            </a:pPr>
            <a:r>
              <a:rPr dirty="0" sz="18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北三都拓展</a:t>
            </a:r>
            <a:endParaRPr sz="18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800" spc="-20">
                <a:solidFill>
                  <a:srgbClr val="FFFFFF"/>
                </a:solidFill>
                <a:latin typeface="Microsoft JhengHei"/>
                <a:cs typeface="Microsoft JhengHei"/>
              </a:rPr>
              <a:t>擴展到台北、新北</a:t>
            </a:r>
            <a:endParaRPr sz="18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dirty="0" sz="1800" spc="-20">
                <a:solidFill>
                  <a:srgbClr val="FFFFFF"/>
                </a:solidFill>
                <a:latin typeface="Microsoft JhengHei"/>
                <a:cs typeface="Microsoft JhengHei"/>
              </a:rPr>
              <a:t>和桃園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2926" y="5036058"/>
            <a:ext cx="5683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2025</a:t>
            </a:r>
            <a:endParaRPr sz="1800">
              <a:latin typeface="Microsoft JhengHei"/>
              <a:cs typeface="Microsoft JhengHei"/>
            </a:endParaRPr>
          </a:p>
          <a:p>
            <a:pPr marL="154305">
              <a:lnSpc>
                <a:spcPct val="100000"/>
              </a:lnSpc>
            </a:pPr>
            <a:r>
              <a:rPr dirty="0" sz="1800" spc="-25" b="1">
                <a:solidFill>
                  <a:srgbClr val="FFFFFF"/>
                </a:solidFill>
                <a:latin typeface="Microsoft JhengHei"/>
                <a:cs typeface="Microsoft JhengHei"/>
              </a:rPr>
              <a:t>Q4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1729" y="4875129"/>
            <a:ext cx="1854200" cy="893444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 marR="49530">
              <a:lnSpc>
                <a:spcPct val="100000"/>
              </a:lnSpc>
              <a:spcBef>
                <a:spcPts val="275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台中門市導入</a:t>
            </a:r>
            <a:endParaRPr sz="1800">
              <a:latin typeface="Microsoft JhengHei"/>
              <a:cs typeface="Microsoft JhengHei"/>
            </a:endParaRPr>
          </a:p>
          <a:p>
            <a:pPr algn="ctr"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800" spc="-10">
                <a:solidFill>
                  <a:srgbClr val="FFFFFF"/>
                </a:solidFill>
                <a:latin typeface="Microsoft JhengHei"/>
                <a:cs typeface="Microsoft JhengHei"/>
              </a:rPr>
              <a:t>在台中都會區建立</a:t>
            </a:r>
            <a:r>
              <a:rPr dirty="0" sz="1800" spc="-15">
                <a:solidFill>
                  <a:srgbClr val="FFFFFF"/>
                </a:solidFill>
                <a:latin typeface="Microsoft JhengHei"/>
                <a:cs typeface="Microsoft JhengHei"/>
              </a:rPr>
              <a:t>初始存在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9618" y="1655444"/>
            <a:ext cx="4884420" cy="375412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第一階段｜台中門市導入（起始階段</a:t>
            </a:r>
            <a:r>
              <a:rPr dirty="0" sz="1800" spc="-25" b="1">
                <a:latin typeface="Microsoft JhengHei"/>
                <a:cs typeface="Microsoft JhengHei"/>
              </a:rPr>
              <a:t>）</a:t>
            </a:r>
            <a:r>
              <a:rPr dirty="0" sz="1800" spc="-25">
                <a:solidFill>
                  <a:srgbClr val="333333"/>
                </a:solidFill>
                <a:latin typeface="Microsoft JhengHei"/>
                <a:cs typeface="Microsoft JhengHei"/>
              </a:rPr>
              <a:t>：</a:t>
            </a:r>
            <a:endParaRPr sz="1800">
              <a:latin typeface="Microsoft JhengHei"/>
              <a:cs typeface="Microsoft JhengHei"/>
            </a:endParaRPr>
          </a:p>
          <a:p>
            <a:pPr marL="469900" marR="64135">
              <a:lnSpc>
                <a:spcPct val="150000"/>
              </a:lnSpc>
              <a:spcBef>
                <a:spcPts val="95"/>
              </a:spcBef>
            </a:pPr>
            <a:r>
              <a:rPr dirty="0" sz="1800" spc="-5">
                <a:latin typeface="Microsoft JhengHei"/>
                <a:cs typeface="Microsoft JhengHei"/>
              </a:rPr>
              <a:t>進入台灣市場的策略性起點，透過示範門市建立品牌形象與營運模式標準。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第二階段｜北三都拓展（成長階段</a:t>
            </a:r>
            <a:r>
              <a:rPr dirty="0" sz="1800" spc="-25" b="1">
                <a:latin typeface="Microsoft JhengHei"/>
                <a:cs typeface="Microsoft JhengHei"/>
              </a:rPr>
              <a:t>）</a:t>
            </a:r>
            <a:r>
              <a:rPr dirty="0" sz="1800" spc="-25">
                <a:solidFill>
                  <a:srgbClr val="333333"/>
                </a:solidFill>
                <a:latin typeface="Microsoft JhengHei"/>
                <a:cs typeface="Microsoft JhengHei"/>
              </a:rPr>
              <a:t>：</a:t>
            </a:r>
            <a:endParaRPr sz="1800">
              <a:latin typeface="Microsoft JhengHei"/>
              <a:cs typeface="Microsoft JhengHei"/>
            </a:endParaRPr>
          </a:p>
          <a:p>
            <a:pPr marL="469900" marR="64135">
              <a:lnSpc>
                <a:spcPct val="150000"/>
              </a:lnSpc>
            </a:pPr>
            <a:r>
              <a:rPr dirty="0" sz="1800" spc="-5">
                <a:latin typeface="Microsoft JhengHei"/>
                <a:cs typeface="Microsoft JhengHei"/>
              </a:rPr>
              <a:t>快速提升品牌能見度與市場佔有率，擴大營</a:t>
            </a:r>
            <a:r>
              <a:rPr dirty="0" sz="1800" spc="-15">
                <a:latin typeface="Microsoft JhengHei"/>
                <a:cs typeface="Microsoft JhengHei"/>
              </a:rPr>
              <a:t>運版圖。</a:t>
            </a:r>
            <a:endParaRPr sz="1800">
              <a:latin typeface="Microsoft JhengHei"/>
              <a:cs typeface="Microsoft JhengHei"/>
            </a:endParaRPr>
          </a:p>
          <a:p>
            <a:pPr algn="just" marL="299085" marR="5080" indent="-286385">
              <a:lnSpc>
                <a:spcPct val="15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1800" b="1">
                <a:latin typeface="Microsoft JhengHei"/>
                <a:cs typeface="Microsoft JhengHei"/>
              </a:rPr>
              <a:t>第三階段｜南二都佈局（全市場覆蓋階段</a:t>
            </a:r>
            <a:r>
              <a:rPr dirty="0" sz="1800" spc="-25" b="1">
                <a:latin typeface="Microsoft JhengHei"/>
                <a:cs typeface="Microsoft JhengHei"/>
              </a:rPr>
              <a:t>）</a:t>
            </a:r>
            <a:r>
              <a:rPr dirty="0" sz="1800" spc="-25">
                <a:solidFill>
                  <a:srgbClr val="333333"/>
                </a:solidFill>
                <a:latin typeface="Microsoft JhengHei"/>
                <a:cs typeface="Microsoft JhengHei"/>
              </a:rPr>
              <a:t>：</a:t>
            </a:r>
            <a:r>
              <a:rPr dirty="0" sz="1800" spc="-25">
                <a:solidFill>
                  <a:srgbClr val="333333"/>
                </a:solidFill>
                <a:latin typeface="Microsoft JhengHei"/>
                <a:cs typeface="Microsoft JhengHei"/>
              </a:rPr>
              <a:t>	</a:t>
            </a:r>
            <a:r>
              <a:rPr dirty="0" sz="1800" spc="-5">
                <a:latin typeface="Microsoft JhengHei"/>
                <a:cs typeface="Microsoft JhengHei"/>
              </a:rPr>
              <a:t>完成全台主要市場的策略性佈局，實現南北</a:t>
            </a:r>
            <a:r>
              <a:rPr dirty="0" sz="1800" spc="-5">
                <a:latin typeface="Microsoft JhengHei"/>
                <a:cs typeface="Microsoft JhengHei"/>
              </a:rPr>
              <a:t>	</a:t>
            </a:r>
            <a:r>
              <a:rPr dirty="0" sz="1800" spc="-10">
                <a:latin typeface="Microsoft JhengHei"/>
                <a:cs typeface="Microsoft JhengHei"/>
              </a:rPr>
              <a:t>市場串聯。</a:t>
            </a:r>
            <a:endParaRPr sz="1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3683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現有通路合作基礎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71" y="1239773"/>
            <a:ext cx="3755390" cy="941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D6C00"/>
                </a:solidFill>
                <a:latin typeface="Microsoft JhengHei"/>
                <a:cs typeface="Microsoft JhengHei"/>
              </a:rPr>
              <a:t>通路合作經驗：策略性結盟</a:t>
            </a:r>
            <a:endParaRPr sz="2400">
              <a:latin typeface="Microsoft JhengHei"/>
              <a:cs typeface="Microsoft JhengHei"/>
            </a:endParaRPr>
          </a:p>
          <a:p>
            <a:pPr marL="636905" indent="-286385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636905" algn="l"/>
              </a:tabLst>
            </a:pPr>
            <a:r>
              <a:rPr dirty="0" sz="1800" spc="-190">
                <a:solidFill>
                  <a:srgbClr val="333333"/>
                </a:solidFill>
                <a:latin typeface="Microsoft JhengHei"/>
                <a:cs typeface="Microsoft JhengHei"/>
              </a:rPr>
              <a:t>已上架通路：全國電子、家樂福。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7408" y="2340864"/>
            <a:ext cx="5763895" cy="4005579"/>
            <a:chOff x="597408" y="2340864"/>
            <a:chExt cx="5763895" cy="4005579"/>
          </a:xfrm>
        </p:grpSpPr>
        <p:pic>
          <p:nvPicPr>
            <p:cNvPr id="5" name="object 5" descr="C:\Users\C0367\AppData\Local\Temp\企业微信截图_17543675728974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8" y="2340864"/>
              <a:ext cx="5763768" cy="4005072"/>
            </a:xfrm>
            <a:prstGeom prst="rect">
              <a:avLst/>
            </a:prstGeom>
          </p:spPr>
        </p:pic>
        <p:pic>
          <p:nvPicPr>
            <p:cNvPr id="6" name="object 6" descr="C:\Users\C0367\AppData\Local\Temp\企业微信截图_17543675728974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111" y="2535504"/>
              <a:ext cx="5176139" cy="341807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483477" y="1379855"/>
            <a:ext cx="4411345" cy="106172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85">
                <a:solidFill>
                  <a:srgbClr val="333333"/>
                </a:solidFill>
                <a:latin typeface="Microsoft JhengHei"/>
                <a:cs typeface="Microsoft JhengHei"/>
              </a:rPr>
              <a:t>門市端展示空桶，吸引用戶詢問。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200">
                <a:solidFill>
                  <a:srgbClr val="333333"/>
                </a:solidFill>
                <a:latin typeface="Microsoft JhengHei"/>
                <a:cs typeface="Microsoft JhengHei"/>
              </a:rPr>
              <a:t>中區門市下單購買→旺來進行首配安檢及配送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75">
                <a:solidFill>
                  <a:srgbClr val="333333"/>
                </a:solidFill>
                <a:latin typeface="Microsoft JhengHei"/>
                <a:cs typeface="Microsoft JhengHei"/>
              </a:rPr>
              <a:t>減少門市庫存風險，提升坪效利用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95644" y="2342388"/>
            <a:ext cx="5454650" cy="4006850"/>
            <a:chOff x="6295644" y="2342388"/>
            <a:chExt cx="5454650" cy="4006850"/>
          </a:xfrm>
        </p:grpSpPr>
        <p:pic>
          <p:nvPicPr>
            <p:cNvPr id="9" name="object 9" descr="C:\Users\C0367\Desktop\全國電子巡店計劃\全國電子巡店照片\全國_沙鹿體驗館.jp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5644" y="2342388"/>
              <a:ext cx="3057144" cy="4006596"/>
            </a:xfrm>
            <a:prstGeom prst="rect">
              <a:avLst/>
            </a:prstGeom>
          </p:spPr>
        </p:pic>
        <p:pic>
          <p:nvPicPr>
            <p:cNvPr id="10" name="object 10" descr="C:\Users\C0367\Desktop\全國電子巡店計劃\全國電子巡店照片\全國_沙鹿體驗館.jp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0970" y="2537447"/>
              <a:ext cx="2468879" cy="3418078"/>
            </a:xfrm>
            <a:prstGeom prst="rect">
              <a:avLst/>
            </a:prstGeom>
          </p:spPr>
        </p:pic>
        <p:pic>
          <p:nvPicPr>
            <p:cNvPr id="11" name="object 11" descr="C:\Users\C0367\Desktop\356991.jp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4523" y="2342388"/>
              <a:ext cx="2985516" cy="4003548"/>
            </a:xfrm>
            <a:prstGeom prst="rect">
              <a:avLst/>
            </a:prstGeom>
          </p:spPr>
        </p:pic>
        <p:pic>
          <p:nvPicPr>
            <p:cNvPr id="12" name="object 12" descr="C:\Users\C0367\Desktop\356991.jp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9850" y="2537536"/>
              <a:ext cx="2396998" cy="3416046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79509" y="1901965"/>
            <a:ext cx="4212590" cy="4212590"/>
            <a:chOff x="5079509" y="1901965"/>
            <a:chExt cx="4212590" cy="4212590"/>
          </a:xfrm>
        </p:grpSpPr>
        <p:pic>
          <p:nvPicPr>
            <p:cNvPr id="3" name="object 3" descr="C:\Users\C0367\Desktop\bd9bc8a9-2cea-4bec-8664-66160a2e3b8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9509" y="1901965"/>
              <a:ext cx="4212309" cy="4212309"/>
            </a:xfrm>
            <a:prstGeom prst="rect">
              <a:avLst/>
            </a:prstGeom>
          </p:spPr>
        </p:pic>
        <p:pic>
          <p:nvPicPr>
            <p:cNvPr id="4" name="object 4" descr="C:\Users\C0367\Desktop\bd9bc8a9-2cea-4bec-8664-66160a2e3b85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4271" y="2061057"/>
              <a:ext cx="3696843" cy="369684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85927" y="1315973"/>
            <a:ext cx="4360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D6C00"/>
                </a:solidFill>
                <a:latin typeface="Microsoft JhengHei"/>
                <a:cs typeface="Microsoft JhengHei"/>
              </a:rPr>
              <a:t>7-11</a:t>
            </a:r>
            <a:r>
              <a:rPr dirty="0" sz="2400" spc="-5" b="1">
                <a:solidFill>
                  <a:srgbClr val="FD6C00"/>
                </a:solidFill>
                <a:latin typeface="Microsoft JhengHei"/>
                <a:cs typeface="Microsoft JhengHei"/>
              </a:rPr>
              <a:t>通路合作展望：策略性結盟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671" y="1931289"/>
            <a:ext cx="4729480" cy="334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249554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5">
                <a:solidFill>
                  <a:srgbClr val="333333"/>
                </a:solidFill>
                <a:latin typeface="Microsoft JhengHei"/>
                <a:cs typeface="Microsoft JhengHei"/>
              </a:rPr>
              <a:t>爭取</a:t>
            </a:r>
            <a:r>
              <a:rPr dirty="0" sz="1800" spc="-180">
                <a:solidFill>
                  <a:srgbClr val="333333"/>
                </a:solidFill>
                <a:latin typeface="Microsoft JhengHei"/>
                <a:cs typeface="Microsoft JhengHei"/>
              </a:rPr>
              <a:t>7-11</a:t>
            </a:r>
            <a:r>
              <a:rPr dirty="0" sz="1800" spc="-190">
                <a:solidFill>
                  <a:srgbClr val="333333"/>
                </a:solidFill>
                <a:latin typeface="Microsoft JhengHei"/>
                <a:cs typeface="Microsoft JhengHei"/>
              </a:rPr>
              <a:t>上架：和</a:t>
            </a:r>
            <a:r>
              <a:rPr dirty="0" sz="1800" spc="-204">
                <a:solidFill>
                  <a:srgbClr val="333333"/>
                </a:solidFill>
                <a:latin typeface="Microsoft JhengHei"/>
                <a:cs typeface="Microsoft JhengHei"/>
              </a:rPr>
              <a:t>7-</a:t>
            </a:r>
            <a:r>
              <a:rPr dirty="0" sz="1800" spc="-10">
                <a:solidFill>
                  <a:srgbClr val="333333"/>
                </a:solidFill>
                <a:latin typeface="Microsoft JhengHei"/>
                <a:cs typeface="Microsoft JhengHei"/>
              </a:rPr>
              <a:t>11</a:t>
            </a:r>
            <a:r>
              <a:rPr dirty="0" sz="1800" spc="-175">
                <a:solidFill>
                  <a:srgbClr val="333333"/>
                </a:solidFill>
                <a:latin typeface="Microsoft JhengHei"/>
                <a:cs typeface="Microsoft JhengHei"/>
              </a:rPr>
              <a:t>的合作，將進一步擴大</a:t>
            </a:r>
            <a:r>
              <a:rPr dirty="0" sz="1800" spc="-165">
                <a:solidFill>
                  <a:srgbClr val="333333"/>
                </a:solidFill>
                <a:latin typeface="Microsoft JhengHei"/>
                <a:cs typeface="Microsoft JhengHei"/>
              </a:rPr>
              <a:t>市場覆蓋率。</a:t>
            </a:r>
            <a:endParaRPr sz="1800">
              <a:latin typeface="Microsoft JhengHei"/>
              <a:cs typeface="Microsoft JhengHei"/>
            </a:endParaRPr>
          </a:p>
          <a:p>
            <a:pPr marL="299085" marR="633730" indent="-287020">
              <a:lnSpc>
                <a:spcPct val="150100"/>
              </a:lnSpc>
              <a:spcBef>
                <a:spcPts val="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5">
                <a:latin typeface="Microsoft JhengHei"/>
                <a:cs typeface="Microsoft JhengHei"/>
              </a:rPr>
              <a:t>截至</a:t>
            </a:r>
            <a:r>
              <a:rPr dirty="0" sz="1800">
                <a:latin typeface="Microsoft JhengHei"/>
                <a:cs typeface="Microsoft JhengHei"/>
              </a:rPr>
              <a:t>2025</a:t>
            </a:r>
            <a:r>
              <a:rPr dirty="0" sz="1800" spc="-35">
                <a:latin typeface="Microsoft JhengHei"/>
                <a:cs typeface="Microsoft JhengHei"/>
              </a:rPr>
              <a:t>年上半年度， </a:t>
            </a:r>
            <a:r>
              <a:rPr dirty="0" sz="1800" spc="-200">
                <a:solidFill>
                  <a:srgbClr val="333333"/>
                </a:solidFill>
                <a:latin typeface="Microsoft JhengHei"/>
                <a:cs typeface="Microsoft JhengHei"/>
              </a:rPr>
              <a:t>7-</a:t>
            </a:r>
            <a:r>
              <a:rPr dirty="0" sz="1800">
                <a:solidFill>
                  <a:srgbClr val="333333"/>
                </a:solidFill>
                <a:latin typeface="Microsoft JhengHei"/>
                <a:cs typeface="Microsoft JhengHei"/>
              </a:rPr>
              <a:t>11</a:t>
            </a:r>
            <a:r>
              <a:rPr dirty="0" sz="1800" spc="-15">
                <a:latin typeface="Microsoft JhengHei"/>
                <a:cs typeface="Microsoft JhengHei"/>
              </a:rPr>
              <a:t>店數約為</a:t>
            </a:r>
            <a:r>
              <a:rPr dirty="0" sz="1800" spc="-50">
                <a:latin typeface="Microsoft JhengHei"/>
                <a:cs typeface="Microsoft JhengHei"/>
              </a:rPr>
              <a:t> </a:t>
            </a:r>
            <a:r>
              <a:rPr dirty="0" sz="1800" spc="-10">
                <a:latin typeface="Microsoft JhengHei"/>
                <a:cs typeface="Microsoft JhengHei"/>
              </a:rPr>
              <a:t>7,151家，基於六都佔全台門市比例約</a:t>
            </a:r>
            <a:endParaRPr sz="1800">
              <a:latin typeface="Microsoft JhengHei"/>
              <a:cs typeface="Microsoft JhengHei"/>
            </a:endParaRPr>
          </a:p>
          <a:p>
            <a:pPr marL="299085" marR="294005">
              <a:lnSpc>
                <a:spcPct val="150000"/>
              </a:lnSpc>
            </a:pPr>
            <a:r>
              <a:rPr dirty="0" sz="1800" spc="-10">
                <a:latin typeface="Microsoft JhengHei"/>
                <a:cs typeface="Microsoft JhengHei"/>
              </a:rPr>
              <a:t>73</a:t>
            </a:r>
            <a:r>
              <a:rPr dirty="0" sz="1800" spc="-15">
                <a:latin typeface="Microsoft JhengHei"/>
                <a:cs typeface="Microsoft JhengHei"/>
              </a:rPr>
              <a:t>%。其餘門市數量分配，則參考各市人</a:t>
            </a:r>
            <a:r>
              <a:rPr dirty="0" sz="1800" spc="-10">
                <a:latin typeface="Microsoft JhengHei"/>
                <a:cs typeface="Microsoft JhengHei"/>
              </a:rPr>
              <a:t>口與門市密度比例推估。</a:t>
            </a:r>
            <a:endParaRPr sz="1800">
              <a:latin typeface="Microsoft JhengHei"/>
              <a:cs typeface="Microsoft JhengHei"/>
            </a:endParaRPr>
          </a:p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合計（六都</a:t>
            </a:r>
            <a:r>
              <a:rPr dirty="0" sz="1800" spc="-10" b="1">
                <a:latin typeface="Microsoft JhengHei"/>
                <a:cs typeface="Microsoft JhengHei"/>
              </a:rPr>
              <a:t>）</a:t>
            </a:r>
            <a:r>
              <a:rPr dirty="0" sz="1800" spc="-15">
                <a:latin typeface="Microsoft JhengHei"/>
                <a:cs typeface="Microsoft JhengHei"/>
              </a:rPr>
              <a:t>：約 </a:t>
            </a:r>
            <a:r>
              <a:rPr dirty="0" sz="1800">
                <a:latin typeface="Microsoft JhengHei"/>
                <a:cs typeface="Microsoft JhengHei"/>
              </a:rPr>
              <a:t>5,225</a:t>
            </a:r>
            <a:r>
              <a:rPr dirty="0" sz="1800" spc="-20">
                <a:latin typeface="Microsoft JhengHei"/>
                <a:cs typeface="Microsoft JhengHei"/>
              </a:rPr>
              <a:t> 家</a:t>
            </a:r>
            <a:r>
              <a:rPr dirty="0" sz="1800">
                <a:latin typeface="Microsoft JhengHei"/>
                <a:cs typeface="Microsoft JhengHei"/>
              </a:rPr>
              <a:t>（</a:t>
            </a:r>
            <a:r>
              <a:rPr dirty="0" sz="1800" spc="-10">
                <a:latin typeface="Microsoft JhengHei"/>
                <a:cs typeface="Microsoft JhengHei"/>
              </a:rPr>
              <a:t>佔全台 </a:t>
            </a:r>
            <a:r>
              <a:rPr dirty="0" sz="1800" spc="-20">
                <a:latin typeface="Microsoft JhengHei"/>
                <a:cs typeface="Microsoft JhengHei"/>
              </a:rPr>
              <a:t>73%）</a:t>
            </a:r>
            <a:r>
              <a:rPr dirty="0" sz="1800" spc="-5" b="1">
                <a:latin typeface="Microsoft JhengHei"/>
                <a:cs typeface="Microsoft JhengHei"/>
              </a:rPr>
              <a:t>非六都</a:t>
            </a:r>
            <a:r>
              <a:rPr dirty="0" sz="1800" spc="-5">
                <a:latin typeface="Microsoft JhengHei"/>
                <a:cs typeface="Microsoft JhengHei"/>
              </a:rPr>
              <a:t>：約 </a:t>
            </a:r>
            <a:r>
              <a:rPr dirty="0" sz="1800">
                <a:latin typeface="Microsoft JhengHei"/>
                <a:cs typeface="Microsoft JhengHei"/>
              </a:rPr>
              <a:t>1,926</a:t>
            </a:r>
            <a:r>
              <a:rPr dirty="0" sz="1800" spc="-15">
                <a:latin typeface="Microsoft JhengHei"/>
                <a:cs typeface="Microsoft JhengHei"/>
              </a:rPr>
              <a:t> 家</a:t>
            </a:r>
            <a:r>
              <a:rPr dirty="0" sz="1800">
                <a:latin typeface="Microsoft JhengHei"/>
                <a:cs typeface="Microsoft JhengHei"/>
              </a:rPr>
              <a:t>（</a:t>
            </a:r>
            <a:r>
              <a:rPr dirty="0" sz="1800" spc="-5">
                <a:latin typeface="Microsoft JhengHei"/>
                <a:cs typeface="Microsoft JhengHei"/>
              </a:rPr>
              <a:t>佔全台 </a:t>
            </a:r>
            <a:r>
              <a:rPr dirty="0" sz="1800" spc="-20">
                <a:latin typeface="Microsoft JhengHei"/>
                <a:cs typeface="Microsoft JhengHei"/>
              </a:rPr>
              <a:t>27%）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38199" y="1947005"/>
            <a:ext cx="1500505" cy="471805"/>
            <a:chOff x="10238199" y="1947005"/>
            <a:chExt cx="1500505" cy="471805"/>
          </a:xfrm>
        </p:grpSpPr>
        <p:sp>
          <p:nvSpPr>
            <p:cNvPr id="8" name="object 8"/>
            <p:cNvSpPr/>
            <p:nvPr/>
          </p:nvSpPr>
          <p:spPr>
            <a:xfrm>
              <a:off x="10245343" y="19541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485900" y="342900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371600" y="457200"/>
                  </a:lnTo>
                  <a:lnTo>
                    <a:pt x="1371600" y="342900"/>
                  </a:lnTo>
                  <a:close/>
                </a:path>
                <a:path w="1485900" h="457200">
                  <a:moveTo>
                    <a:pt x="1485900" y="342900"/>
                  </a:moveTo>
                  <a:lnTo>
                    <a:pt x="1371600" y="342900"/>
                  </a:lnTo>
                  <a:lnTo>
                    <a:pt x="1371600" y="457200"/>
                  </a:lnTo>
                  <a:lnTo>
                    <a:pt x="1428750" y="457200"/>
                  </a:lnTo>
                  <a:lnTo>
                    <a:pt x="1450967" y="452699"/>
                  </a:lnTo>
                  <a:lnTo>
                    <a:pt x="1469135" y="440436"/>
                  </a:lnTo>
                  <a:lnTo>
                    <a:pt x="1481399" y="422267"/>
                  </a:lnTo>
                  <a:lnTo>
                    <a:pt x="1485900" y="400050"/>
                  </a:lnTo>
                  <a:lnTo>
                    <a:pt x="1485900" y="342900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245343" y="19541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900"/>
                  </a:lnTo>
                </a:path>
                <a:path w="1485900" h="342900">
                  <a:moveTo>
                    <a:pt x="0" y="342900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8199" y="2294667"/>
              <a:ext cx="123825" cy="1238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4562" y="1947005"/>
              <a:ext cx="123825" cy="123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359643" y="241134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14562" y="2294667"/>
              <a:ext cx="123825" cy="12382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209499" y="1947005"/>
            <a:ext cx="929005" cy="3900804"/>
            <a:chOff x="9209499" y="1947005"/>
            <a:chExt cx="929005" cy="3900804"/>
          </a:xfrm>
        </p:grpSpPr>
        <p:sp>
          <p:nvSpPr>
            <p:cNvPr id="15" name="object 15"/>
            <p:cNvSpPr/>
            <p:nvPr/>
          </p:nvSpPr>
          <p:spPr>
            <a:xfrm>
              <a:off x="9216643" y="19541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914400" y="342900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00100" y="342900"/>
                  </a:lnTo>
                  <a:close/>
                </a:path>
                <a:path w="914400" h="457200">
                  <a:moveTo>
                    <a:pt x="914400" y="342900"/>
                  </a:moveTo>
                  <a:lnTo>
                    <a:pt x="800100" y="342900"/>
                  </a:lnTo>
                  <a:lnTo>
                    <a:pt x="800100" y="457200"/>
                  </a:lnTo>
                  <a:lnTo>
                    <a:pt x="857250" y="457200"/>
                  </a:lnTo>
                  <a:lnTo>
                    <a:pt x="879467" y="452699"/>
                  </a:lnTo>
                  <a:lnTo>
                    <a:pt x="897635" y="440436"/>
                  </a:lnTo>
                  <a:lnTo>
                    <a:pt x="909899" y="422267"/>
                  </a:lnTo>
                  <a:lnTo>
                    <a:pt x="914400" y="400050"/>
                  </a:lnTo>
                  <a:lnTo>
                    <a:pt x="914400" y="342900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216643" y="19541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900"/>
                  </a:lnTo>
                </a:path>
                <a:path w="914400" h="342900">
                  <a:moveTo>
                    <a:pt x="0" y="342900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09499" y="2294667"/>
              <a:ext cx="123825" cy="1238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14362" y="1947005"/>
              <a:ext cx="123825" cy="1238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30943" y="241134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14362" y="2294667"/>
              <a:ext cx="123825" cy="1238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216643" y="25256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914400" y="342900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00100" y="342900"/>
                  </a:lnTo>
                  <a:close/>
                </a:path>
                <a:path w="914400" h="457200">
                  <a:moveTo>
                    <a:pt x="914400" y="342900"/>
                  </a:moveTo>
                  <a:lnTo>
                    <a:pt x="800100" y="342900"/>
                  </a:lnTo>
                  <a:lnTo>
                    <a:pt x="800100" y="457200"/>
                  </a:lnTo>
                  <a:lnTo>
                    <a:pt x="857250" y="457200"/>
                  </a:lnTo>
                  <a:lnTo>
                    <a:pt x="879467" y="452699"/>
                  </a:lnTo>
                  <a:lnTo>
                    <a:pt x="897635" y="440436"/>
                  </a:lnTo>
                  <a:lnTo>
                    <a:pt x="909899" y="422267"/>
                  </a:lnTo>
                  <a:lnTo>
                    <a:pt x="914400" y="400050"/>
                  </a:lnTo>
                  <a:lnTo>
                    <a:pt x="914400" y="342900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DFCA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216643" y="25256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900"/>
                  </a:lnTo>
                </a:path>
                <a:path w="914400" h="342900">
                  <a:moveTo>
                    <a:pt x="0" y="342900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9499" y="2866167"/>
              <a:ext cx="123825" cy="1238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14362" y="2518505"/>
              <a:ext cx="123825" cy="12382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330943" y="298284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14362" y="2866167"/>
              <a:ext cx="123825" cy="1238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216643" y="30971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914400" y="342900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00100" y="342900"/>
                  </a:lnTo>
                  <a:close/>
                </a:path>
                <a:path w="914400" h="457200">
                  <a:moveTo>
                    <a:pt x="914400" y="342900"/>
                  </a:moveTo>
                  <a:lnTo>
                    <a:pt x="800100" y="342900"/>
                  </a:lnTo>
                  <a:lnTo>
                    <a:pt x="800100" y="457200"/>
                  </a:lnTo>
                  <a:lnTo>
                    <a:pt x="857250" y="457200"/>
                  </a:lnTo>
                  <a:lnTo>
                    <a:pt x="879467" y="452699"/>
                  </a:lnTo>
                  <a:lnTo>
                    <a:pt x="897635" y="440436"/>
                  </a:lnTo>
                  <a:lnTo>
                    <a:pt x="909899" y="422267"/>
                  </a:lnTo>
                  <a:lnTo>
                    <a:pt x="914400" y="400050"/>
                  </a:lnTo>
                  <a:lnTo>
                    <a:pt x="914400" y="342900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DE8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216643" y="30971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900"/>
                  </a:lnTo>
                </a:path>
                <a:path w="914400" h="342900">
                  <a:moveTo>
                    <a:pt x="0" y="342900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09499" y="3437667"/>
              <a:ext cx="123825" cy="1238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14362" y="3090005"/>
              <a:ext cx="123825" cy="1238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330943" y="355434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14362" y="3437667"/>
              <a:ext cx="123825" cy="1238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216643" y="36686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914400" y="342900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00100" y="342900"/>
                  </a:lnTo>
                  <a:close/>
                </a:path>
                <a:path w="914400" h="457200">
                  <a:moveTo>
                    <a:pt x="914400" y="342900"/>
                  </a:moveTo>
                  <a:lnTo>
                    <a:pt x="800100" y="342900"/>
                  </a:lnTo>
                  <a:lnTo>
                    <a:pt x="800100" y="457200"/>
                  </a:lnTo>
                  <a:lnTo>
                    <a:pt x="857250" y="457200"/>
                  </a:lnTo>
                  <a:lnTo>
                    <a:pt x="879467" y="452699"/>
                  </a:lnTo>
                  <a:lnTo>
                    <a:pt x="897635" y="440436"/>
                  </a:lnTo>
                  <a:lnTo>
                    <a:pt x="909899" y="422267"/>
                  </a:lnTo>
                  <a:lnTo>
                    <a:pt x="914400" y="400050"/>
                  </a:lnTo>
                  <a:lnTo>
                    <a:pt x="914400" y="342900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456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216643" y="36686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900"/>
                  </a:lnTo>
                </a:path>
                <a:path w="914400" h="342900">
                  <a:moveTo>
                    <a:pt x="0" y="342900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09499" y="4009167"/>
              <a:ext cx="123825" cy="1238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14362" y="3661505"/>
              <a:ext cx="123825" cy="12382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30943" y="412584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14362" y="4009167"/>
              <a:ext cx="123825" cy="1238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216643" y="42401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914400" y="342900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00100" y="342900"/>
                  </a:lnTo>
                  <a:close/>
                </a:path>
                <a:path w="914400" h="457200">
                  <a:moveTo>
                    <a:pt x="914400" y="342900"/>
                  </a:moveTo>
                  <a:lnTo>
                    <a:pt x="800100" y="342900"/>
                  </a:lnTo>
                  <a:lnTo>
                    <a:pt x="800100" y="457200"/>
                  </a:lnTo>
                  <a:lnTo>
                    <a:pt x="857250" y="457200"/>
                  </a:lnTo>
                  <a:lnTo>
                    <a:pt x="879467" y="452699"/>
                  </a:lnTo>
                  <a:lnTo>
                    <a:pt x="897635" y="440436"/>
                  </a:lnTo>
                  <a:lnTo>
                    <a:pt x="909899" y="422267"/>
                  </a:lnTo>
                  <a:lnTo>
                    <a:pt x="914400" y="400050"/>
                  </a:lnTo>
                  <a:lnTo>
                    <a:pt x="914400" y="342900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DE57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216643" y="42401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900"/>
                  </a:lnTo>
                </a:path>
                <a:path w="914400" h="342900">
                  <a:moveTo>
                    <a:pt x="0" y="342900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09499" y="4580667"/>
              <a:ext cx="123825" cy="1238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014362" y="4233005"/>
              <a:ext cx="123825" cy="12382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330943" y="469734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14362" y="4580667"/>
              <a:ext cx="123825" cy="12382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216643" y="48116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914400" y="342900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00100" y="342900"/>
                  </a:lnTo>
                  <a:close/>
                </a:path>
                <a:path w="914400" h="457200">
                  <a:moveTo>
                    <a:pt x="914400" y="342900"/>
                  </a:moveTo>
                  <a:lnTo>
                    <a:pt x="800100" y="342900"/>
                  </a:lnTo>
                  <a:lnTo>
                    <a:pt x="800100" y="457200"/>
                  </a:lnTo>
                  <a:lnTo>
                    <a:pt x="857250" y="457200"/>
                  </a:lnTo>
                  <a:lnTo>
                    <a:pt x="879467" y="452699"/>
                  </a:lnTo>
                  <a:lnTo>
                    <a:pt x="897635" y="440436"/>
                  </a:lnTo>
                  <a:lnTo>
                    <a:pt x="909899" y="422267"/>
                  </a:lnTo>
                  <a:lnTo>
                    <a:pt x="914400" y="400050"/>
                  </a:lnTo>
                  <a:lnTo>
                    <a:pt x="914400" y="342900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B95D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216643" y="48116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900"/>
                  </a:lnTo>
                </a:path>
                <a:path w="914400" h="342900">
                  <a:moveTo>
                    <a:pt x="0" y="342900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09499" y="5152167"/>
              <a:ext cx="123825" cy="12382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14362" y="4804505"/>
              <a:ext cx="123825" cy="12382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9330943" y="526884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014362" y="5152167"/>
              <a:ext cx="123825" cy="12382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216643" y="538314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399999"/>
                  </a:lnTo>
                  <a:lnTo>
                    <a:pt x="4482" y="422243"/>
                  </a:lnTo>
                  <a:lnTo>
                    <a:pt x="16716" y="440409"/>
                  </a:lnTo>
                  <a:lnTo>
                    <a:pt x="34879" y="452657"/>
                  </a:lnTo>
                  <a:lnTo>
                    <a:pt x="57150" y="457149"/>
                  </a:lnTo>
                  <a:lnTo>
                    <a:pt x="114300" y="457149"/>
                  </a:lnTo>
                  <a:lnTo>
                    <a:pt x="114300" y="342849"/>
                  </a:lnTo>
                  <a:lnTo>
                    <a:pt x="914400" y="342849"/>
                  </a:lnTo>
                  <a:lnTo>
                    <a:pt x="9144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914400" h="457200">
                  <a:moveTo>
                    <a:pt x="800100" y="342849"/>
                  </a:moveTo>
                  <a:lnTo>
                    <a:pt x="114300" y="342849"/>
                  </a:lnTo>
                  <a:lnTo>
                    <a:pt x="114300" y="457149"/>
                  </a:lnTo>
                  <a:lnTo>
                    <a:pt x="800100" y="457149"/>
                  </a:lnTo>
                  <a:lnTo>
                    <a:pt x="800100" y="342849"/>
                  </a:lnTo>
                  <a:close/>
                </a:path>
                <a:path w="914400" h="457200">
                  <a:moveTo>
                    <a:pt x="914400" y="342849"/>
                  </a:moveTo>
                  <a:lnTo>
                    <a:pt x="800100" y="342849"/>
                  </a:lnTo>
                  <a:lnTo>
                    <a:pt x="800100" y="457149"/>
                  </a:lnTo>
                  <a:lnTo>
                    <a:pt x="857250" y="457149"/>
                  </a:lnTo>
                  <a:lnTo>
                    <a:pt x="879467" y="452657"/>
                  </a:lnTo>
                  <a:lnTo>
                    <a:pt x="897635" y="440409"/>
                  </a:lnTo>
                  <a:lnTo>
                    <a:pt x="909899" y="422243"/>
                  </a:lnTo>
                  <a:lnTo>
                    <a:pt x="914400" y="399999"/>
                  </a:lnTo>
                  <a:lnTo>
                    <a:pt x="914400" y="342849"/>
                  </a:lnTo>
                  <a:close/>
                </a:path>
                <a:path w="914400" h="457200">
                  <a:moveTo>
                    <a:pt x="8001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800100" y="114300"/>
                  </a:lnTo>
                  <a:lnTo>
                    <a:pt x="800100" y="0"/>
                  </a:lnTo>
                  <a:close/>
                </a:path>
                <a:path w="914400" h="457200">
                  <a:moveTo>
                    <a:pt x="857250" y="0"/>
                  </a:moveTo>
                  <a:lnTo>
                    <a:pt x="800100" y="0"/>
                  </a:lnTo>
                  <a:lnTo>
                    <a:pt x="800100" y="114300"/>
                  </a:lnTo>
                  <a:lnTo>
                    <a:pt x="914400" y="114300"/>
                  </a:lnTo>
                  <a:lnTo>
                    <a:pt x="914400" y="57150"/>
                  </a:lnTo>
                  <a:lnTo>
                    <a:pt x="909899" y="34879"/>
                  </a:lnTo>
                  <a:lnTo>
                    <a:pt x="897635" y="16716"/>
                  </a:lnTo>
                  <a:lnTo>
                    <a:pt x="879467" y="4482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7E6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216643" y="5383148"/>
              <a:ext cx="914400" cy="342900"/>
            </a:xfrm>
            <a:custGeom>
              <a:avLst/>
              <a:gdLst/>
              <a:ahLst/>
              <a:cxnLst/>
              <a:rect l="l" t="t" r="r" b="b"/>
              <a:pathLst>
                <a:path w="9144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914400" h="342900">
                  <a:moveTo>
                    <a:pt x="914400" y="114300"/>
                  </a:moveTo>
                  <a:lnTo>
                    <a:pt x="914400" y="342849"/>
                  </a:lnTo>
                </a:path>
                <a:path w="914400" h="342900">
                  <a:moveTo>
                    <a:pt x="0" y="342849"/>
                  </a:moveTo>
                  <a:lnTo>
                    <a:pt x="0" y="114300"/>
                  </a:lnTo>
                </a:path>
                <a:path w="914400" h="342900">
                  <a:moveTo>
                    <a:pt x="800100" y="0"/>
                  </a:moveTo>
                  <a:lnTo>
                    <a:pt x="1143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09499" y="5723616"/>
              <a:ext cx="123825" cy="12382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014362" y="5376005"/>
              <a:ext cx="123825" cy="12382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330943" y="5840298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014362" y="5723616"/>
              <a:ext cx="123825" cy="123825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10238199" y="2518505"/>
            <a:ext cx="1500505" cy="471805"/>
            <a:chOff x="10238199" y="2518505"/>
            <a:chExt cx="1500505" cy="471805"/>
          </a:xfrm>
        </p:grpSpPr>
        <p:sp>
          <p:nvSpPr>
            <p:cNvPr id="58" name="object 58"/>
            <p:cNvSpPr/>
            <p:nvPr/>
          </p:nvSpPr>
          <p:spPr>
            <a:xfrm>
              <a:off x="10245343" y="25256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485900" y="342900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371600" y="457200"/>
                  </a:lnTo>
                  <a:lnTo>
                    <a:pt x="1371600" y="342900"/>
                  </a:lnTo>
                  <a:close/>
                </a:path>
                <a:path w="1485900" h="457200">
                  <a:moveTo>
                    <a:pt x="1485900" y="342900"/>
                  </a:moveTo>
                  <a:lnTo>
                    <a:pt x="1371600" y="342900"/>
                  </a:lnTo>
                  <a:lnTo>
                    <a:pt x="1371600" y="457200"/>
                  </a:lnTo>
                  <a:lnTo>
                    <a:pt x="1428750" y="457200"/>
                  </a:lnTo>
                  <a:lnTo>
                    <a:pt x="1450967" y="452699"/>
                  </a:lnTo>
                  <a:lnTo>
                    <a:pt x="1469135" y="440436"/>
                  </a:lnTo>
                  <a:lnTo>
                    <a:pt x="1481399" y="422267"/>
                  </a:lnTo>
                  <a:lnTo>
                    <a:pt x="1485900" y="400050"/>
                  </a:lnTo>
                  <a:lnTo>
                    <a:pt x="1485900" y="342900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DFCA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0245343" y="25256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900"/>
                  </a:lnTo>
                </a:path>
                <a:path w="1485900" h="342900">
                  <a:moveTo>
                    <a:pt x="0" y="342900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238199" y="2866167"/>
              <a:ext cx="123825" cy="1238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614562" y="2518505"/>
              <a:ext cx="123825" cy="12382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359643" y="298284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614562" y="2866167"/>
              <a:ext cx="123825" cy="123825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10238199" y="3090005"/>
            <a:ext cx="1500505" cy="471805"/>
            <a:chOff x="10238199" y="3090005"/>
            <a:chExt cx="1500505" cy="471805"/>
          </a:xfrm>
        </p:grpSpPr>
        <p:sp>
          <p:nvSpPr>
            <p:cNvPr id="65" name="object 65"/>
            <p:cNvSpPr/>
            <p:nvPr/>
          </p:nvSpPr>
          <p:spPr>
            <a:xfrm>
              <a:off x="10245343" y="30971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485900" y="342900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371600" y="457200"/>
                  </a:lnTo>
                  <a:lnTo>
                    <a:pt x="1371600" y="342900"/>
                  </a:lnTo>
                  <a:close/>
                </a:path>
                <a:path w="1485900" h="457200">
                  <a:moveTo>
                    <a:pt x="1485900" y="342900"/>
                  </a:moveTo>
                  <a:lnTo>
                    <a:pt x="1371600" y="342900"/>
                  </a:lnTo>
                  <a:lnTo>
                    <a:pt x="1371600" y="457200"/>
                  </a:lnTo>
                  <a:lnTo>
                    <a:pt x="1428750" y="457200"/>
                  </a:lnTo>
                  <a:lnTo>
                    <a:pt x="1450967" y="452699"/>
                  </a:lnTo>
                  <a:lnTo>
                    <a:pt x="1469135" y="440436"/>
                  </a:lnTo>
                  <a:lnTo>
                    <a:pt x="1481399" y="422267"/>
                  </a:lnTo>
                  <a:lnTo>
                    <a:pt x="1485900" y="400050"/>
                  </a:lnTo>
                  <a:lnTo>
                    <a:pt x="1485900" y="342900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DE8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0245343" y="30971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900"/>
                  </a:lnTo>
                </a:path>
                <a:path w="1485900" h="342900">
                  <a:moveTo>
                    <a:pt x="0" y="342900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238199" y="3437667"/>
              <a:ext cx="123825" cy="12382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614562" y="3090005"/>
              <a:ext cx="123825" cy="12382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0359643" y="355434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614562" y="3437667"/>
              <a:ext cx="123825" cy="123825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10238199" y="3661505"/>
            <a:ext cx="1500505" cy="471805"/>
            <a:chOff x="10238199" y="3661505"/>
            <a:chExt cx="1500505" cy="471805"/>
          </a:xfrm>
        </p:grpSpPr>
        <p:sp>
          <p:nvSpPr>
            <p:cNvPr id="72" name="object 72"/>
            <p:cNvSpPr/>
            <p:nvPr/>
          </p:nvSpPr>
          <p:spPr>
            <a:xfrm>
              <a:off x="10245343" y="36686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485900" y="342900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371600" y="457200"/>
                  </a:lnTo>
                  <a:lnTo>
                    <a:pt x="1371600" y="342900"/>
                  </a:lnTo>
                  <a:close/>
                </a:path>
                <a:path w="1485900" h="457200">
                  <a:moveTo>
                    <a:pt x="1485900" y="342900"/>
                  </a:moveTo>
                  <a:lnTo>
                    <a:pt x="1371600" y="342900"/>
                  </a:lnTo>
                  <a:lnTo>
                    <a:pt x="1371600" y="457200"/>
                  </a:lnTo>
                  <a:lnTo>
                    <a:pt x="1428750" y="457200"/>
                  </a:lnTo>
                  <a:lnTo>
                    <a:pt x="1450967" y="452699"/>
                  </a:lnTo>
                  <a:lnTo>
                    <a:pt x="1469135" y="440436"/>
                  </a:lnTo>
                  <a:lnTo>
                    <a:pt x="1481399" y="422267"/>
                  </a:lnTo>
                  <a:lnTo>
                    <a:pt x="1485900" y="400050"/>
                  </a:lnTo>
                  <a:lnTo>
                    <a:pt x="1485900" y="342900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E456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245343" y="36686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900"/>
                  </a:lnTo>
                </a:path>
                <a:path w="1485900" h="342900">
                  <a:moveTo>
                    <a:pt x="0" y="342900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238199" y="4009167"/>
              <a:ext cx="123825" cy="12382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614562" y="3661505"/>
              <a:ext cx="123825" cy="12382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0359643" y="412584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614562" y="4009167"/>
              <a:ext cx="123825" cy="123825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10238199" y="4233005"/>
            <a:ext cx="1500505" cy="471805"/>
            <a:chOff x="10238199" y="4233005"/>
            <a:chExt cx="1500505" cy="471805"/>
          </a:xfrm>
        </p:grpSpPr>
        <p:sp>
          <p:nvSpPr>
            <p:cNvPr id="79" name="object 79"/>
            <p:cNvSpPr/>
            <p:nvPr/>
          </p:nvSpPr>
          <p:spPr>
            <a:xfrm>
              <a:off x="10245343" y="42401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485900" y="342900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371600" y="457200"/>
                  </a:lnTo>
                  <a:lnTo>
                    <a:pt x="1371600" y="342900"/>
                  </a:lnTo>
                  <a:close/>
                </a:path>
                <a:path w="1485900" h="457200">
                  <a:moveTo>
                    <a:pt x="1485900" y="342900"/>
                  </a:moveTo>
                  <a:lnTo>
                    <a:pt x="1371600" y="342900"/>
                  </a:lnTo>
                  <a:lnTo>
                    <a:pt x="1371600" y="457200"/>
                  </a:lnTo>
                  <a:lnTo>
                    <a:pt x="1428750" y="457200"/>
                  </a:lnTo>
                  <a:lnTo>
                    <a:pt x="1450967" y="452699"/>
                  </a:lnTo>
                  <a:lnTo>
                    <a:pt x="1469135" y="440436"/>
                  </a:lnTo>
                  <a:lnTo>
                    <a:pt x="1481399" y="422267"/>
                  </a:lnTo>
                  <a:lnTo>
                    <a:pt x="1485900" y="400050"/>
                  </a:lnTo>
                  <a:lnTo>
                    <a:pt x="1485900" y="342900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DE57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0245343" y="42401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900"/>
                  </a:lnTo>
                </a:path>
                <a:path w="1485900" h="342900">
                  <a:moveTo>
                    <a:pt x="0" y="342900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238199" y="4580667"/>
              <a:ext cx="123825" cy="12382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614562" y="4233005"/>
              <a:ext cx="123825" cy="123825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0359643" y="469734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614562" y="4580667"/>
              <a:ext cx="123825" cy="123825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10238199" y="4804505"/>
            <a:ext cx="1500505" cy="471805"/>
            <a:chOff x="10238199" y="4804505"/>
            <a:chExt cx="1500505" cy="471805"/>
          </a:xfrm>
        </p:grpSpPr>
        <p:sp>
          <p:nvSpPr>
            <p:cNvPr id="86" name="object 86"/>
            <p:cNvSpPr/>
            <p:nvPr/>
          </p:nvSpPr>
          <p:spPr>
            <a:xfrm>
              <a:off x="10245343" y="48116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400050"/>
                  </a:lnTo>
                  <a:lnTo>
                    <a:pt x="4482" y="422267"/>
                  </a:lnTo>
                  <a:lnTo>
                    <a:pt x="16716" y="440436"/>
                  </a:lnTo>
                  <a:lnTo>
                    <a:pt x="34879" y="452699"/>
                  </a:lnTo>
                  <a:lnTo>
                    <a:pt x="57150" y="457200"/>
                  </a:lnTo>
                  <a:lnTo>
                    <a:pt x="114300" y="457200"/>
                  </a:lnTo>
                  <a:lnTo>
                    <a:pt x="114300" y="342900"/>
                  </a:lnTo>
                  <a:lnTo>
                    <a:pt x="1485900" y="342900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900"/>
                  </a:moveTo>
                  <a:lnTo>
                    <a:pt x="114300" y="342900"/>
                  </a:lnTo>
                  <a:lnTo>
                    <a:pt x="114300" y="457200"/>
                  </a:lnTo>
                  <a:lnTo>
                    <a:pt x="1371600" y="457200"/>
                  </a:lnTo>
                  <a:lnTo>
                    <a:pt x="1371600" y="342900"/>
                  </a:lnTo>
                  <a:close/>
                </a:path>
                <a:path w="1485900" h="457200">
                  <a:moveTo>
                    <a:pt x="1485900" y="342900"/>
                  </a:moveTo>
                  <a:lnTo>
                    <a:pt x="1371600" y="342900"/>
                  </a:lnTo>
                  <a:lnTo>
                    <a:pt x="1371600" y="457200"/>
                  </a:lnTo>
                  <a:lnTo>
                    <a:pt x="1428750" y="457200"/>
                  </a:lnTo>
                  <a:lnTo>
                    <a:pt x="1450967" y="452699"/>
                  </a:lnTo>
                  <a:lnTo>
                    <a:pt x="1469135" y="440436"/>
                  </a:lnTo>
                  <a:lnTo>
                    <a:pt x="1481399" y="422267"/>
                  </a:lnTo>
                  <a:lnTo>
                    <a:pt x="1485900" y="400050"/>
                  </a:lnTo>
                  <a:lnTo>
                    <a:pt x="1485900" y="342900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B95D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0245343" y="48116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900"/>
                  </a:lnTo>
                </a:path>
                <a:path w="1485900" h="342900">
                  <a:moveTo>
                    <a:pt x="0" y="342900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238199" y="5152167"/>
              <a:ext cx="123825" cy="12382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614562" y="4804505"/>
              <a:ext cx="123825" cy="12382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0359643" y="526884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614562" y="5152167"/>
              <a:ext cx="123825" cy="123825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10238199" y="5376005"/>
            <a:ext cx="1500505" cy="471805"/>
            <a:chOff x="10238199" y="5376005"/>
            <a:chExt cx="1500505" cy="471805"/>
          </a:xfrm>
        </p:grpSpPr>
        <p:sp>
          <p:nvSpPr>
            <p:cNvPr id="93" name="object 93"/>
            <p:cNvSpPr/>
            <p:nvPr/>
          </p:nvSpPr>
          <p:spPr>
            <a:xfrm>
              <a:off x="10245343" y="5383148"/>
              <a:ext cx="1485900" cy="457200"/>
            </a:xfrm>
            <a:custGeom>
              <a:avLst/>
              <a:gdLst/>
              <a:ahLst/>
              <a:cxnLst/>
              <a:rect l="l" t="t" r="r" b="b"/>
              <a:pathLst>
                <a:path w="1485900" h="457200">
                  <a:moveTo>
                    <a:pt x="114300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399999"/>
                  </a:lnTo>
                  <a:lnTo>
                    <a:pt x="4482" y="422243"/>
                  </a:lnTo>
                  <a:lnTo>
                    <a:pt x="16716" y="440409"/>
                  </a:lnTo>
                  <a:lnTo>
                    <a:pt x="34879" y="452657"/>
                  </a:lnTo>
                  <a:lnTo>
                    <a:pt x="57150" y="457149"/>
                  </a:lnTo>
                  <a:lnTo>
                    <a:pt x="114300" y="457149"/>
                  </a:lnTo>
                  <a:lnTo>
                    <a:pt x="114300" y="342849"/>
                  </a:lnTo>
                  <a:lnTo>
                    <a:pt x="1485900" y="342849"/>
                  </a:lnTo>
                  <a:lnTo>
                    <a:pt x="1485900" y="11430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485900" h="457200">
                  <a:moveTo>
                    <a:pt x="1371600" y="342849"/>
                  </a:moveTo>
                  <a:lnTo>
                    <a:pt x="114300" y="342849"/>
                  </a:lnTo>
                  <a:lnTo>
                    <a:pt x="114300" y="457149"/>
                  </a:lnTo>
                  <a:lnTo>
                    <a:pt x="1371600" y="457149"/>
                  </a:lnTo>
                  <a:lnTo>
                    <a:pt x="1371600" y="342849"/>
                  </a:lnTo>
                  <a:close/>
                </a:path>
                <a:path w="1485900" h="457200">
                  <a:moveTo>
                    <a:pt x="1485900" y="342849"/>
                  </a:moveTo>
                  <a:lnTo>
                    <a:pt x="1371600" y="342849"/>
                  </a:lnTo>
                  <a:lnTo>
                    <a:pt x="1371600" y="457149"/>
                  </a:lnTo>
                  <a:lnTo>
                    <a:pt x="1428750" y="457149"/>
                  </a:lnTo>
                  <a:lnTo>
                    <a:pt x="1450967" y="452657"/>
                  </a:lnTo>
                  <a:lnTo>
                    <a:pt x="1469135" y="440409"/>
                  </a:lnTo>
                  <a:lnTo>
                    <a:pt x="1481399" y="422243"/>
                  </a:lnTo>
                  <a:lnTo>
                    <a:pt x="1485900" y="399999"/>
                  </a:lnTo>
                  <a:lnTo>
                    <a:pt x="1485900" y="342849"/>
                  </a:lnTo>
                  <a:close/>
                </a:path>
                <a:path w="1485900" h="457200">
                  <a:moveTo>
                    <a:pt x="137160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1371600" y="114300"/>
                  </a:lnTo>
                  <a:lnTo>
                    <a:pt x="1371600" y="0"/>
                  </a:lnTo>
                  <a:close/>
                </a:path>
                <a:path w="1485900" h="457200">
                  <a:moveTo>
                    <a:pt x="1428750" y="0"/>
                  </a:moveTo>
                  <a:lnTo>
                    <a:pt x="1371600" y="0"/>
                  </a:lnTo>
                  <a:lnTo>
                    <a:pt x="1371600" y="114300"/>
                  </a:lnTo>
                  <a:lnTo>
                    <a:pt x="1485900" y="114300"/>
                  </a:lnTo>
                  <a:lnTo>
                    <a:pt x="1485900" y="57150"/>
                  </a:lnTo>
                  <a:lnTo>
                    <a:pt x="1481399" y="34879"/>
                  </a:lnTo>
                  <a:lnTo>
                    <a:pt x="1469135" y="16716"/>
                  </a:lnTo>
                  <a:lnTo>
                    <a:pt x="1450967" y="4482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7E63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0245343" y="5383148"/>
              <a:ext cx="1485900" cy="342900"/>
            </a:xfrm>
            <a:custGeom>
              <a:avLst/>
              <a:gdLst/>
              <a:ahLst/>
              <a:cxnLst/>
              <a:rect l="l" t="t" r="r" b="b"/>
              <a:pathLst>
                <a:path w="1485900" h="342900">
                  <a:moveTo>
                    <a:pt x="0" y="114300"/>
                  </a:moveTo>
                  <a:lnTo>
                    <a:pt x="0" y="57150"/>
                  </a:ln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14300" y="0"/>
                  </a:lnTo>
                </a:path>
                <a:path w="1485900" h="342900">
                  <a:moveTo>
                    <a:pt x="1485900" y="114300"/>
                  </a:moveTo>
                  <a:lnTo>
                    <a:pt x="1485900" y="342849"/>
                  </a:lnTo>
                </a:path>
                <a:path w="1485900" h="342900">
                  <a:moveTo>
                    <a:pt x="0" y="342849"/>
                  </a:moveTo>
                  <a:lnTo>
                    <a:pt x="0" y="114300"/>
                  </a:lnTo>
                </a:path>
                <a:path w="1485900" h="342900">
                  <a:moveTo>
                    <a:pt x="114300" y="0"/>
                  </a:moveTo>
                  <a:lnTo>
                    <a:pt x="1371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238199" y="5723616"/>
              <a:ext cx="123825" cy="12382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614562" y="5376005"/>
              <a:ext cx="123825" cy="123825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0359643" y="5840298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 h="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614562" y="5723616"/>
              <a:ext cx="123825" cy="123825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9338564" y="3731514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桃園市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4" name="object 1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0" name="object 100"/>
          <p:cNvSpPr txBox="1"/>
          <p:nvPr/>
        </p:nvSpPr>
        <p:spPr>
          <a:xfrm>
            <a:off x="10666603" y="3183382"/>
            <a:ext cx="652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約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870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0666603" y="3755263"/>
            <a:ext cx="652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約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860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338564" y="3159633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台北市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338564" y="4303014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台中市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576306" y="2611882"/>
            <a:ext cx="837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約</a:t>
            </a:r>
            <a:r>
              <a:rPr dirty="0" sz="1800" spc="-10">
                <a:solidFill>
                  <a:srgbClr val="FFFFFF"/>
                </a:solidFill>
                <a:latin typeface="Microsoft JhengHei"/>
                <a:cs typeface="Microsoft JhengHei"/>
              </a:rPr>
              <a:t>1,380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666603" y="4326763"/>
            <a:ext cx="652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約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885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338564" y="2588133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Microsoft JhengHei"/>
                <a:cs typeface="Microsoft JhengHei"/>
              </a:rPr>
              <a:t>新北市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302242" y="4889754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台南市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0666603" y="5470042"/>
            <a:ext cx="652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約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530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0666603" y="4898517"/>
            <a:ext cx="652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JhengHei"/>
                <a:cs typeface="Microsoft JhengHei"/>
              </a:rPr>
              <a:t>約</a:t>
            </a:r>
            <a:r>
              <a:rPr dirty="0" sz="1800" spc="-25">
                <a:solidFill>
                  <a:srgbClr val="FFFFFF"/>
                </a:solidFill>
                <a:latin typeface="Microsoft JhengHei"/>
                <a:cs typeface="Microsoft JhengHei"/>
              </a:rPr>
              <a:t>700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9338564" y="5463336"/>
            <a:ext cx="7118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Microsoft JhengHei"/>
                <a:cs typeface="Microsoft JhengHei"/>
              </a:rPr>
              <a:t>高雄市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9168765" y="1382090"/>
            <a:ext cx="2619375" cy="960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74747"/>
                </a:solidFill>
                <a:latin typeface="Microsoft JhengHei"/>
                <a:cs typeface="Microsoft JhengHei"/>
              </a:rPr>
              <a:t>2025</a:t>
            </a:r>
            <a:r>
              <a:rPr dirty="0" sz="1800" spc="-15" b="1">
                <a:solidFill>
                  <a:srgbClr val="474747"/>
                </a:solidFill>
                <a:latin typeface="Microsoft JhengHei"/>
                <a:cs typeface="Microsoft JhengHei"/>
              </a:rPr>
              <a:t> 年上半年門市數(間)</a:t>
            </a:r>
            <a:endParaRPr sz="1800">
              <a:latin typeface="Microsoft JhengHei"/>
              <a:cs typeface="Microsoft JhengHei"/>
            </a:endParaRPr>
          </a:p>
          <a:p>
            <a:pPr marL="260985">
              <a:lnSpc>
                <a:spcPct val="100000"/>
              </a:lnSpc>
              <a:spcBef>
                <a:spcPts val="3040"/>
              </a:spcBef>
              <a:tabLst>
                <a:tab pos="1143000" algn="l"/>
              </a:tabLst>
            </a:pPr>
            <a:r>
              <a:rPr dirty="0" baseline="1543" sz="2700" b="1">
                <a:solidFill>
                  <a:srgbClr val="FFFFFF"/>
                </a:solidFill>
                <a:latin typeface="Microsoft JhengHei"/>
                <a:cs typeface="Microsoft JhengHei"/>
              </a:rPr>
              <a:t>城</a:t>
            </a:r>
            <a:r>
              <a:rPr dirty="0" baseline="1543" sz="2700" spc="-75" b="1">
                <a:solidFill>
                  <a:srgbClr val="FFFFFF"/>
                </a:solidFill>
                <a:latin typeface="Microsoft JhengHei"/>
                <a:cs typeface="Microsoft JhengHei"/>
              </a:rPr>
              <a:t>市</a:t>
            </a:r>
            <a:r>
              <a:rPr dirty="0" baseline="1543" sz="27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推估門市數</a:t>
            </a:r>
            <a:r>
              <a:rPr dirty="0" sz="1800" spc="-50" b="1">
                <a:solidFill>
                  <a:srgbClr val="FFFFFF"/>
                </a:solidFill>
                <a:latin typeface="Microsoft JhengHei"/>
                <a:cs typeface="Microsoft JhengHei"/>
              </a:rPr>
              <a:t>量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2" name="object 112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未來展望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726135" y="5922975"/>
            <a:ext cx="41935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Microsoft JhengHei"/>
                <a:cs typeface="Microsoft JhengHei"/>
              </a:rPr>
              <a:t>資料來源：統一超商</a:t>
            </a:r>
            <a:r>
              <a:rPr dirty="0" sz="1400" spc="-10">
                <a:latin typeface="Microsoft JhengHei"/>
                <a:cs typeface="Microsoft JhengHei"/>
              </a:rPr>
              <a:t>2025</a:t>
            </a:r>
            <a:r>
              <a:rPr dirty="0" sz="1400" spc="-15">
                <a:latin typeface="Microsoft JhengHei"/>
                <a:cs typeface="Microsoft JhengHei"/>
              </a:rPr>
              <a:t>年度上半年財報</a:t>
            </a:r>
            <a:r>
              <a:rPr dirty="0" sz="1400" spc="-10">
                <a:latin typeface="Microsoft JhengHei"/>
                <a:cs typeface="Microsoft JhengHei"/>
              </a:rPr>
              <a:t>_20250730</a:t>
            </a:r>
            <a:endParaRPr sz="1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市場規模推估(拿下市場</a:t>
            </a:r>
            <a:r>
              <a:rPr dirty="0" spc="-20">
                <a:solidFill>
                  <a:srgbClr val="0000FF"/>
                </a:solidFill>
              </a:rPr>
              <a:t>10%</a:t>
            </a:r>
            <a:r>
              <a:rPr dirty="0" spc="-20"/>
              <a:t>)</a:t>
            </a:r>
          </a:p>
          <a:p>
            <a:pPr marL="367665" indent="-287020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1800" spc="5">
                <a:solidFill>
                  <a:srgbClr val="202020"/>
                </a:solidFill>
              </a:rPr>
              <a:t>全台回購總量 </a:t>
            </a:r>
            <a:r>
              <a:rPr dirty="0" sz="1800" spc="75">
                <a:solidFill>
                  <a:srgbClr val="000000"/>
                </a:solidFill>
              </a:rPr>
              <a:t>= </a:t>
            </a:r>
            <a:r>
              <a:rPr dirty="0" sz="1800">
                <a:solidFill>
                  <a:srgbClr val="000000"/>
                </a:solidFill>
              </a:rPr>
              <a:t>45</a:t>
            </a:r>
            <a:r>
              <a:rPr dirty="0" sz="1800" spc="50">
                <a:solidFill>
                  <a:srgbClr val="000000"/>
                </a:solidFill>
              </a:rPr>
              <a:t> 萬戶 × </a:t>
            </a:r>
            <a:r>
              <a:rPr dirty="0" sz="1800">
                <a:solidFill>
                  <a:srgbClr val="000000"/>
                </a:solidFill>
              </a:rPr>
              <a:t>6</a:t>
            </a:r>
            <a:r>
              <a:rPr dirty="0" sz="1800" spc="45">
                <a:solidFill>
                  <a:srgbClr val="000000"/>
                </a:solidFill>
              </a:rPr>
              <a:t> 次 / 年 = </a:t>
            </a:r>
            <a:r>
              <a:rPr dirty="0" sz="1800" spc="55">
                <a:solidFill>
                  <a:srgbClr val="000000"/>
                </a:solidFill>
              </a:rPr>
              <a:t>270</a:t>
            </a:r>
            <a:r>
              <a:rPr dirty="0" sz="1800" spc="15">
                <a:solidFill>
                  <a:srgbClr val="000000"/>
                </a:solidFill>
              </a:rPr>
              <a:t>萬次 / </a:t>
            </a:r>
            <a:r>
              <a:rPr dirty="0" sz="1800" spc="-50">
                <a:solidFill>
                  <a:srgbClr val="202020"/>
                </a:solidFill>
              </a:rPr>
              <a:t>年</a:t>
            </a:r>
            <a:endParaRPr sz="1800"/>
          </a:p>
          <a:p>
            <a:pPr marL="367665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02020"/>
                </a:solidFill>
              </a:rPr>
              <a:t>全台總殘氣金市場：45</a:t>
            </a:r>
            <a:r>
              <a:rPr dirty="0" sz="1800" spc="60">
                <a:solidFill>
                  <a:srgbClr val="202020"/>
                </a:solidFill>
              </a:rPr>
              <a:t> 萬戶 × </a:t>
            </a:r>
            <a:r>
              <a:rPr dirty="0" sz="1800">
                <a:solidFill>
                  <a:srgbClr val="202020"/>
                </a:solidFill>
              </a:rPr>
              <a:t>378</a:t>
            </a:r>
            <a:r>
              <a:rPr dirty="0" sz="1800" spc="75">
                <a:solidFill>
                  <a:srgbClr val="202020"/>
                </a:solidFill>
              </a:rPr>
              <a:t> 元 =</a:t>
            </a:r>
            <a:r>
              <a:rPr dirty="0" sz="1800" spc="65">
                <a:solidFill>
                  <a:srgbClr val="000000"/>
                </a:solidFill>
              </a:rPr>
              <a:t>約 </a:t>
            </a:r>
            <a:r>
              <a:rPr dirty="0" sz="1800">
                <a:solidFill>
                  <a:srgbClr val="000000"/>
                </a:solidFill>
              </a:rPr>
              <a:t>1.7</a:t>
            </a:r>
            <a:r>
              <a:rPr dirty="0" sz="1800" spc="85">
                <a:solidFill>
                  <a:srgbClr val="000000"/>
                </a:solidFill>
              </a:rPr>
              <a:t> 億元  </a:t>
            </a:r>
            <a:r>
              <a:rPr dirty="0" sz="1800" spc="20">
                <a:solidFill>
                  <a:srgbClr val="202020"/>
                </a:solidFill>
              </a:rPr>
              <a:t>/ 年</a:t>
            </a:r>
            <a:endParaRPr sz="18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979" y="403352"/>
            <a:ext cx="388810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未來展望</a:t>
            </a:r>
            <a:r>
              <a:rPr dirty="0" spc="-10"/>
              <a:t>_</a:t>
            </a:r>
            <a:r>
              <a:rPr dirty="0" spc="-15"/>
              <a:t>市場預估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1317" y="2844545"/>
          <a:ext cx="7096125" cy="3070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0"/>
                <a:gridCol w="1003935"/>
                <a:gridCol w="912494"/>
                <a:gridCol w="1688464"/>
                <a:gridCol w="1939289"/>
              </a:tblGrid>
              <a:tr h="554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30" b="1">
                          <a:latin typeface="Microsoft JhengHei"/>
                          <a:cs typeface="Microsoft JhengHei"/>
                        </a:rPr>
                        <a:t>城市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59385" marR="151130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推估門市數量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30" b="1">
                          <a:latin typeface="Microsoft JhengHei"/>
                          <a:cs typeface="Microsoft JhengHei"/>
                        </a:rPr>
                        <a:t>佔比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605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86715" marR="379730">
                        <a:lnSpc>
                          <a:spcPct val="100000"/>
                        </a:lnSpc>
                      </a:pPr>
                      <a:r>
                        <a:rPr dirty="0" sz="1800" spc="-15" b="1">
                          <a:latin typeface="Microsoft JhengHei"/>
                          <a:cs typeface="Microsoft JhengHei"/>
                        </a:rPr>
                        <a:t>客戶回流次數推估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殘氣金估算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605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新北市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1,380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26%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713,110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44,925,933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台北市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870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17%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449,569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28,322,871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桃園市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860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16%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444,402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27,997,321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92CDD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台中市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885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4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17%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4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457,321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4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28,811,196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4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台南市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700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13%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361,722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22,788,517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高雄市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530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10%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273,876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17,254,163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25" b="1">
                          <a:latin typeface="Microsoft JhengHei"/>
                          <a:cs typeface="Microsoft JhengHei"/>
                        </a:rPr>
                        <a:t>合計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5,225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20" b="1">
                          <a:latin typeface="Microsoft JhengHei"/>
                          <a:cs typeface="Microsoft JhengHei"/>
                        </a:rPr>
                        <a:t>100%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2,700,000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00" spc="-10" b="1">
                          <a:latin typeface="Microsoft JhengHei"/>
                          <a:cs typeface="Microsoft JhengHei"/>
                        </a:rPr>
                        <a:t>170,100,000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48895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808080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735316" y="2268728"/>
            <a:ext cx="426021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202020"/>
                </a:solidFill>
                <a:latin typeface="Microsoft JhengHei"/>
                <a:cs typeface="Microsoft JhengHei"/>
              </a:rPr>
              <a:t>說明：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202020"/>
                </a:solidFill>
                <a:latin typeface="Microsoft JhengHei"/>
                <a:cs typeface="Microsoft JhengHei"/>
              </a:rPr>
              <a:t>平均每店回購次數：約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517</a:t>
            </a:r>
            <a:r>
              <a:rPr dirty="0" sz="1800" spc="80" b="1">
                <a:solidFill>
                  <a:srgbClr val="202020"/>
                </a:solidFill>
                <a:latin typeface="Microsoft JhengHei"/>
                <a:cs typeface="Microsoft JhengHei"/>
              </a:rPr>
              <a:t>次 / 月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202020"/>
                </a:solidFill>
                <a:latin typeface="Microsoft JhengHei"/>
                <a:cs typeface="Microsoft JhengHei"/>
              </a:rPr>
              <a:t>平均每店殘氣金累積：約</a:t>
            </a:r>
            <a:r>
              <a:rPr dirty="0" sz="1800" b="1">
                <a:solidFill>
                  <a:srgbClr val="0000FF"/>
                </a:solidFill>
                <a:latin typeface="Microsoft JhengHei"/>
                <a:cs typeface="Microsoft JhengHei"/>
              </a:rPr>
              <a:t>32,555</a:t>
            </a:r>
            <a:r>
              <a:rPr dirty="0" sz="1800" spc="-5" b="1">
                <a:solidFill>
                  <a:srgbClr val="202020"/>
                </a:solidFill>
                <a:latin typeface="Microsoft JhengHei"/>
                <a:cs typeface="Microsoft JhengHei"/>
              </a:rPr>
              <a:t>元  /月</a:t>
            </a:r>
            <a:endParaRPr sz="1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8456" y="2707639"/>
            <a:ext cx="3688079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感謝傾聽，懇請指正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WGTC-James洪志偉</dc:creator>
  <dc:title>PowerPoint 簡報</dc:title>
  <dcterms:created xsi:type="dcterms:W3CDTF">2026-04-28T02:36:07Z</dcterms:created>
  <dcterms:modified xsi:type="dcterms:W3CDTF">2026-04-28T02:36:07Z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2025-08-18T00:00:00Z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2026-04-28T00:00:00Z</vt:filetime>
  </property>
  <property fmtid="{D5CDD505-2E9C-101B-9397-08002B2CF9AE}" pid="6" name="Producer">
    <vt:lpwstr>Microsoft® PowerPoint® 2010</vt:lpwstr>
  </property>
</Properties>
</file>