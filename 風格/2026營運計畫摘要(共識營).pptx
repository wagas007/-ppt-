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notesMasterIdLst>
    <p:notesMasterId r:id="rId46"/>
  </p:notesMasterIdLst>
  <p:handoutMasterIdLst>
    <p:handoutMasterId r:id="rId47"/>
  </p:handoutMasterIdLst>
  <p:sldIdLst>
    <p:sldId id="2112" r:id="rId2"/>
    <p:sldId id="1445" r:id="rId3"/>
    <p:sldId id="2110" r:id="rId4"/>
    <p:sldId id="1449" r:id="rId5"/>
    <p:sldId id="2114" r:id="rId6"/>
    <p:sldId id="2115" r:id="rId7"/>
    <p:sldId id="1453" r:id="rId8"/>
    <p:sldId id="345" r:id="rId9"/>
    <p:sldId id="347" r:id="rId10"/>
    <p:sldId id="344" r:id="rId11"/>
    <p:sldId id="348" r:id="rId12"/>
    <p:sldId id="346" r:id="rId13"/>
    <p:sldId id="349" r:id="rId14"/>
    <p:sldId id="256" r:id="rId15"/>
    <p:sldId id="2074" r:id="rId16"/>
    <p:sldId id="2088" r:id="rId17"/>
    <p:sldId id="2093" r:id="rId18"/>
    <p:sldId id="2094" r:id="rId19"/>
    <p:sldId id="2092" r:id="rId20"/>
    <p:sldId id="2031" r:id="rId21"/>
    <p:sldId id="2039" r:id="rId22"/>
    <p:sldId id="266" r:id="rId23"/>
    <p:sldId id="2072" r:id="rId24"/>
    <p:sldId id="2073" r:id="rId25"/>
    <p:sldId id="2084" r:id="rId26"/>
    <p:sldId id="2075" r:id="rId27"/>
    <p:sldId id="2083" r:id="rId28"/>
    <p:sldId id="2040" r:id="rId29"/>
    <p:sldId id="2037" r:id="rId30"/>
    <p:sldId id="2069" r:id="rId31"/>
    <p:sldId id="2086" r:id="rId32"/>
    <p:sldId id="2087" r:id="rId33"/>
    <p:sldId id="2099" r:id="rId34"/>
    <p:sldId id="2103" r:id="rId35"/>
    <p:sldId id="2100" r:id="rId36"/>
    <p:sldId id="2106" r:id="rId37"/>
    <p:sldId id="2101" r:id="rId38"/>
    <p:sldId id="2105" r:id="rId39"/>
    <p:sldId id="2109" r:id="rId40"/>
    <p:sldId id="2108" r:id="rId41"/>
    <p:sldId id="2041" r:id="rId42"/>
    <p:sldId id="2111" r:id="rId43"/>
    <p:sldId id="2113" r:id="rId44"/>
    <p:sldId id="314" r:id="rId45"/>
  </p:sldIdLst>
  <p:sldSz cx="12192000" cy="6858000"/>
  <p:notesSz cx="6797675" cy="9926638"/>
  <p:defaultTextStyle>
    <a:defPPr>
      <a:defRPr lang="zh-TW"/>
    </a:defPPr>
    <a:lvl1pPr algn="l" rtl="0" fontAlgn="base">
      <a:spcBef>
        <a:spcPct val="0"/>
      </a:spcBef>
      <a:spcAft>
        <a:spcPct val="0"/>
      </a:spcAft>
      <a:defRPr kumimoji="1" kern="1200">
        <a:solidFill>
          <a:schemeClr val="tx1"/>
        </a:solidFill>
        <a:latin typeface="Calibri" panose="020F050202020403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Calibri" panose="020F050202020403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Calibri" panose="020F050202020403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Calibri" panose="020F050202020403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Calibri" panose="020F050202020403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Calibri" panose="020F050202020403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Calibri" panose="020F050202020403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Calibri" panose="020F050202020403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Calibri" panose="020F050202020403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GTC-Jessie余芷紜" initials="WJ" lastIdx="1" clrIdx="0">
    <p:extLst>
      <p:ext uri="{19B8F6BF-5375-455C-9EA6-DF929625EA0E}">
        <p15:presenceInfo xmlns:p15="http://schemas.microsoft.com/office/powerpoint/2012/main" userId="S-1-5-21-1781998768-1871919639-2622141384-159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A5118"/>
    <a:srgbClr val="FC6702"/>
    <a:srgbClr val="FE5000"/>
    <a:srgbClr val="C2CFE4"/>
    <a:srgbClr val="BFD094"/>
    <a:srgbClr val="FF9999"/>
    <a:srgbClr val="1F497D"/>
    <a:srgbClr val="D97B7A"/>
    <a:srgbClr val="9FA5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淺色樣式 3 - 輔色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ABFCF23-3B69-468F-B69F-88F6DE6A72F2}" styleName="中等深淺樣式 1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56" autoAdjust="0"/>
    <p:restoredTop sz="96893" autoAdjust="0"/>
  </p:normalViewPr>
  <p:slideViewPr>
    <p:cSldViewPr snapToGrid="0" snapToObjects="1">
      <p:cViewPr varScale="1">
        <p:scale>
          <a:sx n="78" d="100"/>
          <a:sy n="78" d="100"/>
        </p:scale>
        <p:origin x="342" y="78"/>
      </p:cViewPr>
      <p:guideLst>
        <p:guide orient="horz" pos="2160"/>
        <p:guide pos="3840"/>
      </p:guideLst>
    </p:cSldViewPr>
  </p:slideViewPr>
  <p:notesTextViewPr>
    <p:cViewPr>
      <p:scale>
        <a:sx n="1" d="1"/>
        <a:sy n="1" d="1"/>
      </p:scale>
      <p:origin x="0" y="0"/>
    </p:cViewPr>
  </p:notesTextViewPr>
  <p:sorterViewPr>
    <p:cViewPr>
      <p:scale>
        <a:sx n="140" d="100"/>
        <a:sy n="140" d="100"/>
      </p:scale>
      <p:origin x="0" y="-17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5862" cy="495793"/>
          </a:xfrm>
          <a:prstGeom prst="rect">
            <a:avLst/>
          </a:prstGeom>
        </p:spPr>
        <p:txBody>
          <a:bodyPr vert="horz" lIns="88221" tIns="44111" rIns="88221" bIns="44111" rtlCol="0"/>
          <a:lstStyle>
            <a:lvl1pPr algn="l">
              <a:defRPr sz="1200"/>
            </a:lvl1pPr>
          </a:lstStyle>
          <a:p>
            <a:endParaRPr lang="zh-TW" altLang="en-US"/>
          </a:p>
        </p:txBody>
      </p:sp>
      <p:sp>
        <p:nvSpPr>
          <p:cNvPr id="3" name="日期版面配置區 2"/>
          <p:cNvSpPr>
            <a:spLocks noGrp="1"/>
          </p:cNvSpPr>
          <p:nvPr>
            <p:ph type="dt" sz="quarter" idx="1"/>
          </p:nvPr>
        </p:nvSpPr>
        <p:spPr>
          <a:xfrm>
            <a:off x="3850294" y="0"/>
            <a:ext cx="2945862" cy="495793"/>
          </a:xfrm>
          <a:prstGeom prst="rect">
            <a:avLst/>
          </a:prstGeom>
        </p:spPr>
        <p:txBody>
          <a:bodyPr vert="horz" lIns="88221" tIns="44111" rIns="88221" bIns="44111" rtlCol="0"/>
          <a:lstStyle>
            <a:lvl1pPr algn="r">
              <a:defRPr sz="1200"/>
            </a:lvl1pPr>
          </a:lstStyle>
          <a:p>
            <a:fld id="{3361E616-5BC0-42CB-9D5C-CCFFBA826D9C}" type="datetimeFigureOut">
              <a:rPr lang="zh-TW" altLang="en-US" smtClean="0"/>
              <a:t>2026/3/30</a:t>
            </a:fld>
            <a:endParaRPr lang="zh-TW" altLang="en-US"/>
          </a:p>
        </p:txBody>
      </p:sp>
      <p:sp>
        <p:nvSpPr>
          <p:cNvPr id="4" name="頁尾版面配置區 3"/>
          <p:cNvSpPr>
            <a:spLocks noGrp="1"/>
          </p:cNvSpPr>
          <p:nvPr>
            <p:ph type="ftr" sz="quarter" idx="2"/>
          </p:nvPr>
        </p:nvSpPr>
        <p:spPr>
          <a:xfrm>
            <a:off x="0" y="9429305"/>
            <a:ext cx="2945862" cy="495793"/>
          </a:xfrm>
          <a:prstGeom prst="rect">
            <a:avLst/>
          </a:prstGeom>
        </p:spPr>
        <p:txBody>
          <a:bodyPr vert="horz" lIns="88221" tIns="44111" rIns="88221" bIns="44111"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0294" y="9429305"/>
            <a:ext cx="2945862" cy="495793"/>
          </a:xfrm>
          <a:prstGeom prst="rect">
            <a:avLst/>
          </a:prstGeom>
        </p:spPr>
        <p:txBody>
          <a:bodyPr vert="horz" lIns="88221" tIns="44111" rIns="88221" bIns="44111" rtlCol="0" anchor="b"/>
          <a:lstStyle>
            <a:lvl1pPr algn="r">
              <a:defRPr sz="1200"/>
            </a:lvl1pPr>
          </a:lstStyle>
          <a:p>
            <a:fld id="{DC86119C-5D77-4D71-AE1A-414DE9EAB98F}" type="slidenum">
              <a:rPr lang="zh-TW" altLang="en-US" smtClean="0"/>
              <a:t>‹#›</a:t>
            </a:fld>
            <a:endParaRPr lang="zh-TW" altLang="en-US"/>
          </a:p>
        </p:txBody>
      </p:sp>
    </p:spTree>
    <p:extLst>
      <p:ext uri="{BB962C8B-B14F-4D97-AF65-F5344CB8AC3E}">
        <p14:creationId xmlns:p14="http://schemas.microsoft.com/office/powerpoint/2010/main" val="1647777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5659" cy="498056"/>
          </a:xfrm>
          <a:prstGeom prst="rect">
            <a:avLst/>
          </a:prstGeom>
        </p:spPr>
        <p:txBody>
          <a:bodyPr vert="horz" lIns="95562" tIns="47781" rIns="95562" bIns="47781" rtlCol="0"/>
          <a:lstStyle>
            <a:lvl1pPr algn="l">
              <a:defRPr sz="1300"/>
            </a:lvl1pPr>
          </a:lstStyle>
          <a:p>
            <a:endParaRPr lang="zh-TW" altLang="en-US"/>
          </a:p>
        </p:txBody>
      </p:sp>
      <p:sp>
        <p:nvSpPr>
          <p:cNvPr id="3" name="日期版面配置區 2"/>
          <p:cNvSpPr>
            <a:spLocks noGrp="1"/>
          </p:cNvSpPr>
          <p:nvPr>
            <p:ph type="dt" idx="1"/>
          </p:nvPr>
        </p:nvSpPr>
        <p:spPr>
          <a:xfrm>
            <a:off x="3850443" y="0"/>
            <a:ext cx="2945659" cy="498056"/>
          </a:xfrm>
          <a:prstGeom prst="rect">
            <a:avLst/>
          </a:prstGeom>
        </p:spPr>
        <p:txBody>
          <a:bodyPr vert="horz" lIns="95562" tIns="47781" rIns="95562" bIns="47781" rtlCol="0"/>
          <a:lstStyle>
            <a:lvl1pPr algn="r">
              <a:defRPr sz="1300"/>
            </a:lvl1pPr>
          </a:lstStyle>
          <a:p>
            <a:fld id="{23737E63-925D-442D-8268-C00900867F58}" type="datetimeFigureOut">
              <a:rPr lang="zh-TW" altLang="en-US" smtClean="0"/>
              <a:t>2026/3/30</a:t>
            </a:fld>
            <a:endParaRPr lang="zh-TW" altLang="en-US"/>
          </a:p>
        </p:txBody>
      </p:sp>
      <p:sp>
        <p:nvSpPr>
          <p:cNvPr id="4" name="投影片影像版面配置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5562" tIns="47781" rIns="95562" bIns="47781" rtlCol="0" anchor="ctr"/>
          <a:lstStyle/>
          <a:p>
            <a:endParaRPr lang="zh-TW" altLang="en-US"/>
          </a:p>
        </p:txBody>
      </p:sp>
      <p:sp>
        <p:nvSpPr>
          <p:cNvPr id="5" name="備忘稿版面配置區 4"/>
          <p:cNvSpPr>
            <a:spLocks noGrp="1"/>
          </p:cNvSpPr>
          <p:nvPr>
            <p:ph type="body" sz="quarter" idx="3"/>
          </p:nvPr>
        </p:nvSpPr>
        <p:spPr>
          <a:xfrm>
            <a:off x="679768" y="4777194"/>
            <a:ext cx="5438140" cy="3908614"/>
          </a:xfrm>
          <a:prstGeom prst="rect">
            <a:avLst/>
          </a:prstGeom>
        </p:spPr>
        <p:txBody>
          <a:bodyPr vert="horz" lIns="95562" tIns="47781" rIns="95562" bIns="47781"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28585"/>
            <a:ext cx="2945659" cy="498055"/>
          </a:xfrm>
          <a:prstGeom prst="rect">
            <a:avLst/>
          </a:prstGeom>
        </p:spPr>
        <p:txBody>
          <a:bodyPr vert="horz" lIns="95562" tIns="47781" rIns="95562" bIns="47781" rtlCol="0" anchor="b"/>
          <a:lstStyle>
            <a:lvl1pPr algn="l">
              <a:defRPr sz="1300"/>
            </a:lvl1pPr>
          </a:lstStyle>
          <a:p>
            <a:endParaRPr lang="zh-TW" altLang="en-US"/>
          </a:p>
        </p:txBody>
      </p:sp>
      <p:sp>
        <p:nvSpPr>
          <p:cNvPr id="7" name="投影片編號版面配置區 6"/>
          <p:cNvSpPr>
            <a:spLocks noGrp="1"/>
          </p:cNvSpPr>
          <p:nvPr>
            <p:ph type="sldNum" sz="quarter" idx="5"/>
          </p:nvPr>
        </p:nvSpPr>
        <p:spPr>
          <a:xfrm>
            <a:off x="3850443" y="9428585"/>
            <a:ext cx="2945659" cy="498055"/>
          </a:xfrm>
          <a:prstGeom prst="rect">
            <a:avLst/>
          </a:prstGeom>
        </p:spPr>
        <p:txBody>
          <a:bodyPr vert="horz" lIns="95562" tIns="47781" rIns="95562" bIns="47781" rtlCol="0" anchor="b"/>
          <a:lstStyle>
            <a:lvl1pPr algn="r">
              <a:defRPr sz="1300"/>
            </a:lvl1pPr>
          </a:lstStyle>
          <a:p>
            <a:fld id="{D83D07D5-CBEF-4CF9-B908-8878C1CC6706}" type="slidenum">
              <a:rPr lang="zh-TW" altLang="en-US" smtClean="0"/>
              <a:t>‹#›</a:t>
            </a:fld>
            <a:endParaRPr lang="zh-TW" altLang="en-US"/>
          </a:p>
        </p:txBody>
      </p:sp>
    </p:spTree>
    <p:extLst>
      <p:ext uri="{BB962C8B-B14F-4D97-AF65-F5344CB8AC3E}">
        <p14:creationId xmlns:p14="http://schemas.microsoft.com/office/powerpoint/2010/main" val="3260455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2DC37-56BB-523F-FE76-561D328D8A8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40CEC48-99D0-7EA4-C1B8-7FF9867FFD33}"/>
              </a:ext>
            </a:extLst>
          </p:cNvPr>
          <p:cNvSpPr>
            <a:spLocks noGrp="1" noRot="1" noChangeAspect="1"/>
          </p:cNvSpPr>
          <p:nvPr>
            <p:ph type="sldImg"/>
          </p:nvPr>
        </p:nvSpPr>
        <p:spPr>
          <a:xfrm>
            <a:off x="422275" y="1241425"/>
            <a:ext cx="5953125" cy="3349625"/>
          </a:xfrm>
        </p:spPr>
      </p:sp>
      <p:sp>
        <p:nvSpPr>
          <p:cNvPr id="3" name="備忘稿版面配置區 2">
            <a:extLst>
              <a:ext uri="{FF2B5EF4-FFF2-40B4-BE49-F238E27FC236}">
                <a16:creationId xmlns:a16="http://schemas.microsoft.com/office/drawing/2014/main" id="{74297DC1-0136-C7E8-220F-5C8A0B0119F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FA27220-A917-FE33-7B22-BCF9E18488E3}"/>
              </a:ext>
            </a:extLst>
          </p:cNvPr>
          <p:cNvSpPr>
            <a:spLocks noGrp="1"/>
          </p:cNvSpPr>
          <p:nvPr>
            <p:ph type="sldNum" sz="quarter" idx="10"/>
          </p:nvPr>
        </p:nvSpPr>
        <p:spPr/>
        <p:txBody>
          <a:bodyPr/>
          <a:lstStyle/>
          <a:p>
            <a:fld id="{61C1026A-3CDA-4A5E-881D-993E44C8B606}" type="slidenum">
              <a:rPr lang="zh-TW" altLang="en-US" smtClean="0"/>
              <a:t>2</a:t>
            </a:fld>
            <a:endParaRPr lang="zh-TW" altLang="en-US"/>
          </a:p>
        </p:txBody>
      </p:sp>
    </p:spTree>
    <p:extLst>
      <p:ext uri="{BB962C8B-B14F-4D97-AF65-F5344CB8AC3E}">
        <p14:creationId xmlns:p14="http://schemas.microsoft.com/office/powerpoint/2010/main" val="2421789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2DC37-56BB-523F-FE76-561D328D8A8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40CEC48-99D0-7EA4-C1B8-7FF9867FFD33}"/>
              </a:ext>
            </a:extLst>
          </p:cNvPr>
          <p:cNvSpPr>
            <a:spLocks noGrp="1" noRot="1" noChangeAspect="1"/>
          </p:cNvSpPr>
          <p:nvPr>
            <p:ph type="sldImg"/>
          </p:nvPr>
        </p:nvSpPr>
        <p:spPr>
          <a:xfrm>
            <a:off x="422275" y="1241425"/>
            <a:ext cx="5953125" cy="3349625"/>
          </a:xfrm>
        </p:spPr>
      </p:sp>
      <p:sp>
        <p:nvSpPr>
          <p:cNvPr id="3" name="備忘稿版面配置區 2">
            <a:extLst>
              <a:ext uri="{FF2B5EF4-FFF2-40B4-BE49-F238E27FC236}">
                <a16:creationId xmlns:a16="http://schemas.microsoft.com/office/drawing/2014/main" id="{74297DC1-0136-C7E8-220F-5C8A0B0119F6}"/>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FA27220-A917-FE33-7B22-BCF9E18488E3}"/>
              </a:ext>
            </a:extLst>
          </p:cNvPr>
          <p:cNvSpPr>
            <a:spLocks noGrp="1"/>
          </p:cNvSpPr>
          <p:nvPr>
            <p:ph type="sldNum" sz="quarter" idx="10"/>
          </p:nvPr>
        </p:nvSpPr>
        <p:spPr/>
        <p:txBody>
          <a:bodyPr/>
          <a:lstStyle/>
          <a:p>
            <a:fld id="{61C1026A-3CDA-4A5E-881D-993E44C8B606}" type="slidenum">
              <a:rPr lang="zh-TW" altLang="en-US" smtClean="0"/>
              <a:t>3</a:t>
            </a:fld>
            <a:endParaRPr lang="zh-TW" altLang="en-US"/>
          </a:p>
        </p:txBody>
      </p:sp>
    </p:spTree>
    <p:extLst>
      <p:ext uri="{BB962C8B-B14F-4D97-AF65-F5344CB8AC3E}">
        <p14:creationId xmlns:p14="http://schemas.microsoft.com/office/powerpoint/2010/main" val="2421789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C8D1D-4051-05E9-F7ED-A572342B36C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C164547-8546-E8C1-C447-8FD7B4F7E12D}"/>
              </a:ext>
            </a:extLst>
          </p:cNvPr>
          <p:cNvSpPr>
            <a:spLocks noGrp="1" noRot="1" noChangeAspect="1"/>
          </p:cNvSpPr>
          <p:nvPr>
            <p:ph type="sldImg"/>
          </p:nvPr>
        </p:nvSpPr>
        <p:spPr>
          <a:xfrm>
            <a:off x="422275" y="1241425"/>
            <a:ext cx="5953125" cy="3349625"/>
          </a:xfrm>
        </p:spPr>
      </p:sp>
      <p:sp>
        <p:nvSpPr>
          <p:cNvPr id="3" name="備忘稿版面配置區 2">
            <a:extLst>
              <a:ext uri="{FF2B5EF4-FFF2-40B4-BE49-F238E27FC236}">
                <a16:creationId xmlns:a16="http://schemas.microsoft.com/office/drawing/2014/main" id="{36CE1198-2DE8-D4B4-6BA2-12F50C46799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77F7045-7757-4B6F-7A54-F904F6FE171C}"/>
              </a:ext>
            </a:extLst>
          </p:cNvPr>
          <p:cNvSpPr>
            <a:spLocks noGrp="1"/>
          </p:cNvSpPr>
          <p:nvPr>
            <p:ph type="sldNum" sz="quarter" idx="10"/>
          </p:nvPr>
        </p:nvSpPr>
        <p:spPr/>
        <p:txBody>
          <a:bodyPr/>
          <a:lstStyle/>
          <a:p>
            <a:fld id="{61C1026A-3CDA-4A5E-881D-993E44C8B606}" type="slidenum">
              <a:rPr lang="zh-TW" altLang="en-US" smtClean="0"/>
              <a:t>4</a:t>
            </a:fld>
            <a:endParaRPr lang="zh-TW" altLang="en-US"/>
          </a:p>
        </p:txBody>
      </p:sp>
    </p:spTree>
    <p:extLst>
      <p:ext uri="{BB962C8B-B14F-4D97-AF65-F5344CB8AC3E}">
        <p14:creationId xmlns:p14="http://schemas.microsoft.com/office/powerpoint/2010/main" val="1933982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5194-8A42-B7EF-2538-EA5F946566D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0741787-0B72-B380-65DD-633237C123F0}"/>
              </a:ext>
            </a:extLst>
          </p:cNvPr>
          <p:cNvSpPr>
            <a:spLocks noGrp="1" noRot="1" noChangeAspect="1"/>
          </p:cNvSpPr>
          <p:nvPr>
            <p:ph type="sldImg"/>
          </p:nvPr>
        </p:nvSpPr>
        <p:spPr>
          <a:xfrm>
            <a:off x="422275" y="1241425"/>
            <a:ext cx="5953125" cy="3349625"/>
          </a:xfrm>
        </p:spPr>
      </p:sp>
      <p:sp>
        <p:nvSpPr>
          <p:cNvPr id="3" name="備忘稿版面配置區 2">
            <a:extLst>
              <a:ext uri="{FF2B5EF4-FFF2-40B4-BE49-F238E27FC236}">
                <a16:creationId xmlns:a16="http://schemas.microsoft.com/office/drawing/2014/main" id="{B2BE26AC-3034-3F1A-C816-7100DE94B0F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8394BFE-A12A-144F-7FC1-6BD16041FA9F}"/>
              </a:ext>
            </a:extLst>
          </p:cNvPr>
          <p:cNvSpPr>
            <a:spLocks noGrp="1"/>
          </p:cNvSpPr>
          <p:nvPr>
            <p:ph type="sldNum" sz="quarter" idx="10"/>
          </p:nvPr>
        </p:nvSpPr>
        <p:spPr/>
        <p:txBody>
          <a:bodyPr/>
          <a:lstStyle/>
          <a:p>
            <a:fld id="{61C1026A-3CDA-4A5E-881D-993E44C8B606}" type="slidenum">
              <a:rPr lang="zh-TW" altLang="en-US" smtClean="0"/>
              <a:t>5</a:t>
            </a:fld>
            <a:endParaRPr lang="zh-TW" altLang="en-US"/>
          </a:p>
        </p:txBody>
      </p:sp>
    </p:spTree>
    <p:extLst>
      <p:ext uri="{BB962C8B-B14F-4D97-AF65-F5344CB8AC3E}">
        <p14:creationId xmlns:p14="http://schemas.microsoft.com/office/powerpoint/2010/main" val="378049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71DB9-2512-50D8-27EA-77EBE74E2F46}"/>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6B465C77-D68C-7044-ADA7-EC481A264229}"/>
              </a:ext>
            </a:extLst>
          </p:cNvPr>
          <p:cNvSpPr>
            <a:spLocks noGrp="1" noRot="1" noChangeAspect="1"/>
          </p:cNvSpPr>
          <p:nvPr>
            <p:ph type="sldImg"/>
          </p:nvPr>
        </p:nvSpPr>
        <p:spPr>
          <a:xfrm>
            <a:off x="422275" y="1241425"/>
            <a:ext cx="5953125" cy="3349625"/>
          </a:xfrm>
        </p:spPr>
      </p:sp>
      <p:sp>
        <p:nvSpPr>
          <p:cNvPr id="3" name="備忘稿版面配置區 2">
            <a:extLst>
              <a:ext uri="{FF2B5EF4-FFF2-40B4-BE49-F238E27FC236}">
                <a16:creationId xmlns:a16="http://schemas.microsoft.com/office/drawing/2014/main" id="{E522B828-2723-525F-A3C1-AB28FF6C524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E6A78405-A21B-2136-9D78-EEC843F0F50F}"/>
              </a:ext>
            </a:extLst>
          </p:cNvPr>
          <p:cNvSpPr>
            <a:spLocks noGrp="1"/>
          </p:cNvSpPr>
          <p:nvPr>
            <p:ph type="sldNum" sz="quarter" idx="10"/>
          </p:nvPr>
        </p:nvSpPr>
        <p:spPr/>
        <p:txBody>
          <a:bodyPr/>
          <a:lstStyle/>
          <a:p>
            <a:fld id="{61C1026A-3CDA-4A5E-881D-993E44C8B606}" type="slidenum">
              <a:rPr lang="zh-TW" altLang="en-US" smtClean="0"/>
              <a:t>6</a:t>
            </a:fld>
            <a:endParaRPr lang="zh-TW" altLang="en-US"/>
          </a:p>
        </p:txBody>
      </p:sp>
    </p:spTree>
    <p:extLst>
      <p:ext uri="{BB962C8B-B14F-4D97-AF65-F5344CB8AC3E}">
        <p14:creationId xmlns:p14="http://schemas.microsoft.com/office/powerpoint/2010/main" val="690918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FDB9B-A62E-C368-3A06-990873EA3C6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D285D87-8671-DEE5-0ED8-DCB492062C03}"/>
              </a:ext>
            </a:extLst>
          </p:cNvPr>
          <p:cNvSpPr>
            <a:spLocks noGrp="1" noRot="1" noChangeAspect="1"/>
          </p:cNvSpPr>
          <p:nvPr>
            <p:ph type="sldImg"/>
          </p:nvPr>
        </p:nvSpPr>
        <p:spPr>
          <a:xfrm>
            <a:off x="422275" y="1241425"/>
            <a:ext cx="5953125" cy="3349625"/>
          </a:xfrm>
        </p:spPr>
      </p:sp>
      <p:sp>
        <p:nvSpPr>
          <p:cNvPr id="3" name="備忘稿版面配置區 2">
            <a:extLst>
              <a:ext uri="{FF2B5EF4-FFF2-40B4-BE49-F238E27FC236}">
                <a16:creationId xmlns:a16="http://schemas.microsoft.com/office/drawing/2014/main" id="{7EE1BB49-309A-FC83-EF77-57D2A2200D9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9B8E71A-3F82-E9BF-6362-6AE2F9B3D35F}"/>
              </a:ext>
            </a:extLst>
          </p:cNvPr>
          <p:cNvSpPr>
            <a:spLocks noGrp="1"/>
          </p:cNvSpPr>
          <p:nvPr>
            <p:ph type="sldNum" sz="quarter" idx="10"/>
          </p:nvPr>
        </p:nvSpPr>
        <p:spPr/>
        <p:txBody>
          <a:bodyPr/>
          <a:lstStyle/>
          <a:p>
            <a:fld id="{61C1026A-3CDA-4A5E-881D-993E44C8B606}" type="slidenum">
              <a:rPr lang="zh-TW" altLang="en-US" smtClean="0"/>
              <a:t>7</a:t>
            </a:fld>
            <a:endParaRPr lang="zh-TW" altLang="en-US"/>
          </a:p>
        </p:txBody>
      </p:sp>
    </p:spTree>
    <p:extLst>
      <p:ext uri="{BB962C8B-B14F-4D97-AF65-F5344CB8AC3E}">
        <p14:creationId xmlns:p14="http://schemas.microsoft.com/office/powerpoint/2010/main" val="4010334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30C99-8DA5-6D30-4302-4143480D7ED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D0B561A-A9FF-8B87-5C8F-46EFEB8DA8C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04528ED-5490-38D0-E889-101AD837B66B}"/>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89805CB-E17B-E10D-C541-706116CB83FC}"/>
              </a:ext>
            </a:extLst>
          </p:cNvPr>
          <p:cNvSpPr>
            <a:spLocks noGrp="1"/>
          </p:cNvSpPr>
          <p:nvPr>
            <p:ph type="sldNum" sz="quarter" idx="10"/>
          </p:nvPr>
        </p:nvSpPr>
        <p:spPr/>
        <p:txBody>
          <a:bodyPr/>
          <a:lstStyle/>
          <a:p>
            <a:fld id="{61C1026A-3CDA-4A5E-881D-993E44C8B606}" type="slidenum">
              <a:rPr lang="zh-TW" altLang="en-US" smtClean="0"/>
              <a:t>8</a:t>
            </a:fld>
            <a:endParaRPr lang="zh-TW" altLang="en-US"/>
          </a:p>
        </p:txBody>
      </p:sp>
    </p:spTree>
    <p:extLst>
      <p:ext uri="{BB962C8B-B14F-4D97-AF65-F5344CB8AC3E}">
        <p14:creationId xmlns:p14="http://schemas.microsoft.com/office/powerpoint/2010/main" val="3989368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1ACD7-C5D6-57F8-4287-90EE3706815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AB3C9D1-40A8-BD88-F413-3CFC79D1B85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4719DC8-9191-9B41-576C-42023BF2348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24DAE2F-A08A-4259-BCB4-6D4E9A67163F}"/>
              </a:ext>
            </a:extLst>
          </p:cNvPr>
          <p:cNvSpPr>
            <a:spLocks noGrp="1"/>
          </p:cNvSpPr>
          <p:nvPr>
            <p:ph type="sldNum" sz="quarter" idx="10"/>
          </p:nvPr>
        </p:nvSpPr>
        <p:spPr/>
        <p:txBody>
          <a:bodyPr/>
          <a:lstStyle/>
          <a:p>
            <a:fld id="{61C1026A-3CDA-4A5E-881D-993E44C8B606}" type="slidenum">
              <a:rPr lang="zh-TW" altLang="en-US" smtClean="0"/>
              <a:t>9</a:t>
            </a:fld>
            <a:endParaRPr lang="zh-TW" altLang="en-US"/>
          </a:p>
        </p:txBody>
      </p:sp>
    </p:spTree>
    <p:extLst>
      <p:ext uri="{BB962C8B-B14F-4D97-AF65-F5344CB8AC3E}">
        <p14:creationId xmlns:p14="http://schemas.microsoft.com/office/powerpoint/2010/main" val="4260992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95A03-C6A2-B85D-7F23-224A6FE42A8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2742CD1-068A-7A33-445E-3DEA592A6AB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937D310-5B77-D2D9-6025-E41824AA305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9047B17-8C72-368D-A6F6-78D2D3EBDA04}"/>
              </a:ext>
            </a:extLst>
          </p:cNvPr>
          <p:cNvSpPr>
            <a:spLocks noGrp="1"/>
          </p:cNvSpPr>
          <p:nvPr>
            <p:ph type="sldNum" sz="quarter" idx="10"/>
          </p:nvPr>
        </p:nvSpPr>
        <p:spPr/>
        <p:txBody>
          <a:bodyPr/>
          <a:lstStyle/>
          <a:p>
            <a:fld id="{61C1026A-3CDA-4A5E-881D-993E44C8B606}" type="slidenum">
              <a:rPr lang="zh-TW" altLang="en-US" smtClean="0"/>
              <a:t>10</a:t>
            </a:fld>
            <a:endParaRPr lang="zh-TW" altLang="en-US"/>
          </a:p>
        </p:txBody>
      </p:sp>
    </p:spTree>
    <p:extLst>
      <p:ext uri="{BB962C8B-B14F-4D97-AF65-F5344CB8AC3E}">
        <p14:creationId xmlns:p14="http://schemas.microsoft.com/office/powerpoint/2010/main" val="2932328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9C1-0044-8E59-35B1-5ED508562A5E}"/>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6BBA0668-548F-C031-7DB5-F48ABDE8B16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A79050D-CE08-C8A6-7D3E-9CCCDA9D37B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D8FFF2B-0F6C-1A03-BC34-4394142C6255}"/>
              </a:ext>
            </a:extLst>
          </p:cNvPr>
          <p:cNvSpPr>
            <a:spLocks noGrp="1"/>
          </p:cNvSpPr>
          <p:nvPr>
            <p:ph type="sldNum" sz="quarter" idx="10"/>
          </p:nvPr>
        </p:nvSpPr>
        <p:spPr/>
        <p:txBody>
          <a:bodyPr/>
          <a:lstStyle/>
          <a:p>
            <a:fld id="{61C1026A-3CDA-4A5E-881D-993E44C8B606}" type="slidenum">
              <a:rPr lang="zh-TW" altLang="en-US" smtClean="0"/>
              <a:t>11</a:t>
            </a:fld>
            <a:endParaRPr lang="zh-TW" altLang="en-US"/>
          </a:p>
        </p:txBody>
      </p:sp>
    </p:spTree>
    <p:extLst>
      <p:ext uri="{BB962C8B-B14F-4D97-AF65-F5344CB8AC3E}">
        <p14:creationId xmlns:p14="http://schemas.microsoft.com/office/powerpoint/2010/main" val="4197146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EDE2A-AB5E-72D0-8DDF-5DF4E04A100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E67F932-C1F6-A1DF-9469-ACFB433C0BE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D650E01-F59E-CEBB-C0C7-A3004F4253E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6D8E567-E8E8-5B7E-1999-C282E59904EC}"/>
              </a:ext>
            </a:extLst>
          </p:cNvPr>
          <p:cNvSpPr>
            <a:spLocks noGrp="1"/>
          </p:cNvSpPr>
          <p:nvPr>
            <p:ph type="sldNum" sz="quarter" idx="10"/>
          </p:nvPr>
        </p:nvSpPr>
        <p:spPr/>
        <p:txBody>
          <a:bodyPr/>
          <a:lstStyle/>
          <a:p>
            <a:fld id="{61C1026A-3CDA-4A5E-881D-993E44C8B606}" type="slidenum">
              <a:rPr lang="zh-TW" altLang="en-US" smtClean="0"/>
              <a:t>12</a:t>
            </a:fld>
            <a:endParaRPr lang="zh-TW" altLang="en-US"/>
          </a:p>
        </p:txBody>
      </p:sp>
    </p:spTree>
    <p:extLst>
      <p:ext uri="{BB962C8B-B14F-4D97-AF65-F5344CB8AC3E}">
        <p14:creationId xmlns:p14="http://schemas.microsoft.com/office/powerpoint/2010/main" val="1475637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87966-3FF8-B3E9-0F31-6B703DDE8EF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16D9C93-CF84-6F8D-5CB3-EDF9A479A53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F16FC8F-F3C7-B9A1-0964-769BC0FD48C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C3C4F51-D9D3-C473-AE8A-904FBD03D4F3}"/>
              </a:ext>
            </a:extLst>
          </p:cNvPr>
          <p:cNvSpPr>
            <a:spLocks noGrp="1"/>
          </p:cNvSpPr>
          <p:nvPr>
            <p:ph type="sldNum" sz="quarter" idx="10"/>
          </p:nvPr>
        </p:nvSpPr>
        <p:spPr/>
        <p:txBody>
          <a:bodyPr/>
          <a:lstStyle/>
          <a:p>
            <a:fld id="{61C1026A-3CDA-4A5E-881D-993E44C8B606}" type="slidenum">
              <a:rPr lang="zh-TW" altLang="en-US" smtClean="0"/>
              <a:t>13</a:t>
            </a:fld>
            <a:endParaRPr lang="zh-TW" altLang="en-US"/>
          </a:p>
        </p:txBody>
      </p:sp>
    </p:spTree>
    <p:extLst>
      <p:ext uri="{BB962C8B-B14F-4D97-AF65-F5344CB8AC3E}">
        <p14:creationId xmlns:p14="http://schemas.microsoft.com/office/powerpoint/2010/main" val="650308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F9446-2E7A-F206-3C87-248BB5B76B8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18B15A6-A532-E30B-60F9-379F3543B9A4}"/>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40779091-EABF-7586-DBBB-D819FCDD1D03}"/>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B526A800-167E-F63E-1434-520A4CA2557F}"/>
              </a:ext>
            </a:extLst>
          </p:cNvPr>
          <p:cNvSpPr>
            <a:spLocks noGrp="1"/>
          </p:cNvSpPr>
          <p:nvPr>
            <p:ph type="sldNum" sz="quarter" idx="10"/>
          </p:nvPr>
        </p:nvSpPr>
        <p:spPr/>
        <p:txBody>
          <a:bodyPr/>
          <a:lstStyle/>
          <a:p>
            <a:fld id="{C1BA6C66-092F-482D-9766-FC02784EAF93}" type="slidenum">
              <a:rPr lang="zh-TW" altLang="en-US" smtClean="0"/>
              <a:t>20</a:t>
            </a:fld>
            <a:endParaRPr lang="zh-TW" altLang="en-US"/>
          </a:p>
        </p:txBody>
      </p:sp>
    </p:spTree>
    <p:extLst>
      <p:ext uri="{BB962C8B-B14F-4D97-AF65-F5344CB8AC3E}">
        <p14:creationId xmlns:p14="http://schemas.microsoft.com/office/powerpoint/2010/main" val="3255489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62AB9-A632-1DC4-4750-2F2BCDB6598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305CAE71-38EF-99A4-9C2F-05A0AFECF807}"/>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AD22CDA1-6B0D-DB49-0B99-002A1CE01AE9}"/>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9892C1E-CD67-346A-E200-3B54442FFD96}"/>
              </a:ext>
            </a:extLst>
          </p:cNvPr>
          <p:cNvSpPr>
            <a:spLocks noGrp="1"/>
          </p:cNvSpPr>
          <p:nvPr>
            <p:ph type="sldNum" sz="quarter" idx="10"/>
          </p:nvPr>
        </p:nvSpPr>
        <p:spPr/>
        <p:txBody>
          <a:bodyPr/>
          <a:lstStyle/>
          <a:p>
            <a:fld id="{C1BA6C66-092F-482D-9766-FC02784EAF93}" type="slidenum">
              <a:rPr lang="zh-TW" altLang="en-US" smtClean="0"/>
              <a:t>28</a:t>
            </a:fld>
            <a:endParaRPr lang="zh-TW" altLang="en-US"/>
          </a:p>
        </p:txBody>
      </p:sp>
    </p:spTree>
    <p:extLst>
      <p:ext uri="{BB962C8B-B14F-4D97-AF65-F5344CB8AC3E}">
        <p14:creationId xmlns:p14="http://schemas.microsoft.com/office/powerpoint/2010/main" val="35288062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DEEE8-A665-6A66-545C-973DFD18814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A5ECAFD-5E0C-4BD0-B6F4-7EE29356BFFA}"/>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B553A651-5E04-2FA1-9EB2-D7D1FDDBAA1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8E787D87-CE34-3F38-E9A4-80CE1FB8C05F}"/>
              </a:ext>
            </a:extLst>
          </p:cNvPr>
          <p:cNvSpPr>
            <a:spLocks noGrp="1"/>
          </p:cNvSpPr>
          <p:nvPr>
            <p:ph type="sldNum" sz="quarter" idx="10"/>
          </p:nvPr>
        </p:nvSpPr>
        <p:spPr/>
        <p:txBody>
          <a:bodyPr/>
          <a:lstStyle/>
          <a:p>
            <a:fld id="{C1BA6C66-092F-482D-9766-FC02784EAF93}" type="slidenum">
              <a:rPr lang="zh-TW" altLang="en-US" smtClean="0"/>
              <a:t>29</a:t>
            </a:fld>
            <a:endParaRPr lang="zh-TW" altLang="en-US"/>
          </a:p>
        </p:txBody>
      </p:sp>
    </p:spTree>
    <p:extLst>
      <p:ext uri="{BB962C8B-B14F-4D97-AF65-F5344CB8AC3E}">
        <p14:creationId xmlns:p14="http://schemas.microsoft.com/office/powerpoint/2010/main" val="3402025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E95ED-C8C8-2A8E-B36B-0F4E0402870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B45029F-F6B8-14EF-965C-C28A4FE4E0C9}"/>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19689BEC-80EA-8099-2E0B-B4451C797B1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BFADEBF8-73DB-432B-BC7E-CD2190947D55}"/>
              </a:ext>
            </a:extLst>
          </p:cNvPr>
          <p:cNvSpPr>
            <a:spLocks noGrp="1"/>
          </p:cNvSpPr>
          <p:nvPr>
            <p:ph type="sldNum" sz="quarter" idx="10"/>
          </p:nvPr>
        </p:nvSpPr>
        <p:spPr/>
        <p:txBody>
          <a:bodyPr/>
          <a:lstStyle/>
          <a:p>
            <a:fld id="{C1BA6C66-092F-482D-9766-FC02784EAF93}" type="slidenum">
              <a:rPr lang="zh-TW" altLang="en-US" smtClean="0"/>
              <a:t>30</a:t>
            </a:fld>
            <a:endParaRPr lang="zh-TW" altLang="en-US"/>
          </a:p>
        </p:txBody>
      </p:sp>
    </p:spTree>
    <p:extLst>
      <p:ext uri="{BB962C8B-B14F-4D97-AF65-F5344CB8AC3E}">
        <p14:creationId xmlns:p14="http://schemas.microsoft.com/office/powerpoint/2010/main" val="195068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1826-346A-AA86-047A-B689A01871E6}"/>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00D3DCE-E880-250E-3821-23806FDD08AC}"/>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0D3F6274-C10D-3B74-7D11-FEFCCBEDC1E9}"/>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1EB313E-4474-AD75-0F78-195AF21C079A}"/>
              </a:ext>
            </a:extLst>
          </p:cNvPr>
          <p:cNvSpPr>
            <a:spLocks noGrp="1"/>
          </p:cNvSpPr>
          <p:nvPr>
            <p:ph type="sldNum" sz="quarter" idx="10"/>
          </p:nvPr>
        </p:nvSpPr>
        <p:spPr/>
        <p:txBody>
          <a:bodyPr/>
          <a:lstStyle/>
          <a:p>
            <a:fld id="{C1BA6C66-092F-482D-9766-FC02784EAF93}" type="slidenum">
              <a:rPr lang="zh-TW" altLang="en-US" smtClean="0"/>
              <a:t>31</a:t>
            </a:fld>
            <a:endParaRPr lang="zh-TW" altLang="en-US"/>
          </a:p>
        </p:txBody>
      </p:sp>
    </p:spTree>
    <p:extLst>
      <p:ext uri="{BB962C8B-B14F-4D97-AF65-F5344CB8AC3E}">
        <p14:creationId xmlns:p14="http://schemas.microsoft.com/office/powerpoint/2010/main" val="34185409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99F47-A303-81A3-8F14-DA2660208CE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26173B0-3B61-8640-9CBB-3DAF2769AA40}"/>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BD801315-3996-20F5-02D7-BD96B81D7C8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8DE17AE-2DD0-E604-DB9F-270FE9B9B683}"/>
              </a:ext>
            </a:extLst>
          </p:cNvPr>
          <p:cNvSpPr>
            <a:spLocks noGrp="1"/>
          </p:cNvSpPr>
          <p:nvPr>
            <p:ph type="sldNum" sz="quarter" idx="10"/>
          </p:nvPr>
        </p:nvSpPr>
        <p:spPr/>
        <p:txBody>
          <a:bodyPr/>
          <a:lstStyle/>
          <a:p>
            <a:fld id="{C1BA6C66-092F-482D-9766-FC02784EAF93}" type="slidenum">
              <a:rPr lang="zh-TW" altLang="en-US" smtClean="0"/>
              <a:t>32</a:t>
            </a:fld>
            <a:endParaRPr lang="zh-TW" altLang="en-US"/>
          </a:p>
        </p:txBody>
      </p:sp>
    </p:spTree>
    <p:extLst>
      <p:ext uri="{BB962C8B-B14F-4D97-AF65-F5344CB8AC3E}">
        <p14:creationId xmlns:p14="http://schemas.microsoft.com/office/powerpoint/2010/main" val="19553123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68FE5-4D38-4038-92AE-1274A5F0A25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E2FECCF-F6ED-9A35-329A-7B3032E439CB}"/>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89B9B61B-DC5A-DA6A-7653-1A37110462C3}"/>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9477A07-6DB2-2101-E262-530DD4700735}"/>
              </a:ext>
            </a:extLst>
          </p:cNvPr>
          <p:cNvSpPr>
            <a:spLocks noGrp="1"/>
          </p:cNvSpPr>
          <p:nvPr>
            <p:ph type="sldNum" sz="quarter" idx="10"/>
          </p:nvPr>
        </p:nvSpPr>
        <p:spPr/>
        <p:txBody>
          <a:bodyPr/>
          <a:lstStyle/>
          <a:p>
            <a:fld id="{C1BA6C66-092F-482D-9766-FC02784EAF93}" type="slidenum">
              <a:rPr lang="zh-TW" altLang="en-US" smtClean="0"/>
              <a:t>33</a:t>
            </a:fld>
            <a:endParaRPr lang="zh-TW" altLang="en-US"/>
          </a:p>
        </p:txBody>
      </p:sp>
    </p:spTree>
    <p:extLst>
      <p:ext uri="{BB962C8B-B14F-4D97-AF65-F5344CB8AC3E}">
        <p14:creationId xmlns:p14="http://schemas.microsoft.com/office/powerpoint/2010/main" val="39342929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16954-808A-99A8-486B-076B42CEE6C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A03766A-DC4D-D9E7-7F9C-B3E007CE7F0C}"/>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8ECA6EFB-E670-1592-4692-46EFE578062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B93C488-6BF5-3F39-2632-206BF204FF76}"/>
              </a:ext>
            </a:extLst>
          </p:cNvPr>
          <p:cNvSpPr>
            <a:spLocks noGrp="1"/>
          </p:cNvSpPr>
          <p:nvPr>
            <p:ph type="sldNum" sz="quarter" idx="10"/>
          </p:nvPr>
        </p:nvSpPr>
        <p:spPr/>
        <p:txBody>
          <a:bodyPr/>
          <a:lstStyle/>
          <a:p>
            <a:fld id="{C1BA6C66-092F-482D-9766-FC02784EAF93}" type="slidenum">
              <a:rPr lang="zh-TW" altLang="en-US" smtClean="0"/>
              <a:t>34</a:t>
            </a:fld>
            <a:endParaRPr lang="zh-TW" altLang="en-US"/>
          </a:p>
        </p:txBody>
      </p:sp>
    </p:spTree>
    <p:extLst>
      <p:ext uri="{BB962C8B-B14F-4D97-AF65-F5344CB8AC3E}">
        <p14:creationId xmlns:p14="http://schemas.microsoft.com/office/powerpoint/2010/main" val="35769159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D24A9-7BAB-2C60-8BD6-B74397FDA491}"/>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CB3E5DC-270F-D5D8-BFC0-0FA9F012C88A}"/>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C020D347-C771-1D6E-4E32-6BDFF9ADA8A7}"/>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0AA69F3-42EC-30AA-1471-B16A88D5FBBD}"/>
              </a:ext>
            </a:extLst>
          </p:cNvPr>
          <p:cNvSpPr>
            <a:spLocks noGrp="1"/>
          </p:cNvSpPr>
          <p:nvPr>
            <p:ph type="sldNum" sz="quarter" idx="10"/>
          </p:nvPr>
        </p:nvSpPr>
        <p:spPr/>
        <p:txBody>
          <a:bodyPr/>
          <a:lstStyle/>
          <a:p>
            <a:fld id="{C1BA6C66-092F-482D-9766-FC02784EAF93}" type="slidenum">
              <a:rPr lang="zh-TW" altLang="en-US" smtClean="0"/>
              <a:t>35</a:t>
            </a:fld>
            <a:endParaRPr lang="zh-TW" altLang="en-US"/>
          </a:p>
        </p:txBody>
      </p:sp>
    </p:spTree>
    <p:extLst>
      <p:ext uri="{BB962C8B-B14F-4D97-AF65-F5344CB8AC3E}">
        <p14:creationId xmlns:p14="http://schemas.microsoft.com/office/powerpoint/2010/main" val="1496277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41750-2500-CE79-B240-736D8C0E9D6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6698448-6325-D333-E813-62841570118B}"/>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AD4A3358-BE60-29DD-3293-BC1A109F5CF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DABE139-D43F-197B-5E95-CDC734A4D186}"/>
              </a:ext>
            </a:extLst>
          </p:cNvPr>
          <p:cNvSpPr>
            <a:spLocks noGrp="1"/>
          </p:cNvSpPr>
          <p:nvPr>
            <p:ph type="sldNum" sz="quarter" idx="10"/>
          </p:nvPr>
        </p:nvSpPr>
        <p:spPr/>
        <p:txBody>
          <a:bodyPr/>
          <a:lstStyle/>
          <a:p>
            <a:fld id="{C1BA6C66-092F-482D-9766-FC02784EAF93}" type="slidenum">
              <a:rPr lang="zh-TW" altLang="en-US" smtClean="0"/>
              <a:t>36</a:t>
            </a:fld>
            <a:endParaRPr lang="zh-TW" altLang="en-US"/>
          </a:p>
        </p:txBody>
      </p:sp>
    </p:spTree>
    <p:extLst>
      <p:ext uri="{BB962C8B-B14F-4D97-AF65-F5344CB8AC3E}">
        <p14:creationId xmlns:p14="http://schemas.microsoft.com/office/powerpoint/2010/main" val="2039709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6CF38-0C22-888D-1B35-37D4ED448CF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7722ACE-0B59-E62C-A99D-7903C808EE3B}"/>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EFF54D90-5C17-B048-DC58-16DCE92DF52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EEC9E44-5BCD-D303-7961-6CAAA86DFCF8}"/>
              </a:ext>
            </a:extLst>
          </p:cNvPr>
          <p:cNvSpPr>
            <a:spLocks noGrp="1"/>
          </p:cNvSpPr>
          <p:nvPr>
            <p:ph type="sldNum" sz="quarter" idx="10"/>
          </p:nvPr>
        </p:nvSpPr>
        <p:spPr/>
        <p:txBody>
          <a:bodyPr/>
          <a:lstStyle/>
          <a:p>
            <a:fld id="{C1BA6C66-092F-482D-9766-FC02784EAF93}" type="slidenum">
              <a:rPr lang="zh-TW" altLang="en-US" smtClean="0"/>
              <a:t>37</a:t>
            </a:fld>
            <a:endParaRPr lang="zh-TW" altLang="en-US"/>
          </a:p>
        </p:txBody>
      </p:sp>
    </p:spTree>
    <p:extLst>
      <p:ext uri="{BB962C8B-B14F-4D97-AF65-F5344CB8AC3E}">
        <p14:creationId xmlns:p14="http://schemas.microsoft.com/office/powerpoint/2010/main" val="18675432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6438-C407-ACFC-3D35-F3639000BD8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B7D0ADD-671F-8294-7A44-C5D23D763C23}"/>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44F8F970-E977-C7C3-4695-5F8CC672A33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81C1A72-63F9-65C9-967F-547628176591}"/>
              </a:ext>
            </a:extLst>
          </p:cNvPr>
          <p:cNvSpPr>
            <a:spLocks noGrp="1"/>
          </p:cNvSpPr>
          <p:nvPr>
            <p:ph type="sldNum" sz="quarter" idx="10"/>
          </p:nvPr>
        </p:nvSpPr>
        <p:spPr/>
        <p:txBody>
          <a:bodyPr/>
          <a:lstStyle/>
          <a:p>
            <a:fld id="{C1BA6C66-092F-482D-9766-FC02784EAF93}" type="slidenum">
              <a:rPr lang="zh-TW" altLang="en-US" smtClean="0"/>
              <a:t>38</a:t>
            </a:fld>
            <a:endParaRPr lang="zh-TW" altLang="en-US"/>
          </a:p>
        </p:txBody>
      </p:sp>
    </p:spTree>
    <p:extLst>
      <p:ext uri="{BB962C8B-B14F-4D97-AF65-F5344CB8AC3E}">
        <p14:creationId xmlns:p14="http://schemas.microsoft.com/office/powerpoint/2010/main" val="38780986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2FE69-EA24-6A15-4050-B2C80BDEFF7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9DD2DC3-192D-C4CF-A807-5E6A5D4AA404}"/>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3E5AADB5-3F33-B78C-EBFA-E52F62A4428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B61A7195-5CE5-3F5F-16FC-8B5677717DAC}"/>
              </a:ext>
            </a:extLst>
          </p:cNvPr>
          <p:cNvSpPr>
            <a:spLocks noGrp="1"/>
          </p:cNvSpPr>
          <p:nvPr>
            <p:ph type="sldNum" sz="quarter" idx="10"/>
          </p:nvPr>
        </p:nvSpPr>
        <p:spPr/>
        <p:txBody>
          <a:bodyPr/>
          <a:lstStyle/>
          <a:p>
            <a:fld id="{C1BA6C66-092F-482D-9766-FC02784EAF93}" type="slidenum">
              <a:rPr lang="zh-TW" altLang="en-US" smtClean="0"/>
              <a:t>39</a:t>
            </a:fld>
            <a:endParaRPr lang="zh-TW" altLang="en-US"/>
          </a:p>
        </p:txBody>
      </p:sp>
    </p:spTree>
    <p:extLst>
      <p:ext uri="{BB962C8B-B14F-4D97-AF65-F5344CB8AC3E}">
        <p14:creationId xmlns:p14="http://schemas.microsoft.com/office/powerpoint/2010/main" val="2604338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88A91-A12A-AD8B-FCDC-E2F74782C42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1099222-DAF2-B2BE-0FBA-7E438148D8D1}"/>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BEAE9662-C7E2-C152-D09E-2984A5BB781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B9CA3EF-BF5C-EA09-E9A7-8FF8EC53439A}"/>
              </a:ext>
            </a:extLst>
          </p:cNvPr>
          <p:cNvSpPr>
            <a:spLocks noGrp="1"/>
          </p:cNvSpPr>
          <p:nvPr>
            <p:ph type="sldNum" sz="quarter" idx="10"/>
          </p:nvPr>
        </p:nvSpPr>
        <p:spPr/>
        <p:txBody>
          <a:bodyPr/>
          <a:lstStyle/>
          <a:p>
            <a:fld id="{C1BA6C66-092F-482D-9766-FC02784EAF93}" type="slidenum">
              <a:rPr lang="zh-TW" altLang="en-US" smtClean="0"/>
              <a:t>40</a:t>
            </a:fld>
            <a:endParaRPr lang="zh-TW" altLang="en-US"/>
          </a:p>
        </p:txBody>
      </p:sp>
    </p:spTree>
    <p:extLst>
      <p:ext uri="{BB962C8B-B14F-4D97-AF65-F5344CB8AC3E}">
        <p14:creationId xmlns:p14="http://schemas.microsoft.com/office/powerpoint/2010/main" val="20553627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90488" y="744538"/>
            <a:ext cx="6616700" cy="37226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C1BA6C66-092F-482D-9766-FC02784EAF93}" type="slidenum">
              <a:rPr lang="zh-TW" altLang="en-US" smtClean="0"/>
              <a:t>41</a:t>
            </a:fld>
            <a:endParaRPr lang="zh-TW" altLang="en-US"/>
          </a:p>
        </p:txBody>
      </p:sp>
    </p:spTree>
    <p:extLst>
      <p:ext uri="{BB962C8B-B14F-4D97-AF65-F5344CB8AC3E}">
        <p14:creationId xmlns:p14="http://schemas.microsoft.com/office/powerpoint/2010/main" val="18120442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3AA2B-CB6F-1BE9-F865-F287448BB92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5D843939-3E01-61A0-B808-809E0D6BEA4B}"/>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217CD86E-AED9-6116-4DA7-E152138E82C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CF5165E0-5D7C-B41A-0627-445E63EED11D}"/>
              </a:ext>
            </a:extLst>
          </p:cNvPr>
          <p:cNvSpPr>
            <a:spLocks noGrp="1"/>
          </p:cNvSpPr>
          <p:nvPr>
            <p:ph type="sldNum" sz="quarter" idx="10"/>
          </p:nvPr>
        </p:nvSpPr>
        <p:spPr/>
        <p:txBody>
          <a:bodyPr/>
          <a:lstStyle/>
          <a:p>
            <a:fld id="{C1BA6C66-092F-482D-9766-FC02784EAF93}" type="slidenum">
              <a:rPr lang="zh-TW" altLang="en-US" smtClean="0"/>
              <a:t>42</a:t>
            </a:fld>
            <a:endParaRPr lang="zh-TW" altLang="en-US"/>
          </a:p>
        </p:txBody>
      </p:sp>
    </p:spTree>
    <p:extLst>
      <p:ext uri="{BB962C8B-B14F-4D97-AF65-F5344CB8AC3E}">
        <p14:creationId xmlns:p14="http://schemas.microsoft.com/office/powerpoint/2010/main" val="41900591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E7765-58CE-57C7-FE40-C2929DE9CD93}"/>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BF80FF3-125F-C8F5-FACB-DD698D244D88}"/>
              </a:ext>
            </a:extLst>
          </p:cNvPr>
          <p:cNvSpPr>
            <a:spLocks noGrp="1" noRot="1" noChangeAspect="1"/>
          </p:cNvSpPr>
          <p:nvPr>
            <p:ph type="sldImg"/>
          </p:nvPr>
        </p:nvSpPr>
        <p:spPr>
          <a:xfrm>
            <a:off x="90488" y="744538"/>
            <a:ext cx="6616700" cy="3722687"/>
          </a:xfrm>
        </p:spPr>
      </p:sp>
      <p:sp>
        <p:nvSpPr>
          <p:cNvPr id="3" name="備忘稿版面配置區 2">
            <a:extLst>
              <a:ext uri="{FF2B5EF4-FFF2-40B4-BE49-F238E27FC236}">
                <a16:creationId xmlns:a16="http://schemas.microsoft.com/office/drawing/2014/main" id="{CBC84010-3B11-61E0-F5FF-C05B49921A1D}"/>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85E29AE-0FE1-8CAA-AB9E-D71A2E779511}"/>
              </a:ext>
            </a:extLst>
          </p:cNvPr>
          <p:cNvSpPr>
            <a:spLocks noGrp="1"/>
          </p:cNvSpPr>
          <p:nvPr>
            <p:ph type="sldNum" sz="quarter" idx="10"/>
          </p:nvPr>
        </p:nvSpPr>
        <p:spPr/>
        <p:txBody>
          <a:bodyPr/>
          <a:lstStyle/>
          <a:p>
            <a:fld id="{C1BA6C66-092F-482D-9766-FC02784EAF93}" type="slidenum">
              <a:rPr lang="zh-TW" altLang="en-US" smtClean="0"/>
              <a:t>43</a:t>
            </a:fld>
            <a:endParaRPr lang="zh-TW" altLang="en-US"/>
          </a:p>
        </p:txBody>
      </p:sp>
    </p:spTree>
    <p:extLst>
      <p:ext uri="{BB962C8B-B14F-4D97-AF65-F5344CB8AC3E}">
        <p14:creationId xmlns:p14="http://schemas.microsoft.com/office/powerpoint/2010/main" val="8856778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pic>
        <p:nvPicPr>
          <p:cNvPr id="4" name="Picture 2" descr="\\192.168.88.9\wagas_nas\03.行銷企劃部\13.收發用\Joan\簡報\封面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88"/>
            <a:ext cx="12196233" cy="68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p:cNvSpPr>
            <a:spLocks noGrp="1"/>
          </p:cNvSpPr>
          <p:nvPr>
            <p:ph type="ctrTitle"/>
          </p:nvPr>
        </p:nvSpPr>
        <p:spPr>
          <a:xfrm>
            <a:off x="6576053" y="1412777"/>
            <a:ext cx="4893568" cy="1470025"/>
          </a:xfrm>
        </p:spPr>
        <p:txBody>
          <a:bodyPr>
            <a:normAutofit/>
          </a:bodyPr>
          <a:lstStyle>
            <a:lvl1pPr>
              <a:defRPr sz="36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7536160" y="3068960"/>
            <a:ext cx="3936437" cy="936104"/>
          </a:xfrm>
        </p:spPr>
        <p:txBody>
          <a:bodyPr>
            <a:normAutofit/>
          </a:bodyPr>
          <a:lstStyle>
            <a:lvl1pPr marL="0" indent="0" algn="ctr">
              <a:buNone/>
              <a:defRPr sz="1800">
                <a:solidFill>
                  <a:schemeClr val="tx1">
                    <a:tint val="75000"/>
                  </a:schemeClr>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sp>
        <p:nvSpPr>
          <p:cNvPr id="5"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
        <p:nvSpPr>
          <p:cNvPr id="8" name="手繪多邊形: 圖案 7">
            <a:extLst>
              <a:ext uri="{FF2B5EF4-FFF2-40B4-BE49-F238E27FC236}">
                <a16:creationId xmlns:a16="http://schemas.microsoft.com/office/drawing/2014/main" id="{C02F60A4-A32F-ACD3-3F20-574E74C58876}"/>
              </a:ext>
            </a:extLst>
          </p:cNvPr>
          <p:cNvSpPr/>
          <p:nvPr/>
        </p:nvSpPr>
        <p:spPr>
          <a:xfrm>
            <a:off x="467743" y="304283"/>
            <a:ext cx="3623094" cy="2216988"/>
          </a:xfrm>
          <a:custGeom>
            <a:avLst/>
            <a:gdLst>
              <a:gd name="connsiteX0" fmla="*/ 0 w 3623094"/>
              <a:gd name="connsiteY0" fmla="*/ 103517 h 2216988"/>
              <a:gd name="connsiteX1" fmla="*/ 103516 w 3623094"/>
              <a:gd name="connsiteY1" fmla="*/ 2216988 h 2216988"/>
              <a:gd name="connsiteX2" fmla="*/ 3623094 w 3623094"/>
              <a:gd name="connsiteY2" fmla="*/ 1854679 h 2216988"/>
              <a:gd name="connsiteX3" fmla="*/ 3398807 w 3623094"/>
              <a:gd name="connsiteY3" fmla="*/ 1199071 h 2216988"/>
              <a:gd name="connsiteX4" fmla="*/ 1777041 w 3623094"/>
              <a:gd name="connsiteY4" fmla="*/ 1061049 h 2216988"/>
              <a:gd name="connsiteX5" fmla="*/ 1561381 w 3623094"/>
              <a:gd name="connsiteY5" fmla="*/ 0 h 2216988"/>
              <a:gd name="connsiteX6" fmla="*/ 0 w 3623094"/>
              <a:gd name="connsiteY6" fmla="*/ 103517 h 2216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23094" h="2216988">
                <a:moveTo>
                  <a:pt x="0" y="103517"/>
                </a:moveTo>
                <a:lnTo>
                  <a:pt x="103516" y="2216988"/>
                </a:lnTo>
                <a:lnTo>
                  <a:pt x="3623094" y="1854679"/>
                </a:lnTo>
                <a:lnTo>
                  <a:pt x="3398807" y="1199071"/>
                </a:lnTo>
                <a:lnTo>
                  <a:pt x="1777041" y="1061049"/>
                </a:lnTo>
                <a:lnTo>
                  <a:pt x="1561381" y="0"/>
                </a:lnTo>
                <a:lnTo>
                  <a:pt x="0" y="103517"/>
                </a:lnTo>
                <a:close/>
              </a:path>
            </a:pathLst>
          </a:custGeom>
          <a:solidFill>
            <a:srgbClr val="EA54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 name="圖片 10">
            <a:extLst>
              <a:ext uri="{FF2B5EF4-FFF2-40B4-BE49-F238E27FC236}">
                <a16:creationId xmlns:a16="http://schemas.microsoft.com/office/drawing/2014/main" id="{C715734E-E3FD-B994-B4BB-DF36F93F423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68008"/>
          <a:stretch/>
        </p:blipFill>
        <p:spPr>
          <a:xfrm>
            <a:off x="759922" y="492156"/>
            <a:ext cx="1016322" cy="920621"/>
          </a:xfrm>
          <a:prstGeom prst="rect">
            <a:avLst/>
          </a:prstGeom>
        </p:spPr>
      </p:pic>
      <p:pic>
        <p:nvPicPr>
          <p:cNvPr id="12" name="圖片 11">
            <a:extLst>
              <a:ext uri="{FF2B5EF4-FFF2-40B4-BE49-F238E27FC236}">
                <a16:creationId xmlns:a16="http://schemas.microsoft.com/office/drawing/2014/main" id="{3F6BAA2C-7381-798F-CB6E-A7740F59A80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1178" b="30700"/>
          <a:stretch/>
        </p:blipFill>
        <p:spPr>
          <a:xfrm>
            <a:off x="467743" y="1412777"/>
            <a:ext cx="2702943" cy="788751"/>
          </a:xfrm>
          <a:prstGeom prst="rect">
            <a:avLst/>
          </a:prstGeom>
        </p:spPr>
      </p:pic>
    </p:spTree>
    <p:extLst>
      <p:ext uri="{BB962C8B-B14F-4D97-AF65-F5344CB8AC3E}">
        <p14:creationId xmlns:p14="http://schemas.microsoft.com/office/powerpoint/2010/main" val="17343181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2585166411"/>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pic>
        <p:nvPicPr>
          <p:cNvPr id="4" name="Picture 3" descr="\\192.168.88.9\wagas_nas\03.行銷企劃部\13.收發用\Joan\簡報\標頁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4" y="-1588"/>
            <a:ext cx="12196233" cy="68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p:cNvSpPr>
            <a:spLocks noGrp="1"/>
          </p:cNvSpPr>
          <p:nvPr>
            <p:ph type="title"/>
          </p:nvPr>
        </p:nvSpPr>
        <p:spPr>
          <a:xfrm>
            <a:off x="6960097" y="3140969"/>
            <a:ext cx="4270177" cy="1362075"/>
          </a:xfrm>
        </p:spPr>
        <p:txBody>
          <a:bodyPr anchor="t">
            <a:normAutofit/>
          </a:bodyPr>
          <a:lstStyle>
            <a:lvl1pPr algn="l">
              <a:defRPr sz="1800" b="0" cap="all">
                <a:latin typeface="微軟正黑體" pitchFamily="34" charset="-120"/>
                <a:ea typeface="微軟正黑體" pitchFamily="34" charset="-120"/>
              </a:defRPr>
            </a:lvl1pPr>
          </a:lstStyle>
          <a:p>
            <a:r>
              <a:rPr lang="zh-TW" altLang="en-US"/>
              <a:t>按一下以編輯母片標題樣式</a:t>
            </a:r>
          </a:p>
        </p:txBody>
      </p:sp>
      <p:sp>
        <p:nvSpPr>
          <p:cNvPr id="3" name="文字版面配置區 2"/>
          <p:cNvSpPr>
            <a:spLocks noGrp="1"/>
          </p:cNvSpPr>
          <p:nvPr>
            <p:ph type="body" idx="1"/>
          </p:nvPr>
        </p:nvSpPr>
        <p:spPr>
          <a:xfrm>
            <a:off x="5903979" y="1124745"/>
            <a:ext cx="5952661" cy="1500187"/>
          </a:xfrm>
        </p:spPr>
        <p:txBody>
          <a:bodyPr anchor="b">
            <a:normAutofit/>
          </a:bodyPr>
          <a:lstStyle>
            <a:lvl1pPr marL="0" indent="0">
              <a:buNone/>
              <a:defRPr sz="3600">
                <a:solidFill>
                  <a:schemeClr val="tx1">
                    <a:tint val="75000"/>
                  </a:schemeClr>
                </a:solidFill>
                <a:latin typeface="微軟正黑體" pitchFamily="34" charset="-120"/>
                <a:ea typeface="微軟正黑體" pitchFamily="34" charset="-12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1496579618"/>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2237551610"/>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8" name="頁尾版面配置區 4"/>
          <p:cNvSpPr>
            <a:spLocks noGrp="1"/>
          </p:cNvSpPr>
          <p:nvPr>
            <p:ph type="ftr" sz="quarter" idx="11"/>
          </p:nvPr>
        </p:nvSpPr>
        <p:spPr/>
        <p:txBody>
          <a:bodyPr/>
          <a:lstStyle>
            <a:lvl1pPr>
              <a:defRPr/>
            </a:lvl1pPr>
          </a:lstStyle>
          <a:p>
            <a:endParaRPr lang="zh-TW" altLang="en-US"/>
          </a:p>
        </p:txBody>
      </p:sp>
      <p:sp>
        <p:nvSpPr>
          <p:cNvPr id="9"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354217935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pic>
        <p:nvPicPr>
          <p:cNvPr id="3" name="Picture 2" descr="\\192.168.88.9\wagas_nas\03.行銷企劃部\13.收發用\Joan\簡報\封底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8" y="-1588"/>
            <a:ext cx="12196235" cy="68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標題 1"/>
          <p:cNvSpPr>
            <a:spLocks noGrp="1"/>
          </p:cNvSpPr>
          <p:nvPr>
            <p:ph type="title"/>
          </p:nvPr>
        </p:nvSpPr>
        <p:spPr>
          <a:xfrm>
            <a:off x="431371" y="1628800"/>
            <a:ext cx="7488832" cy="1143000"/>
          </a:xfrm>
        </p:spPr>
        <p:txBody>
          <a:bodyPr>
            <a:normAutofit/>
          </a:bodyPr>
          <a:lstStyle>
            <a:lvl1pPr algn="l">
              <a:defRPr sz="36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4" name="日期版面配置區 2"/>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5" name="頁尾版面配置區 3"/>
          <p:cNvSpPr>
            <a:spLocks noGrp="1"/>
          </p:cNvSpPr>
          <p:nvPr>
            <p:ph type="ftr" sz="quarter" idx="11"/>
          </p:nvPr>
        </p:nvSpPr>
        <p:spPr/>
        <p:txBody>
          <a:bodyPr/>
          <a:lstStyle>
            <a:lvl1pPr>
              <a:defRPr/>
            </a:lvl1pPr>
          </a:lstStyle>
          <a:p>
            <a:endParaRPr lang="zh-TW" altLang="en-US"/>
          </a:p>
        </p:txBody>
      </p:sp>
      <p:sp>
        <p:nvSpPr>
          <p:cNvPr id="6" name="投影片編號版面配置區 4"/>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pic>
        <p:nvPicPr>
          <p:cNvPr id="8" name="圖片 7">
            <a:extLst>
              <a:ext uri="{FF2B5EF4-FFF2-40B4-BE49-F238E27FC236}">
                <a16:creationId xmlns:a16="http://schemas.microsoft.com/office/drawing/2014/main" id="{9D97FF77-D00F-90C5-0D58-667F3439FE58}"/>
              </a:ext>
            </a:extLst>
          </p:cNvPr>
          <p:cNvPicPr>
            <a:picLocks noChangeAspect="1"/>
          </p:cNvPicPr>
          <p:nvPr/>
        </p:nvPicPr>
        <p:blipFill>
          <a:blip r:embed="rId3"/>
          <a:stretch>
            <a:fillRect/>
          </a:stretch>
        </p:blipFill>
        <p:spPr>
          <a:xfrm>
            <a:off x="362578" y="5502106"/>
            <a:ext cx="2581635" cy="1219370"/>
          </a:xfrm>
          <a:prstGeom prst="rect">
            <a:avLst/>
          </a:prstGeom>
        </p:spPr>
      </p:pic>
      <p:pic>
        <p:nvPicPr>
          <p:cNvPr id="10" name="圖片 9">
            <a:extLst>
              <a:ext uri="{FF2B5EF4-FFF2-40B4-BE49-F238E27FC236}">
                <a16:creationId xmlns:a16="http://schemas.microsoft.com/office/drawing/2014/main" id="{2AAD9776-CC48-912E-5AD0-CBEE4286096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578" y="5909085"/>
            <a:ext cx="2203709" cy="679706"/>
          </a:xfrm>
          <a:prstGeom prst="rect">
            <a:avLst/>
          </a:prstGeom>
        </p:spPr>
      </p:pic>
    </p:spTree>
    <p:extLst>
      <p:ext uri="{BB962C8B-B14F-4D97-AF65-F5344CB8AC3E}">
        <p14:creationId xmlns:p14="http://schemas.microsoft.com/office/powerpoint/2010/main" val="1435799155"/>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3" name="頁尾版面配置區 4"/>
          <p:cNvSpPr>
            <a:spLocks noGrp="1"/>
          </p:cNvSpPr>
          <p:nvPr>
            <p:ph type="ftr" sz="quarter" idx="11"/>
          </p:nvPr>
        </p:nvSpPr>
        <p:spPr/>
        <p:txBody>
          <a:bodyPr/>
          <a:lstStyle>
            <a:lvl1pPr>
              <a:defRPr/>
            </a:lvl1pPr>
          </a:lstStyle>
          <a:p>
            <a:endParaRPr lang="zh-TW" altLang="en-US"/>
          </a:p>
        </p:txBody>
      </p:sp>
      <p:sp>
        <p:nvSpPr>
          <p:cNvPr id="4"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171776221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自訂版面配置">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3D3387FB-0794-652E-73A6-77B75EF12880}"/>
              </a:ext>
            </a:extLst>
          </p:cNvPr>
          <p:cNvPicPr>
            <a:picLocks noChangeAspect="1"/>
          </p:cNvPicPr>
          <p:nvPr/>
        </p:nvPicPr>
        <p:blipFill>
          <a:blip r:embed="rId2"/>
          <a:stretch>
            <a:fillRect/>
          </a:stretch>
        </p:blipFill>
        <p:spPr>
          <a:xfrm>
            <a:off x="0" y="0"/>
            <a:ext cx="12192000" cy="6858000"/>
          </a:xfrm>
          <a:prstGeom prst="rect">
            <a:avLst/>
          </a:prstGeom>
        </p:spPr>
      </p:pic>
      <p:sp>
        <p:nvSpPr>
          <p:cNvPr id="2" name="標題 1">
            <a:extLst>
              <a:ext uri="{FF2B5EF4-FFF2-40B4-BE49-F238E27FC236}">
                <a16:creationId xmlns:a16="http://schemas.microsoft.com/office/drawing/2014/main" id="{18ADBE31-057E-F201-67E3-156CC56371E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3CE4B915-2D69-7D48-AD1B-8DD8AA9A7A50}"/>
              </a:ext>
            </a:extLst>
          </p:cNvPr>
          <p:cNvSpPr>
            <a:spLocks noGrp="1"/>
          </p:cNvSpPr>
          <p:nvPr>
            <p:ph type="dt" sz="half" idx="10"/>
          </p:nvPr>
        </p:nvSpPr>
        <p:spPr/>
        <p:txBody>
          <a:bodyPr/>
          <a:lstStyle/>
          <a:p>
            <a:fld id="{E1B333E3-674F-471E-B90A-58E4B8E09C22}" type="datetimeFigureOut">
              <a:rPr lang="zh-TW" altLang="en-US" smtClean="0"/>
              <a:t>2026/3/30</a:t>
            </a:fld>
            <a:endParaRPr lang="zh-TW" altLang="en-US"/>
          </a:p>
        </p:txBody>
      </p:sp>
      <p:sp>
        <p:nvSpPr>
          <p:cNvPr id="4" name="頁尾版面配置區 3">
            <a:extLst>
              <a:ext uri="{FF2B5EF4-FFF2-40B4-BE49-F238E27FC236}">
                <a16:creationId xmlns:a16="http://schemas.microsoft.com/office/drawing/2014/main" id="{E8155767-E324-9C94-DD26-E204CC547D3F}"/>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726049CA-43F3-264F-DAD3-7B4B99BBA200}"/>
              </a:ext>
            </a:extLst>
          </p:cNvPr>
          <p:cNvSpPr>
            <a:spLocks noGrp="1"/>
          </p:cNvSpPr>
          <p:nvPr>
            <p:ph type="sldNum" sz="quarter" idx="12"/>
          </p:nvPr>
        </p:nvSpPr>
        <p:spPr/>
        <p:txBody>
          <a:body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2085558458"/>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4141900959"/>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6" name="頁尾版面配置區 4"/>
          <p:cNvSpPr>
            <a:spLocks noGrp="1"/>
          </p:cNvSpPr>
          <p:nvPr>
            <p:ph type="ftr" sz="quarter" idx="11"/>
          </p:nvPr>
        </p:nvSpPr>
        <p:spPr/>
        <p:txBody>
          <a:bodyPr/>
          <a:lstStyle>
            <a:lvl1pPr>
              <a:defRPr/>
            </a:lvl1pPr>
          </a:lstStyle>
          <a:p>
            <a:endParaRPr lang="zh-TW" altLang="en-US"/>
          </a:p>
        </p:txBody>
      </p:sp>
      <p:sp>
        <p:nvSpPr>
          <p:cNvPr id="7"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1839985508"/>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232350345"/>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39"/>
            <a:ext cx="27432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9600" y="274639"/>
            <a:ext cx="80264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lvl1pPr>
              <a:defRPr/>
            </a:lvl1pPr>
          </a:lstStyle>
          <a:p>
            <a:fld id="{E1B333E3-674F-471E-B90A-58E4B8E09C22}" type="datetimeFigureOut">
              <a:rPr lang="zh-TW" altLang="en-US" smtClean="0"/>
              <a:t>2026/3/30</a:t>
            </a:fld>
            <a:endParaRPr lang="zh-TW" altLang="en-US"/>
          </a:p>
        </p:txBody>
      </p:sp>
      <p:sp>
        <p:nvSpPr>
          <p:cNvPr id="5" name="頁尾版面配置區 4"/>
          <p:cNvSpPr>
            <a:spLocks noGrp="1"/>
          </p:cNvSpPr>
          <p:nvPr>
            <p:ph type="ftr" sz="quarter" idx="11"/>
          </p:nvPr>
        </p:nvSpPr>
        <p:spPr/>
        <p:txBody>
          <a:bodyPr/>
          <a:lstStyle>
            <a:lvl1pPr>
              <a:defRPr/>
            </a:lvl1pPr>
          </a:lstStyle>
          <a:p>
            <a:endParaRPr lang="zh-TW" altLang="en-US"/>
          </a:p>
        </p:txBody>
      </p:sp>
      <p:sp>
        <p:nvSpPr>
          <p:cNvPr id="6" name="投影片編號版面配置區 5"/>
          <p:cNvSpPr>
            <a:spLocks noGrp="1"/>
          </p:cNvSpPr>
          <p:nvPr>
            <p:ph type="sldNum" sz="quarter" idx="12"/>
          </p:nvPr>
        </p:nvSpPr>
        <p:spPr/>
        <p:txBody>
          <a:bodyPr/>
          <a:lstStyle>
            <a:lvl1pPr>
              <a:defRPr/>
            </a:lvl1pPr>
          </a:lstStyle>
          <a:p>
            <a:fld id="{93873370-B8C0-4BE4-A577-77B8EE15743E}" type="slidenum">
              <a:rPr lang="zh-TW" altLang="en-US" smtClean="0"/>
              <a:t>‹#›</a:t>
            </a:fld>
            <a:endParaRPr lang="zh-TW" altLang="en-US"/>
          </a:p>
        </p:txBody>
      </p:sp>
    </p:spTree>
    <p:extLst>
      <p:ext uri="{BB962C8B-B14F-4D97-AF65-F5344CB8AC3E}">
        <p14:creationId xmlns:p14="http://schemas.microsoft.com/office/powerpoint/2010/main" val="584743824"/>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標題版面配置區 1"/>
          <p:cNvSpPr>
            <a:spLocks noGrp="1"/>
          </p:cNvSpPr>
          <p:nvPr>
            <p:ph type="title"/>
          </p:nvPr>
        </p:nvSpPr>
        <p:spPr bwMode="auto">
          <a:xfrm>
            <a:off x="609600" y="274638"/>
            <a:ext cx="109728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027" name="文字版面配置區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1">
                    <a:tint val="75000"/>
                  </a:schemeClr>
                </a:solidFill>
                <a:latin typeface="微軟正黑體" pitchFamily="34" charset="-120"/>
                <a:ea typeface="微軟正黑體" pitchFamily="34" charset="-120"/>
              </a:defRPr>
            </a:lvl1pPr>
          </a:lstStyle>
          <a:p>
            <a:fld id="{E1B333E3-674F-471E-B90A-58E4B8E09C22}" type="datetimeFigureOut">
              <a:rPr lang="zh-TW" altLang="en-US" smtClean="0"/>
              <a:t>2026/3/30</a:t>
            </a:fld>
            <a:endParaRPr lang="zh-TW" altLang="en-US"/>
          </a:p>
        </p:txBody>
      </p:sp>
      <p:sp>
        <p:nvSpPr>
          <p:cNvPr id="5" name="頁尾版面配置區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微軟正黑體" pitchFamily="34" charset="-120"/>
                <a:ea typeface="微軟正黑體" pitchFamily="34" charset="-120"/>
              </a:defRPr>
            </a:lvl1pPr>
          </a:lstStyle>
          <a:p>
            <a:endParaRPr lang="zh-TW" altLang="en-US"/>
          </a:p>
        </p:txBody>
      </p:sp>
      <p:sp>
        <p:nvSpPr>
          <p:cNvPr id="6" name="投影片編號版面配置區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kumimoji="0" sz="1200">
                <a:solidFill>
                  <a:srgbClr val="898989"/>
                </a:solidFill>
                <a:latin typeface="微軟正黑體" panose="020B0604030504040204" pitchFamily="34" charset="-120"/>
                <a:ea typeface="微軟正黑體" panose="020B0604030504040204" pitchFamily="34" charset="-120"/>
              </a:defRPr>
            </a:lvl1pPr>
          </a:lstStyle>
          <a:p>
            <a:fld id="{93873370-B8C0-4BE4-A577-77B8EE15743E}" type="slidenum">
              <a:rPr lang="zh-TW" altLang="en-US" smtClean="0"/>
              <a:t>‹#›</a:t>
            </a:fld>
            <a:endParaRPr lang="zh-TW" altLang="en-US"/>
          </a:p>
        </p:txBody>
      </p:sp>
      <p:cxnSp>
        <p:nvCxnSpPr>
          <p:cNvPr id="8" name="Straight Connector 13"/>
          <p:cNvCxnSpPr/>
          <p:nvPr/>
        </p:nvCxnSpPr>
        <p:spPr>
          <a:xfrm flipV="1">
            <a:off x="239185" y="1027113"/>
            <a:ext cx="11711516" cy="25400"/>
          </a:xfrm>
          <a:prstGeom prst="line">
            <a:avLst/>
          </a:prstGeom>
          <a:ln w="12700" cmpd="sng">
            <a:solidFill>
              <a:srgbClr val="C7C6C8"/>
            </a:solidFill>
          </a:ln>
          <a:effectLst/>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8758767" y="6262689"/>
            <a:ext cx="3194051" cy="434975"/>
          </a:xfrm>
          <a:prstGeom prst="rect">
            <a:avLst/>
          </a:prstGeom>
          <a:ln>
            <a:noFill/>
          </a:ln>
        </p:spPr>
        <p:txBody>
          <a:bodyPr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fontAlgn="auto">
              <a:spcAft>
                <a:spcPts val="0"/>
              </a:spcAft>
              <a:defRPr/>
            </a:pPr>
            <a:endParaRPr kumimoji="0" lang="en-GB" altLang="zh-TW" sz="1000" dirty="0">
              <a:solidFill>
                <a:prstClr val="black"/>
              </a:solidFill>
              <a:latin typeface="微軟正黑體" pitchFamily="34" charset="-120"/>
              <a:ea typeface="微軟正黑體" pitchFamily="34" charset="-120"/>
              <a:cs typeface="Heiti TC Light"/>
            </a:endParaRPr>
          </a:p>
        </p:txBody>
      </p:sp>
      <p:sp>
        <p:nvSpPr>
          <p:cNvPr id="10" name="Title 1"/>
          <p:cNvSpPr txBox="1">
            <a:spLocks/>
          </p:cNvSpPr>
          <p:nvPr/>
        </p:nvSpPr>
        <p:spPr>
          <a:xfrm>
            <a:off x="4474633" y="6262689"/>
            <a:ext cx="3194051" cy="434975"/>
          </a:xfrm>
          <a:prstGeom prst="rect">
            <a:avLst/>
          </a:prstGeom>
          <a:ln>
            <a:noFill/>
          </a:ln>
        </p:spPr>
        <p:txBody>
          <a:bodyPr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endParaRPr kumimoji="0" lang="en-GB" sz="1000" dirty="0">
              <a:solidFill>
                <a:prstClr val="black"/>
              </a:solidFill>
              <a:latin typeface="微軟正黑體" panose="020B0604030504040204" pitchFamily="34" charset="-120"/>
              <a:ea typeface="微軟正黑體" panose="020B0604030504040204" pitchFamily="34" charset="-120"/>
              <a:cs typeface="Heiti TC Light"/>
            </a:endParaRPr>
          </a:p>
        </p:txBody>
      </p:sp>
      <p:cxnSp>
        <p:nvCxnSpPr>
          <p:cNvPr id="11" name="Straight Connector 8"/>
          <p:cNvCxnSpPr/>
          <p:nvPr/>
        </p:nvCxnSpPr>
        <p:spPr>
          <a:xfrm flipV="1">
            <a:off x="239185" y="6165850"/>
            <a:ext cx="11711516" cy="25400"/>
          </a:xfrm>
          <a:prstGeom prst="line">
            <a:avLst/>
          </a:prstGeom>
          <a:ln w="12700" cmpd="sng">
            <a:solidFill>
              <a:srgbClr val="C7C6C8"/>
            </a:solidFill>
          </a:ln>
          <a:effectLst/>
        </p:spPr>
        <p:style>
          <a:lnRef idx="2">
            <a:schemeClr val="accent1"/>
          </a:lnRef>
          <a:fillRef idx="0">
            <a:schemeClr val="accent1"/>
          </a:fillRef>
          <a:effectRef idx="1">
            <a:schemeClr val="accent1"/>
          </a:effectRef>
          <a:fontRef idx="minor">
            <a:schemeClr val="tx1"/>
          </a:fontRef>
        </p:style>
      </p:cxnSp>
      <p:pic>
        <p:nvPicPr>
          <p:cNvPr id="1036" name="Picture 1" descr="MG Tagline.pn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39185" y="6240463"/>
            <a:ext cx="270721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圖片 2">
            <a:extLst>
              <a:ext uri="{FF2B5EF4-FFF2-40B4-BE49-F238E27FC236}">
                <a16:creationId xmlns:a16="http://schemas.microsoft.com/office/drawing/2014/main" id="{069D5868-822E-DECE-0DFE-B574DD3E726C}"/>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494679" y="274638"/>
            <a:ext cx="2271871" cy="658813"/>
          </a:xfrm>
          <a:prstGeom prst="rect">
            <a:avLst/>
          </a:prstGeom>
        </p:spPr>
      </p:pic>
    </p:spTree>
    <p:extLst>
      <p:ext uri="{BB962C8B-B14F-4D97-AF65-F5344CB8AC3E}">
        <p14:creationId xmlns:p14="http://schemas.microsoft.com/office/powerpoint/2010/main" val="408819812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txStyles>
    <p:titleStyle>
      <a:lvl1pPr algn="l" rtl="0" eaLnBrk="1" fontAlgn="base" hangingPunct="1">
        <a:spcBef>
          <a:spcPct val="0"/>
        </a:spcBef>
        <a:spcAft>
          <a:spcPct val="0"/>
        </a:spcAft>
        <a:defRPr sz="3600" kern="1200">
          <a:solidFill>
            <a:schemeClr val="tx1"/>
          </a:solidFill>
          <a:latin typeface="微軟正黑體" pitchFamily="34" charset="-120"/>
          <a:ea typeface="微軟正黑體" pitchFamily="34" charset="-120"/>
          <a:cs typeface="+mj-cs"/>
        </a:defRPr>
      </a:lvl1pPr>
      <a:lvl2pPr algn="l" rtl="0" eaLnBrk="1" fontAlgn="base" hangingPunct="1">
        <a:spcBef>
          <a:spcPct val="0"/>
        </a:spcBef>
        <a:spcAft>
          <a:spcPct val="0"/>
        </a:spcAft>
        <a:defRPr sz="3600">
          <a:solidFill>
            <a:schemeClr val="tx1"/>
          </a:solidFill>
          <a:latin typeface="微軟正黑體" pitchFamily="34" charset="-120"/>
          <a:ea typeface="微軟正黑體" pitchFamily="34" charset="-120"/>
        </a:defRPr>
      </a:lvl2pPr>
      <a:lvl3pPr algn="l" rtl="0" eaLnBrk="1" fontAlgn="base" hangingPunct="1">
        <a:spcBef>
          <a:spcPct val="0"/>
        </a:spcBef>
        <a:spcAft>
          <a:spcPct val="0"/>
        </a:spcAft>
        <a:defRPr sz="3600">
          <a:solidFill>
            <a:schemeClr val="tx1"/>
          </a:solidFill>
          <a:latin typeface="微軟正黑體" pitchFamily="34" charset="-120"/>
          <a:ea typeface="微軟正黑體" pitchFamily="34" charset="-120"/>
        </a:defRPr>
      </a:lvl3pPr>
      <a:lvl4pPr algn="l" rtl="0" eaLnBrk="1" fontAlgn="base" hangingPunct="1">
        <a:spcBef>
          <a:spcPct val="0"/>
        </a:spcBef>
        <a:spcAft>
          <a:spcPct val="0"/>
        </a:spcAft>
        <a:defRPr sz="3600">
          <a:solidFill>
            <a:schemeClr val="tx1"/>
          </a:solidFill>
          <a:latin typeface="微軟正黑體" pitchFamily="34" charset="-120"/>
          <a:ea typeface="微軟正黑體" pitchFamily="34" charset="-120"/>
        </a:defRPr>
      </a:lvl4pPr>
      <a:lvl5pPr algn="l" rtl="0" eaLnBrk="1" fontAlgn="base" hangingPunct="1">
        <a:spcBef>
          <a:spcPct val="0"/>
        </a:spcBef>
        <a:spcAft>
          <a:spcPct val="0"/>
        </a:spcAft>
        <a:defRPr sz="3600">
          <a:solidFill>
            <a:schemeClr val="tx1"/>
          </a:solidFill>
          <a:latin typeface="微軟正黑體" pitchFamily="34" charset="-120"/>
          <a:ea typeface="微軟正黑體" pitchFamily="34" charset="-120"/>
        </a:defRPr>
      </a:lvl5pPr>
      <a:lvl6pPr marL="457200" algn="l" rtl="0" eaLnBrk="1" fontAlgn="base" hangingPunct="1">
        <a:spcBef>
          <a:spcPct val="0"/>
        </a:spcBef>
        <a:spcAft>
          <a:spcPct val="0"/>
        </a:spcAft>
        <a:defRPr sz="3600">
          <a:solidFill>
            <a:schemeClr val="tx1"/>
          </a:solidFill>
          <a:latin typeface="微軟正黑體" pitchFamily="34" charset="-120"/>
          <a:ea typeface="微軟正黑體" pitchFamily="34" charset="-120"/>
        </a:defRPr>
      </a:lvl6pPr>
      <a:lvl7pPr marL="914400" algn="l" rtl="0" eaLnBrk="1" fontAlgn="base" hangingPunct="1">
        <a:spcBef>
          <a:spcPct val="0"/>
        </a:spcBef>
        <a:spcAft>
          <a:spcPct val="0"/>
        </a:spcAft>
        <a:defRPr sz="3600">
          <a:solidFill>
            <a:schemeClr val="tx1"/>
          </a:solidFill>
          <a:latin typeface="微軟正黑體" pitchFamily="34" charset="-120"/>
          <a:ea typeface="微軟正黑體" pitchFamily="34" charset="-120"/>
        </a:defRPr>
      </a:lvl7pPr>
      <a:lvl8pPr marL="1371600" algn="l" rtl="0" eaLnBrk="1" fontAlgn="base" hangingPunct="1">
        <a:spcBef>
          <a:spcPct val="0"/>
        </a:spcBef>
        <a:spcAft>
          <a:spcPct val="0"/>
        </a:spcAft>
        <a:defRPr sz="3600">
          <a:solidFill>
            <a:schemeClr val="tx1"/>
          </a:solidFill>
          <a:latin typeface="微軟正黑體" pitchFamily="34" charset="-120"/>
          <a:ea typeface="微軟正黑體" pitchFamily="34" charset="-120"/>
        </a:defRPr>
      </a:lvl8pPr>
      <a:lvl9pPr marL="1828800" algn="l" rtl="0" eaLnBrk="1" fontAlgn="base" hangingPunct="1">
        <a:spcBef>
          <a:spcPct val="0"/>
        </a:spcBef>
        <a:spcAft>
          <a:spcPct val="0"/>
        </a:spcAft>
        <a:defRPr sz="3600">
          <a:solidFill>
            <a:schemeClr val="tx1"/>
          </a:solidFill>
          <a:latin typeface="微軟正黑體" pitchFamily="34" charset="-120"/>
          <a:ea typeface="微軟正黑體" pitchFamily="34" charset="-120"/>
        </a:defRPr>
      </a:lvl9pPr>
    </p:titleStyle>
    <p:bodyStyle>
      <a:lvl1pPr marL="342900" indent="-342900" algn="l" rtl="0" eaLnBrk="1" fontAlgn="base" hangingPunct="1">
        <a:spcBef>
          <a:spcPct val="20000"/>
        </a:spcBef>
        <a:spcAft>
          <a:spcPct val="0"/>
        </a:spcAft>
        <a:buFont typeface="Arial" panose="020B0604020202020204" pitchFamily="34" charset="0"/>
        <a:buChar char="•"/>
        <a:defRPr sz="2400" kern="1200">
          <a:solidFill>
            <a:schemeClr val="tx1"/>
          </a:solidFill>
          <a:latin typeface="微軟正黑體" pitchFamily="34" charset="-120"/>
          <a:ea typeface="微軟正黑體" pitchFamily="34" charset="-120"/>
          <a:cs typeface="+mn-cs"/>
        </a:defRPr>
      </a:lvl1pPr>
      <a:lvl2pPr marL="742950" indent="-285750" algn="l" rtl="0" eaLnBrk="1" fontAlgn="base" hangingPunct="1">
        <a:spcBef>
          <a:spcPct val="20000"/>
        </a:spcBef>
        <a:spcAft>
          <a:spcPct val="0"/>
        </a:spcAft>
        <a:buFont typeface="Arial" panose="020B0604020202020204" pitchFamily="34" charset="0"/>
        <a:buChar char="–"/>
        <a:defRPr sz="2400" kern="1200">
          <a:solidFill>
            <a:schemeClr val="tx1"/>
          </a:solidFill>
          <a:latin typeface="微軟正黑體" pitchFamily="34" charset="-120"/>
          <a:ea typeface="微軟正黑體" pitchFamily="34" charset="-120"/>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微軟正黑體" pitchFamily="34" charset="-120"/>
          <a:ea typeface="微軟正黑體" pitchFamily="34" charset="-120"/>
          <a:cs typeface="+mn-cs"/>
        </a:defRPr>
      </a:lvl3pPr>
      <a:lvl4pPr marL="16002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微軟正黑體" pitchFamily="34" charset="-120"/>
          <a:ea typeface="微軟正黑體" pitchFamily="34" charset="-120"/>
          <a:cs typeface="+mn-cs"/>
        </a:defRPr>
      </a:lvl4pPr>
      <a:lvl5pPr marL="20574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1DA28-15EE-28D0-0363-7E31B64D1CE6}"/>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FCCF8C73-A6B8-58E8-9E0F-8E6A6A8E9B8C}"/>
              </a:ext>
            </a:extLst>
          </p:cNvPr>
          <p:cNvSpPr>
            <a:spLocks noGrp="1"/>
          </p:cNvSpPr>
          <p:nvPr>
            <p:ph type="ctrTitle"/>
          </p:nvPr>
        </p:nvSpPr>
        <p:spPr>
          <a:xfrm>
            <a:off x="5951984" y="1581152"/>
            <a:ext cx="5683756" cy="1470025"/>
          </a:xfrm>
        </p:spPr>
        <p:txBody>
          <a:bodyPr>
            <a:normAutofit/>
          </a:bodyPr>
          <a:lstStyle/>
          <a:p>
            <a:pPr marL="177800" indent="-177800" algn="ctr"/>
            <a:r>
              <a:rPr lang="en-US" altLang="zh-TW" b="1" dirty="0">
                <a:solidFill>
                  <a:sysClr val="windowText" lastClr="000000"/>
                </a:solidFill>
              </a:rPr>
              <a:t>2026</a:t>
            </a:r>
            <a:r>
              <a:rPr lang="zh-TW" altLang="en-US" b="1" dirty="0">
                <a:solidFill>
                  <a:sysClr val="windowText" lastClr="000000"/>
                </a:solidFill>
              </a:rPr>
              <a:t>營運計畫摘要</a:t>
            </a:r>
          </a:p>
        </p:txBody>
      </p:sp>
      <p:sp>
        <p:nvSpPr>
          <p:cNvPr id="4" name="副標題 5">
            <a:extLst>
              <a:ext uri="{FF2B5EF4-FFF2-40B4-BE49-F238E27FC236}">
                <a16:creationId xmlns:a16="http://schemas.microsoft.com/office/drawing/2014/main" id="{527BBC7E-94D5-4BB5-B632-971A8033A3A5}"/>
              </a:ext>
            </a:extLst>
          </p:cNvPr>
          <p:cNvSpPr txBox="1">
            <a:spLocks/>
          </p:cNvSpPr>
          <p:nvPr/>
        </p:nvSpPr>
        <p:spPr>
          <a:xfrm>
            <a:off x="7320136" y="2708920"/>
            <a:ext cx="3456384" cy="64807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1800" kern="1200">
                <a:solidFill>
                  <a:schemeClr val="tx1">
                    <a:tint val="75000"/>
                  </a:schemeClr>
                </a:solidFill>
                <a:latin typeface="微軟正黑體" pitchFamily="34" charset="-120"/>
                <a:ea typeface="微軟正黑體" pitchFamily="34" charset="-120"/>
                <a:cs typeface="+mn-cs"/>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微軟正黑體" pitchFamily="34" charset="-120"/>
                <a:ea typeface="微軟正黑體" pitchFamily="34" charset="-120"/>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微軟正黑體" pitchFamily="34" charset="-120"/>
                <a:ea typeface="微軟正黑體" pitchFamily="34" charset="-120"/>
                <a:cs typeface="+mn-cs"/>
              </a:defRPr>
            </a:lvl3pPr>
            <a:lvl4pPr marL="1371600" indent="0" algn="ctr" defTabSz="914400" rtl="0" eaLnBrk="1" latinLnBrk="0" hangingPunct="1">
              <a:spcBef>
                <a:spcPct val="20000"/>
              </a:spcBef>
              <a:buFont typeface="Arial" pitchFamily="34" charset="0"/>
              <a:buNone/>
              <a:defRPr sz="2400" kern="1200">
                <a:solidFill>
                  <a:schemeClr val="tx1">
                    <a:tint val="75000"/>
                  </a:schemeClr>
                </a:solidFill>
                <a:latin typeface="微軟正黑體" pitchFamily="34" charset="-120"/>
                <a:ea typeface="微軟正黑體" pitchFamily="34" charset="-120"/>
                <a:cs typeface="+mn-cs"/>
              </a:defRPr>
            </a:lvl4pPr>
            <a:lvl5pPr marL="1828800" indent="0" algn="ctr" defTabSz="914400" rtl="0" eaLnBrk="1" latinLnBrk="0" hangingPunct="1">
              <a:spcBef>
                <a:spcPct val="20000"/>
              </a:spcBef>
              <a:buFont typeface="Arial" pitchFamily="34" charset="0"/>
              <a:buNone/>
              <a:defRPr sz="2400" kern="1200">
                <a:solidFill>
                  <a:schemeClr val="tx1">
                    <a:tint val="75000"/>
                  </a:schemeClr>
                </a:solidFill>
                <a:latin typeface="微軟正黑體" pitchFamily="34" charset="-120"/>
                <a:ea typeface="微軟正黑體" pitchFamily="34" charset="-120"/>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zh-TW" altLang="en-US" dirty="0"/>
          </a:p>
        </p:txBody>
      </p:sp>
    </p:spTree>
    <p:extLst>
      <p:ext uri="{BB962C8B-B14F-4D97-AF65-F5344CB8AC3E}">
        <p14:creationId xmlns:p14="http://schemas.microsoft.com/office/powerpoint/2010/main" val="2477448062"/>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142DA-F0CF-9D43-654C-5D12517AFB9F}"/>
            </a:ext>
          </a:extLst>
        </p:cNvPr>
        <p:cNvGrpSpPr/>
        <p:nvPr/>
      </p:nvGrpSpPr>
      <p:grpSpPr>
        <a:xfrm>
          <a:off x="0" y="0"/>
          <a:ext cx="0" cy="0"/>
          <a:chOff x="0" y="0"/>
          <a:chExt cx="0" cy="0"/>
        </a:xfrm>
      </p:grpSpPr>
      <p:sp>
        <p:nvSpPr>
          <p:cNvPr id="42" name="投影片編號版面配置區 1">
            <a:extLst>
              <a:ext uri="{FF2B5EF4-FFF2-40B4-BE49-F238E27FC236}">
                <a16:creationId xmlns:a16="http://schemas.microsoft.com/office/drawing/2014/main" id="{E72A6DEB-0B84-C3CA-2289-6BB5A798DA63}"/>
              </a:ext>
            </a:extLst>
          </p:cNvPr>
          <p:cNvSpPr>
            <a:spLocks noGrp="1"/>
          </p:cNvSpPr>
          <p:nvPr>
            <p:ph type="sldNum" sz="quarter" idx="12"/>
          </p:nvPr>
        </p:nvSpPr>
        <p:spPr>
          <a:xfrm>
            <a:off x="9443573" y="6484267"/>
            <a:ext cx="2743200" cy="365125"/>
          </a:xfrm>
        </p:spPr>
        <p:txBody>
          <a:bodyPr/>
          <a:lstStyle/>
          <a:p>
            <a:fld id="{2E95FD34-61D0-4C5A-B773-4E2676150C65}" type="slidenum">
              <a:rPr lang="zh-TW" altLang="en-US" smtClean="0"/>
              <a:t>2</a:t>
            </a:fld>
            <a:endParaRPr lang="zh-TW" altLang="en-US" dirty="0"/>
          </a:p>
        </p:txBody>
      </p:sp>
      <p:sp>
        <p:nvSpPr>
          <p:cNvPr id="44" name="文字方塊 4">
            <a:extLst>
              <a:ext uri="{FF2B5EF4-FFF2-40B4-BE49-F238E27FC236}">
                <a16:creationId xmlns:a16="http://schemas.microsoft.com/office/drawing/2014/main" id="{4BCD35D7-A273-26F9-62DA-4DB1E64A1702}"/>
              </a:ext>
            </a:extLst>
          </p:cNvPr>
          <p:cNvSpPr txBox="1"/>
          <p:nvPr/>
        </p:nvSpPr>
        <p:spPr>
          <a:xfrm>
            <a:off x="161153" y="383802"/>
            <a:ext cx="7973032" cy="646331"/>
          </a:xfrm>
          <a:prstGeom prst="rect">
            <a:avLst/>
          </a:prstGeom>
          <a:noFill/>
        </p:spPr>
        <p:txBody>
          <a:bodyPr wrap="square" lIns="91440" tIns="45720" rIns="91440" bIns="45720" anchor="t">
            <a:spAutoFit/>
          </a:bodyPr>
          <a:lstStyle/>
          <a:p>
            <a:r>
              <a:rPr lang="zh-TW" altLang="en-US" sz="3600" b="1" dirty="0">
                <a:latin typeface="微軟正黑體" pitchFamily="34" charset="-120"/>
                <a:ea typeface="微軟正黑體" pitchFamily="34" charset="-120"/>
              </a:rPr>
              <a:t>三大策略</a:t>
            </a:r>
          </a:p>
        </p:txBody>
      </p:sp>
      <p:sp>
        <p:nvSpPr>
          <p:cNvPr id="2" name="TextBox 10">
            <a:extLst>
              <a:ext uri="{FF2B5EF4-FFF2-40B4-BE49-F238E27FC236}">
                <a16:creationId xmlns:a16="http://schemas.microsoft.com/office/drawing/2014/main" id="{4312E56C-03A7-7FF7-45FF-631AACB2D410}"/>
              </a:ext>
            </a:extLst>
          </p:cNvPr>
          <p:cNvSpPr txBox="1"/>
          <p:nvPr/>
        </p:nvSpPr>
        <p:spPr>
          <a:xfrm>
            <a:off x="1010773" y="3429000"/>
            <a:ext cx="2543369" cy="1631216"/>
          </a:xfrm>
          <a:prstGeom prst="rect">
            <a:avLst/>
          </a:prstGeom>
          <a:noFill/>
          <a:ln>
            <a:noFill/>
          </a:ln>
        </p:spPr>
        <p:txBody>
          <a:bodyPr wrap="square" lIns="0" tIns="0" rIns="0" bIns="0" anchor="t">
            <a:spAutoFit/>
          </a:bodyPr>
          <a:lstStyle/>
          <a:p>
            <a:pPr>
              <a:spcBef>
                <a:spcPts val="600"/>
              </a:spcBef>
            </a:pPr>
            <a:r>
              <a:rPr lang="zh-TW" altLang="en-US" sz="2400" b="1" u="sng" dirty="0">
                <a:solidFill>
                  <a:srgbClr val="484848"/>
                </a:solidFill>
                <a:latin typeface="微軟正黑體" panose="020B0604030504040204" pitchFamily="34" charset="-120"/>
                <a:ea typeface="微軟正黑體" panose="020B0604030504040204" pitchFamily="34" charset="-120"/>
              </a:rPr>
              <a:t>零售通路結盟策略</a:t>
            </a:r>
            <a:r>
              <a:rPr lang="zh-TW" altLang="en-US" sz="2400" dirty="0">
                <a:solidFill>
                  <a:srgbClr val="484848"/>
                </a:solidFill>
                <a:latin typeface="微軟正黑體" panose="020B0604030504040204" pitchFamily="34" charset="-120"/>
                <a:ea typeface="微軟正黑體" panose="020B0604030504040204" pitchFamily="34" charset="-120"/>
              </a:rPr>
              <a:t/>
            </a:r>
            <a:br>
              <a:rPr lang="zh-TW" altLang="en-US" sz="2400" dirty="0">
                <a:solidFill>
                  <a:srgbClr val="484848"/>
                </a:solidFill>
                <a:latin typeface="微軟正黑體" panose="020B0604030504040204" pitchFamily="34" charset="-120"/>
                <a:ea typeface="微軟正黑體" panose="020B0604030504040204" pitchFamily="34" charset="-120"/>
              </a:rPr>
            </a:br>
            <a:r>
              <a:rPr lang="en-US" altLang="zh-TW" sz="2400" dirty="0">
                <a:solidFill>
                  <a:srgbClr val="484848"/>
                </a:solidFill>
                <a:latin typeface="微軟正黑體" panose="020B0604030504040204" pitchFamily="34" charset="-120"/>
                <a:ea typeface="微軟正黑體" panose="020B0604030504040204" pitchFamily="34" charset="-120"/>
              </a:rPr>
              <a:t>1. </a:t>
            </a:r>
            <a:r>
              <a:rPr lang="zh-TW" altLang="en-US" sz="2400" dirty="0">
                <a:solidFill>
                  <a:srgbClr val="484848"/>
                </a:solidFill>
                <a:latin typeface="微軟正黑體" panose="020B0604030504040204" pitchFamily="34" charset="-120"/>
                <a:ea typeface="微軟正黑體" panose="020B0604030504040204" pitchFamily="34" charset="-120"/>
              </a:rPr>
              <a:t>上架會員招募</a:t>
            </a:r>
            <a:endParaRPr lang="en-US" altLang="zh-TW" sz="2400" dirty="0">
              <a:solidFill>
                <a:srgbClr val="484848"/>
              </a:solidFill>
              <a:latin typeface="微軟正黑體" panose="020B0604030504040204" pitchFamily="34" charset="-120"/>
              <a:ea typeface="微軟正黑體" panose="020B0604030504040204" pitchFamily="34" charset="-120"/>
            </a:endParaRPr>
          </a:p>
          <a:p>
            <a:pPr>
              <a:spcBef>
                <a:spcPts val="600"/>
              </a:spcBef>
            </a:pPr>
            <a:r>
              <a:rPr lang="en-US" altLang="zh-TW" sz="2400" dirty="0">
                <a:solidFill>
                  <a:srgbClr val="484848"/>
                </a:solidFill>
                <a:latin typeface="微軟正黑體" panose="020B0604030504040204" pitchFamily="34" charset="-120"/>
                <a:ea typeface="微軟正黑體" panose="020B0604030504040204" pitchFamily="34" charset="-120"/>
              </a:rPr>
              <a:t>2. </a:t>
            </a:r>
            <a:r>
              <a:rPr lang="zh-TW" altLang="en-US" sz="2400" dirty="0">
                <a:solidFill>
                  <a:srgbClr val="484848"/>
                </a:solidFill>
                <a:latin typeface="微軟正黑體" panose="020B0604030504040204" pitchFamily="34" charset="-120"/>
                <a:ea typeface="微軟正黑體" panose="020B0604030504040204" pitchFamily="34" charset="-120"/>
              </a:rPr>
              <a:t>平台行銷導流</a:t>
            </a:r>
            <a:endParaRPr lang="en-US" altLang="zh-TW" sz="2400" dirty="0">
              <a:solidFill>
                <a:srgbClr val="484848"/>
              </a:solidFill>
              <a:latin typeface="微軟正黑體" panose="020B0604030504040204" pitchFamily="34" charset="-120"/>
              <a:ea typeface="微軟正黑體" panose="020B0604030504040204" pitchFamily="34" charset="-120"/>
            </a:endParaRPr>
          </a:p>
          <a:p>
            <a:pPr>
              <a:spcBef>
                <a:spcPts val="600"/>
              </a:spcBef>
            </a:pPr>
            <a:r>
              <a:rPr lang="en-US" altLang="zh-TW" sz="2400" dirty="0">
                <a:solidFill>
                  <a:srgbClr val="484848"/>
                </a:solidFill>
                <a:latin typeface="微軟正黑體" panose="020B0604030504040204" pitchFamily="34" charset="-120"/>
                <a:ea typeface="微軟正黑體" panose="020B0604030504040204" pitchFamily="34" charset="-120"/>
              </a:rPr>
              <a:t>3. </a:t>
            </a:r>
            <a:r>
              <a:rPr lang="zh-TW" altLang="en-US" sz="2400" dirty="0">
                <a:solidFill>
                  <a:srgbClr val="484848"/>
                </a:solidFill>
                <a:latin typeface="微軟正黑體" panose="020B0604030504040204" pitchFamily="34" charset="-120"/>
                <a:ea typeface="微軟正黑體" panose="020B0604030504040204" pitchFamily="34" charset="-120"/>
              </a:rPr>
              <a:t>場地智取合作</a:t>
            </a:r>
            <a:endParaRPr sz="2400" dirty="0">
              <a:solidFill>
                <a:srgbClr val="484848"/>
              </a:solidFill>
              <a:latin typeface="微軟正黑體" panose="020B0604030504040204" pitchFamily="34" charset="-120"/>
              <a:ea typeface="微軟正黑體" panose="020B0604030504040204" pitchFamily="34" charset="-120"/>
            </a:endParaRPr>
          </a:p>
        </p:txBody>
      </p:sp>
      <p:sp>
        <p:nvSpPr>
          <p:cNvPr id="4" name="TextBox 10">
            <a:extLst>
              <a:ext uri="{FF2B5EF4-FFF2-40B4-BE49-F238E27FC236}">
                <a16:creationId xmlns:a16="http://schemas.microsoft.com/office/drawing/2014/main" id="{C0D617BF-93C8-FADC-5D07-E8ECC54A0B5C}"/>
              </a:ext>
            </a:extLst>
          </p:cNvPr>
          <p:cNvSpPr txBox="1"/>
          <p:nvPr/>
        </p:nvSpPr>
        <p:spPr>
          <a:xfrm>
            <a:off x="8808073" y="3429000"/>
            <a:ext cx="2619432" cy="1184940"/>
          </a:xfrm>
          <a:prstGeom prst="rect">
            <a:avLst/>
          </a:prstGeom>
          <a:noFill/>
          <a:ln>
            <a:noFill/>
          </a:ln>
        </p:spPr>
        <p:txBody>
          <a:bodyPr wrap="square" lIns="0" tIns="0" rIns="0" bIns="0" anchor="t">
            <a:spAutoFit/>
          </a:bodyPr>
          <a:lstStyle/>
          <a:p>
            <a:pPr>
              <a:spcBef>
                <a:spcPts val="600"/>
              </a:spcBef>
            </a:pPr>
            <a:r>
              <a:rPr lang="zh-TW" altLang="en-US" sz="2400" b="1" u="sng" dirty="0">
                <a:solidFill>
                  <a:srgbClr val="484848"/>
                </a:solidFill>
                <a:latin typeface="微軟正黑體" panose="020B0604030504040204" pitchFamily="34" charset="-120"/>
                <a:ea typeface="微軟正黑體" panose="020B0604030504040204" pitchFamily="34" charset="-120"/>
              </a:rPr>
              <a:t>瓦斯同業加盟策略</a:t>
            </a:r>
            <a:r>
              <a:rPr lang="zh-TW" altLang="en-US" sz="2400" dirty="0">
                <a:solidFill>
                  <a:srgbClr val="484848"/>
                </a:solidFill>
                <a:latin typeface="微軟正黑體" panose="020B0604030504040204" pitchFamily="34" charset="-120"/>
                <a:ea typeface="微軟正黑體" panose="020B0604030504040204" pitchFamily="34" charset="-120"/>
              </a:rPr>
              <a:t/>
            </a:r>
            <a:br>
              <a:rPr lang="zh-TW" altLang="en-US" sz="2400" dirty="0">
                <a:solidFill>
                  <a:srgbClr val="484848"/>
                </a:solidFill>
                <a:latin typeface="微軟正黑體" panose="020B0604030504040204" pitchFamily="34" charset="-120"/>
                <a:ea typeface="微軟正黑體" panose="020B0604030504040204" pitchFamily="34" charset="-120"/>
              </a:rPr>
            </a:br>
            <a:r>
              <a:rPr lang="en-US" altLang="zh-TW" sz="2400" dirty="0">
                <a:solidFill>
                  <a:srgbClr val="484848"/>
                </a:solidFill>
                <a:latin typeface="微軟正黑體" panose="020B0604030504040204" pitchFamily="34" charset="-120"/>
                <a:ea typeface="微軟正黑體" panose="020B0604030504040204" pitchFamily="34" charset="-120"/>
              </a:rPr>
              <a:t>1. </a:t>
            </a:r>
            <a:r>
              <a:rPr lang="zh-TW" altLang="en-US" sz="2400" dirty="0">
                <a:solidFill>
                  <a:srgbClr val="484848"/>
                </a:solidFill>
                <a:latin typeface="微軟正黑體" panose="020B0604030504040204" pitchFamily="34" charset="-120"/>
                <a:ea typeface="微軟正黑體" panose="020B0604030504040204" pitchFamily="34" charset="-120"/>
              </a:rPr>
              <a:t>供應商合作</a:t>
            </a:r>
            <a:endParaRPr lang="en-US" altLang="zh-TW" sz="2400" dirty="0">
              <a:solidFill>
                <a:srgbClr val="484848"/>
              </a:solidFill>
              <a:latin typeface="微軟正黑體" panose="020B0604030504040204" pitchFamily="34" charset="-120"/>
              <a:ea typeface="微軟正黑體" panose="020B0604030504040204" pitchFamily="34" charset="-120"/>
            </a:endParaRPr>
          </a:p>
          <a:p>
            <a:pPr>
              <a:spcBef>
                <a:spcPts val="600"/>
              </a:spcBef>
            </a:pPr>
            <a:r>
              <a:rPr lang="en-US" altLang="zh-TW" sz="2400" dirty="0">
                <a:solidFill>
                  <a:srgbClr val="484848"/>
                </a:solidFill>
                <a:latin typeface="微軟正黑體" panose="020B0604030504040204" pitchFamily="34" charset="-120"/>
                <a:ea typeface="微軟正黑體" panose="020B0604030504040204" pitchFamily="34" charset="-120"/>
              </a:rPr>
              <a:t>2. </a:t>
            </a:r>
            <a:r>
              <a:rPr lang="zh-TW" altLang="en-US" sz="2400" dirty="0">
                <a:solidFill>
                  <a:srgbClr val="484848"/>
                </a:solidFill>
                <a:latin typeface="微軟正黑體" panose="020B0604030504040204" pitchFamily="34" charset="-120"/>
                <a:ea typeface="微軟正黑體" panose="020B0604030504040204" pitchFamily="34" charset="-120"/>
              </a:rPr>
              <a:t>夥伴轉加盟</a:t>
            </a:r>
            <a:endParaRPr sz="2400" dirty="0">
              <a:solidFill>
                <a:srgbClr val="484848"/>
              </a:solidFill>
              <a:latin typeface="微軟正黑體" panose="020B0604030504040204" pitchFamily="34" charset="-120"/>
              <a:ea typeface="微軟正黑體" panose="020B0604030504040204" pitchFamily="34" charset="-120"/>
            </a:endParaRPr>
          </a:p>
        </p:txBody>
      </p:sp>
      <p:grpSp>
        <p:nvGrpSpPr>
          <p:cNvPr id="76" name="群組 75">
            <a:extLst>
              <a:ext uri="{FF2B5EF4-FFF2-40B4-BE49-F238E27FC236}">
                <a16:creationId xmlns:a16="http://schemas.microsoft.com/office/drawing/2014/main" id="{A09B31D6-D4CE-9BEB-12AF-936923F7BB16}"/>
              </a:ext>
            </a:extLst>
          </p:cNvPr>
          <p:cNvGrpSpPr/>
          <p:nvPr/>
        </p:nvGrpSpPr>
        <p:grpSpPr>
          <a:xfrm>
            <a:off x="3548008" y="1554570"/>
            <a:ext cx="5089852" cy="4853502"/>
            <a:chOff x="3635733" y="705822"/>
            <a:chExt cx="4920533" cy="5114608"/>
          </a:xfrm>
        </p:grpSpPr>
        <p:pic>
          <p:nvPicPr>
            <p:cNvPr id="1028" name="Picture 4">
              <a:extLst>
                <a:ext uri="{FF2B5EF4-FFF2-40B4-BE49-F238E27FC236}">
                  <a16:creationId xmlns:a16="http://schemas.microsoft.com/office/drawing/2014/main" id="{32D09123-EC23-0126-E858-491A53EC74D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67" r="18484"/>
            <a:stretch>
              <a:fillRect/>
            </a:stretch>
          </p:blipFill>
          <p:spPr bwMode="auto">
            <a:xfrm>
              <a:off x="3635733" y="705822"/>
              <a:ext cx="4920533" cy="5114608"/>
            </a:xfrm>
            <a:prstGeom prst="rect">
              <a:avLst/>
            </a:prstGeom>
            <a:noFill/>
            <a:extLst>
              <a:ext uri="{909E8E84-426E-40DD-AFC4-6F175D3DCCD1}">
                <a14:hiddenFill xmlns:a14="http://schemas.microsoft.com/office/drawing/2010/main">
                  <a:solidFill>
                    <a:srgbClr val="FFFFFF"/>
                  </a:solidFill>
                </a14:hiddenFill>
              </a:ext>
            </a:extLst>
          </p:spPr>
        </p:pic>
        <p:pic>
          <p:nvPicPr>
            <p:cNvPr id="73" name="圖片 72">
              <a:extLst>
                <a:ext uri="{FF2B5EF4-FFF2-40B4-BE49-F238E27FC236}">
                  <a16:creationId xmlns:a16="http://schemas.microsoft.com/office/drawing/2014/main" id="{3EBEC1A7-99F9-06D8-4705-13A3F23FAC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06214" y="3012015"/>
              <a:ext cx="855899" cy="855899"/>
            </a:xfrm>
            <a:prstGeom prst="rect">
              <a:avLst/>
            </a:prstGeom>
          </p:spPr>
        </p:pic>
        <p:pic>
          <p:nvPicPr>
            <p:cNvPr id="74" name="圖片 73">
              <a:extLst>
                <a:ext uri="{FF2B5EF4-FFF2-40B4-BE49-F238E27FC236}">
                  <a16:creationId xmlns:a16="http://schemas.microsoft.com/office/drawing/2014/main" id="{F64DC306-1AE1-77F9-092C-278C19E313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86517" y="3012015"/>
              <a:ext cx="826532" cy="826532"/>
            </a:xfrm>
            <a:prstGeom prst="rect">
              <a:avLst/>
            </a:prstGeom>
          </p:spPr>
        </p:pic>
      </p:grpSp>
      <p:sp>
        <p:nvSpPr>
          <p:cNvPr id="3" name="TextBox 10">
            <a:extLst>
              <a:ext uri="{FF2B5EF4-FFF2-40B4-BE49-F238E27FC236}">
                <a16:creationId xmlns:a16="http://schemas.microsoft.com/office/drawing/2014/main" id="{49F76AC1-4501-DCF2-D9DE-950E5AEDB005}"/>
              </a:ext>
            </a:extLst>
          </p:cNvPr>
          <p:cNvSpPr txBox="1"/>
          <p:nvPr/>
        </p:nvSpPr>
        <p:spPr>
          <a:xfrm>
            <a:off x="4364045" y="1061665"/>
            <a:ext cx="3457777" cy="1261884"/>
          </a:xfrm>
          <a:prstGeom prst="rect">
            <a:avLst/>
          </a:prstGeom>
          <a:noFill/>
          <a:ln>
            <a:noFill/>
          </a:ln>
        </p:spPr>
        <p:txBody>
          <a:bodyPr wrap="square" lIns="0" tIns="0" rIns="0" bIns="0" anchor="t">
            <a:spAutoFit/>
          </a:bodyPr>
          <a:lstStyle/>
          <a:p>
            <a:pPr algn="ctr">
              <a:spcBef>
                <a:spcPts val="600"/>
              </a:spcBef>
            </a:pPr>
            <a:r>
              <a:rPr lang="zh-TW" altLang="en-US" sz="2400" b="1" u="sng" dirty="0">
                <a:solidFill>
                  <a:srgbClr val="484848"/>
                </a:solidFill>
                <a:latin typeface="微軟正黑體" panose="020B0604030504040204" pitchFamily="34" charset="-120"/>
                <a:ea typeface="微軟正黑體" panose="020B0604030504040204" pitchFamily="34" charset="-120"/>
              </a:rPr>
              <a:t>智能自取系統策略  </a:t>
            </a:r>
            <a:endParaRPr lang="en-US" altLang="zh-TW" sz="2400" b="1" u="sng" dirty="0">
              <a:solidFill>
                <a:srgbClr val="484848"/>
              </a:solidFill>
              <a:latin typeface="微軟正黑體" panose="020B0604030504040204" pitchFamily="34" charset="-120"/>
              <a:ea typeface="微軟正黑體" panose="020B0604030504040204" pitchFamily="34" charset="-120"/>
            </a:endParaRPr>
          </a:p>
          <a:p>
            <a:pPr>
              <a:spcBef>
                <a:spcPts val="600"/>
              </a:spcBef>
            </a:pPr>
            <a:r>
              <a:rPr lang="en-US" altLang="zh-TW" sz="2400" dirty="0">
                <a:solidFill>
                  <a:srgbClr val="484848"/>
                </a:solidFill>
                <a:latin typeface="微軟正黑體" panose="020B0604030504040204" pitchFamily="34" charset="-120"/>
                <a:ea typeface="微軟正黑體" panose="020B0604030504040204" pitchFamily="34" charset="-120"/>
              </a:rPr>
              <a:t>1. OMO </a:t>
            </a:r>
            <a:r>
              <a:rPr lang="zh-TW" altLang="en-US" sz="2400" dirty="0">
                <a:solidFill>
                  <a:srgbClr val="484848"/>
                </a:solidFill>
                <a:latin typeface="微軟正黑體" panose="020B0604030504040204" pitchFamily="34" charset="-120"/>
                <a:ea typeface="微軟正黑體" panose="020B0604030504040204" pitchFamily="34" charset="-120"/>
              </a:rPr>
              <a:t>供應平台的載體</a:t>
            </a:r>
            <a:endParaRPr lang="en-US" altLang="zh-TW" sz="2400" dirty="0">
              <a:solidFill>
                <a:srgbClr val="484848"/>
              </a:solidFill>
              <a:latin typeface="微軟正黑體" panose="020B0604030504040204" pitchFamily="34" charset="-120"/>
              <a:ea typeface="微軟正黑體" panose="020B0604030504040204" pitchFamily="34" charset="-120"/>
            </a:endParaRPr>
          </a:p>
          <a:p>
            <a:pPr>
              <a:spcBef>
                <a:spcPts val="600"/>
              </a:spcBef>
            </a:pPr>
            <a:r>
              <a:rPr lang="en-US" altLang="zh-TW" sz="2400" dirty="0">
                <a:solidFill>
                  <a:srgbClr val="484848"/>
                </a:solidFill>
                <a:latin typeface="微軟正黑體" panose="020B0604030504040204" pitchFamily="34" charset="-120"/>
                <a:ea typeface="微軟正黑體" panose="020B0604030504040204" pitchFamily="34" charset="-120"/>
              </a:rPr>
              <a:t>2. </a:t>
            </a:r>
            <a:r>
              <a:rPr lang="zh-TW" altLang="en-US" sz="2400" dirty="0">
                <a:solidFill>
                  <a:srgbClr val="484848"/>
                </a:solidFill>
                <a:latin typeface="微軟正黑體" panose="020B0604030504040204" pitchFamily="34" charset="-120"/>
                <a:ea typeface="微軟正黑體" panose="020B0604030504040204" pitchFamily="34" charset="-120"/>
              </a:rPr>
              <a:t>快速複製與擴張的關鍵</a:t>
            </a:r>
            <a:endParaRPr sz="2400" dirty="0">
              <a:solidFill>
                <a:srgbClr val="484848"/>
              </a:solidFill>
              <a:latin typeface="微軟正黑體" panose="020B0604030504040204" pitchFamily="34" charset="-120"/>
              <a:ea typeface="微軟正黑體" panose="020B0604030504040204" pitchFamily="34" charset="-120"/>
            </a:endParaRPr>
          </a:p>
        </p:txBody>
      </p:sp>
      <p:pic>
        <p:nvPicPr>
          <p:cNvPr id="5" name="圖片 4">
            <a:extLst>
              <a:ext uri="{FF2B5EF4-FFF2-40B4-BE49-F238E27FC236}">
                <a16:creationId xmlns:a16="http://schemas.microsoft.com/office/drawing/2014/main" id="{0301705A-016F-6580-08AE-C4BCF3639A8A}"/>
              </a:ext>
            </a:extLst>
          </p:cNvPr>
          <p:cNvPicPr>
            <a:picLocks noChangeAspect="1"/>
          </p:cNvPicPr>
          <p:nvPr/>
        </p:nvPicPr>
        <p:blipFill>
          <a:blip r:embed="rId6"/>
          <a:srcRect l="25619" t="38515" r="41870" b="-3955"/>
          <a:stretch>
            <a:fillRect/>
          </a:stretch>
        </p:blipFill>
        <p:spPr>
          <a:xfrm>
            <a:off x="5528316" y="3429000"/>
            <a:ext cx="1219325" cy="1550470"/>
          </a:xfrm>
          <a:prstGeom prst="rect">
            <a:avLst/>
          </a:prstGeom>
        </p:spPr>
      </p:pic>
    </p:spTree>
    <p:extLst>
      <p:ext uri="{BB962C8B-B14F-4D97-AF65-F5344CB8AC3E}">
        <p14:creationId xmlns:p14="http://schemas.microsoft.com/office/powerpoint/2010/main" val="6316710"/>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142DA-F0CF-9D43-654C-5D12517AFB9F}"/>
            </a:ext>
          </a:extLst>
        </p:cNvPr>
        <p:cNvGrpSpPr/>
        <p:nvPr/>
      </p:nvGrpSpPr>
      <p:grpSpPr>
        <a:xfrm>
          <a:off x="0" y="0"/>
          <a:ext cx="0" cy="0"/>
          <a:chOff x="0" y="0"/>
          <a:chExt cx="0" cy="0"/>
        </a:xfrm>
      </p:grpSpPr>
      <p:sp>
        <p:nvSpPr>
          <p:cNvPr id="42" name="投影片編號版面配置區 1">
            <a:extLst>
              <a:ext uri="{FF2B5EF4-FFF2-40B4-BE49-F238E27FC236}">
                <a16:creationId xmlns:a16="http://schemas.microsoft.com/office/drawing/2014/main" id="{E72A6DEB-0B84-C3CA-2289-6BB5A798DA63}"/>
              </a:ext>
            </a:extLst>
          </p:cNvPr>
          <p:cNvSpPr>
            <a:spLocks noGrp="1"/>
          </p:cNvSpPr>
          <p:nvPr>
            <p:ph type="sldNum" sz="quarter" idx="12"/>
          </p:nvPr>
        </p:nvSpPr>
        <p:spPr>
          <a:xfrm>
            <a:off x="9443573" y="6484267"/>
            <a:ext cx="2743200" cy="365125"/>
          </a:xfrm>
        </p:spPr>
        <p:txBody>
          <a:bodyPr/>
          <a:lstStyle/>
          <a:p>
            <a:fld id="{2E95FD34-61D0-4C5A-B773-4E2676150C65}" type="slidenum">
              <a:rPr lang="zh-TW" altLang="en-US" smtClean="0"/>
              <a:t>3</a:t>
            </a:fld>
            <a:endParaRPr lang="zh-TW" altLang="en-US" dirty="0"/>
          </a:p>
        </p:txBody>
      </p:sp>
      <p:sp>
        <p:nvSpPr>
          <p:cNvPr id="44" name="文字方塊 4">
            <a:extLst>
              <a:ext uri="{FF2B5EF4-FFF2-40B4-BE49-F238E27FC236}">
                <a16:creationId xmlns:a16="http://schemas.microsoft.com/office/drawing/2014/main" id="{4BCD35D7-A273-26F9-62DA-4DB1E64A1702}"/>
              </a:ext>
            </a:extLst>
          </p:cNvPr>
          <p:cNvSpPr txBox="1"/>
          <p:nvPr/>
        </p:nvSpPr>
        <p:spPr>
          <a:xfrm>
            <a:off x="161153" y="383802"/>
            <a:ext cx="7973032" cy="646331"/>
          </a:xfrm>
          <a:prstGeom prst="rect">
            <a:avLst/>
          </a:prstGeom>
          <a:noFill/>
        </p:spPr>
        <p:txBody>
          <a:bodyPr wrap="square" lIns="91440" tIns="45720" rIns="91440" bIns="45720" anchor="t">
            <a:spAutoFit/>
          </a:bodyPr>
          <a:lstStyle/>
          <a:p>
            <a:r>
              <a:rPr lang="en-US" altLang="zh-TW" sz="3600" b="1" dirty="0">
                <a:latin typeface="微軟正黑體" pitchFamily="34" charset="-120"/>
                <a:ea typeface="微軟正黑體" pitchFamily="34" charset="-120"/>
              </a:rPr>
              <a:t>2026</a:t>
            </a:r>
            <a:r>
              <a:rPr lang="zh-TW" altLang="en-US" sz="3600" b="1" dirty="0">
                <a:latin typeface="微軟正黑體" pitchFamily="34" charset="-120"/>
                <a:ea typeface="微軟正黑體" pitchFamily="34" charset="-120"/>
              </a:rPr>
              <a:t>推進目標</a:t>
            </a:r>
          </a:p>
        </p:txBody>
      </p:sp>
      <p:sp>
        <p:nvSpPr>
          <p:cNvPr id="62" name="TextBox 10">
            <a:extLst>
              <a:ext uri="{FF2B5EF4-FFF2-40B4-BE49-F238E27FC236}">
                <a16:creationId xmlns:a16="http://schemas.microsoft.com/office/drawing/2014/main" id="{4174A31C-F098-291A-70B3-BC0D9EBFC0D7}"/>
              </a:ext>
            </a:extLst>
          </p:cNvPr>
          <p:cNvSpPr txBox="1"/>
          <p:nvPr/>
        </p:nvSpPr>
        <p:spPr>
          <a:xfrm>
            <a:off x="459650" y="1618215"/>
            <a:ext cx="2850139" cy="1040158"/>
          </a:xfrm>
          <a:prstGeom prst="rect">
            <a:avLst/>
          </a:prstGeom>
          <a:noFill/>
          <a:ln>
            <a:noFill/>
          </a:ln>
        </p:spPr>
        <p:txBody>
          <a:bodyPr wrap="none" lIns="0" tIns="0" rIns="0" bIns="0" anchor="t">
            <a:spAutoFit/>
          </a:bodyPr>
          <a:lstStyle/>
          <a:p>
            <a:pPr algn="ctr">
              <a:lnSpc>
                <a:spcPct val="150000"/>
              </a:lnSpc>
            </a:pPr>
            <a:r>
              <a:rPr lang="zh-TW" altLang="en-US" sz="2400" b="0" dirty="0">
                <a:solidFill>
                  <a:srgbClr val="484848"/>
                </a:solidFill>
                <a:latin typeface="微軟正黑體" panose="020B0604030504040204" pitchFamily="34" charset="-120"/>
                <a:ea typeface="微軟正黑體" panose="020B0604030504040204" pitchFamily="34" charset="-120"/>
              </a:rPr>
              <a:t>零售通路結盟策略</a:t>
            </a:r>
            <a:endParaRPr lang="en-US" altLang="zh-TW" sz="2400" b="0" dirty="0">
              <a:solidFill>
                <a:srgbClr val="484848"/>
              </a:solidFill>
              <a:latin typeface="微軟正黑體" panose="020B0604030504040204" pitchFamily="34" charset="-120"/>
              <a:ea typeface="微軟正黑體" panose="020B0604030504040204" pitchFamily="34" charset="-120"/>
            </a:endParaRPr>
          </a:p>
          <a:p>
            <a:pPr algn="ctr">
              <a:lnSpc>
                <a:spcPct val="150000"/>
              </a:lnSpc>
            </a:pPr>
            <a:r>
              <a:rPr lang="en-US" sz="2400" dirty="0">
                <a:solidFill>
                  <a:srgbClr val="484848"/>
                </a:solidFill>
                <a:latin typeface="微軟正黑體" panose="020B0604030504040204" pitchFamily="34" charset="-120"/>
                <a:ea typeface="微軟正黑體" panose="020B0604030504040204" pitchFamily="34" charset="-120"/>
              </a:rPr>
              <a:t>(44</a:t>
            </a:r>
            <a:r>
              <a:rPr lang="zh-TW" altLang="en-US" sz="2400" dirty="0">
                <a:solidFill>
                  <a:srgbClr val="484848"/>
                </a:solidFill>
                <a:latin typeface="微軟正黑體" panose="020B0604030504040204" pitchFamily="34" charset="-120"/>
                <a:ea typeface="微軟正黑體" panose="020B0604030504040204" pitchFamily="34" charset="-120"/>
              </a:rPr>
              <a:t>據點 </a:t>
            </a:r>
            <a:r>
              <a:rPr lang="en-US" altLang="zh-TW" sz="2400" dirty="0">
                <a:solidFill>
                  <a:srgbClr val="484848"/>
                </a:solidFill>
                <a:latin typeface="微軟正黑體" panose="020B0604030504040204" pitchFamily="34" charset="-120"/>
                <a:ea typeface="微軟正黑體" panose="020B0604030504040204" pitchFamily="34" charset="-120"/>
              </a:rPr>
              <a:t>/ 1,216</a:t>
            </a:r>
            <a:r>
              <a:rPr lang="zh-TW" altLang="en-US" sz="2400" dirty="0">
                <a:solidFill>
                  <a:srgbClr val="484848"/>
                </a:solidFill>
                <a:latin typeface="微軟正黑體" panose="020B0604030504040204" pitchFamily="34" charset="-120"/>
                <a:ea typeface="微軟正黑體" panose="020B0604030504040204" pitchFamily="34" charset="-120"/>
              </a:rPr>
              <a:t>會員</a:t>
            </a:r>
            <a:r>
              <a:rPr lang="en-US" altLang="zh-TW" sz="2400" dirty="0">
                <a:solidFill>
                  <a:srgbClr val="484848"/>
                </a:solidFill>
                <a:latin typeface="微軟正黑體" panose="020B0604030504040204" pitchFamily="34" charset="-120"/>
                <a:ea typeface="微軟正黑體" panose="020B0604030504040204" pitchFamily="34" charset="-120"/>
              </a:rPr>
              <a:t>)</a:t>
            </a:r>
            <a:endParaRPr sz="2400" b="0" dirty="0">
              <a:solidFill>
                <a:srgbClr val="484848"/>
              </a:solidFill>
              <a:latin typeface="微軟正黑體" panose="020B0604030504040204" pitchFamily="34" charset="-120"/>
              <a:ea typeface="微軟正黑體" panose="020B0604030504040204" pitchFamily="34" charset="-120"/>
            </a:endParaRPr>
          </a:p>
        </p:txBody>
      </p:sp>
      <p:sp>
        <p:nvSpPr>
          <p:cNvPr id="63" name="TextBox 11">
            <a:extLst>
              <a:ext uri="{FF2B5EF4-FFF2-40B4-BE49-F238E27FC236}">
                <a16:creationId xmlns:a16="http://schemas.microsoft.com/office/drawing/2014/main" id="{DF49DEB5-7E59-6A56-0094-78FFF2D6E6DA}"/>
              </a:ext>
            </a:extLst>
          </p:cNvPr>
          <p:cNvSpPr txBox="1"/>
          <p:nvPr/>
        </p:nvSpPr>
        <p:spPr>
          <a:xfrm>
            <a:off x="9443573" y="1981261"/>
            <a:ext cx="2519842" cy="1040158"/>
          </a:xfrm>
          <a:prstGeom prst="rect">
            <a:avLst/>
          </a:prstGeom>
          <a:noFill/>
          <a:ln>
            <a:noFill/>
          </a:ln>
        </p:spPr>
        <p:txBody>
          <a:bodyPr wrap="square" lIns="0" tIns="0" rIns="0" bIns="0" anchor="t">
            <a:spAutoFit/>
          </a:bodyPr>
          <a:lstStyle/>
          <a:p>
            <a:pPr algn="ctr">
              <a:lnSpc>
                <a:spcPct val="150000"/>
              </a:lnSpc>
            </a:pPr>
            <a:r>
              <a:rPr lang="zh-TW" altLang="en-US" sz="2400" b="0" dirty="0">
                <a:solidFill>
                  <a:srgbClr val="484848"/>
                </a:solidFill>
                <a:latin typeface="微軟正黑體" panose="020B0604030504040204" pitchFamily="34" charset="-120"/>
                <a:ea typeface="微軟正黑體" panose="020B0604030504040204" pitchFamily="34" charset="-120"/>
              </a:rPr>
              <a:t>智能自取系統策略</a:t>
            </a:r>
            <a:endParaRPr lang="en-US" altLang="zh-TW" sz="2400" b="0" dirty="0">
              <a:solidFill>
                <a:srgbClr val="484848"/>
              </a:solidFill>
              <a:latin typeface="微軟正黑體" panose="020B0604030504040204" pitchFamily="34" charset="-120"/>
              <a:ea typeface="微軟正黑體" panose="020B0604030504040204" pitchFamily="34" charset="-120"/>
            </a:endParaRPr>
          </a:p>
          <a:p>
            <a:pPr algn="ctr">
              <a:lnSpc>
                <a:spcPct val="150000"/>
              </a:lnSpc>
            </a:pPr>
            <a:r>
              <a:rPr lang="en-US" sz="2400" dirty="0">
                <a:solidFill>
                  <a:srgbClr val="484848"/>
                </a:solidFill>
                <a:latin typeface="微軟正黑體" panose="020B0604030504040204" pitchFamily="34" charset="-120"/>
                <a:ea typeface="微軟正黑體" panose="020B0604030504040204" pitchFamily="34" charset="-120"/>
              </a:rPr>
              <a:t>(9</a:t>
            </a:r>
            <a:r>
              <a:rPr lang="zh-TW" altLang="en-US" sz="2400" dirty="0">
                <a:solidFill>
                  <a:srgbClr val="484848"/>
                </a:solidFill>
                <a:latin typeface="微軟正黑體" panose="020B0604030504040204" pitchFamily="34" charset="-120"/>
                <a:ea typeface="微軟正黑體" panose="020B0604030504040204" pitchFamily="34" charset="-120"/>
              </a:rPr>
              <a:t>櫃</a:t>
            </a:r>
            <a:r>
              <a:rPr lang="en-US" altLang="zh-TW" sz="2400" dirty="0">
                <a:solidFill>
                  <a:srgbClr val="484848"/>
                </a:solidFill>
                <a:latin typeface="微軟正黑體" panose="020B0604030504040204" pitchFamily="34" charset="-120"/>
                <a:ea typeface="微軟正黑體" panose="020B0604030504040204" pitchFamily="34" charset="-120"/>
              </a:rPr>
              <a:t>)</a:t>
            </a:r>
            <a:endParaRPr sz="2400" b="0" dirty="0">
              <a:solidFill>
                <a:srgbClr val="484848"/>
              </a:solidFill>
              <a:latin typeface="微軟正黑體" panose="020B0604030504040204" pitchFamily="34" charset="-120"/>
              <a:ea typeface="微軟正黑體" panose="020B0604030504040204" pitchFamily="34" charset="-120"/>
            </a:endParaRPr>
          </a:p>
        </p:txBody>
      </p:sp>
      <p:sp>
        <p:nvSpPr>
          <p:cNvPr id="64" name="TextBox 12">
            <a:extLst>
              <a:ext uri="{FF2B5EF4-FFF2-40B4-BE49-F238E27FC236}">
                <a16:creationId xmlns:a16="http://schemas.microsoft.com/office/drawing/2014/main" id="{72A33F94-DA8E-852F-4D09-9770CA630082}"/>
              </a:ext>
            </a:extLst>
          </p:cNvPr>
          <p:cNvSpPr txBox="1"/>
          <p:nvPr/>
        </p:nvSpPr>
        <p:spPr>
          <a:xfrm>
            <a:off x="703238" y="4170222"/>
            <a:ext cx="2462213" cy="1040158"/>
          </a:xfrm>
          <a:prstGeom prst="rect">
            <a:avLst/>
          </a:prstGeom>
          <a:noFill/>
          <a:ln>
            <a:noFill/>
          </a:ln>
        </p:spPr>
        <p:txBody>
          <a:bodyPr wrap="none" lIns="0" tIns="0" rIns="0" bIns="0" anchor="t">
            <a:spAutoFit/>
          </a:bodyPr>
          <a:lstStyle/>
          <a:p>
            <a:pPr algn="ctr">
              <a:lnSpc>
                <a:spcPct val="150000"/>
              </a:lnSpc>
            </a:pPr>
            <a:r>
              <a:rPr lang="zh-TW" altLang="en-US" sz="2400" b="0" dirty="0">
                <a:solidFill>
                  <a:srgbClr val="484848"/>
                </a:solidFill>
                <a:latin typeface="微軟正黑體" panose="020B0604030504040204" pitchFamily="34" charset="-120"/>
                <a:ea typeface="微軟正黑體" panose="020B0604030504040204" pitchFamily="34" charset="-120"/>
              </a:rPr>
              <a:t>瓦斯同業加盟策略</a:t>
            </a:r>
            <a:endParaRPr lang="en-US" altLang="zh-TW" sz="2400" b="0" dirty="0">
              <a:solidFill>
                <a:srgbClr val="484848"/>
              </a:solidFill>
              <a:latin typeface="微軟正黑體" panose="020B0604030504040204" pitchFamily="34" charset="-120"/>
              <a:ea typeface="微軟正黑體" panose="020B0604030504040204" pitchFamily="34" charset="-120"/>
            </a:endParaRPr>
          </a:p>
          <a:p>
            <a:pPr algn="ctr">
              <a:lnSpc>
                <a:spcPct val="150000"/>
              </a:lnSpc>
            </a:pPr>
            <a:r>
              <a:rPr lang="en-US" sz="2400" b="0" dirty="0">
                <a:solidFill>
                  <a:srgbClr val="484848"/>
                </a:solidFill>
                <a:latin typeface="微軟正黑體" panose="020B0604030504040204" pitchFamily="34" charset="-120"/>
                <a:ea typeface="微軟正黑體" panose="020B0604030504040204" pitchFamily="34" charset="-120"/>
              </a:rPr>
              <a:t>(9</a:t>
            </a:r>
            <a:r>
              <a:rPr lang="zh-TW" altLang="en-US" sz="2400" b="0" dirty="0">
                <a:solidFill>
                  <a:srgbClr val="484848"/>
                </a:solidFill>
                <a:latin typeface="微軟正黑體" panose="020B0604030504040204" pitchFamily="34" charset="-120"/>
                <a:ea typeface="微軟正黑體" panose="020B0604030504040204" pitchFamily="34" charset="-120"/>
              </a:rPr>
              <a:t>家 </a:t>
            </a:r>
            <a:r>
              <a:rPr lang="en-US" altLang="zh-TW" sz="2400" b="0" dirty="0">
                <a:solidFill>
                  <a:srgbClr val="484848"/>
                </a:solidFill>
                <a:latin typeface="微軟正黑體" panose="020B0604030504040204" pitchFamily="34" charset="-120"/>
                <a:ea typeface="微軟正黑體" panose="020B0604030504040204" pitchFamily="34" charset="-120"/>
              </a:rPr>
              <a:t>/1,125</a:t>
            </a:r>
            <a:r>
              <a:rPr lang="zh-TW" altLang="en-US" sz="2400" b="0" dirty="0">
                <a:solidFill>
                  <a:srgbClr val="484848"/>
                </a:solidFill>
                <a:latin typeface="微軟正黑體" panose="020B0604030504040204" pitchFamily="34" charset="-120"/>
                <a:ea typeface="微軟正黑體" panose="020B0604030504040204" pitchFamily="34" charset="-120"/>
              </a:rPr>
              <a:t>會員</a:t>
            </a:r>
            <a:r>
              <a:rPr lang="en-US" altLang="zh-TW" sz="2400" b="0" dirty="0">
                <a:solidFill>
                  <a:srgbClr val="484848"/>
                </a:solidFill>
                <a:latin typeface="微軟正黑體" panose="020B0604030504040204" pitchFamily="34" charset="-120"/>
                <a:ea typeface="微軟正黑體" panose="020B0604030504040204" pitchFamily="34" charset="-120"/>
              </a:rPr>
              <a:t>)</a:t>
            </a:r>
            <a:endParaRPr sz="2400" b="0" dirty="0">
              <a:solidFill>
                <a:srgbClr val="484848"/>
              </a:solidFill>
              <a:latin typeface="微軟正黑體" panose="020B0604030504040204" pitchFamily="34" charset="-120"/>
              <a:ea typeface="微軟正黑體" panose="020B0604030504040204" pitchFamily="34" charset="-120"/>
            </a:endParaRPr>
          </a:p>
        </p:txBody>
      </p:sp>
      <p:grpSp>
        <p:nvGrpSpPr>
          <p:cNvPr id="9" name="群組 8">
            <a:extLst>
              <a:ext uri="{FF2B5EF4-FFF2-40B4-BE49-F238E27FC236}">
                <a16:creationId xmlns:a16="http://schemas.microsoft.com/office/drawing/2014/main" id="{DD837FF5-FAE0-6F9A-3A64-919F17DC766B}"/>
              </a:ext>
            </a:extLst>
          </p:cNvPr>
          <p:cNvGrpSpPr/>
          <p:nvPr/>
        </p:nvGrpSpPr>
        <p:grpSpPr>
          <a:xfrm>
            <a:off x="3437084" y="2200317"/>
            <a:ext cx="1350305" cy="1070678"/>
            <a:chOff x="3905023" y="2541704"/>
            <a:chExt cx="1350305" cy="1070678"/>
          </a:xfrm>
        </p:grpSpPr>
        <p:sp>
          <p:nvSpPr>
            <p:cNvPr id="57" name="Rounded Rectangle 5">
              <a:extLst>
                <a:ext uri="{FF2B5EF4-FFF2-40B4-BE49-F238E27FC236}">
                  <a16:creationId xmlns:a16="http://schemas.microsoft.com/office/drawing/2014/main" id="{4B85C3C2-A7D7-23EB-182C-F96A361954DF}"/>
                </a:ext>
              </a:extLst>
            </p:cNvPr>
            <p:cNvSpPr/>
            <p:nvPr/>
          </p:nvSpPr>
          <p:spPr>
            <a:xfrm>
              <a:off x="3905026" y="2541704"/>
              <a:ext cx="1350302" cy="1070677"/>
            </a:xfrm>
            <a:custGeom>
              <a:avLst/>
              <a:gdLst/>
              <a:ahLst/>
              <a:cxnLst/>
              <a:rect l="0" t="0" r="0" b="0"/>
              <a:pathLst>
                <a:path w="935716" h="823312">
                  <a:moveTo>
                    <a:pt x="755427" y="823312"/>
                  </a:moveTo>
                  <a:lnTo>
                    <a:pt x="935716" y="807519"/>
                  </a:lnTo>
                  <a:lnTo>
                    <a:pt x="905741" y="628935"/>
                  </a:lnTo>
                  <a:lnTo>
                    <a:pt x="863907" y="683037"/>
                  </a:lnTo>
                  <a:lnTo>
                    <a:pt x="667445" y="530923"/>
                  </a:lnTo>
                  <a:lnTo>
                    <a:pt x="666083" y="529809"/>
                  </a:lnTo>
                  <a:cubicBezTo>
                    <a:pt x="685695" y="493976"/>
                    <a:pt x="699192" y="454018"/>
                    <a:pt x="704983" y="411127"/>
                  </a:cubicBezTo>
                  <a:cubicBezTo>
                    <a:pt x="730357" y="223456"/>
                    <a:pt x="598789" y="50749"/>
                    <a:pt x="411127" y="25374"/>
                  </a:cubicBezTo>
                  <a:cubicBezTo>
                    <a:pt x="223456" y="0"/>
                    <a:pt x="50749" y="131568"/>
                    <a:pt x="25374" y="319239"/>
                  </a:cubicBezTo>
                  <a:cubicBezTo>
                    <a:pt x="0" y="506910"/>
                    <a:pt x="131568" y="679618"/>
                    <a:pt x="319230" y="704992"/>
                  </a:cubicBezTo>
                  <a:cubicBezTo>
                    <a:pt x="425043" y="719299"/>
                    <a:pt x="526094" y="683714"/>
                    <a:pt x="598665" y="616315"/>
                  </a:cubicBezTo>
                  <a:lnTo>
                    <a:pt x="600370" y="617639"/>
                  </a:lnTo>
                  <a:lnTo>
                    <a:pt x="796851" y="769753"/>
                  </a:lnTo>
                  <a:lnTo>
                    <a:pt x="755427" y="823312"/>
                  </a:lnTo>
                </a:path>
              </a:pathLst>
            </a:custGeom>
            <a:solidFill>
              <a:srgbClr val="3CC583"/>
            </a:solidFill>
            <a:ln>
              <a:noFill/>
            </a:ln>
          </p:spPr>
          <p:txBody>
            <a:bodyPr rtlCol="0" anchor="ctr"/>
            <a:lstStyle/>
            <a:p>
              <a:pPr algn="ctr"/>
              <a:endParaRPr/>
            </a:p>
          </p:txBody>
        </p:sp>
        <p:sp>
          <p:nvSpPr>
            <p:cNvPr id="58" name="Rounded Rectangle 6">
              <a:extLst>
                <a:ext uri="{FF2B5EF4-FFF2-40B4-BE49-F238E27FC236}">
                  <a16:creationId xmlns:a16="http://schemas.microsoft.com/office/drawing/2014/main" id="{9BFC1D50-8720-64B6-D348-56F0FC7D0305}"/>
                </a:ext>
              </a:extLst>
            </p:cNvPr>
            <p:cNvSpPr/>
            <p:nvPr/>
          </p:nvSpPr>
          <p:spPr>
            <a:xfrm>
              <a:off x="3905023" y="2541704"/>
              <a:ext cx="1350303" cy="1070678"/>
            </a:xfrm>
            <a:custGeom>
              <a:avLst/>
              <a:gdLst/>
              <a:ahLst/>
              <a:cxnLst/>
              <a:rect l="0" t="0" r="0" b="0"/>
              <a:pathLst>
                <a:path w="935716" h="823313">
                  <a:moveTo>
                    <a:pt x="755427" y="823313"/>
                  </a:moveTo>
                  <a:lnTo>
                    <a:pt x="935716" y="807520"/>
                  </a:lnTo>
                  <a:lnTo>
                    <a:pt x="905741" y="628936"/>
                  </a:lnTo>
                  <a:lnTo>
                    <a:pt x="863907" y="683038"/>
                  </a:lnTo>
                  <a:lnTo>
                    <a:pt x="667445" y="530924"/>
                  </a:lnTo>
                  <a:lnTo>
                    <a:pt x="666083" y="529810"/>
                  </a:lnTo>
                  <a:cubicBezTo>
                    <a:pt x="685695" y="493976"/>
                    <a:pt x="699192" y="454019"/>
                    <a:pt x="704983" y="411128"/>
                  </a:cubicBezTo>
                  <a:cubicBezTo>
                    <a:pt x="730357" y="223457"/>
                    <a:pt x="598789" y="50748"/>
                    <a:pt x="411127" y="25373"/>
                  </a:cubicBezTo>
                  <a:cubicBezTo>
                    <a:pt x="223456" y="0"/>
                    <a:pt x="50749" y="131569"/>
                    <a:pt x="25374" y="319240"/>
                  </a:cubicBezTo>
                  <a:cubicBezTo>
                    <a:pt x="0" y="506911"/>
                    <a:pt x="131568" y="679619"/>
                    <a:pt x="319230" y="704993"/>
                  </a:cubicBezTo>
                  <a:cubicBezTo>
                    <a:pt x="425043" y="719300"/>
                    <a:pt x="526094" y="683714"/>
                    <a:pt x="598665" y="616316"/>
                  </a:cubicBezTo>
                  <a:lnTo>
                    <a:pt x="600370" y="617640"/>
                  </a:lnTo>
                  <a:lnTo>
                    <a:pt x="796851" y="769754"/>
                  </a:lnTo>
                  <a:lnTo>
                    <a:pt x="755427" y="823313"/>
                  </a:lnTo>
                  <a:close/>
                </a:path>
              </a:pathLst>
            </a:custGeom>
            <a:noFill/>
            <a:ln w="14287">
              <a:solidFill>
                <a:srgbClr val="FFFFFF"/>
              </a:solidFill>
            </a:ln>
          </p:spPr>
          <p:txBody>
            <a:bodyPr rtlCol="0" anchor="ctr"/>
            <a:lstStyle/>
            <a:p>
              <a:pPr algn="ctr"/>
              <a:endParaRPr/>
            </a:p>
          </p:txBody>
        </p:sp>
        <p:sp>
          <p:nvSpPr>
            <p:cNvPr id="65" name="Rounded Rectangle 13">
              <a:extLst>
                <a:ext uri="{FF2B5EF4-FFF2-40B4-BE49-F238E27FC236}">
                  <a16:creationId xmlns:a16="http://schemas.microsoft.com/office/drawing/2014/main" id="{DFFAA55E-34AF-C0EF-7460-D3F11CFD71D4}"/>
                </a:ext>
              </a:extLst>
            </p:cNvPr>
            <p:cNvSpPr/>
            <p:nvPr/>
          </p:nvSpPr>
          <p:spPr>
            <a:xfrm>
              <a:off x="4159615" y="2738258"/>
              <a:ext cx="577013" cy="556662"/>
            </a:xfrm>
            <a:custGeom>
              <a:avLst/>
              <a:gdLst/>
              <a:ahLst/>
              <a:cxnLst/>
              <a:rect l="0" t="0" r="0" b="0"/>
              <a:pathLst>
                <a:path w="427443" h="428053">
                  <a:moveTo>
                    <a:pt x="115690" y="172821"/>
                  </a:moveTo>
                  <a:cubicBezTo>
                    <a:pt x="117150" y="161731"/>
                    <a:pt x="109873" y="151370"/>
                    <a:pt x="98946" y="148981"/>
                  </a:cubicBezTo>
                  <a:cubicBezTo>
                    <a:pt x="88018" y="146592"/>
                    <a:pt x="77081" y="152970"/>
                    <a:pt x="73780" y="163658"/>
                  </a:cubicBezTo>
                  <a:cubicBezTo>
                    <a:pt x="66255" y="186709"/>
                    <a:pt x="53244" y="227876"/>
                    <a:pt x="47110" y="255574"/>
                  </a:cubicBezTo>
                  <a:cubicBezTo>
                    <a:pt x="44753" y="266112"/>
                    <a:pt x="45094" y="277074"/>
                    <a:pt x="48101" y="287445"/>
                  </a:cubicBezTo>
                  <a:lnTo>
                    <a:pt x="0" y="335299"/>
                  </a:lnTo>
                  <a:moveTo>
                    <a:pt x="38176" y="427215"/>
                  </a:moveTo>
                  <a:lnTo>
                    <a:pt x="109708" y="356158"/>
                  </a:lnTo>
                  <a:moveTo>
                    <a:pt x="305257" y="145846"/>
                  </a:moveTo>
                  <a:cubicBezTo>
                    <a:pt x="296437" y="129387"/>
                    <a:pt x="286816" y="112204"/>
                    <a:pt x="278587" y="99231"/>
                  </a:cubicBezTo>
                  <a:cubicBezTo>
                    <a:pt x="272795" y="90125"/>
                    <a:pt x="264810" y="82619"/>
                    <a:pt x="255365" y="77400"/>
                  </a:cubicBezTo>
                  <a:lnTo>
                    <a:pt x="255631" y="0"/>
                  </a:lnTo>
                  <a:moveTo>
                    <a:pt x="163563" y="76"/>
                  </a:moveTo>
                  <a:lnTo>
                    <a:pt x="163220" y="72332"/>
                  </a:lnTo>
                  <a:cubicBezTo>
                    <a:pt x="145158" y="77694"/>
                    <a:pt x="130333" y="90669"/>
                    <a:pt x="122624" y="107861"/>
                  </a:cubicBezTo>
                  <a:moveTo>
                    <a:pt x="156571" y="216560"/>
                  </a:moveTo>
                  <a:cubicBezTo>
                    <a:pt x="148831" y="209414"/>
                    <a:pt x="136829" y="209655"/>
                    <a:pt x="129382" y="217107"/>
                  </a:cubicBezTo>
                  <a:cubicBezTo>
                    <a:pt x="121936" y="224559"/>
                    <a:pt x="121702" y="236561"/>
                    <a:pt x="128854" y="244297"/>
                  </a:cubicBezTo>
                  <a:lnTo>
                    <a:pt x="128530" y="244621"/>
                  </a:lnTo>
                  <a:lnTo>
                    <a:pt x="200615" y="315353"/>
                  </a:lnTo>
                  <a:lnTo>
                    <a:pt x="173050" y="312324"/>
                  </a:lnTo>
                  <a:cubicBezTo>
                    <a:pt x="161960" y="310864"/>
                    <a:pt x="151599" y="318141"/>
                    <a:pt x="149210" y="329069"/>
                  </a:cubicBezTo>
                  <a:cubicBezTo>
                    <a:pt x="146821" y="339996"/>
                    <a:pt x="153199" y="350933"/>
                    <a:pt x="163887" y="354234"/>
                  </a:cubicBezTo>
                  <a:cubicBezTo>
                    <a:pt x="186918" y="361759"/>
                    <a:pt x="228104" y="374751"/>
                    <a:pt x="255803" y="380904"/>
                  </a:cubicBezTo>
                  <a:cubicBezTo>
                    <a:pt x="266343" y="383245"/>
                    <a:pt x="277303" y="382898"/>
                    <a:pt x="287674" y="379895"/>
                  </a:cubicBezTo>
                  <a:lnTo>
                    <a:pt x="335527" y="428053"/>
                  </a:lnTo>
                  <a:moveTo>
                    <a:pt x="225971" y="231609"/>
                  </a:moveTo>
                  <a:lnTo>
                    <a:pt x="178346" y="182879"/>
                  </a:lnTo>
                  <a:cubicBezTo>
                    <a:pt x="170624" y="175603"/>
                    <a:pt x="158516" y="175782"/>
                    <a:pt x="151014" y="183285"/>
                  </a:cubicBezTo>
                  <a:cubicBezTo>
                    <a:pt x="143511" y="190787"/>
                    <a:pt x="143332" y="202895"/>
                    <a:pt x="150609" y="210616"/>
                  </a:cubicBezTo>
                  <a:lnTo>
                    <a:pt x="196234" y="255289"/>
                  </a:lnTo>
                  <a:moveTo>
                    <a:pt x="184327" y="188823"/>
                  </a:moveTo>
                  <a:cubicBezTo>
                    <a:pt x="179125" y="183920"/>
                    <a:pt x="177000" y="176576"/>
                    <a:pt x="178782" y="169653"/>
                  </a:cubicBezTo>
                  <a:cubicBezTo>
                    <a:pt x="180564" y="162729"/>
                    <a:pt x="185970" y="157323"/>
                    <a:pt x="192894" y="155541"/>
                  </a:cubicBezTo>
                  <a:cubicBezTo>
                    <a:pt x="199817" y="153759"/>
                    <a:pt x="207161" y="155884"/>
                    <a:pt x="212064" y="161086"/>
                  </a:cubicBezTo>
                  <a:lnTo>
                    <a:pt x="257689" y="208940"/>
                  </a:lnTo>
                  <a:moveTo>
                    <a:pt x="427443" y="389858"/>
                  </a:moveTo>
                  <a:lnTo>
                    <a:pt x="356387" y="318325"/>
                  </a:lnTo>
                  <a:cubicBezTo>
                    <a:pt x="370009" y="293417"/>
                    <a:pt x="365613" y="262514"/>
                    <a:pt x="345586" y="242392"/>
                  </a:cubicBezTo>
                  <a:lnTo>
                    <a:pt x="251117" y="149047"/>
                  </a:lnTo>
                  <a:lnTo>
                    <a:pt x="251117" y="149047"/>
                  </a:lnTo>
                  <a:cubicBezTo>
                    <a:pt x="244668" y="142667"/>
                    <a:pt x="234558" y="141872"/>
                    <a:pt x="227191" y="147165"/>
                  </a:cubicBezTo>
                  <a:cubicBezTo>
                    <a:pt x="219825" y="152457"/>
                    <a:pt x="217353" y="162293"/>
                    <a:pt x="221341" y="170440"/>
                  </a:cubicBezTo>
                </a:path>
              </a:pathLst>
            </a:custGeom>
            <a:noFill/>
            <a:ln w="14287">
              <a:solidFill>
                <a:srgbClr val="FFFFFF"/>
              </a:solidFill>
            </a:ln>
          </p:spPr>
          <p:txBody>
            <a:bodyPr rtlCol="0" anchor="ctr"/>
            <a:lstStyle/>
            <a:p>
              <a:pPr algn="ctr"/>
              <a:endParaRPr/>
            </a:p>
          </p:txBody>
        </p:sp>
      </p:grpSp>
      <p:grpSp>
        <p:nvGrpSpPr>
          <p:cNvPr id="5" name="群組 4">
            <a:extLst>
              <a:ext uri="{FF2B5EF4-FFF2-40B4-BE49-F238E27FC236}">
                <a16:creationId xmlns:a16="http://schemas.microsoft.com/office/drawing/2014/main" id="{171C12B6-B5C3-3472-0336-8AF1FE5F434C}"/>
              </a:ext>
            </a:extLst>
          </p:cNvPr>
          <p:cNvGrpSpPr/>
          <p:nvPr/>
        </p:nvGrpSpPr>
        <p:grpSpPr>
          <a:xfrm rot="492147">
            <a:off x="8508418" y="2826504"/>
            <a:ext cx="1350302" cy="1070825"/>
            <a:chOff x="7022518" y="2541729"/>
            <a:chExt cx="1350302" cy="1070825"/>
          </a:xfrm>
        </p:grpSpPr>
        <p:sp>
          <p:nvSpPr>
            <p:cNvPr id="43" name="Rounded Rectangle 3">
              <a:extLst>
                <a:ext uri="{FF2B5EF4-FFF2-40B4-BE49-F238E27FC236}">
                  <a16:creationId xmlns:a16="http://schemas.microsoft.com/office/drawing/2014/main" id="{727F1AB0-45E5-131C-4784-90FF21B7E521}"/>
                </a:ext>
              </a:extLst>
            </p:cNvPr>
            <p:cNvSpPr/>
            <p:nvPr/>
          </p:nvSpPr>
          <p:spPr>
            <a:xfrm>
              <a:off x="7022518" y="2541729"/>
              <a:ext cx="1350302" cy="1070825"/>
            </a:xfrm>
            <a:custGeom>
              <a:avLst/>
              <a:gdLst/>
              <a:ahLst/>
              <a:cxnLst/>
              <a:rect l="0" t="0" r="0" b="0"/>
              <a:pathLst>
                <a:path w="935478" h="823426">
                  <a:moveTo>
                    <a:pt x="180270" y="823426"/>
                  </a:moveTo>
                  <a:lnTo>
                    <a:pt x="0" y="807424"/>
                  </a:lnTo>
                  <a:lnTo>
                    <a:pt x="30175" y="628878"/>
                  </a:lnTo>
                  <a:lnTo>
                    <a:pt x="71951" y="683028"/>
                  </a:lnTo>
                  <a:lnTo>
                    <a:pt x="268328" y="531352"/>
                  </a:lnTo>
                  <a:lnTo>
                    <a:pt x="269662" y="530256"/>
                  </a:lnTo>
                  <a:cubicBezTo>
                    <a:pt x="249907" y="494309"/>
                    <a:pt x="236324" y="454180"/>
                    <a:pt x="230495" y="411089"/>
                  </a:cubicBezTo>
                  <a:cubicBezTo>
                    <a:pt x="205139" y="223418"/>
                    <a:pt x="336718" y="50720"/>
                    <a:pt x="524389" y="25355"/>
                  </a:cubicBezTo>
                  <a:cubicBezTo>
                    <a:pt x="712060" y="0"/>
                    <a:pt x="884758" y="131578"/>
                    <a:pt x="910123" y="319249"/>
                  </a:cubicBezTo>
                  <a:cubicBezTo>
                    <a:pt x="935478" y="506920"/>
                    <a:pt x="803900" y="679618"/>
                    <a:pt x="616229" y="704983"/>
                  </a:cubicBezTo>
                  <a:cubicBezTo>
                    <a:pt x="510578" y="719261"/>
                    <a:pt x="409670" y="683799"/>
                    <a:pt x="337127" y="616591"/>
                  </a:cubicBezTo>
                  <a:lnTo>
                    <a:pt x="335365" y="618086"/>
                  </a:lnTo>
                  <a:lnTo>
                    <a:pt x="138912" y="769820"/>
                  </a:lnTo>
                  <a:lnTo>
                    <a:pt x="180270" y="823426"/>
                  </a:lnTo>
                </a:path>
              </a:pathLst>
            </a:custGeom>
            <a:solidFill>
              <a:srgbClr val="92BD39"/>
            </a:solidFill>
            <a:ln>
              <a:noFill/>
            </a:ln>
          </p:spPr>
          <p:txBody>
            <a:bodyPr rtlCol="0" anchor="ctr"/>
            <a:lstStyle/>
            <a:p>
              <a:pPr algn="ctr"/>
              <a:endParaRPr/>
            </a:p>
          </p:txBody>
        </p:sp>
        <p:sp>
          <p:nvSpPr>
            <p:cNvPr id="56" name="Rounded Rectangle 4">
              <a:extLst>
                <a:ext uri="{FF2B5EF4-FFF2-40B4-BE49-F238E27FC236}">
                  <a16:creationId xmlns:a16="http://schemas.microsoft.com/office/drawing/2014/main" id="{6DFBEDDE-D54F-4276-6662-E3E8A4834379}"/>
                </a:ext>
              </a:extLst>
            </p:cNvPr>
            <p:cNvSpPr/>
            <p:nvPr/>
          </p:nvSpPr>
          <p:spPr>
            <a:xfrm>
              <a:off x="7022518" y="2541729"/>
              <a:ext cx="1350302" cy="1070825"/>
            </a:xfrm>
            <a:custGeom>
              <a:avLst/>
              <a:gdLst/>
              <a:ahLst/>
              <a:cxnLst/>
              <a:rect l="0" t="0" r="0" b="0"/>
              <a:pathLst>
                <a:path w="935478" h="823426">
                  <a:moveTo>
                    <a:pt x="180270" y="823426"/>
                  </a:moveTo>
                  <a:lnTo>
                    <a:pt x="0" y="807424"/>
                  </a:lnTo>
                  <a:lnTo>
                    <a:pt x="30175" y="628878"/>
                  </a:lnTo>
                  <a:lnTo>
                    <a:pt x="71951" y="683028"/>
                  </a:lnTo>
                  <a:lnTo>
                    <a:pt x="268328" y="531352"/>
                  </a:lnTo>
                  <a:lnTo>
                    <a:pt x="269662" y="530256"/>
                  </a:lnTo>
                  <a:cubicBezTo>
                    <a:pt x="249907" y="494309"/>
                    <a:pt x="236324" y="454180"/>
                    <a:pt x="230495" y="411089"/>
                  </a:cubicBezTo>
                  <a:cubicBezTo>
                    <a:pt x="205139" y="223418"/>
                    <a:pt x="336718" y="50720"/>
                    <a:pt x="524389" y="25360"/>
                  </a:cubicBezTo>
                  <a:cubicBezTo>
                    <a:pt x="712060" y="0"/>
                    <a:pt x="884758" y="131578"/>
                    <a:pt x="910123" y="319249"/>
                  </a:cubicBezTo>
                  <a:cubicBezTo>
                    <a:pt x="935478" y="506920"/>
                    <a:pt x="803900" y="679618"/>
                    <a:pt x="616229" y="704983"/>
                  </a:cubicBezTo>
                  <a:cubicBezTo>
                    <a:pt x="510578" y="719261"/>
                    <a:pt x="409670" y="683799"/>
                    <a:pt x="337127" y="616591"/>
                  </a:cubicBezTo>
                  <a:lnTo>
                    <a:pt x="335365" y="618086"/>
                  </a:lnTo>
                  <a:lnTo>
                    <a:pt x="138912" y="769820"/>
                  </a:lnTo>
                  <a:lnTo>
                    <a:pt x="180270" y="823426"/>
                  </a:lnTo>
                  <a:close/>
                </a:path>
              </a:pathLst>
            </a:custGeom>
            <a:noFill/>
            <a:ln w="14287">
              <a:solidFill>
                <a:srgbClr val="FFFFFF"/>
              </a:solidFill>
            </a:ln>
          </p:spPr>
          <p:txBody>
            <a:bodyPr rtlCol="0" anchor="ctr"/>
            <a:lstStyle/>
            <a:p>
              <a:pPr algn="ctr"/>
              <a:endParaRPr/>
            </a:p>
          </p:txBody>
        </p:sp>
        <p:sp>
          <p:nvSpPr>
            <p:cNvPr id="66" name="Rounded Rectangle 14">
              <a:extLst>
                <a:ext uri="{FF2B5EF4-FFF2-40B4-BE49-F238E27FC236}">
                  <a16:creationId xmlns:a16="http://schemas.microsoft.com/office/drawing/2014/main" id="{2F38ECAE-A202-0681-3A7F-5FFDEC19E069}"/>
                </a:ext>
              </a:extLst>
            </p:cNvPr>
            <p:cNvSpPr/>
            <p:nvPr/>
          </p:nvSpPr>
          <p:spPr>
            <a:xfrm rot="21107853">
              <a:off x="7568197" y="2768549"/>
              <a:ext cx="591467" cy="520245"/>
            </a:xfrm>
            <a:custGeom>
              <a:avLst/>
              <a:gdLst/>
              <a:ahLst/>
              <a:cxnLst/>
              <a:rect l="0" t="0" r="0" b="0"/>
              <a:pathLst>
                <a:path w="438150" h="400050">
                  <a:moveTo>
                    <a:pt x="276225" y="400050"/>
                  </a:moveTo>
                  <a:lnTo>
                    <a:pt x="161925" y="400050"/>
                  </a:lnTo>
                  <a:cubicBezTo>
                    <a:pt x="178284" y="377765"/>
                    <a:pt x="188173" y="351396"/>
                    <a:pt x="190500" y="323850"/>
                  </a:cubicBezTo>
                  <a:lnTo>
                    <a:pt x="247650" y="323850"/>
                  </a:lnTo>
                  <a:cubicBezTo>
                    <a:pt x="250091" y="351370"/>
                    <a:pt x="259968" y="377709"/>
                    <a:pt x="276225" y="400050"/>
                  </a:cubicBezTo>
                  <a:close/>
                  <a:moveTo>
                    <a:pt x="123825" y="400050"/>
                  </a:moveTo>
                  <a:lnTo>
                    <a:pt x="314325" y="400050"/>
                  </a:lnTo>
                  <a:moveTo>
                    <a:pt x="0" y="266700"/>
                  </a:moveTo>
                  <a:lnTo>
                    <a:pt x="438150" y="266700"/>
                  </a:lnTo>
                  <a:moveTo>
                    <a:pt x="438150" y="304037"/>
                  </a:moveTo>
                  <a:cubicBezTo>
                    <a:pt x="438150" y="314559"/>
                    <a:pt x="429621" y="323087"/>
                    <a:pt x="419100" y="323087"/>
                  </a:cubicBezTo>
                  <a:lnTo>
                    <a:pt x="19050" y="323087"/>
                  </a:lnTo>
                  <a:cubicBezTo>
                    <a:pt x="8528" y="323087"/>
                    <a:pt x="0" y="314559"/>
                    <a:pt x="0" y="304037"/>
                  </a:cubicBezTo>
                  <a:lnTo>
                    <a:pt x="0" y="19050"/>
                  </a:lnTo>
                  <a:cubicBezTo>
                    <a:pt x="0" y="8528"/>
                    <a:pt x="8528" y="0"/>
                    <a:pt x="19050" y="0"/>
                  </a:cubicBezTo>
                  <a:lnTo>
                    <a:pt x="419100" y="0"/>
                  </a:lnTo>
                  <a:cubicBezTo>
                    <a:pt x="429621" y="0"/>
                    <a:pt x="438150" y="8528"/>
                    <a:pt x="438150" y="19050"/>
                  </a:cubicBezTo>
                  <a:close/>
                  <a:moveTo>
                    <a:pt x="278130" y="95250"/>
                  </a:moveTo>
                  <a:lnTo>
                    <a:pt x="152400" y="95250"/>
                  </a:lnTo>
                  <a:cubicBezTo>
                    <a:pt x="148990" y="94970"/>
                    <a:pt x="145701" y="96578"/>
                    <a:pt x="143827" y="99440"/>
                  </a:cubicBezTo>
                  <a:cubicBezTo>
                    <a:pt x="141996" y="102136"/>
                    <a:pt x="141639" y="105570"/>
                    <a:pt x="142875" y="108585"/>
                  </a:cubicBezTo>
                  <a:lnTo>
                    <a:pt x="164211" y="165735"/>
                  </a:lnTo>
                  <a:cubicBezTo>
                    <a:pt x="165689" y="169251"/>
                    <a:pt x="169159" y="171514"/>
                    <a:pt x="172974" y="171450"/>
                  </a:cubicBezTo>
                  <a:lnTo>
                    <a:pt x="250507" y="171450"/>
                  </a:lnTo>
                  <a:cubicBezTo>
                    <a:pt x="254517" y="171448"/>
                    <a:pt x="258097" y="168934"/>
                    <a:pt x="259460" y="165163"/>
                  </a:cubicBezTo>
                  <a:lnTo>
                    <a:pt x="285750" y="66675"/>
                  </a:lnTo>
                  <a:moveTo>
                    <a:pt x="176212" y="200025"/>
                  </a:moveTo>
                  <a:cubicBezTo>
                    <a:pt x="173582" y="200025"/>
                    <a:pt x="171450" y="202157"/>
                    <a:pt x="171450" y="204787"/>
                  </a:cubicBezTo>
                  <a:cubicBezTo>
                    <a:pt x="171450" y="207417"/>
                    <a:pt x="173582" y="209550"/>
                    <a:pt x="176212" y="209550"/>
                  </a:cubicBezTo>
                  <a:cubicBezTo>
                    <a:pt x="178842" y="209550"/>
                    <a:pt x="180975" y="207417"/>
                    <a:pt x="180975" y="204787"/>
                  </a:cubicBezTo>
                  <a:cubicBezTo>
                    <a:pt x="180975" y="202157"/>
                    <a:pt x="178842" y="200025"/>
                    <a:pt x="176212" y="200025"/>
                  </a:cubicBezTo>
                  <a:moveTo>
                    <a:pt x="242887" y="200025"/>
                  </a:moveTo>
                  <a:cubicBezTo>
                    <a:pt x="240257" y="200025"/>
                    <a:pt x="238125" y="202157"/>
                    <a:pt x="238125" y="204787"/>
                  </a:cubicBezTo>
                  <a:cubicBezTo>
                    <a:pt x="238125" y="207417"/>
                    <a:pt x="240257" y="209550"/>
                    <a:pt x="242887" y="209550"/>
                  </a:cubicBezTo>
                  <a:cubicBezTo>
                    <a:pt x="245517" y="209550"/>
                    <a:pt x="247650" y="207417"/>
                    <a:pt x="247650" y="204787"/>
                  </a:cubicBezTo>
                  <a:cubicBezTo>
                    <a:pt x="247650" y="202157"/>
                    <a:pt x="245517" y="200025"/>
                    <a:pt x="242887" y="200025"/>
                  </a:cubicBezTo>
                </a:path>
              </a:pathLst>
            </a:custGeom>
            <a:noFill/>
            <a:ln w="14287">
              <a:solidFill>
                <a:srgbClr val="FFFFFF"/>
              </a:solidFill>
            </a:ln>
          </p:spPr>
          <p:txBody>
            <a:bodyPr rtlCol="0" anchor="ctr"/>
            <a:lstStyle/>
            <a:p>
              <a:pPr algn="ctr"/>
              <a:endParaRPr/>
            </a:p>
          </p:txBody>
        </p:sp>
      </p:grpSp>
      <p:grpSp>
        <p:nvGrpSpPr>
          <p:cNvPr id="10" name="群組 9">
            <a:extLst>
              <a:ext uri="{FF2B5EF4-FFF2-40B4-BE49-F238E27FC236}">
                <a16:creationId xmlns:a16="http://schemas.microsoft.com/office/drawing/2014/main" id="{4BE975D3-1485-94B1-C31D-F587EF487751}"/>
              </a:ext>
            </a:extLst>
          </p:cNvPr>
          <p:cNvGrpSpPr/>
          <p:nvPr/>
        </p:nvGrpSpPr>
        <p:grpSpPr>
          <a:xfrm rot="20509286">
            <a:off x="3496965" y="3981040"/>
            <a:ext cx="1455814" cy="892997"/>
            <a:chOff x="3547179" y="4286824"/>
            <a:chExt cx="1543251" cy="892997"/>
          </a:xfrm>
        </p:grpSpPr>
        <p:sp>
          <p:nvSpPr>
            <p:cNvPr id="7" name="Rounded Rectangle 1">
              <a:extLst>
                <a:ext uri="{FF2B5EF4-FFF2-40B4-BE49-F238E27FC236}">
                  <a16:creationId xmlns:a16="http://schemas.microsoft.com/office/drawing/2014/main" id="{C966BBA2-9370-9F41-F0B8-442F273AE41C}"/>
                </a:ext>
              </a:extLst>
            </p:cNvPr>
            <p:cNvSpPr/>
            <p:nvPr/>
          </p:nvSpPr>
          <p:spPr>
            <a:xfrm>
              <a:off x="3549309" y="4287972"/>
              <a:ext cx="1541121" cy="891849"/>
            </a:xfrm>
            <a:custGeom>
              <a:avLst/>
              <a:gdLst/>
              <a:ahLst/>
              <a:cxnLst/>
              <a:rect l="0" t="0" r="0" b="0"/>
              <a:pathLst>
                <a:path w="1063942" h="685800">
                  <a:moveTo>
                    <a:pt x="930925" y="465696"/>
                  </a:moveTo>
                  <a:lnTo>
                    <a:pt x="1063942" y="342900"/>
                  </a:lnTo>
                  <a:lnTo>
                    <a:pt x="930925" y="220094"/>
                  </a:lnTo>
                  <a:lnTo>
                    <a:pt x="930925" y="288455"/>
                  </a:lnTo>
                  <a:lnTo>
                    <a:pt x="681494" y="288455"/>
                  </a:lnTo>
                  <a:cubicBezTo>
                    <a:pt x="655415" y="124948"/>
                    <a:pt x="513749" y="0"/>
                    <a:pt x="342900" y="0"/>
                  </a:cubicBezTo>
                  <a:cubicBezTo>
                    <a:pt x="153523" y="0"/>
                    <a:pt x="0" y="153523"/>
                    <a:pt x="0" y="342900"/>
                  </a:cubicBezTo>
                  <a:cubicBezTo>
                    <a:pt x="0" y="532276"/>
                    <a:pt x="153523" y="685800"/>
                    <a:pt x="342900" y="685800"/>
                  </a:cubicBezTo>
                  <a:cubicBezTo>
                    <a:pt x="513511" y="685800"/>
                    <a:pt x="655024" y="561193"/>
                    <a:pt x="681389" y="398021"/>
                  </a:cubicBezTo>
                  <a:lnTo>
                    <a:pt x="930925" y="398021"/>
                  </a:lnTo>
                  <a:lnTo>
                    <a:pt x="930925" y="465696"/>
                  </a:lnTo>
                </a:path>
              </a:pathLst>
            </a:custGeom>
            <a:solidFill>
              <a:srgbClr val="1EABDA"/>
            </a:solidFill>
            <a:ln>
              <a:noFill/>
            </a:ln>
          </p:spPr>
          <p:txBody>
            <a:bodyPr rtlCol="0" anchor="ctr"/>
            <a:lstStyle/>
            <a:p>
              <a:pPr algn="ctr"/>
              <a:endParaRPr/>
            </a:p>
          </p:txBody>
        </p:sp>
        <p:sp>
          <p:nvSpPr>
            <p:cNvPr id="8" name="Rounded Rectangle 2">
              <a:extLst>
                <a:ext uri="{FF2B5EF4-FFF2-40B4-BE49-F238E27FC236}">
                  <a16:creationId xmlns:a16="http://schemas.microsoft.com/office/drawing/2014/main" id="{6A8034A2-932F-C547-4273-E31BBF1E2EFA}"/>
                </a:ext>
              </a:extLst>
            </p:cNvPr>
            <p:cNvSpPr/>
            <p:nvPr/>
          </p:nvSpPr>
          <p:spPr>
            <a:xfrm>
              <a:off x="3547179" y="4286824"/>
              <a:ext cx="1541121" cy="891849"/>
            </a:xfrm>
            <a:custGeom>
              <a:avLst/>
              <a:gdLst/>
              <a:ahLst/>
              <a:cxnLst/>
              <a:rect l="0" t="0" r="0" b="0"/>
              <a:pathLst>
                <a:path w="1063942" h="685800">
                  <a:moveTo>
                    <a:pt x="930925" y="465696"/>
                  </a:moveTo>
                  <a:lnTo>
                    <a:pt x="1063942" y="342900"/>
                  </a:lnTo>
                  <a:lnTo>
                    <a:pt x="930925" y="220094"/>
                  </a:lnTo>
                  <a:lnTo>
                    <a:pt x="930925" y="288455"/>
                  </a:lnTo>
                  <a:lnTo>
                    <a:pt x="681494" y="288455"/>
                  </a:lnTo>
                  <a:cubicBezTo>
                    <a:pt x="655415" y="124948"/>
                    <a:pt x="513749" y="0"/>
                    <a:pt x="342900" y="0"/>
                  </a:cubicBezTo>
                  <a:cubicBezTo>
                    <a:pt x="153523" y="0"/>
                    <a:pt x="0" y="153523"/>
                    <a:pt x="0" y="342900"/>
                  </a:cubicBezTo>
                  <a:cubicBezTo>
                    <a:pt x="0" y="532276"/>
                    <a:pt x="153523" y="685800"/>
                    <a:pt x="342900" y="685800"/>
                  </a:cubicBezTo>
                  <a:cubicBezTo>
                    <a:pt x="513511" y="685800"/>
                    <a:pt x="655024" y="561193"/>
                    <a:pt x="681389" y="398021"/>
                  </a:cubicBezTo>
                  <a:lnTo>
                    <a:pt x="930925" y="398021"/>
                  </a:lnTo>
                  <a:lnTo>
                    <a:pt x="930925" y="465696"/>
                  </a:lnTo>
                  <a:close/>
                </a:path>
              </a:pathLst>
            </a:custGeom>
            <a:noFill/>
            <a:ln w="14287">
              <a:solidFill>
                <a:srgbClr val="FFFFFF"/>
              </a:solidFill>
            </a:ln>
          </p:spPr>
          <p:txBody>
            <a:bodyPr rtlCol="0" anchor="ctr"/>
            <a:lstStyle/>
            <a:p>
              <a:pPr algn="ctr"/>
              <a:endParaRPr/>
            </a:p>
          </p:txBody>
        </p:sp>
        <p:sp>
          <p:nvSpPr>
            <p:cNvPr id="11" name="Rounded Rectangle 11">
              <a:extLst>
                <a:ext uri="{FF2B5EF4-FFF2-40B4-BE49-F238E27FC236}">
                  <a16:creationId xmlns:a16="http://schemas.microsoft.com/office/drawing/2014/main" id="{0348E2E3-4FE4-DDAB-839F-D0E0CDD3FC86}"/>
                </a:ext>
              </a:extLst>
            </p:cNvPr>
            <p:cNvSpPr/>
            <p:nvPr/>
          </p:nvSpPr>
          <p:spPr>
            <a:xfrm rot="1090714">
              <a:off x="3790637" y="4482304"/>
              <a:ext cx="546646" cy="437160"/>
            </a:xfrm>
            <a:custGeom>
              <a:avLst/>
              <a:gdLst/>
              <a:ahLst/>
              <a:cxnLst/>
              <a:rect l="0" t="0" r="0" b="0"/>
              <a:pathLst>
                <a:path w="438150" h="438150">
                  <a:moveTo>
                    <a:pt x="200025" y="247650"/>
                  </a:moveTo>
                  <a:cubicBezTo>
                    <a:pt x="200025" y="258171"/>
                    <a:pt x="208553" y="266700"/>
                    <a:pt x="219075" y="266700"/>
                  </a:cubicBezTo>
                  <a:cubicBezTo>
                    <a:pt x="229596" y="266700"/>
                    <a:pt x="238125" y="258171"/>
                    <a:pt x="238125" y="247650"/>
                  </a:cubicBezTo>
                  <a:cubicBezTo>
                    <a:pt x="238125" y="237128"/>
                    <a:pt x="229596" y="228600"/>
                    <a:pt x="219075" y="228600"/>
                  </a:cubicBezTo>
                  <a:cubicBezTo>
                    <a:pt x="208553" y="228600"/>
                    <a:pt x="200025" y="237128"/>
                    <a:pt x="200025" y="247650"/>
                  </a:cubicBezTo>
                  <a:close/>
                  <a:moveTo>
                    <a:pt x="235248" y="173964"/>
                  </a:moveTo>
                  <a:lnTo>
                    <a:pt x="240868" y="192405"/>
                  </a:lnTo>
                  <a:cubicBezTo>
                    <a:pt x="242793" y="198761"/>
                    <a:pt x="249311" y="202540"/>
                    <a:pt x="255784" y="201053"/>
                  </a:cubicBezTo>
                  <a:lnTo>
                    <a:pt x="274472" y="196710"/>
                  </a:lnTo>
                  <a:cubicBezTo>
                    <a:pt x="281745" y="195076"/>
                    <a:pt x="289234" y="198368"/>
                    <a:pt x="292949" y="204831"/>
                  </a:cubicBezTo>
                  <a:cubicBezTo>
                    <a:pt x="296663" y="211294"/>
                    <a:pt x="295737" y="219423"/>
                    <a:pt x="290664" y="224885"/>
                  </a:cubicBezTo>
                  <a:lnTo>
                    <a:pt x="277577" y="239001"/>
                  </a:lnTo>
                  <a:cubicBezTo>
                    <a:pt x="273065" y="243884"/>
                    <a:pt x="273065" y="251415"/>
                    <a:pt x="277577" y="256298"/>
                  </a:cubicBezTo>
                  <a:lnTo>
                    <a:pt x="290664" y="270414"/>
                  </a:lnTo>
                  <a:cubicBezTo>
                    <a:pt x="295737" y="275876"/>
                    <a:pt x="296663" y="284005"/>
                    <a:pt x="292949" y="290468"/>
                  </a:cubicBezTo>
                  <a:cubicBezTo>
                    <a:pt x="289234" y="296931"/>
                    <a:pt x="281745" y="300223"/>
                    <a:pt x="274472" y="298589"/>
                  </a:cubicBezTo>
                  <a:lnTo>
                    <a:pt x="255784" y="294246"/>
                  </a:lnTo>
                  <a:cubicBezTo>
                    <a:pt x="249311" y="292759"/>
                    <a:pt x="242793" y="296538"/>
                    <a:pt x="240868" y="302894"/>
                  </a:cubicBezTo>
                  <a:lnTo>
                    <a:pt x="235248" y="321335"/>
                  </a:lnTo>
                  <a:cubicBezTo>
                    <a:pt x="233135" y="328518"/>
                    <a:pt x="226543" y="333451"/>
                    <a:pt x="219055" y="333451"/>
                  </a:cubicBezTo>
                  <a:cubicBezTo>
                    <a:pt x="211568" y="333451"/>
                    <a:pt x="204976" y="328518"/>
                    <a:pt x="202863" y="321335"/>
                  </a:cubicBezTo>
                  <a:lnTo>
                    <a:pt x="197243" y="302894"/>
                  </a:lnTo>
                  <a:cubicBezTo>
                    <a:pt x="195318" y="296538"/>
                    <a:pt x="188800" y="292759"/>
                    <a:pt x="182327" y="294246"/>
                  </a:cubicBezTo>
                  <a:lnTo>
                    <a:pt x="163639" y="298589"/>
                  </a:lnTo>
                  <a:cubicBezTo>
                    <a:pt x="156366" y="300223"/>
                    <a:pt x="148877" y="296931"/>
                    <a:pt x="145162" y="290468"/>
                  </a:cubicBezTo>
                  <a:cubicBezTo>
                    <a:pt x="141448" y="284005"/>
                    <a:pt x="142374" y="275876"/>
                    <a:pt x="147446" y="270414"/>
                  </a:cubicBezTo>
                  <a:lnTo>
                    <a:pt x="160534" y="256298"/>
                  </a:lnTo>
                  <a:cubicBezTo>
                    <a:pt x="165046" y="251415"/>
                    <a:pt x="165046" y="243884"/>
                    <a:pt x="160534" y="239001"/>
                  </a:cubicBezTo>
                  <a:lnTo>
                    <a:pt x="147446" y="224885"/>
                  </a:lnTo>
                  <a:cubicBezTo>
                    <a:pt x="142374" y="219423"/>
                    <a:pt x="141448" y="211294"/>
                    <a:pt x="145162" y="204831"/>
                  </a:cubicBezTo>
                  <a:cubicBezTo>
                    <a:pt x="148877" y="198368"/>
                    <a:pt x="156366" y="195076"/>
                    <a:pt x="163639" y="196710"/>
                  </a:cubicBezTo>
                  <a:lnTo>
                    <a:pt x="182327" y="201053"/>
                  </a:lnTo>
                  <a:cubicBezTo>
                    <a:pt x="188800" y="202540"/>
                    <a:pt x="195318" y="198761"/>
                    <a:pt x="197243" y="192405"/>
                  </a:cubicBezTo>
                  <a:lnTo>
                    <a:pt x="202863" y="173964"/>
                  </a:lnTo>
                  <a:cubicBezTo>
                    <a:pt x="204976" y="166781"/>
                    <a:pt x="211568" y="161848"/>
                    <a:pt x="219055" y="161848"/>
                  </a:cubicBezTo>
                  <a:cubicBezTo>
                    <a:pt x="226543" y="161848"/>
                    <a:pt x="233135" y="166781"/>
                    <a:pt x="235248" y="173964"/>
                  </a:cubicBezTo>
                  <a:close/>
                  <a:moveTo>
                    <a:pt x="185737" y="33337"/>
                  </a:moveTo>
                  <a:cubicBezTo>
                    <a:pt x="185737" y="51749"/>
                    <a:pt x="200663" y="66675"/>
                    <a:pt x="219075" y="66675"/>
                  </a:cubicBezTo>
                  <a:cubicBezTo>
                    <a:pt x="237486" y="66675"/>
                    <a:pt x="252412" y="51749"/>
                    <a:pt x="252412" y="33337"/>
                  </a:cubicBezTo>
                  <a:cubicBezTo>
                    <a:pt x="252412" y="14925"/>
                    <a:pt x="237486" y="0"/>
                    <a:pt x="219075" y="0"/>
                  </a:cubicBezTo>
                  <a:cubicBezTo>
                    <a:pt x="200663" y="0"/>
                    <a:pt x="185737" y="14925"/>
                    <a:pt x="185737" y="33337"/>
                  </a:cubicBezTo>
                  <a:close/>
                  <a:moveTo>
                    <a:pt x="285750" y="133350"/>
                  </a:moveTo>
                  <a:cubicBezTo>
                    <a:pt x="277978" y="102871"/>
                    <a:pt x="250528" y="81543"/>
                    <a:pt x="219075" y="81543"/>
                  </a:cubicBezTo>
                  <a:cubicBezTo>
                    <a:pt x="187621" y="81543"/>
                    <a:pt x="160171" y="102871"/>
                    <a:pt x="152400" y="133350"/>
                  </a:cubicBezTo>
                  <a:moveTo>
                    <a:pt x="338137" y="338137"/>
                  </a:moveTo>
                  <a:cubicBezTo>
                    <a:pt x="338137" y="356549"/>
                    <a:pt x="353063" y="371475"/>
                    <a:pt x="371475" y="371475"/>
                  </a:cubicBezTo>
                  <a:cubicBezTo>
                    <a:pt x="389886" y="371475"/>
                    <a:pt x="404812" y="356549"/>
                    <a:pt x="404812" y="338137"/>
                  </a:cubicBezTo>
                  <a:cubicBezTo>
                    <a:pt x="404812" y="319725"/>
                    <a:pt x="389886" y="304800"/>
                    <a:pt x="371475" y="304800"/>
                  </a:cubicBezTo>
                  <a:cubicBezTo>
                    <a:pt x="353063" y="304800"/>
                    <a:pt x="338137" y="319725"/>
                    <a:pt x="338137" y="338137"/>
                  </a:cubicBezTo>
                  <a:close/>
                  <a:moveTo>
                    <a:pt x="438150" y="438150"/>
                  </a:moveTo>
                  <a:cubicBezTo>
                    <a:pt x="430378" y="407671"/>
                    <a:pt x="402928" y="386343"/>
                    <a:pt x="371475" y="386343"/>
                  </a:cubicBezTo>
                  <a:cubicBezTo>
                    <a:pt x="340021" y="386343"/>
                    <a:pt x="312571" y="407671"/>
                    <a:pt x="304800" y="438150"/>
                  </a:cubicBezTo>
                  <a:moveTo>
                    <a:pt x="33337" y="338137"/>
                  </a:moveTo>
                  <a:cubicBezTo>
                    <a:pt x="33337" y="356549"/>
                    <a:pt x="48263" y="371475"/>
                    <a:pt x="66675" y="371475"/>
                  </a:cubicBezTo>
                  <a:cubicBezTo>
                    <a:pt x="85086" y="371475"/>
                    <a:pt x="100012" y="356549"/>
                    <a:pt x="100012" y="338137"/>
                  </a:cubicBezTo>
                  <a:cubicBezTo>
                    <a:pt x="100012" y="319725"/>
                    <a:pt x="85086" y="304800"/>
                    <a:pt x="66675" y="304800"/>
                  </a:cubicBezTo>
                  <a:cubicBezTo>
                    <a:pt x="48263" y="304800"/>
                    <a:pt x="33337" y="319725"/>
                    <a:pt x="33337" y="338137"/>
                  </a:cubicBezTo>
                  <a:close/>
                  <a:moveTo>
                    <a:pt x="133350" y="438150"/>
                  </a:moveTo>
                  <a:cubicBezTo>
                    <a:pt x="125578" y="407671"/>
                    <a:pt x="98128" y="386343"/>
                    <a:pt x="66675" y="386343"/>
                  </a:cubicBezTo>
                  <a:cubicBezTo>
                    <a:pt x="35221" y="386343"/>
                    <a:pt x="7771" y="407671"/>
                    <a:pt x="0" y="438150"/>
                  </a:cubicBezTo>
                  <a:moveTo>
                    <a:pt x="277177" y="390525"/>
                  </a:moveTo>
                  <a:cubicBezTo>
                    <a:pt x="239482" y="403220"/>
                    <a:pt x="198667" y="403220"/>
                    <a:pt x="160972" y="390525"/>
                  </a:cubicBezTo>
                  <a:moveTo>
                    <a:pt x="299999" y="57150"/>
                  </a:moveTo>
                  <a:cubicBezTo>
                    <a:pt x="370638" y="92543"/>
                    <a:pt x="410209" y="169620"/>
                    <a:pt x="397802" y="247650"/>
                  </a:cubicBezTo>
                  <a:moveTo>
                    <a:pt x="40347" y="247650"/>
                  </a:moveTo>
                  <a:cubicBezTo>
                    <a:pt x="27940" y="169609"/>
                    <a:pt x="67530" y="92527"/>
                    <a:pt x="138188" y="57150"/>
                  </a:cubicBezTo>
                </a:path>
              </a:pathLst>
            </a:custGeom>
            <a:ln w="14287">
              <a:solidFill>
                <a:srgbClr val="484848"/>
              </a:solidFill>
            </a:ln>
          </p:spPr>
          <p:style>
            <a:lnRef idx="0">
              <a:scrgbClr r="0" g="0" b="0"/>
            </a:lnRef>
            <a:fillRef idx="1001">
              <a:schemeClr val="lt1"/>
            </a:fillRef>
            <a:effectRef idx="0">
              <a:scrgbClr r="0" g="0" b="0"/>
            </a:effectRef>
            <a:fontRef idx="major"/>
          </p:style>
          <p:txBody>
            <a:bodyPr rtlCol="0" anchor="ctr"/>
            <a:lstStyle/>
            <a:p>
              <a:pPr algn="ctr"/>
              <a:endParaRPr dirty="0">
                <a:latin typeface="微軟正黑體" panose="020B0604030504040204" pitchFamily="34" charset="-120"/>
                <a:ea typeface="微軟正黑體" panose="020B0604030504040204" pitchFamily="34" charset="-120"/>
              </a:endParaRPr>
            </a:p>
          </p:txBody>
        </p:sp>
      </p:grpSp>
      <p:pic>
        <p:nvPicPr>
          <p:cNvPr id="4" name="圖片 3">
            <a:extLst>
              <a:ext uri="{FF2B5EF4-FFF2-40B4-BE49-F238E27FC236}">
                <a16:creationId xmlns:a16="http://schemas.microsoft.com/office/drawing/2014/main" id="{D86F1C7E-696F-4D5D-0FEC-15417E9EA386}"/>
              </a:ext>
            </a:extLst>
          </p:cNvPr>
          <p:cNvPicPr>
            <a:picLocks noChangeAspect="1"/>
          </p:cNvPicPr>
          <p:nvPr/>
        </p:nvPicPr>
        <p:blipFill>
          <a:blip r:embed="rId3"/>
          <a:srcRect l="25619" t="38515" r="6219"/>
          <a:stretch>
            <a:fillRect/>
          </a:stretch>
        </p:blipFill>
        <p:spPr>
          <a:xfrm>
            <a:off x="5128531" y="2893587"/>
            <a:ext cx="3042045" cy="1733492"/>
          </a:xfrm>
          <a:prstGeom prst="rect">
            <a:avLst/>
          </a:prstGeom>
        </p:spPr>
      </p:pic>
    </p:spTree>
    <p:extLst>
      <p:ext uri="{BB962C8B-B14F-4D97-AF65-F5344CB8AC3E}">
        <p14:creationId xmlns:p14="http://schemas.microsoft.com/office/powerpoint/2010/main" val="416505013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94638-0B7A-31B0-E2CB-70BDBBAB36DD}"/>
            </a:ext>
          </a:extLst>
        </p:cNvPr>
        <p:cNvGrpSpPr/>
        <p:nvPr/>
      </p:nvGrpSpPr>
      <p:grpSpPr>
        <a:xfrm>
          <a:off x="0" y="0"/>
          <a:ext cx="0" cy="0"/>
          <a:chOff x="0" y="0"/>
          <a:chExt cx="0" cy="0"/>
        </a:xfrm>
      </p:grpSpPr>
      <p:sp>
        <p:nvSpPr>
          <p:cNvPr id="42" name="投影片編號版面配置區 1">
            <a:extLst>
              <a:ext uri="{FF2B5EF4-FFF2-40B4-BE49-F238E27FC236}">
                <a16:creationId xmlns:a16="http://schemas.microsoft.com/office/drawing/2014/main" id="{47DFA622-B2E1-A978-EABC-C30F24FD5068}"/>
              </a:ext>
            </a:extLst>
          </p:cNvPr>
          <p:cNvSpPr>
            <a:spLocks noGrp="1"/>
          </p:cNvSpPr>
          <p:nvPr>
            <p:ph type="sldNum" sz="quarter" idx="12"/>
          </p:nvPr>
        </p:nvSpPr>
        <p:spPr>
          <a:xfrm>
            <a:off x="9443573" y="6484267"/>
            <a:ext cx="2743200" cy="365125"/>
          </a:xfrm>
        </p:spPr>
        <p:txBody>
          <a:bodyPr/>
          <a:lstStyle/>
          <a:p>
            <a:fld id="{2E95FD34-61D0-4C5A-B773-4E2676150C65}" type="slidenum">
              <a:rPr lang="zh-TW" altLang="en-US" smtClean="0"/>
              <a:t>4</a:t>
            </a:fld>
            <a:endParaRPr lang="zh-TW" altLang="en-US" dirty="0"/>
          </a:p>
        </p:txBody>
      </p:sp>
      <p:sp>
        <p:nvSpPr>
          <p:cNvPr id="44" name="文字方塊 4">
            <a:extLst>
              <a:ext uri="{FF2B5EF4-FFF2-40B4-BE49-F238E27FC236}">
                <a16:creationId xmlns:a16="http://schemas.microsoft.com/office/drawing/2014/main" id="{7067B730-3CF7-5599-DD38-65EC4E90DD3B}"/>
              </a:ext>
            </a:extLst>
          </p:cNvPr>
          <p:cNvSpPr txBox="1"/>
          <p:nvPr/>
        </p:nvSpPr>
        <p:spPr>
          <a:xfrm>
            <a:off x="161153" y="383802"/>
            <a:ext cx="7973032" cy="646331"/>
          </a:xfrm>
          <a:prstGeom prst="rect">
            <a:avLst/>
          </a:prstGeom>
          <a:noFill/>
        </p:spPr>
        <p:txBody>
          <a:bodyPr wrap="square" lIns="91440" tIns="45720" rIns="91440" bIns="45720" anchor="t">
            <a:spAutoFit/>
          </a:bodyPr>
          <a:lstStyle/>
          <a:p>
            <a:r>
              <a:rPr lang="en-US" altLang="zh-TW" sz="3600" b="1" dirty="0">
                <a:latin typeface="微軟正黑體" pitchFamily="34" charset="-120"/>
                <a:ea typeface="微軟正黑體" pitchFamily="34" charset="-120"/>
              </a:rPr>
              <a:t>2026</a:t>
            </a:r>
            <a:r>
              <a:rPr lang="zh-TW" altLang="en-US" sz="3600" b="1" dirty="0">
                <a:latin typeface="微軟正黑體" pitchFamily="34" charset="-120"/>
                <a:ea typeface="微軟正黑體" pitchFamily="34" charset="-120"/>
              </a:rPr>
              <a:t>佈建規劃</a:t>
            </a:r>
          </a:p>
        </p:txBody>
      </p:sp>
      <p:sp>
        <p:nvSpPr>
          <p:cNvPr id="3" name="TextBox 10">
            <a:extLst>
              <a:ext uri="{FF2B5EF4-FFF2-40B4-BE49-F238E27FC236}">
                <a16:creationId xmlns:a16="http://schemas.microsoft.com/office/drawing/2014/main" id="{43E1818C-487C-B5C9-2E2A-BCC299CFDD81}"/>
              </a:ext>
            </a:extLst>
          </p:cNvPr>
          <p:cNvSpPr txBox="1"/>
          <p:nvPr/>
        </p:nvSpPr>
        <p:spPr>
          <a:xfrm>
            <a:off x="1771305" y="2784735"/>
            <a:ext cx="2543369" cy="2702150"/>
          </a:xfrm>
          <a:prstGeom prst="rect">
            <a:avLst/>
          </a:prstGeom>
          <a:noFill/>
          <a:ln>
            <a:noFill/>
          </a:ln>
        </p:spPr>
        <p:txBody>
          <a:bodyPr wrap="square" lIns="0" tIns="0" rIns="0" bIns="0" anchor="t">
            <a:spAutoFit/>
          </a:bodyPr>
          <a:lstStyle/>
          <a:p>
            <a:pPr>
              <a:lnSpc>
                <a:spcPct val="150000"/>
              </a:lnSpc>
            </a:pPr>
            <a:r>
              <a:rPr lang="zh-TW" altLang="en-US" sz="2400" b="1" dirty="0">
                <a:solidFill>
                  <a:srgbClr val="484848"/>
                </a:solidFill>
                <a:latin typeface="微軟正黑體" panose="020B0604030504040204" pitchFamily="34" charset="-120"/>
                <a:ea typeface="微軟正黑體" panose="020B0604030504040204" pitchFamily="34" charset="-120"/>
              </a:rPr>
              <a:t>台中（</a:t>
            </a:r>
            <a:r>
              <a:rPr lang="en-US" altLang="zh-TW" sz="2400" b="1" dirty="0">
                <a:solidFill>
                  <a:srgbClr val="484848"/>
                </a:solidFill>
                <a:latin typeface="微軟正黑體" panose="020B0604030504040204" pitchFamily="34" charset="-120"/>
                <a:ea typeface="微軟正黑體" panose="020B0604030504040204" pitchFamily="34" charset="-120"/>
              </a:rPr>
              <a:t>4 </a:t>
            </a:r>
            <a:r>
              <a:rPr lang="zh-TW" altLang="en-US" sz="2400" b="1" dirty="0">
                <a:solidFill>
                  <a:srgbClr val="484848"/>
                </a:solidFill>
                <a:latin typeface="微軟正黑體" panose="020B0604030504040204" pitchFamily="34" charset="-120"/>
                <a:ea typeface="微軟正黑體" panose="020B0604030504040204" pitchFamily="34" charset="-120"/>
              </a:rPr>
              <a:t>處）</a:t>
            </a:r>
          </a:p>
          <a:p>
            <a:pPr marL="457200" indent="-457200">
              <a:lnSpc>
                <a:spcPct val="150000"/>
              </a:lnSpc>
              <a:buFont typeface="Arial" panose="020B0604020202020204" pitchFamily="34" charset="0"/>
              <a:buChar char="•"/>
            </a:pPr>
            <a:r>
              <a:rPr lang="zh-TW" altLang="en-US" sz="2400" dirty="0">
                <a:solidFill>
                  <a:srgbClr val="484848"/>
                </a:solidFill>
                <a:latin typeface="微軟正黑體" panose="020B0604030504040204" pitchFamily="34" charset="-120"/>
                <a:ea typeface="微軟正黑體" panose="020B0604030504040204" pitchFamily="34" charset="-120"/>
              </a:rPr>
              <a:t>北屯</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dirty="0">
                <a:solidFill>
                  <a:srgbClr val="484848"/>
                </a:solidFill>
                <a:latin typeface="微軟正黑體" panose="020B0604030504040204" pitchFamily="34" charset="-120"/>
                <a:ea typeface="微軟正黑體" panose="020B0604030504040204" pitchFamily="34" charset="-120"/>
              </a:rPr>
              <a:t>大買家</a:t>
            </a:r>
            <a:r>
              <a:rPr lang="en-US" altLang="zh-TW" sz="2400" dirty="0">
                <a:solidFill>
                  <a:srgbClr val="484848"/>
                </a:solidFill>
                <a:latin typeface="微軟正黑體" panose="020B0604030504040204" pitchFamily="34" charset="-120"/>
                <a:ea typeface="微軟正黑體" panose="020B0604030504040204" pitchFamily="34" charset="-120"/>
              </a:rPr>
              <a:t>)</a:t>
            </a:r>
            <a:endParaRPr lang="zh-TW" altLang="en-US" sz="2400" dirty="0">
              <a:solidFill>
                <a:srgbClr val="484848"/>
              </a:solidFill>
              <a:latin typeface="微軟正黑體" panose="020B0604030504040204" pitchFamily="34" charset="-120"/>
              <a:ea typeface="微軟正黑體" panose="020B0604030504040204" pitchFamily="34" charset="-120"/>
            </a:endParaRPr>
          </a:p>
          <a:p>
            <a:pPr marL="457200" indent="-457200">
              <a:lnSpc>
                <a:spcPct val="150000"/>
              </a:lnSpc>
              <a:buFont typeface="Arial" panose="020B0604020202020204" pitchFamily="34" charset="0"/>
              <a:buChar char="•"/>
            </a:pPr>
            <a:r>
              <a:rPr lang="zh-TW" altLang="en-US" sz="2400" dirty="0">
                <a:solidFill>
                  <a:srgbClr val="484848"/>
                </a:solidFill>
                <a:latin typeface="微軟正黑體" panose="020B0604030504040204" pitchFamily="34" charset="-120"/>
                <a:ea typeface="微軟正黑體" panose="020B0604030504040204" pitchFamily="34" charset="-120"/>
              </a:rPr>
              <a:t>復興</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dirty="0">
                <a:solidFill>
                  <a:srgbClr val="484848"/>
                </a:solidFill>
                <a:latin typeface="微軟正黑體" panose="020B0604030504040204" pitchFamily="34" charset="-120"/>
                <a:ea typeface="微軟正黑體" panose="020B0604030504040204" pitchFamily="34" charset="-120"/>
              </a:rPr>
              <a:t>愛買</a:t>
            </a:r>
            <a:r>
              <a:rPr lang="en-US" altLang="zh-TW" sz="2400" dirty="0">
                <a:solidFill>
                  <a:srgbClr val="484848"/>
                </a:solidFill>
                <a:latin typeface="微軟正黑體" panose="020B0604030504040204" pitchFamily="34" charset="-120"/>
                <a:ea typeface="微軟正黑體" panose="020B0604030504040204" pitchFamily="34" charset="-120"/>
              </a:rPr>
              <a:t>)</a:t>
            </a:r>
            <a:endParaRPr lang="zh-TW" altLang="en-US" sz="2400" dirty="0">
              <a:solidFill>
                <a:srgbClr val="484848"/>
              </a:solidFill>
              <a:latin typeface="微軟正黑體" panose="020B0604030504040204" pitchFamily="34" charset="-120"/>
              <a:ea typeface="微軟正黑體" panose="020B0604030504040204" pitchFamily="34" charset="-120"/>
            </a:endParaRPr>
          </a:p>
          <a:p>
            <a:pPr marL="457200" indent="-457200">
              <a:lnSpc>
                <a:spcPct val="150000"/>
              </a:lnSpc>
              <a:buFont typeface="Arial" panose="020B0604020202020204" pitchFamily="34" charset="0"/>
              <a:buChar char="•"/>
            </a:pPr>
            <a:r>
              <a:rPr lang="zh-TW" altLang="en-US" sz="2400" dirty="0">
                <a:solidFill>
                  <a:srgbClr val="484848"/>
                </a:solidFill>
                <a:latin typeface="微軟正黑體" panose="020B0604030504040204" pitchFamily="34" charset="-120"/>
                <a:ea typeface="微軟正黑體" panose="020B0604030504040204" pitchFamily="34" charset="-120"/>
              </a:rPr>
              <a:t>水湳</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dirty="0">
                <a:solidFill>
                  <a:srgbClr val="484848"/>
                </a:solidFill>
                <a:latin typeface="微軟正黑體" panose="020B0604030504040204" pitchFamily="34" charset="-120"/>
                <a:ea typeface="微軟正黑體" panose="020B0604030504040204" pitchFamily="34" charset="-120"/>
              </a:rPr>
              <a:t>愛買</a:t>
            </a:r>
            <a:r>
              <a:rPr lang="en-US" altLang="zh-TW" sz="2400" dirty="0">
                <a:solidFill>
                  <a:srgbClr val="484848"/>
                </a:solidFill>
                <a:latin typeface="微軟正黑體" panose="020B0604030504040204" pitchFamily="34" charset="-120"/>
                <a:ea typeface="微軟正黑體" panose="020B0604030504040204" pitchFamily="34" charset="-120"/>
              </a:rPr>
              <a:t>)</a:t>
            </a:r>
            <a:endParaRPr lang="zh-TW" altLang="en-US" sz="2400" dirty="0">
              <a:solidFill>
                <a:srgbClr val="484848"/>
              </a:solidFill>
              <a:latin typeface="微軟正黑體" panose="020B0604030504040204" pitchFamily="34" charset="-120"/>
              <a:ea typeface="微軟正黑體" panose="020B0604030504040204" pitchFamily="34" charset="-120"/>
            </a:endParaRPr>
          </a:p>
          <a:p>
            <a:pPr marL="457200" indent="-457200">
              <a:lnSpc>
                <a:spcPct val="150000"/>
              </a:lnSpc>
              <a:buFont typeface="Arial" panose="020B0604020202020204" pitchFamily="34" charset="0"/>
              <a:buChar char="•"/>
            </a:pPr>
            <a:r>
              <a:rPr lang="zh-TW" altLang="en-US" sz="2400" dirty="0">
                <a:solidFill>
                  <a:srgbClr val="484848"/>
                </a:solidFill>
                <a:latin typeface="微軟正黑體" panose="020B0604030504040204" pitchFamily="34" charset="-120"/>
                <a:ea typeface="微軟正黑體" panose="020B0604030504040204" pitchFamily="34" charset="-120"/>
              </a:rPr>
              <a:t>豐原</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dirty="0">
                <a:solidFill>
                  <a:srgbClr val="484848"/>
                </a:solidFill>
                <a:latin typeface="微軟正黑體" panose="020B0604030504040204" pitchFamily="34" charset="-120"/>
                <a:ea typeface="微軟正黑體" panose="020B0604030504040204" pitchFamily="34" charset="-120"/>
              </a:rPr>
              <a:t>家樂福</a:t>
            </a:r>
            <a:r>
              <a:rPr lang="en-US" altLang="zh-TW" sz="2400" dirty="0">
                <a:solidFill>
                  <a:srgbClr val="484848"/>
                </a:solidFill>
                <a:latin typeface="微軟正黑體" panose="020B0604030504040204" pitchFamily="34" charset="-120"/>
                <a:ea typeface="微軟正黑體" panose="020B0604030504040204" pitchFamily="34" charset="-120"/>
              </a:rPr>
              <a:t>)</a:t>
            </a:r>
          </a:p>
        </p:txBody>
      </p:sp>
      <p:sp>
        <p:nvSpPr>
          <p:cNvPr id="5" name="文字方塊 4">
            <a:extLst>
              <a:ext uri="{FF2B5EF4-FFF2-40B4-BE49-F238E27FC236}">
                <a16:creationId xmlns:a16="http://schemas.microsoft.com/office/drawing/2014/main" id="{A14B6A52-24A0-E041-A2D3-F47359FBF333}"/>
              </a:ext>
            </a:extLst>
          </p:cNvPr>
          <p:cNvSpPr txBox="1"/>
          <p:nvPr/>
        </p:nvSpPr>
        <p:spPr>
          <a:xfrm>
            <a:off x="553587" y="1341189"/>
            <a:ext cx="10337786" cy="1132490"/>
          </a:xfrm>
          <a:prstGeom prst="rect">
            <a:avLst/>
          </a:prstGeom>
          <a:noFill/>
        </p:spPr>
        <p:txBody>
          <a:bodyPr wrap="square">
            <a:spAutoFit/>
          </a:bodyPr>
          <a:lstStyle/>
          <a:p>
            <a:pPr>
              <a:lnSpc>
                <a:spcPct val="150000"/>
              </a:lnSpc>
            </a:pPr>
            <a:r>
              <a:rPr lang="zh-TW" altLang="en-US" sz="2400" b="1" dirty="0">
                <a:solidFill>
                  <a:srgbClr val="484848"/>
                </a:solidFill>
                <a:latin typeface="微軟正黑體" panose="020B0604030504040204" pitchFamily="34" charset="-120"/>
                <a:ea typeface="微軟正黑體" panose="020B0604030504040204" pitchFamily="34" charset="-120"/>
              </a:rPr>
              <a:t>台中</a:t>
            </a:r>
            <a:r>
              <a:rPr lang="zh-TW" altLang="en-US" sz="2400" dirty="0">
                <a:solidFill>
                  <a:srgbClr val="484848"/>
                </a:solidFill>
                <a:latin typeface="微軟正黑體" panose="020B0604030504040204" pitchFamily="34" charset="-120"/>
                <a:ea typeface="微軟正黑體" panose="020B0604030504040204" pitchFamily="34" charset="-120"/>
              </a:rPr>
              <a:t>：以</a:t>
            </a:r>
            <a:r>
              <a:rPr lang="zh-TW" altLang="en-US" sz="2400" b="1" dirty="0">
                <a:solidFill>
                  <a:srgbClr val="484848"/>
                </a:solidFill>
                <a:latin typeface="微軟正黑體" panose="020B0604030504040204" pitchFamily="34" charset="-120"/>
                <a:ea typeface="微軟正黑體" panose="020B0604030504040204" pitchFamily="34" charset="-120"/>
              </a:rPr>
              <a:t>區域人口數</a:t>
            </a:r>
            <a:r>
              <a:rPr lang="zh-TW" altLang="en-US" sz="2400" dirty="0">
                <a:solidFill>
                  <a:srgbClr val="484848"/>
                </a:solidFill>
                <a:latin typeface="微軟正黑體" panose="020B0604030504040204" pitchFamily="34" charset="-120"/>
                <a:ea typeface="微軟正黑體" panose="020B0604030504040204" pitchFamily="34" charset="-120"/>
              </a:rPr>
              <a:t>、</a:t>
            </a:r>
            <a:r>
              <a:rPr lang="zh-TW" altLang="en-US" sz="2400" b="1" dirty="0">
                <a:solidFill>
                  <a:srgbClr val="484848"/>
                </a:solidFill>
                <a:latin typeface="微軟正黑體" panose="020B0604030504040204" pitchFamily="34" charset="-120"/>
                <a:ea typeface="微軟正黑體" panose="020B0604030504040204" pitchFamily="34" charset="-120"/>
              </a:rPr>
              <a:t>旺來會員數</a:t>
            </a:r>
            <a:r>
              <a:rPr lang="zh-TW" altLang="en-US" sz="2400" dirty="0">
                <a:solidFill>
                  <a:srgbClr val="484848"/>
                </a:solidFill>
                <a:latin typeface="微軟正黑體" panose="020B0604030504040204" pitchFamily="34" charset="-120"/>
                <a:ea typeface="微軟正黑體" panose="020B0604030504040204" pitchFamily="34" charset="-120"/>
              </a:rPr>
              <a:t>、</a:t>
            </a:r>
            <a:r>
              <a:rPr lang="zh-TW" altLang="en-US" sz="2400" b="1" dirty="0">
                <a:solidFill>
                  <a:srgbClr val="484848"/>
                </a:solidFill>
                <a:latin typeface="微軟正黑體" panose="020B0604030504040204" pitchFamily="34" charset="-120"/>
                <a:ea typeface="微軟正黑體" panose="020B0604030504040204" pitchFamily="34" charset="-120"/>
              </a:rPr>
              <a:t>桶裝瓦斯使用戶數</a:t>
            </a:r>
            <a:r>
              <a:rPr lang="zh-TW" altLang="en-US" sz="2400" dirty="0">
                <a:solidFill>
                  <a:srgbClr val="484848"/>
                </a:solidFill>
                <a:latin typeface="微軟正黑體" panose="020B0604030504040204" pitchFamily="34" charset="-120"/>
                <a:ea typeface="微軟正黑體" panose="020B0604030504040204" pitchFamily="34" charset="-120"/>
              </a:rPr>
              <a:t>、</a:t>
            </a:r>
            <a:r>
              <a:rPr lang="zh-TW" altLang="en-US" sz="2400" b="1" dirty="0">
                <a:solidFill>
                  <a:srgbClr val="484848"/>
                </a:solidFill>
                <a:latin typeface="微軟正黑體" panose="020B0604030504040204" pitchFamily="34" charset="-120"/>
                <a:ea typeface="微軟正黑體" panose="020B0604030504040204" pitchFamily="34" charset="-120"/>
              </a:rPr>
              <a:t>零售通路店數</a:t>
            </a:r>
            <a:r>
              <a:rPr lang="zh-TW" altLang="en-US" sz="2400" dirty="0">
                <a:solidFill>
                  <a:srgbClr val="484848"/>
                </a:solidFill>
                <a:latin typeface="微軟正黑體" panose="020B0604030504040204" pitchFamily="34" charset="-120"/>
                <a:ea typeface="微軟正黑體" panose="020B0604030504040204" pitchFamily="34" charset="-120"/>
              </a:rPr>
              <a:t>進行分析基礎，挑選佈建處之行政區。</a:t>
            </a:r>
          </a:p>
        </p:txBody>
      </p:sp>
      <p:pic>
        <p:nvPicPr>
          <p:cNvPr id="15" name="圖片 14">
            <a:extLst>
              <a:ext uri="{FF2B5EF4-FFF2-40B4-BE49-F238E27FC236}">
                <a16:creationId xmlns:a16="http://schemas.microsoft.com/office/drawing/2014/main" id="{05403401-18E3-3630-11E7-076EABC62A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01833" y="2685503"/>
            <a:ext cx="6842720" cy="3370054"/>
          </a:xfrm>
          <a:prstGeom prst="rect">
            <a:avLst/>
          </a:prstGeom>
        </p:spPr>
      </p:pic>
    </p:spTree>
    <p:extLst>
      <p:ext uri="{BB962C8B-B14F-4D97-AF65-F5344CB8AC3E}">
        <p14:creationId xmlns:p14="http://schemas.microsoft.com/office/powerpoint/2010/main" val="11926993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1205C-73C3-CE69-B495-E9A8B616C60A}"/>
            </a:ext>
          </a:extLst>
        </p:cNvPr>
        <p:cNvGrpSpPr/>
        <p:nvPr/>
      </p:nvGrpSpPr>
      <p:grpSpPr>
        <a:xfrm>
          <a:off x="0" y="0"/>
          <a:ext cx="0" cy="0"/>
          <a:chOff x="0" y="0"/>
          <a:chExt cx="0" cy="0"/>
        </a:xfrm>
      </p:grpSpPr>
      <p:sp>
        <p:nvSpPr>
          <p:cNvPr id="42" name="投影片編號版面配置區 1">
            <a:extLst>
              <a:ext uri="{FF2B5EF4-FFF2-40B4-BE49-F238E27FC236}">
                <a16:creationId xmlns:a16="http://schemas.microsoft.com/office/drawing/2014/main" id="{3A3658C8-B350-DE7E-E99C-8A9769C57A63}"/>
              </a:ext>
            </a:extLst>
          </p:cNvPr>
          <p:cNvSpPr>
            <a:spLocks noGrp="1"/>
          </p:cNvSpPr>
          <p:nvPr>
            <p:ph type="sldNum" sz="quarter" idx="12"/>
          </p:nvPr>
        </p:nvSpPr>
        <p:spPr>
          <a:xfrm>
            <a:off x="9443573" y="6484267"/>
            <a:ext cx="2743200" cy="365125"/>
          </a:xfrm>
        </p:spPr>
        <p:txBody>
          <a:bodyPr/>
          <a:lstStyle/>
          <a:p>
            <a:fld id="{2E95FD34-61D0-4C5A-B773-4E2676150C65}" type="slidenum">
              <a:rPr lang="zh-TW" altLang="en-US" smtClean="0"/>
              <a:t>5</a:t>
            </a:fld>
            <a:endParaRPr lang="zh-TW" altLang="en-US" dirty="0"/>
          </a:p>
        </p:txBody>
      </p:sp>
      <p:sp>
        <p:nvSpPr>
          <p:cNvPr id="44" name="文字方塊 4">
            <a:extLst>
              <a:ext uri="{FF2B5EF4-FFF2-40B4-BE49-F238E27FC236}">
                <a16:creationId xmlns:a16="http://schemas.microsoft.com/office/drawing/2014/main" id="{5699FF08-3225-E994-8C0E-18FAB30DCCB8}"/>
              </a:ext>
            </a:extLst>
          </p:cNvPr>
          <p:cNvSpPr txBox="1"/>
          <p:nvPr/>
        </p:nvSpPr>
        <p:spPr>
          <a:xfrm>
            <a:off x="161153" y="383802"/>
            <a:ext cx="7973032" cy="646331"/>
          </a:xfrm>
          <a:prstGeom prst="rect">
            <a:avLst/>
          </a:prstGeom>
          <a:noFill/>
        </p:spPr>
        <p:txBody>
          <a:bodyPr wrap="square" lIns="91440" tIns="45720" rIns="91440" bIns="45720" anchor="t">
            <a:spAutoFit/>
          </a:bodyPr>
          <a:lstStyle/>
          <a:p>
            <a:r>
              <a:rPr lang="en-US" altLang="zh-TW" sz="3600" b="1" dirty="0">
                <a:latin typeface="微軟正黑體" pitchFamily="34" charset="-120"/>
                <a:ea typeface="微軟正黑體" pitchFamily="34" charset="-120"/>
              </a:rPr>
              <a:t>2026</a:t>
            </a:r>
            <a:r>
              <a:rPr lang="zh-TW" altLang="en-US" sz="3600" b="1" dirty="0">
                <a:latin typeface="微軟正黑體" pitchFamily="34" charset="-120"/>
                <a:ea typeface="微軟正黑體" pitchFamily="34" charset="-120"/>
              </a:rPr>
              <a:t>佈建規劃</a:t>
            </a:r>
          </a:p>
        </p:txBody>
      </p:sp>
      <p:sp>
        <p:nvSpPr>
          <p:cNvPr id="5" name="文字方塊 4">
            <a:extLst>
              <a:ext uri="{FF2B5EF4-FFF2-40B4-BE49-F238E27FC236}">
                <a16:creationId xmlns:a16="http://schemas.microsoft.com/office/drawing/2014/main" id="{22C6C824-0249-50FF-2197-7424A210C413}"/>
              </a:ext>
            </a:extLst>
          </p:cNvPr>
          <p:cNvSpPr txBox="1"/>
          <p:nvPr/>
        </p:nvSpPr>
        <p:spPr>
          <a:xfrm>
            <a:off x="564523" y="1256132"/>
            <a:ext cx="7084134" cy="1686487"/>
          </a:xfrm>
          <a:prstGeom prst="rect">
            <a:avLst/>
          </a:prstGeom>
          <a:noFill/>
        </p:spPr>
        <p:txBody>
          <a:bodyPr wrap="square">
            <a:spAutoFit/>
          </a:bodyPr>
          <a:lstStyle/>
          <a:p>
            <a:pPr>
              <a:lnSpc>
                <a:spcPct val="150000"/>
              </a:lnSpc>
            </a:pPr>
            <a:r>
              <a:rPr lang="zh-TW" altLang="en-US" sz="2400" b="1" dirty="0">
                <a:solidFill>
                  <a:srgbClr val="484848"/>
                </a:solidFill>
                <a:latin typeface="微軟正黑體" panose="020B0604030504040204" pitchFamily="34" charset="-120"/>
                <a:ea typeface="微軟正黑體" panose="020B0604030504040204" pitchFamily="34" charset="-120"/>
              </a:rPr>
              <a:t>桃園</a:t>
            </a:r>
            <a:r>
              <a:rPr lang="zh-TW" altLang="en-US" sz="2400" dirty="0">
                <a:solidFill>
                  <a:srgbClr val="484848"/>
                </a:solidFill>
                <a:latin typeface="微軟正黑體" panose="020B0604030504040204" pitchFamily="34" charset="-120"/>
                <a:ea typeface="微軟正黑體" panose="020B0604030504040204" pitchFamily="34" charset="-120"/>
              </a:rPr>
              <a:t>：以</a:t>
            </a:r>
            <a:r>
              <a:rPr lang="zh-TW" altLang="en-US" sz="2400" b="1" dirty="0">
                <a:solidFill>
                  <a:srgbClr val="484848"/>
                </a:solidFill>
                <a:latin typeface="微軟正黑體" panose="020B0604030504040204" pitchFamily="34" charset="-120"/>
                <a:ea typeface="微軟正黑體" panose="020B0604030504040204" pitchFamily="34" charset="-120"/>
              </a:rPr>
              <a:t>區域人口數</a:t>
            </a:r>
            <a:r>
              <a:rPr lang="zh-TW" altLang="en-US" sz="2400" dirty="0">
                <a:solidFill>
                  <a:srgbClr val="484848"/>
                </a:solidFill>
                <a:latin typeface="微軟正黑體" panose="020B0604030504040204" pitchFamily="34" charset="-120"/>
                <a:ea typeface="微軟正黑體" panose="020B0604030504040204" pitchFamily="34" charset="-120"/>
              </a:rPr>
              <a:t>、</a:t>
            </a:r>
            <a:r>
              <a:rPr lang="zh-TW" altLang="en-US" sz="2400" b="1" dirty="0">
                <a:solidFill>
                  <a:srgbClr val="484848"/>
                </a:solidFill>
                <a:latin typeface="微軟正黑體" panose="020B0604030504040204" pitchFamily="34" charset="-120"/>
                <a:ea typeface="微軟正黑體" panose="020B0604030504040204" pitchFamily="34" charset="-120"/>
              </a:rPr>
              <a:t>分裝場數</a:t>
            </a:r>
            <a:r>
              <a:rPr lang="zh-TW" altLang="en-US" sz="2400" dirty="0">
                <a:solidFill>
                  <a:srgbClr val="484848"/>
                </a:solidFill>
                <a:latin typeface="微軟正黑體" panose="020B0604030504040204" pitchFamily="34" charset="-120"/>
                <a:ea typeface="微軟正黑體" panose="020B0604030504040204" pitchFamily="34" charset="-120"/>
              </a:rPr>
              <a:t>、</a:t>
            </a:r>
            <a:r>
              <a:rPr lang="zh-TW" altLang="en-US" sz="2400" b="1" dirty="0">
                <a:solidFill>
                  <a:srgbClr val="484848"/>
                </a:solidFill>
                <a:latin typeface="微軟正黑體" panose="020B0604030504040204" pitchFamily="34" charset="-120"/>
                <a:ea typeface="微軟正黑體" panose="020B0604030504040204" pitchFamily="34" charset="-120"/>
              </a:rPr>
              <a:t>桶裝瓦斯戶數</a:t>
            </a:r>
            <a:r>
              <a:rPr lang="zh-TW" altLang="en-US" sz="2400" dirty="0">
                <a:solidFill>
                  <a:srgbClr val="484848"/>
                </a:solidFill>
                <a:latin typeface="微軟正黑體" panose="020B0604030504040204" pitchFamily="34" charset="-120"/>
                <a:ea typeface="微軟正黑體" panose="020B0604030504040204" pitchFamily="34" charset="-120"/>
              </a:rPr>
              <a:t>、</a:t>
            </a:r>
            <a:r>
              <a:rPr lang="zh-TW" altLang="en-US" sz="2400" b="1" dirty="0">
                <a:solidFill>
                  <a:srgbClr val="484848"/>
                </a:solidFill>
                <a:latin typeface="微軟正黑體" panose="020B0604030504040204" pitchFamily="34" charset="-120"/>
                <a:ea typeface="微軟正黑體" panose="020B0604030504040204" pitchFamily="34" charset="-120"/>
              </a:rPr>
              <a:t>瓦斯同業數</a:t>
            </a:r>
            <a:r>
              <a:rPr lang="zh-TW" altLang="en-US" sz="2400" dirty="0">
                <a:solidFill>
                  <a:srgbClr val="484848"/>
                </a:solidFill>
                <a:latin typeface="微軟正黑體" panose="020B0604030504040204" pitchFamily="34" charset="-120"/>
                <a:ea typeface="微軟正黑體" panose="020B0604030504040204" pitchFamily="34" charset="-120"/>
              </a:rPr>
              <a:t>、</a:t>
            </a:r>
            <a:r>
              <a:rPr lang="zh-TW" altLang="en-US" sz="2400" b="1" dirty="0">
                <a:solidFill>
                  <a:srgbClr val="484848"/>
                </a:solidFill>
                <a:latin typeface="微軟正黑體" panose="020B0604030504040204" pitchFamily="34" charset="-120"/>
                <a:ea typeface="微軟正黑體" panose="020B0604030504040204" pitchFamily="34" charset="-120"/>
              </a:rPr>
              <a:t>零售通路店數、捷運站</a:t>
            </a:r>
            <a:r>
              <a:rPr lang="zh-TW" altLang="en-US" sz="2400" dirty="0">
                <a:solidFill>
                  <a:srgbClr val="484848"/>
                </a:solidFill>
                <a:latin typeface="微軟正黑體" panose="020B0604030504040204" pitchFamily="34" charset="-120"/>
                <a:ea typeface="微軟正黑體" panose="020B0604030504040204" pitchFamily="34" charset="-120"/>
              </a:rPr>
              <a:t>進行分析基礎，挑選佈建處之行政區。</a:t>
            </a:r>
          </a:p>
        </p:txBody>
      </p:sp>
      <p:sp>
        <p:nvSpPr>
          <p:cNvPr id="12" name="文字方塊 11">
            <a:extLst>
              <a:ext uri="{FF2B5EF4-FFF2-40B4-BE49-F238E27FC236}">
                <a16:creationId xmlns:a16="http://schemas.microsoft.com/office/drawing/2014/main" id="{DB569375-9684-D0A3-BD5D-5D8940C1AD06}"/>
              </a:ext>
            </a:extLst>
          </p:cNvPr>
          <p:cNvSpPr txBox="1"/>
          <p:nvPr/>
        </p:nvSpPr>
        <p:spPr>
          <a:xfrm>
            <a:off x="3048085" y="3095001"/>
            <a:ext cx="3983535" cy="2794483"/>
          </a:xfrm>
          <a:prstGeom prst="rect">
            <a:avLst/>
          </a:prstGeom>
          <a:noFill/>
        </p:spPr>
        <p:txBody>
          <a:bodyPr wrap="square">
            <a:spAutoFit/>
          </a:bodyPr>
          <a:lstStyle/>
          <a:p>
            <a:pPr>
              <a:lnSpc>
                <a:spcPct val="150000"/>
              </a:lnSpc>
            </a:pPr>
            <a:r>
              <a:rPr lang="zh-TW" altLang="en-US" sz="2400" b="1" dirty="0">
                <a:solidFill>
                  <a:srgbClr val="484848"/>
                </a:solidFill>
                <a:latin typeface="微軟正黑體" panose="020B0604030504040204" pitchFamily="34" charset="-120"/>
                <a:ea typeface="微軟正黑體" panose="020B0604030504040204" pitchFamily="34" charset="-120"/>
              </a:rPr>
              <a:t>桃園（</a:t>
            </a:r>
            <a:r>
              <a:rPr lang="en-US" altLang="zh-TW" sz="2400" b="1" dirty="0">
                <a:solidFill>
                  <a:srgbClr val="484848"/>
                </a:solidFill>
                <a:latin typeface="微軟正黑體" panose="020B0604030504040204" pitchFamily="34" charset="-120"/>
                <a:ea typeface="微軟正黑體" panose="020B0604030504040204" pitchFamily="34" charset="-120"/>
              </a:rPr>
              <a:t>5 </a:t>
            </a:r>
            <a:r>
              <a:rPr lang="zh-TW" altLang="en-US" sz="2400" b="1" dirty="0">
                <a:solidFill>
                  <a:srgbClr val="484848"/>
                </a:solidFill>
                <a:latin typeface="微軟正黑體" panose="020B0604030504040204" pitchFamily="34" charset="-120"/>
                <a:ea typeface="微軟正黑體" panose="020B0604030504040204" pitchFamily="34" charset="-120"/>
              </a:rPr>
              <a:t>處）</a:t>
            </a:r>
          </a:p>
          <a:p>
            <a:pPr marL="457200" indent="-457200">
              <a:lnSpc>
                <a:spcPct val="150000"/>
              </a:lnSpc>
              <a:buFont typeface="Arial" panose="020B0604020202020204" pitchFamily="34" charset="0"/>
              <a:buChar char="•"/>
            </a:pPr>
            <a:r>
              <a:rPr lang="zh-TW" altLang="en-US" sz="2400" dirty="0">
                <a:solidFill>
                  <a:srgbClr val="484848"/>
                </a:solidFill>
                <a:latin typeface="微軟正黑體" panose="020B0604030504040204" pitchFamily="34" charset="-120"/>
                <a:ea typeface="微軟正黑體" panose="020B0604030504040204" pitchFamily="34" charset="-120"/>
              </a:rPr>
              <a:t>桃園區</a:t>
            </a:r>
            <a:r>
              <a:rPr lang="en-US" altLang="zh-TW" sz="2400" dirty="0">
                <a:solidFill>
                  <a:srgbClr val="484848"/>
                </a:solidFill>
                <a:latin typeface="微軟正黑體" panose="020B0604030504040204" pitchFamily="34" charset="-120"/>
                <a:ea typeface="微軟正黑體" panose="020B0604030504040204" pitchFamily="34" charset="-120"/>
              </a:rPr>
              <a:t>× 2 (</a:t>
            </a:r>
            <a:r>
              <a:rPr lang="zh-TW" altLang="en-US" sz="2400" dirty="0">
                <a:solidFill>
                  <a:srgbClr val="484848"/>
                </a:solidFill>
                <a:latin typeface="微軟正黑體" panose="020B0604030504040204" pitchFamily="34" charset="-120"/>
                <a:ea typeface="微軟正黑體" panose="020B0604030504040204" pitchFamily="34" charset="-120"/>
              </a:rPr>
              <a:t>北誼興</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dirty="0">
                <a:solidFill>
                  <a:srgbClr val="484848"/>
                </a:solidFill>
                <a:latin typeface="微軟正黑體" panose="020B0604030504040204" pitchFamily="34" charset="-120"/>
                <a:ea typeface="微軟正黑體" panose="020B0604030504040204" pitchFamily="34" charset="-120"/>
              </a:rPr>
              <a:t>基泰</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dirty="0">
                <a:solidFill>
                  <a:srgbClr val="484848"/>
                </a:solidFill>
                <a:latin typeface="微軟正黑體" panose="020B0604030504040204" pitchFamily="34" charset="-120"/>
                <a:ea typeface="微軟正黑體" panose="020B0604030504040204" pitchFamily="34" charset="-120"/>
              </a:rPr>
              <a:t> </a:t>
            </a:r>
            <a:endParaRPr lang="en-US" altLang="zh-TW" sz="2400" dirty="0">
              <a:solidFill>
                <a:srgbClr val="484848"/>
              </a:solidFill>
              <a:latin typeface="微軟正黑體" panose="020B0604030504040204" pitchFamily="34" charset="-120"/>
              <a:ea typeface="微軟正黑體" panose="020B0604030504040204" pitchFamily="34" charset="-120"/>
            </a:endParaRPr>
          </a:p>
          <a:p>
            <a:pPr marL="457200" indent="-457200">
              <a:lnSpc>
                <a:spcPct val="150000"/>
              </a:lnSpc>
              <a:buFont typeface="Arial" panose="020B0604020202020204" pitchFamily="34" charset="0"/>
              <a:buChar char="•"/>
            </a:pPr>
            <a:r>
              <a:rPr lang="zh-TW" altLang="en-US" sz="2400" dirty="0">
                <a:solidFill>
                  <a:srgbClr val="484848"/>
                </a:solidFill>
                <a:latin typeface="微軟正黑體" panose="020B0604030504040204" pitchFamily="34" charset="-120"/>
                <a:ea typeface="微軟正黑體" panose="020B0604030504040204" pitchFamily="34" charset="-120"/>
              </a:rPr>
              <a:t>中壢區</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dirty="0">
                <a:solidFill>
                  <a:srgbClr val="484848"/>
                </a:solidFill>
                <a:latin typeface="微軟正黑體" panose="020B0604030504040204" pitchFamily="34" charset="-120"/>
                <a:ea typeface="微軟正黑體" panose="020B0604030504040204" pitchFamily="34" charset="-120"/>
              </a:rPr>
              <a:t>愛買</a:t>
            </a:r>
            <a:r>
              <a:rPr lang="en-US" altLang="zh-TW" sz="2400" dirty="0">
                <a:solidFill>
                  <a:srgbClr val="484848"/>
                </a:solidFill>
                <a:latin typeface="微軟正黑體" panose="020B0604030504040204" pitchFamily="34" charset="-120"/>
                <a:ea typeface="微軟正黑體" panose="020B0604030504040204" pitchFamily="34" charset="-120"/>
              </a:rPr>
              <a:t>)</a:t>
            </a:r>
            <a:endParaRPr lang="zh-TW" altLang="en-US" sz="2400" dirty="0">
              <a:solidFill>
                <a:srgbClr val="484848"/>
              </a:solidFill>
              <a:latin typeface="微軟正黑體" panose="020B0604030504040204" pitchFamily="34" charset="-120"/>
              <a:ea typeface="微軟正黑體" panose="020B0604030504040204" pitchFamily="34" charset="-120"/>
            </a:endParaRPr>
          </a:p>
          <a:p>
            <a:pPr marL="457200" indent="-457200">
              <a:lnSpc>
                <a:spcPct val="150000"/>
              </a:lnSpc>
              <a:buFont typeface="Arial" panose="020B0604020202020204" pitchFamily="34" charset="0"/>
              <a:buChar char="•"/>
            </a:pPr>
            <a:r>
              <a:rPr lang="zh-TW" altLang="en-US" sz="2400" dirty="0">
                <a:solidFill>
                  <a:srgbClr val="484848"/>
                </a:solidFill>
                <a:latin typeface="微軟正黑體" panose="020B0604030504040204" pitchFamily="34" charset="-120"/>
                <a:ea typeface="微軟正黑體" panose="020B0604030504040204" pitchFamily="34" charset="-120"/>
              </a:rPr>
              <a:t>平鎮區</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dirty="0">
                <a:solidFill>
                  <a:srgbClr val="484848"/>
                </a:solidFill>
                <a:latin typeface="微軟正黑體" panose="020B0604030504040204" pitchFamily="34" charset="-120"/>
                <a:ea typeface="微軟正黑體" panose="020B0604030504040204" pitchFamily="34" charset="-120"/>
              </a:rPr>
              <a:t>愛買</a:t>
            </a:r>
            <a:r>
              <a:rPr lang="en-US" altLang="zh-TW" sz="2400" dirty="0">
                <a:solidFill>
                  <a:srgbClr val="484848"/>
                </a:solidFill>
                <a:latin typeface="微軟正黑體" panose="020B0604030504040204" pitchFamily="34" charset="-120"/>
                <a:ea typeface="微軟正黑體" panose="020B0604030504040204" pitchFamily="34" charset="-120"/>
              </a:rPr>
              <a:t>)</a:t>
            </a:r>
            <a:endParaRPr lang="zh-TW" altLang="en-US" sz="2400" dirty="0">
              <a:solidFill>
                <a:srgbClr val="484848"/>
              </a:solidFill>
              <a:latin typeface="微軟正黑體" panose="020B0604030504040204" pitchFamily="34" charset="-120"/>
              <a:ea typeface="微軟正黑體" panose="020B0604030504040204" pitchFamily="34" charset="-120"/>
            </a:endParaRPr>
          </a:p>
          <a:p>
            <a:pPr marL="457200" indent="-457200">
              <a:lnSpc>
                <a:spcPct val="150000"/>
              </a:lnSpc>
              <a:buFont typeface="Arial" panose="020B0604020202020204" pitchFamily="34" charset="0"/>
              <a:buChar char="•"/>
            </a:pPr>
            <a:r>
              <a:rPr lang="zh-TW" altLang="en-US" sz="2400" dirty="0">
                <a:solidFill>
                  <a:srgbClr val="484848"/>
                </a:solidFill>
                <a:latin typeface="微軟正黑體" panose="020B0604030504040204" pitchFamily="34" charset="-120"/>
                <a:ea typeface="微軟正黑體" panose="020B0604030504040204" pitchFamily="34" charset="-120"/>
              </a:rPr>
              <a:t>龜山區</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dirty="0">
                <a:solidFill>
                  <a:srgbClr val="484848"/>
                </a:solidFill>
                <a:latin typeface="微軟正黑體" panose="020B0604030504040204" pitchFamily="34" charset="-120"/>
                <a:ea typeface="微軟正黑體" panose="020B0604030504040204" pitchFamily="34" charset="-120"/>
              </a:rPr>
              <a:t>萬隆</a:t>
            </a:r>
            <a:r>
              <a:rPr lang="en-US" altLang="zh-TW" sz="2400" dirty="0">
                <a:solidFill>
                  <a:srgbClr val="484848"/>
                </a:solidFill>
                <a:latin typeface="微軟正黑體" panose="020B0604030504040204" pitchFamily="34" charset="-120"/>
                <a:ea typeface="微軟正黑體" panose="020B0604030504040204" pitchFamily="34" charset="-120"/>
              </a:rPr>
              <a:t>/</a:t>
            </a:r>
            <a:r>
              <a:rPr lang="zh-TW" altLang="en-US" sz="2400">
                <a:solidFill>
                  <a:srgbClr val="484848"/>
                </a:solidFill>
                <a:latin typeface="微軟正黑體" panose="020B0604030504040204" pitchFamily="34" charset="-120"/>
                <a:ea typeface="微軟正黑體" panose="020B0604030504040204" pitchFamily="34" charset="-120"/>
              </a:rPr>
              <a:t>榮星</a:t>
            </a:r>
            <a:r>
              <a:rPr lang="en-US" altLang="zh-TW" sz="2400">
                <a:solidFill>
                  <a:srgbClr val="484848"/>
                </a:solidFill>
                <a:latin typeface="微軟正黑體" panose="020B0604030504040204" pitchFamily="34" charset="-120"/>
                <a:ea typeface="微軟正黑體" panose="020B0604030504040204" pitchFamily="34" charset="-120"/>
              </a:rPr>
              <a:t>)</a:t>
            </a:r>
            <a:endParaRPr lang="zh-TW" altLang="en-US" sz="2400" dirty="0">
              <a:solidFill>
                <a:srgbClr val="484848"/>
              </a:solidFill>
              <a:latin typeface="微軟正黑體" panose="020B0604030504040204" pitchFamily="34" charset="-120"/>
              <a:ea typeface="微軟正黑體" panose="020B0604030504040204" pitchFamily="34" charset="-120"/>
            </a:endParaRPr>
          </a:p>
        </p:txBody>
      </p:sp>
      <p:pic>
        <p:nvPicPr>
          <p:cNvPr id="4" name="圖片 3">
            <a:extLst>
              <a:ext uri="{FF2B5EF4-FFF2-40B4-BE49-F238E27FC236}">
                <a16:creationId xmlns:a16="http://schemas.microsoft.com/office/drawing/2014/main" id="{62C57864-9DA2-3C96-0556-383390BF9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0548" y="1449768"/>
            <a:ext cx="4379653" cy="4592099"/>
          </a:xfrm>
          <a:prstGeom prst="rect">
            <a:avLst/>
          </a:prstGeom>
        </p:spPr>
      </p:pic>
    </p:spTree>
    <p:extLst>
      <p:ext uri="{BB962C8B-B14F-4D97-AF65-F5344CB8AC3E}">
        <p14:creationId xmlns:p14="http://schemas.microsoft.com/office/powerpoint/2010/main" val="835874631"/>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2B248-4F95-D70C-994D-7F9746110F86}"/>
            </a:ext>
          </a:extLst>
        </p:cNvPr>
        <p:cNvGrpSpPr/>
        <p:nvPr/>
      </p:nvGrpSpPr>
      <p:grpSpPr>
        <a:xfrm>
          <a:off x="0" y="0"/>
          <a:ext cx="0" cy="0"/>
          <a:chOff x="0" y="0"/>
          <a:chExt cx="0" cy="0"/>
        </a:xfrm>
      </p:grpSpPr>
      <p:sp>
        <p:nvSpPr>
          <p:cNvPr id="42" name="投影片編號版面配置區 1">
            <a:extLst>
              <a:ext uri="{FF2B5EF4-FFF2-40B4-BE49-F238E27FC236}">
                <a16:creationId xmlns:a16="http://schemas.microsoft.com/office/drawing/2014/main" id="{A8DDA0D1-1066-B0A9-F892-3C561E1070F4}"/>
              </a:ext>
            </a:extLst>
          </p:cNvPr>
          <p:cNvSpPr>
            <a:spLocks noGrp="1"/>
          </p:cNvSpPr>
          <p:nvPr>
            <p:ph type="sldNum" sz="quarter" idx="12"/>
          </p:nvPr>
        </p:nvSpPr>
        <p:spPr>
          <a:xfrm>
            <a:off x="9443573" y="6484267"/>
            <a:ext cx="2743200" cy="365125"/>
          </a:xfrm>
        </p:spPr>
        <p:txBody>
          <a:bodyPr/>
          <a:lstStyle/>
          <a:p>
            <a:fld id="{2E95FD34-61D0-4C5A-B773-4E2676150C65}" type="slidenum">
              <a:rPr lang="zh-TW" altLang="en-US" smtClean="0"/>
              <a:t>6</a:t>
            </a:fld>
            <a:endParaRPr lang="zh-TW" altLang="en-US" dirty="0"/>
          </a:p>
        </p:txBody>
      </p:sp>
      <p:sp>
        <p:nvSpPr>
          <p:cNvPr id="44" name="文字方塊 4">
            <a:extLst>
              <a:ext uri="{FF2B5EF4-FFF2-40B4-BE49-F238E27FC236}">
                <a16:creationId xmlns:a16="http://schemas.microsoft.com/office/drawing/2014/main" id="{9D59DE95-C73B-667E-79B0-13B56261696E}"/>
              </a:ext>
            </a:extLst>
          </p:cNvPr>
          <p:cNvSpPr txBox="1"/>
          <p:nvPr/>
        </p:nvSpPr>
        <p:spPr>
          <a:xfrm>
            <a:off x="161153" y="383802"/>
            <a:ext cx="7973032" cy="646331"/>
          </a:xfrm>
          <a:prstGeom prst="rect">
            <a:avLst/>
          </a:prstGeom>
          <a:noFill/>
        </p:spPr>
        <p:txBody>
          <a:bodyPr wrap="square" lIns="91440" tIns="45720" rIns="91440" bIns="45720" anchor="t">
            <a:spAutoFit/>
          </a:bodyPr>
          <a:lstStyle/>
          <a:p>
            <a:r>
              <a:rPr lang="zh-TW" altLang="en-US" sz="3600" b="1" dirty="0">
                <a:latin typeface="微軟正黑體" pitchFamily="34" charset="-120"/>
                <a:ea typeface="微軟正黑體" pitchFamily="34" charset="-120"/>
              </a:rPr>
              <a:t>區域資料分析</a:t>
            </a:r>
          </a:p>
        </p:txBody>
      </p:sp>
      <p:graphicFrame>
        <p:nvGraphicFramePr>
          <p:cNvPr id="2" name="表格 1">
            <a:extLst>
              <a:ext uri="{FF2B5EF4-FFF2-40B4-BE49-F238E27FC236}">
                <a16:creationId xmlns:a16="http://schemas.microsoft.com/office/drawing/2014/main" id="{BE639790-FDF4-F50C-BAE6-AB132F0DF6E0}"/>
              </a:ext>
            </a:extLst>
          </p:cNvPr>
          <p:cNvGraphicFramePr>
            <a:graphicFrameLocks noGrp="1"/>
          </p:cNvGraphicFramePr>
          <p:nvPr/>
        </p:nvGraphicFramePr>
        <p:xfrm>
          <a:off x="161153" y="1294152"/>
          <a:ext cx="11884159" cy="4283688"/>
        </p:xfrm>
        <a:graphic>
          <a:graphicData uri="http://schemas.openxmlformats.org/drawingml/2006/table">
            <a:tbl>
              <a:tblPr/>
              <a:tblGrid>
                <a:gridCol w="988378">
                  <a:extLst>
                    <a:ext uri="{9D8B030D-6E8A-4147-A177-3AD203B41FA5}">
                      <a16:colId xmlns:a16="http://schemas.microsoft.com/office/drawing/2014/main" val="3853706481"/>
                    </a:ext>
                  </a:extLst>
                </a:gridCol>
                <a:gridCol w="1581389">
                  <a:extLst>
                    <a:ext uri="{9D8B030D-6E8A-4147-A177-3AD203B41FA5}">
                      <a16:colId xmlns:a16="http://schemas.microsoft.com/office/drawing/2014/main" val="3035663551"/>
                    </a:ext>
                  </a:extLst>
                </a:gridCol>
                <a:gridCol w="1129514">
                  <a:extLst>
                    <a:ext uri="{9D8B030D-6E8A-4147-A177-3AD203B41FA5}">
                      <a16:colId xmlns:a16="http://schemas.microsoft.com/office/drawing/2014/main" val="4259965994"/>
                    </a:ext>
                  </a:extLst>
                </a:gridCol>
                <a:gridCol w="1031295">
                  <a:extLst>
                    <a:ext uri="{9D8B030D-6E8A-4147-A177-3AD203B41FA5}">
                      <a16:colId xmlns:a16="http://schemas.microsoft.com/office/drawing/2014/main" val="1773769438"/>
                    </a:ext>
                  </a:extLst>
                </a:gridCol>
                <a:gridCol w="916706">
                  <a:extLst>
                    <a:ext uri="{9D8B030D-6E8A-4147-A177-3AD203B41FA5}">
                      <a16:colId xmlns:a16="http://schemas.microsoft.com/office/drawing/2014/main" val="3686236364"/>
                    </a:ext>
                  </a:extLst>
                </a:gridCol>
                <a:gridCol w="916706">
                  <a:extLst>
                    <a:ext uri="{9D8B030D-6E8A-4147-A177-3AD203B41FA5}">
                      <a16:colId xmlns:a16="http://schemas.microsoft.com/office/drawing/2014/main" val="2392397883"/>
                    </a:ext>
                  </a:extLst>
                </a:gridCol>
                <a:gridCol w="916706">
                  <a:extLst>
                    <a:ext uri="{9D8B030D-6E8A-4147-A177-3AD203B41FA5}">
                      <a16:colId xmlns:a16="http://schemas.microsoft.com/office/drawing/2014/main" val="2356295862"/>
                    </a:ext>
                  </a:extLst>
                </a:gridCol>
                <a:gridCol w="916706">
                  <a:extLst>
                    <a:ext uri="{9D8B030D-6E8A-4147-A177-3AD203B41FA5}">
                      <a16:colId xmlns:a16="http://schemas.microsoft.com/office/drawing/2014/main" val="383129945"/>
                    </a:ext>
                  </a:extLst>
                </a:gridCol>
                <a:gridCol w="872830">
                  <a:extLst>
                    <a:ext uri="{9D8B030D-6E8A-4147-A177-3AD203B41FA5}">
                      <a16:colId xmlns:a16="http://schemas.microsoft.com/office/drawing/2014/main" val="137756742"/>
                    </a:ext>
                  </a:extLst>
                </a:gridCol>
                <a:gridCol w="849086">
                  <a:extLst>
                    <a:ext uri="{9D8B030D-6E8A-4147-A177-3AD203B41FA5}">
                      <a16:colId xmlns:a16="http://schemas.microsoft.com/office/drawing/2014/main" val="286004115"/>
                    </a:ext>
                  </a:extLst>
                </a:gridCol>
                <a:gridCol w="1764843">
                  <a:extLst>
                    <a:ext uri="{9D8B030D-6E8A-4147-A177-3AD203B41FA5}">
                      <a16:colId xmlns:a16="http://schemas.microsoft.com/office/drawing/2014/main" val="3533780894"/>
                    </a:ext>
                  </a:extLst>
                </a:gridCol>
              </a:tblGrid>
              <a:tr h="713948">
                <a:tc>
                  <a:txBody>
                    <a:bodyPr/>
                    <a:lstStyle/>
                    <a:p>
                      <a:pPr algn="ctr" fontAlgn="ctr">
                        <a:buNone/>
                      </a:pPr>
                      <a:r>
                        <a:rPr lang="zh-TW" altLang="en-US" sz="1800" b="1" i="0" u="none" strike="noStrike" dirty="0">
                          <a:solidFill>
                            <a:srgbClr val="0000FF"/>
                          </a:solidFill>
                          <a:effectLst/>
                          <a:latin typeface="微軟正黑體" panose="020B0604030504040204" pitchFamily="34" charset="-120"/>
                          <a:ea typeface="微軟正黑體" panose="020B0604030504040204" pitchFamily="34" charset="-120"/>
                        </a:rPr>
                        <a:t>行政區</a:t>
                      </a:r>
                      <a:r>
                        <a:rPr lang="en-US" altLang="zh-TW" sz="1800" b="1" i="0" u="none" strike="noStrike" dirty="0">
                          <a:solidFill>
                            <a:srgbClr val="0000FF"/>
                          </a:solidFill>
                          <a:effectLst/>
                          <a:latin typeface="微軟正黑體" panose="020B0604030504040204" pitchFamily="34" charset="-120"/>
                          <a:ea typeface="微軟正黑體" panose="020B0604030504040204" pitchFamily="34" charset="-120"/>
                        </a:rPr>
                        <a:t>(</a:t>
                      </a:r>
                      <a:r>
                        <a:rPr lang="zh-TW" altLang="en-US" sz="1800" b="1" i="0" u="none" strike="noStrike" dirty="0">
                          <a:solidFill>
                            <a:srgbClr val="0000FF"/>
                          </a:solidFill>
                          <a:effectLst/>
                          <a:latin typeface="微軟正黑體" panose="020B0604030504040204" pitchFamily="34" charset="-120"/>
                          <a:ea typeface="微軟正黑體" panose="020B0604030504040204" pitchFamily="34" charset="-120"/>
                        </a:rPr>
                        <a:t>台中</a:t>
                      </a:r>
                      <a:r>
                        <a:rPr lang="en-US" altLang="zh-TW" sz="1800" b="1" i="0" u="none" strike="noStrike" dirty="0">
                          <a:solidFill>
                            <a:srgbClr val="0000FF"/>
                          </a:solidFill>
                          <a:effectLst/>
                          <a:latin typeface="微軟正黑體" panose="020B0604030504040204" pitchFamily="34" charset="-120"/>
                          <a:ea typeface="微軟正黑體" panose="020B0604030504040204" pitchFamily="34" charset="-120"/>
                        </a:rPr>
                        <a:t>)</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人口（約）</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推估桶裝瓦斯戶</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家用戶</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商用戶</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桶裝瓦斯戶</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瓦斯行數</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每萬戶瓦斯行</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分裝場</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通路商場合計</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資源</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extLst>
                  <a:ext uri="{0D108BD9-81ED-4DB2-BD59-A6C34878D82A}">
                    <a16:rowId xmlns:a16="http://schemas.microsoft.com/office/drawing/2014/main" val="1935455422"/>
                  </a:ext>
                </a:extLst>
              </a:tr>
              <a:tr h="356974">
                <a:tc>
                  <a:txBody>
                    <a:bodyPr/>
                    <a:lstStyle/>
                    <a:p>
                      <a:pPr algn="ctr" fontAlgn="ctr">
                        <a:buNone/>
                      </a:pP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北屯區</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316,000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47,000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45,355</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1645</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47,000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14</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3</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4</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zh-TW" altLang="en-US" sz="1800" b="1" i="0" u="none" strike="noStrike">
                          <a:solidFill>
                            <a:srgbClr val="000000"/>
                          </a:solidFill>
                          <a:effectLst/>
                          <a:latin typeface="微軟正黑體" panose="020B0604030504040204" pitchFamily="34" charset="-120"/>
                          <a:ea typeface="微軟正黑體" panose="020B0604030504040204" pitchFamily="34" charset="-120"/>
                        </a:rPr>
                        <a:t>民興</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extLst>
                  <a:ext uri="{0D108BD9-81ED-4DB2-BD59-A6C34878D82A}">
                    <a16:rowId xmlns:a16="http://schemas.microsoft.com/office/drawing/2014/main" val="3001168007"/>
                  </a:ext>
                </a:extLst>
              </a:tr>
              <a:tr h="356974">
                <a:tc>
                  <a:txBody>
                    <a:bodyPr/>
                    <a:lstStyle/>
                    <a:p>
                      <a:pPr algn="ctr" fontAlgn="ctr">
                        <a:buNone/>
                      </a:pP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南區</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123,000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18,500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17,852</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648</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18,500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6</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3.2</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3</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zh-TW" altLang="en-US" sz="1800" b="1" i="0" u="none" strike="noStrike">
                          <a:solidFill>
                            <a:srgbClr val="000000"/>
                          </a:solidFill>
                          <a:effectLst/>
                          <a:latin typeface="微軟正黑體" panose="020B0604030504040204" pitchFamily="34" charset="-120"/>
                          <a:ea typeface="微軟正黑體" panose="020B0604030504040204" pitchFamily="34" charset="-120"/>
                        </a:rPr>
                        <a:t>　</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extLst>
                  <a:ext uri="{0D108BD9-81ED-4DB2-BD59-A6C34878D82A}">
                    <a16:rowId xmlns:a16="http://schemas.microsoft.com/office/drawing/2014/main" val="2152510017"/>
                  </a:ext>
                </a:extLst>
              </a:tr>
              <a:tr h="356974">
                <a:tc>
                  <a:txBody>
                    <a:bodyPr/>
                    <a:lstStyle/>
                    <a:p>
                      <a:pPr algn="ctr" fontAlgn="ctr">
                        <a:buNone/>
                      </a:pP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西屯區</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238,000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35,500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34,258</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1242</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35,500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11</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3.1</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4</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zh-TW" altLang="en-US" sz="1800" b="1" i="0" u="none" strike="noStrike">
                          <a:solidFill>
                            <a:srgbClr val="000000"/>
                          </a:solidFill>
                          <a:effectLst/>
                          <a:latin typeface="微軟正黑體" panose="020B0604030504040204" pitchFamily="34" charset="-120"/>
                          <a:ea typeface="微軟正黑體" panose="020B0604030504040204" pitchFamily="34" charset="-120"/>
                        </a:rPr>
                        <a:t>中信企業</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extLst>
                  <a:ext uri="{0D108BD9-81ED-4DB2-BD59-A6C34878D82A}">
                    <a16:rowId xmlns:a16="http://schemas.microsoft.com/office/drawing/2014/main" val="1520954674"/>
                  </a:ext>
                </a:extLst>
              </a:tr>
              <a:tr h="356974">
                <a:tc>
                  <a:txBody>
                    <a:bodyPr/>
                    <a:lstStyle/>
                    <a:p>
                      <a:pPr algn="ctr" fontAlgn="ctr">
                        <a:buNone/>
                      </a:pP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豐原區</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162,000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24,000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23,160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840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24,000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8</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3.3</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2</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buNone/>
                      </a:pPr>
                      <a:r>
                        <a:rPr lang="zh-TW" altLang="en-US" sz="1800" b="1" i="0" u="none" strike="noStrike">
                          <a:solidFill>
                            <a:srgbClr val="000000"/>
                          </a:solidFill>
                          <a:effectLst/>
                          <a:latin typeface="微軟正黑體" panose="020B0604030504040204" pitchFamily="34" charset="-120"/>
                          <a:ea typeface="微軟正黑體" panose="020B0604030504040204" pitchFamily="34" charset="-120"/>
                        </a:rPr>
                        <a:t>　</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extLst>
                  <a:ext uri="{0D108BD9-81ED-4DB2-BD59-A6C34878D82A}">
                    <a16:rowId xmlns:a16="http://schemas.microsoft.com/office/drawing/2014/main" val="672252261"/>
                  </a:ext>
                </a:extLst>
              </a:tr>
              <a:tr h="713948">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行政區</a:t>
                      </a:r>
                      <a:r>
                        <a:rPr lang="en-US" altLang="zh-TW" sz="1800" b="1" i="0" u="none" strike="noStrike">
                          <a:solidFill>
                            <a:srgbClr val="0000FF"/>
                          </a:solidFill>
                          <a:effectLst/>
                          <a:latin typeface="微軟正黑體" panose="020B0604030504040204" pitchFamily="34" charset="-120"/>
                          <a:ea typeface="微軟正黑體" panose="020B0604030504040204" pitchFamily="34" charset="-120"/>
                        </a:rPr>
                        <a:t>(</a:t>
                      </a: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桃園</a:t>
                      </a:r>
                      <a:r>
                        <a:rPr lang="en-US" altLang="zh-TW" sz="1800" b="1" i="0" u="none" strike="noStrike">
                          <a:solidFill>
                            <a:srgbClr val="0000FF"/>
                          </a:solidFill>
                          <a:effectLst/>
                          <a:latin typeface="微軟正黑體" panose="020B0604030504040204" pitchFamily="34" charset="-120"/>
                          <a:ea typeface="微軟正黑體" panose="020B0604030504040204" pitchFamily="34" charset="-120"/>
                        </a:rPr>
                        <a:t>)</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人口（約）</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推估桶裝瓦斯戶</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dirty="0">
                          <a:solidFill>
                            <a:srgbClr val="0000FF"/>
                          </a:solidFill>
                          <a:effectLst/>
                          <a:latin typeface="微軟正黑體" panose="020B0604030504040204" pitchFamily="34" charset="-120"/>
                          <a:ea typeface="微軟正黑體" panose="020B0604030504040204" pitchFamily="34" charset="-120"/>
                        </a:rPr>
                        <a:t>家用戶</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dirty="0">
                          <a:solidFill>
                            <a:srgbClr val="0000FF"/>
                          </a:solidFill>
                          <a:effectLst/>
                          <a:latin typeface="微軟正黑體" panose="020B0604030504040204" pitchFamily="34" charset="-120"/>
                          <a:ea typeface="微軟正黑體" panose="020B0604030504040204" pitchFamily="34" charset="-120"/>
                        </a:rPr>
                        <a:t>商用戶</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桶裝瓦斯戶</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瓦斯行數</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每萬戶瓦斯行</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分裝場</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通路商場合計</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tc>
                  <a:txBody>
                    <a:bodyPr/>
                    <a:lstStyle/>
                    <a:p>
                      <a:pPr algn="ctr" fontAlgn="ctr">
                        <a:buNone/>
                      </a:pPr>
                      <a:r>
                        <a:rPr lang="zh-TW" altLang="en-US" sz="1800" b="1" i="0" u="none" strike="noStrike">
                          <a:solidFill>
                            <a:srgbClr val="0000FF"/>
                          </a:solidFill>
                          <a:effectLst/>
                          <a:latin typeface="微軟正黑體" panose="020B0604030504040204" pitchFamily="34" charset="-120"/>
                          <a:ea typeface="微軟正黑體" panose="020B0604030504040204" pitchFamily="34" charset="-120"/>
                        </a:rPr>
                        <a:t>資源</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DE9D9"/>
                    </a:solidFill>
                  </a:tcPr>
                </a:tc>
                <a:extLst>
                  <a:ext uri="{0D108BD9-81ED-4DB2-BD59-A6C34878D82A}">
                    <a16:rowId xmlns:a16="http://schemas.microsoft.com/office/drawing/2014/main" val="381512515"/>
                  </a:ext>
                </a:extLst>
              </a:tr>
              <a:tr h="356974">
                <a:tc>
                  <a:txBody>
                    <a:bodyPr/>
                    <a:lstStyle/>
                    <a:p>
                      <a:pPr algn="ctr" fontAlgn="ctr">
                        <a:buNone/>
                      </a:pPr>
                      <a:r>
                        <a:rPr lang="zh-TW" altLang="en-US" sz="18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平鎮</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區</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230,000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35,000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33,800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1,200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35,000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11</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3.1</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3</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zh-TW" altLang="en-US" sz="1800" b="1" i="0" u="none" strike="noStrike">
                          <a:solidFill>
                            <a:srgbClr val="000000"/>
                          </a:solidFill>
                          <a:effectLst/>
                          <a:latin typeface="微軟正黑體" panose="020B0604030504040204" pitchFamily="34" charset="-120"/>
                          <a:ea typeface="微軟正黑體" panose="020B0604030504040204" pitchFamily="34" charset="-120"/>
                        </a:rPr>
                        <a:t>萬隆、榮星</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extLst>
                  <a:ext uri="{0D108BD9-81ED-4DB2-BD59-A6C34878D82A}">
                    <a16:rowId xmlns:a16="http://schemas.microsoft.com/office/drawing/2014/main" val="3658288459"/>
                  </a:ext>
                </a:extLst>
              </a:tr>
              <a:tr h="356974">
                <a:tc>
                  <a:txBody>
                    <a:bodyPr/>
                    <a:lstStyle/>
                    <a:p>
                      <a:pPr marL="0" algn="ctr" defTabSz="914400" rtl="0" eaLnBrk="1" fontAlgn="ctr" latinLnBrk="0" hangingPunct="1">
                        <a:buNone/>
                      </a:pPr>
                      <a:r>
                        <a:rPr lang="zh-TW" altLang="en-US" sz="18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桃園區</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475,000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62,000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59,800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2,200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62,000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18</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2.9</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10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zh-TW" altLang="en-US" sz="1800" b="1" i="0" u="none" strike="noStrike">
                          <a:solidFill>
                            <a:srgbClr val="000000"/>
                          </a:solidFill>
                          <a:effectLst/>
                          <a:latin typeface="微軟正黑體" panose="020B0604030504040204" pitchFamily="34" charset="-120"/>
                          <a:ea typeface="微軟正黑體" panose="020B0604030504040204" pitchFamily="34" charset="-120"/>
                        </a:rPr>
                        <a:t>北誼興、理事長</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extLst>
                  <a:ext uri="{0D108BD9-81ED-4DB2-BD59-A6C34878D82A}">
                    <a16:rowId xmlns:a16="http://schemas.microsoft.com/office/drawing/2014/main" val="4132555796"/>
                  </a:ext>
                </a:extLst>
              </a:tr>
              <a:tr h="356974">
                <a:tc>
                  <a:txBody>
                    <a:bodyPr/>
                    <a:lstStyle/>
                    <a:p>
                      <a:pPr marL="0" algn="ctr" defTabSz="914400" rtl="0" eaLnBrk="1" fontAlgn="ctr" latinLnBrk="0" hangingPunct="1">
                        <a:buNone/>
                      </a:pPr>
                      <a:r>
                        <a:rPr lang="zh-TW" altLang="en-US" sz="18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中壢區</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425,000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55,000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53,100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1,900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55,000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16</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dirty="0">
                          <a:solidFill>
                            <a:srgbClr val="000000"/>
                          </a:solidFill>
                          <a:effectLst/>
                          <a:latin typeface="微軟正黑體" panose="020B0604030504040204" pitchFamily="34" charset="-120"/>
                          <a:ea typeface="微軟正黑體" panose="020B0604030504040204" pitchFamily="34" charset="-120"/>
                        </a:rPr>
                        <a:t>2.9</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dirty="0">
                          <a:solidFill>
                            <a:srgbClr val="000000"/>
                          </a:solidFill>
                          <a:effectLst/>
                          <a:latin typeface="微軟正黑體" panose="020B0604030504040204" pitchFamily="34" charset="-120"/>
                          <a:ea typeface="微軟正黑體" panose="020B0604030504040204" pitchFamily="34" charset="-120"/>
                        </a:rPr>
                        <a:t>8</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zh-TW" altLang="en-US" sz="1800" b="1" i="0" u="none" strike="noStrike" dirty="0">
                          <a:solidFill>
                            <a:srgbClr val="000000"/>
                          </a:solidFill>
                          <a:effectLst/>
                          <a:latin typeface="微軟正黑體" panose="020B0604030504040204" pitchFamily="34" charset="-120"/>
                          <a:ea typeface="微軟正黑體" panose="020B0604030504040204" pitchFamily="34" charset="-120"/>
                        </a:rPr>
                        <a:t>仲美</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extLst>
                  <a:ext uri="{0D108BD9-81ED-4DB2-BD59-A6C34878D82A}">
                    <a16:rowId xmlns:a16="http://schemas.microsoft.com/office/drawing/2014/main" val="2172122476"/>
                  </a:ext>
                </a:extLst>
              </a:tr>
              <a:tr h="356974">
                <a:tc>
                  <a:txBody>
                    <a:bodyPr/>
                    <a:lstStyle/>
                    <a:p>
                      <a:pPr algn="ctr" fontAlgn="ctr">
                        <a:buNone/>
                      </a:pP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龜山區</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165,000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21,000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20,300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700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21,000</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tc>
                  <a:txBody>
                    <a:bodyPr/>
                    <a:lstStyle/>
                    <a:p>
                      <a:pPr algn="ctr" fontAlgn="ctr">
                        <a:buNone/>
                      </a:pP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7</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3.3</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en-US" altLang="zh-TW" sz="1800" b="1" i="0" u="none" strike="noStrike">
                          <a:solidFill>
                            <a:srgbClr val="000000"/>
                          </a:solidFill>
                          <a:effectLst/>
                          <a:latin typeface="微軟正黑體" panose="020B0604030504040204" pitchFamily="34" charset="-120"/>
                          <a:ea typeface="微軟正黑體" panose="020B0604030504040204" pitchFamily="34" charset="-120"/>
                        </a:rPr>
                        <a:t>3</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CE6F1"/>
                    </a:solidFill>
                  </a:tcPr>
                </a:tc>
                <a:tc>
                  <a:txBody>
                    <a:bodyPr/>
                    <a:lstStyle/>
                    <a:p>
                      <a:pPr algn="ctr" fontAlgn="ctr">
                        <a:buNone/>
                      </a:pPr>
                      <a:r>
                        <a:rPr lang="zh-TW" altLang="en-US" sz="1800" b="1"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6350" marR="6350" marT="6350"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DCDB"/>
                    </a:solidFill>
                  </a:tcPr>
                </a:tc>
                <a:extLst>
                  <a:ext uri="{0D108BD9-81ED-4DB2-BD59-A6C34878D82A}">
                    <a16:rowId xmlns:a16="http://schemas.microsoft.com/office/drawing/2014/main" val="3455456222"/>
                  </a:ext>
                </a:extLst>
              </a:tr>
            </a:tbl>
          </a:graphicData>
        </a:graphic>
      </p:graphicFrame>
    </p:spTree>
    <p:extLst>
      <p:ext uri="{BB962C8B-B14F-4D97-AF65-F5344CB8AC3E}">
        <p14:creationId xmlns:p14="http://schemas.microsoft.com/office/powerpoint/2010/main" val="2920526697"/>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90EC2-DFF7-AC54-2E9F-8210ACF23B40}"/>
            </a:ext>
          </a:extLst>
        </p:cNvPr>
        <p:cNvGrpSpPr/>
        <p:nvPr/>
      </p:nvGrpSpPr>
      <p:grpSpPr>
        <a:xfrm>
          <a:off x="0" y="0"/>
          <a:ext cx="0" cy="0"/>
          <a:chOff x="0" y="0"/>
          <a:chExt cx="0" cy="0"/>
        </a:xfrm>
      </p:grpSpPr>
      <p:sp>
        <p:nvSpPr>
          <p:cNvPr id="42" name="投影片編號版面配置區 1">
            <a:extLst>
              <a:ext uri="{FF2B5EF4-FFF2-40B4-BE49-F238E27FC236}">
                <a16:creationId xmlns:a16="http://schemas.microsoft.com/office/drawing/2014/main" id="{13AB83E1-C6F6-9A3B-53FF-6BC3A5F329E8}"/>
              </a:ext>
            </a:extLst>
          </p:cNvPr>
          <p:cNvSpPr>
            <a:spLocks noGrp="1"/>
          </p:cNvSpPr>
          <p:nvPr>
            <p:ph type="sldNum" sz="quarter" idx="12"/>
          </p:nvPr>
        </p:nvSpPr>
        <p:spPr>
          <a:xfrm>
            <a:off x="9443573" y="6484267"/>
            <a:ext cx="2743200" cy="365125"/>
          </a:xfrm>
        </p:spPr>
        <p:txBody>
          <a:bodyPr/>
          <a:lstStyle/>
          <a:p>
            <a:fld id="{2E95FD34-61D0-4C5A-B773-4E2676150C65}" type="slidenum">
              <a:rPr lang="zh-TW" altLang="en-US" smtClean="0"/>
              <a:t>7</a:t>
            </a:fld>
            <a:endParaRPr lang="zh-TW" altLang="en-US" dirty="0"/>
          </a:p>
        </p:txBody>
      </p:sp>
      <p:sp>
        <p:nvSpPr>
          <p:cNvPr id="44" name="文字方塊 4">
            <a:extLst>
              <a:ext uri="{FF2B5EF4-FFF2-40B4-BE49-F238E27FC236}">
                <a16:creationId xmlns:a16="http://schemas.microsoft.com/office/drawing/2014/main" id="{56B3EB61-5A39-F210-E566-64A2AA789213}"/>
              </a:ext>
            </a:extLst>
          </p:cNvPr>
          <p:cNvSpPr txBox="1"/>
          <p:nvPr/>
        </p:nvSpPr>
        <p:spPr>
          <a:xfrm>
            <a:off x="161153" y="383802"/>
            <a:ext cx="7973032" cy="646331"/>
          </a:xfrm>
          <a:prstGeom prst="rect">
            <a:avLst/>
          </a:prstGeom>
          <a:noFill/>
        </p:spPr>
        <p:txBody>
          <a:bodyPr wrap="square" lIns="91440" tIns="45720" rIns="91440" bIns="45720" anchor="t">
            <a:spAutoFit/>
          </a:bodyPr>
          <a:lstStyle/>
          <a:p>
            <a:r>
              <a:rPr lang="en-US" altLang="zh-TW" sz="3600" b="1" dirty="0">
                <a:latin typeface="微軟正黑體" pitchFamily="34" charset="-120"/>
                <a:ea typeface="微軟正黑體" pitchFamily="34" charset="-120"/>
              </a:rPr>
              <a:t>2026</a:t>
            </a:r>
            <a:r>
              <a:rPr lang="zh-TW" altLang="en-US" sz="3600" b="1" dirty="0">
                <a:latin typeface="微軟正黑體" pitchFamily="34" charset="-120"/>
                <a:ea typeface="微軟正黑體" pitchFamily="34" charset="-120"/>
              </a:rPr>
              <a:t>推進規劃</a:t>
            </a:r>
          </a:p>
        </p:txBody>
      </p:sp>
      <p:pic>
        <p:nvPicPr>
          <p:cNvPr id="3" name="圖片 2">
            <a:extLst>
              <a:ext uri="{FF2B5EF4-FFF2-40B4-BE49-F238E27FC236}">
                <a16:creationId xmlns:a16="http://schemas.microsoft.com/office/drawing/2014/main" id="{335AC63A-635C-016C-374A-941F2216653C}"/>
              </a:ext>
            </a:extLst>
          </p:cNvPr>
          <p:cNvPicPr>
            <a:picLocks noChangeAspect="1"/>
          </p:cNvPicPr>
          <p:nvPr/>
        </p:nvPicPr>
        <p:blipFill>
          <a:blip r:embed="rId3">
            <a:extLst>
              <a:ext uri="{28A0092B-C50C-407E-A947-70E740481C1C}">
                <a14:useLocalDpi xmlns:a14="http://schemas.microsoft.com/office/drawing/2010/main" val="0"/>
              </a:ext>
            </a:extLst>
          </a:blip>
          <a:srcRect t="8320"/>
          <a:stretch>
            <a:fillRect/>
          </a:stretch>
        </p:blipFill>
        <p:spPr>
          <a:xfrm>
            <a:off x="3167984" y="3599914"/>
            <a:ext cx="2825016" cy="1663802"/>
          </a:xfrm>
          <a:prstGeom prst="rect">
            <a:avLst/>
          </a:prstGeom>
        </p:spPr>
      </p:pic>
      <p:sp>
        <p:nvSpPr>
          <p:cNvPr id="22" name="文字方塊 21">
            <a:extLst>
              <a:ext uri="{FF2B5EF4-FFF2-40B4-BE49-F238E27FC236}">
                <a16:creationId xmlns:a16="http://schemas.microsoft.com/office/drawing/2014/main" id="{3B1987AD-EB65-7465-426F-89D78D9ADBFA}"/>
              </a:ext>
            </a:extLst>
          </p:cNvPr>
          <p:cNvSpPr txBox="1"/>
          <p:nvPr/>
        </p:nvSpPr>
        <p:spPr>
          <a:xfrm>
            <a:off x="147061" y="1285929"/>
            <a:ext cx="5828381" cy="2794483"/>
          </a:xfrm>
          <a:prstGeom prst="rect">
            <a:avLst/>
          </a:prstGeom>
          <a:noFill/>
        </p:spPr>
        <p:txBody>
          <a:bodyPr wrap="square">
            <a:spAutoFit/>
          </a:bodyPr>
          <a:lstStyle/>
          <a:p>
            <a:pPr marL="457200" indent="-457200">
              <a:lnSpc>
                <a:spcPct val="150000"/>
              </a:lnSpc>
              <a:buAutoNum type="arabicPeriod"/>
            </a:pPr>
            <a:r>
              <a:rPr lang="zh-TW" altLang="en-US" sz="2400" b="1" dirty="0">
                <a:solidFill>
                  <a:srgbClr val="484848"/>
                </a:solidFill>
                <a:latin typeface="微軟正黑體" panose="020B0604030504040204" pitchFamily="34" charset="-120"/>
                <a:ea typeface="微軟正黑體" panose="020B0604030504040204" pitchFamily="34" charset="-120"/>
              </a:rPr>
              <a:t>以零售通路據點放置智取櫃</a:t>
            </a:r>
            <a:endParaRPr lang="en-US" altLang="zh-TW" sz="2400" b="1" dirty="0">
              <a:solidFill>
                <a:srgbClr val="484848"/>
              </a:solidFill>
              <a:latin typeface="微軟正黑體" panose="020B0604030504040204" pitchFamily="34" charset="-120"/>
              <a:ea typeface="微軟正黑體" panose="020B0604030504040204" pitchFamily="34" charset="-120"/>
            </a:endParaRPr>
          </a:p>
          <a:p>
            <a:pPr marL="914400" lvl="1" indent="-457200">
              <a:lnSpc>
                <a:spcPct val="150000"/>
              </a:lnSpc>
              <a:buFont typeface="Wingdings" panose="05000000000000000000" pitchFamily="2" charset="2"/>
              <a:buChar char="l"/>
            </a:pPr>
            <a:r>
              <a:rPr lang="zh-TW" altLang="en-US" sz="2400" b="1" dirty="0">
                <a:solidFill>
                  <a:srgbClr val="484848"/>
                </a:solidFill>
                <a:latin typeface="微軟正黑體" panose="020B0604030504040204" pitchFamily="34" charset="-120"/>
                <a:ea typeface="微軟正黑體" panose="020B0604030504040204" pitchFamily="34" charset="-120"/>
              </a:rPr>
              <a:t>場地租用</a:t>
            </a:r>
            <a:endParaRPr lang="en-US" altLang="zh-TW" sz="2400" b="1" dirty="0">
              <a:solidFill>
                <a:srgbClr val="484848"/>
              </a:solidFill>
              <a:latin typeface="微軟正黑體" panose="020B0604030504040204" pitchFamily="34" charset="-120"/>
              <a:ea typeface="微軟正黑體" panose="020B0604030504040204" pitchFamily="34" charset="-120"/>
            </a:endParaRPr>
          </a:p>
          <a:p>
            <a:pPr>
              <a:lnSpc>
                <a:spcPct val="150000"/>
              </a:lnSpc>
            </a:pPr>
            <a:r>
              <a:rPr lang="en-US" altLang="zh-TW" sz="2400" b="1" dirty="0">
                <a:solidFill>
                  <a:srgbClr val="484848"/>
                </a:solidFill>
                <a:latin typeface="微軟正黑體" panose="020B0604030504040204" pitchFamily="34" charset="-120"/>
                <a:ea typeface="微軟正黑體" panose="020B0604030504040204" pitchFamily="34" charset="-120"/>
              </a:rPr>
              <a:t>2. </a:t>
            </a:r>
            <a:r>
              <a:rPr lang="zh-TW" altLang="en-US" sz="2400" b="1" dirty="0">
                <a:solidFill>
                  <a:srgbClr val="484848"/>
                </a:solidFill>
                <a:latin typeface="微軟正黑體" panose="020B0604030504040204" pitchFamily="34" charset="-120"/>
                <a:ea typeface="微軟正黑體" panose="020B0604030504040204" pitchFamily="34" charset="-120"/>
              </a:rPr>
              <a:t>邀請同業成為旺來加盟夥伴</a:t>
            </a:r>
            <a:endParaRPr lang="en-US" altLang="zh-TW" sz="2400" b="1" dirty="0">
              <a:solidFill>
                <a:srgbClr val="484848"/>
              </a:solidFill>
              <a:latin typeface="微軟正黑體" panose="020B0604030504040204" pitchFamily="34" charset="-120"/>
              <a:ea typeface="微軟正黑體" panose="020B0604030504040204" pitchFamily="34" charset="-120"/>
            </a:endParaRPr>
          </a:p>
          <a:p>
            <a:pPr marL="800100" lvl="1" indent="-342900">
              <a:lnSpc>
                <a:spcPct val="150000"/>
              </a:lnSpc>
              <a:buFont typeface="Wingdings" panose="05000000000000000000" pitchFamily="2" charset="2"/>
              <a:buChar char="l"/>
            </a:pPr>
            <a:r>
              <a:rPr lang="en-US" altLang="zh-TW" sz="2400" b="1" dirty="0">
                <a:solidFill>
                  <a:srgbClr val="484848"/>
                </a:solidFill>
                <a:latin typeface="微軟正黑體" panose="020B0604030504040204" pitchFamily="34" charset="-120"/>
                <a:ea typeface="微軟正黑體" panose="020B0604030504040204" pitchFamily="34" charset="-120"/>
              </a:rPr>
              <a:t>2 </a:t>
            </a:r>
            <a:r>
              <a:rPr lang="zh-TW" altLang="en-US" sz="2400" b="1" dirty="0">
                <a:solidFill>
                  <a:srgbClr val="484848"/>
                </a:solidFill>
                <a:latin typeface="微軟正黑體" panose="020B0604030504040204" pitchFamily="34" charset="-120"/>
                <a:ea typeface="微軟正黑體" panose="020B0604030504040204" pitchFamily="34" charset="-120"/>
              </a:rPr>
              <a:t>年特約合作，由夥伴轉加盟</a:t>
            </a:r>
            <a:endParaRPr lang="en-US" altLang="zh-TW" sz="2400" b="1" dirty="0">
              <a:solidFill>
                <a:srgbClr val="484848"/>
              </a:solidFill>
              <a:latin typeface="微軟正黑體" panose="020B0604030504040204" pitchFamily="34" charset="-120"/>
              <a:ea typeface="微軟正黑體" panose="020B0604030504040204" pitchFamily="34" charset="-120"/>
            </a:endParaRPr>
          </a:p>
          <a:p>
            <a:pPr>
              <a:lnSpc>
                <a:spcPct val="150000"/>
              </a:lnSpc>
            </a:pPr>
            <a:endParaRPr lang="zh-TW" altLang="en-US" sz="2400" b="1" dirty="0">
              <a:solidFill>
                <a:srgbClr val="484848"/>
              </a:solidFill>
              <a:latin typeface="微軟正黑體" panose="020B0604030504040204" pitchFamily="34" charset="-120"/>
              <a:ea typeface="微軟正黑體" panose="020B0604030504040204" pitchFamily="34" charset="-120"/>
            </a:endParaRPr>
          </a:p>
        </p:txBody>
      </p:sp>
      <p:grpSp>
        <p:nvGrpSpPr>
          <p:cNvPr id="8" name="群組 7">
            <a:extLst>
              <a:ext uri="{FF2B5EF4-FFF2-40B4-BE49-F238E27FC236}">
                <a16:creationId xmlns:a16="http://schemas.microsoft.com/office/drawing/2014/main" id="{5875FD17-0EFC-D1F8-010D-7FF10D3113D4}"/>
              </a:ext>
            </a:extLst>
          </p:cNvPr>
          <p:cNvGrpSpPr/>
          <p:nvPr/>
        </p:nvGrpSpPr>
        <p:grpSpPr>
          <a:xfrm>
            <a:off x="8321607" y="1191069"/>
            <a:ext cx="2252156" cy="4839841"/>
            <a:chOff x="8321607" y="1191069"/>
            <a:chExt cx="2252156" cy="4839841"/>
          </a:xfrm>
        </p:grpSpPr>
        <p:grpSp>
          <p:nvGrpSpPr>
            <p:cNvPr id="27" name="群組 26">
              <a:extLst>
                <a:ext uri="{FF2B5EF4-FFF2-40B4-BE49-F238E27FC236}">
                  <a16:creationId xmlns:a16="http://schemas.microsoft.com/office/drawing/2014/main" id="{5EBC3EBB-D212-6B0D-6859-EFE6B5B967F0}"/>
                </a:ext>
              </a:extLst>
            </p:cNvPr>
            <p:cNvGrpSpPr/>
            <p:nvPr/>
          </p:nvGrpSpPr>
          <p:grpSpPr>
            <a:xfrm>
              <a:off x="9131184" y="1191069"/>
              <a:ext cx="1442579" cy="1334156"/>
              <a:chOff x="3612021" y="1524001"/>
              <a:chExt cx="1442579" cy="1334156"/>
            </a:xfrm>
          </p:grpSpPr>
          <p:sp>
            <p:nvSpPr>
              <p:cNvPr id="52" name="矩形: 圓角 51">
                <a:extLst>
                  <a:ext uri="{FF2B5EF4-FFF2-40B4-BE49-F238E27FC236}">
                    <a16:creationId xmlns:a16="http://schemas.microsoft.com/office/drawing/2014/main" id="{76E09731-6F96-DBCC-835A-C0B19D654FCD}"/>
                  </a:ext>
                </a:extLst>
              </p:cNvPr>
              <p:cNvSpPr/>
              <p:nvPr/>
            </p:nvSpPr>
            <p:spPr>
              <a:xfrm>
                <a:off x="3612021" y="1524001"/>
                <a:ext cx="1442579" cy="1334156"/>
              </a:xfrm>
              <a:prstGeom prst="round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3" name="群組 52">
                <a:extLst>
                  <a:ext uri="{FF2B5EF4-FFF2-40B4-BE49-F238E27FC236}">
                    <a16:creationId xmlns:a16="http://schemas.microsoft.com/office/drawing/2014/main" id="{AB3D54DD-B58C-7930-CBFC-833337E61B2D}"/>
                  </a:ext>
                </a:extLst>
              </p:cNvPr>
              <p:cNvGrpSpPr/>
              <p:nvPr/>
            </p:nvGrpSpPr>
            <p:grpSpPr>
              <a:xfrm>
                <a:off x="3740147" y="1648217"/>
                <a:ext cx="1144852" cy="455414"/>
                <a:chOff x="3897205" y="1192803"/>
                <a:chExt cx="1144852" cy="455414"/>
              </a:xfrm>
            </p:grpSpPr>
            <p:sp>
              <p:nvSpPr>
                <p:cNvPr id="57" name="矩形: 圓角 56">
                  <a:extLst>
                    <a:ext uri="{FF2B5EF4-FFF2-40B4-BE49-F238E27FC236}">
                      <a16:creationId xmlns:a16="http://schemas.microsoft.com/office/drawing/2014/main" id="{72EE22EF-C5CC-DF2E-1D41-D261252E983A}"/>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8" name="文字方塊 57">
                  <a:extLst>
                    <a:ext uri="{FF2B5EF4-FFF2-40B4-BE49-F238E27FC236}">
                      <a16:creationId xmlns:a16="http://schemas.microsoft.com/office/drawing/2014/main" id="{46FEF17A-FCC9-46A8-AD1D-E9E0878A1D8F}"/>
                    </a:ext>
                  </a:extLst>
                </p:cNvPr>
                <p:cNvSpPr txBox="1"/>
                <p:nvPr/>
              </p:nvSpPr>
              <p:spPr>
                <a:xfrm>
                  <a:off x="4034581" y="1247813"/>
                  <a:ext cx="877163"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智取櫃</a:t>
                  </a:r>
                </a:p>
              </p:txBody>
            </p:sp>
          </p:grpSp>
          <p:grpSp>
            <p:nvGrpSpPr>
              <p:cNvPr id="54" name="群組 53">
                <a:extLst>
                  <a:ext uri="{FF2B5EF4-FFF2-40B4-BE49-F238E27FC236}">
                    <a16:creationId xmlns:a16="http://schemas.microsoft.com/office/drawing/2014/main" id="{9FD9054D-A532-912F-138A-B0AB97962312}"/>
                  </a:ext>
                </a:extLst>
              </p:cNvPr>
              <p:cNvGrpSpPr/>
              <p:nvPr/>
            </p:nvGrpSpPr>
            <p:grpSpPr>
              <a:xfrm>
                <a:off x="3740147" y="2295534"/>
                <a:ext cx="1144852" cy="455414"/>
                <a:chOff x="3897205" y="1192803"/>
                <a:chExt cx="1144852" cy="455414"/>
              </a:xfrm>
            </p:grpSpPr>
            <p:sp>
              <p:nvSpPr>
                <p:cNvPr id="55" name="矩形: 圓角 54">
                  <a:extLst>
                    <a:ext uri="{FF2B5EF4-FFF2-40B4-BE49-F238E27FC236}">
                      <a16:creationId xmlns:a16="http://schemas.microsoft.com/office/drawing/2014/main" id="{DEF25A50-2349-FC26-5C52-F7B95F8C1D59}"/>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6" name="文字方塊 55">
                  <a:extLst>
                    <a:ext uri="{FF2B5EF4-FFF2-40B4-BE49-F238E27FC236}">
                      <a16:creationId xmlns:a16="http://schemas.microsoft.com/office/drawing/2014/main" id="{FAE9263D-0705-A523-C56A-30DC30E0C806}"/>
                    </a:ext>
                  </a:extLst>
                </p:cNvPr>
                <p:cNvSpPr txBox="1"/>
                <p:nvPr/>
              </p:nvSpPr>
              <p:spPr>
                <a:xfrm>
                  <a:off x="4026768" y="1237248"/>
                  <a:ext cx="877163"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場地費</a:t>
                  </a:r>
                </a:p>
              </p:txBody>
            </p:sp>
          </p:grpSp>
        </p:grpSp>
        <p:grpSp>
          <p:nvGrpSpPr>
            <p:cNvPr id="28" name="群組 27">
              <a:extLst>
                <a:ext uri="{FF2B5EF4-FFF2-40B4-BE49-F238E27FC236}">
                  <a16:creationId xmlns:a16="http://schemas.microsoft.com/office/drawing/2014/main" id="{BBDFCB28-B55D-49AA-C788-47830B1193AE}"/>
                </a:ext>
              </a:extLst>
            </p:cNvPr>
            <p:cNvGrpSpPr/>
            <p:nvPr/>
          </p:nvGrpSpPr>
          <p:grpSpPr>
            <a:xfrm>
              <a:off x="9131183" y="3934400"/>
              <a:ext cx="1442579" cy="2096510"/>
              <a:chOff x="3598077" y="3058263"/>
              <a:chExt cx="1442579" cy="2096510"/>
            </a:xfrm>
          </p:grpSpPr>
          <p:sp>
            <p:nvSpPr>
              <p:cNvPr id="40" name="矩形: 圓角 39">
                <a:extLst>
                  <a:ext uri="{FF2B5EF4-FFF2-40B4-BE49-F238E27FC236}">
                    <a16:creationId xmlns:a16="http://schemas.microsoft.com/office/drawing/2014/main" id="{B0412057-F8D1-D5CE-7C13-1BD5D2E47807}"/>
                  </a:ext>
                </a:extLst>
              </p:cNvPr>
              <p:cNvSpPr/>
              <p:nvPr/>
            </p:nvSpPr>
            <p:spPr>
              <a:xfrm>
                <a:off x="3598077" y="3058263"/>
                <a:ext cx="1442579" cy="2096510"/>
              </a:xfrm>
              <a:prstGeom prst="roundRect">
                <a:avLst/>
              </a:prstGeom>
              <a:solidFill>
                <a:schemeClr val="tx2">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1" name="群組 40">
                <a:extLst>
                  <a:ext uri="{FF2B5EF4-FFF2-40B4-BE49-F238E27FC236}">
                    <a16:creationId xmlns:a16="http://schemas.microsoft.com/office/drawing/2014/main" id="{3D1E6C07-D51C-CFEF-E18C-F3B4AFB2739C}"/>
                  </a:ext>
                </a:extLst>
              </p:cNvPr>
              <p:cNvGrpSpPr/>
              <p:nvPr/>
            </p:nvGrpSpPr>
            <p:grpSpPr>
              <a:xfrm>
                <a:off x="3743679" y="3244318"/>
                <a:ext cx="1144852" cy="455414"/>
                <a:chOff x="3897205" y="1192803"/>
                <a:chExt cx="1144852" cy="455414"/>
              </a:xfrm>
            </p:grpSpPr>
            <p:sp>
              <p:nvSpPr>
                <p:cNvPr id="50" name="矩形: 圓角 49">
                  <a:extLst>
                    <a:ext uri="{FF2B5EF4-FFF2-40B4-BE49-F238E27FC236}">
                      <a16:creationId xmlns:a16="http://schemas.microsoft.com/office/drawing/2014/main" id="{BCFFA6F3-113D-F7EC-41F5-BBAFCB829FE5}"/>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1" name="文字方塊 50">
                  <a:extLst>
                    <a:ext uri="{FF2B5EF4-FFF2-40B4-BE49-F238E27FC236}">
                      <a16:creationId xmlns:a16="http://schemas.microsoft.com/office/drawing/2014/main" id="{53B853F7-3A99-4CB7-0894-276DB0D718D6}"/>
                    </a:ext>
                  </a:extLst>
                </p:cNvPr>
                <p:cNvSpPr txBox="1"/>
                <p:nvPr/>
              </p:nvSpPr>
              <p:spPr>
                <a:xfrm>
                  <a:off x="4125519" y="1254054"/>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灌氣</a:t>
                  </a:r>
                </a:p>
              </p:txBody>
            </p:sp>
          </p:grpSp>
          <p:grpSp>
            <p:nvGrpSpPr>
              <p:cNvPr id="43" name="群組 42">
                <a:extLst>
                  <a:ext uri="{FF2B5EF4-FFF2-40B4-BE49-F238E27FC236}">
                    <a16:creationId xmlns:a16="http://schemas.microsoft.com/office/drawing/2014/main" id="{49304662-1B8C-1D40-DE5F-1726100FF852}"/>
                  </a:ext>
                </a:extLst>
              </p:cNvPr>
              <p:cNvGrpSpPr/>
              <p:nvPr/>
            </p:nvGrpSpPr>
            <p:grpSpPr>
              <a:xfrm>
                <a:off x="3743679" y="3891635"/>
                <a:ext cx="1144852" cy="455414"/>
                <a:chOff x="3897205" y="1192803"/>
                <a:chExt cx="1144852" cy="455414"/>
              </a:xfrm>
            </p:grpSpPr>
            <p:sp>
              <p:nvSpPr>
                <p:cNvPr id="48" name="矩形: 圓角 47">
                  <a:extLst>
                    <a:ext uri="{FF2B5EF4-FFF2-40B4-BE49-F238E27FC236}">
                      <a16:creationId xmlns:a16="http://schemas.microsoft.com/office/drawing/2014/main" id="{20E2D03F-BE87-53F4-2B98-07322DF16C37}"/>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9" name="文字方塊 48">
                  <a:extLst>
                    <a:ext uri="{FF2B5EF4-FFF2-40B4-BE49-F238E27FC236}">
                      <a16:creationId xmlns:a16="http://schemas.microsoft.com/office/drawing/2014/main" id="{3840ADDE-75FE-FAF8-7EC8-9CB980143AA9}"/>
                    </a:ext>
                  </a:extLst>
                </p:cNvPr>
                <p:cNvSpPr txBox="1"/>
                <p:nvPr/>
              </p:nvSpPr>
              <p:spPr>
                <a:xfrm>
                  <a:off x="4125519" y="1232485"/>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配送</a:t>
                  </a:r>
                </a:p>
              </p:txBody>
            </p:sp>
          </p:grpSp>
          <p:grpSp>
            <p:nvGrpSpPr>
              <p:cNvPr id="45" name="群組 44">
                <a:extLst>
                  <a:ext uri="{FF2B5EF4-FFF2-40B4-BE49-F238E27FC236}">
                    <a16:creationId xmlns:a16="http://schemas.microsoft.com/office/drawing/2014/main" id="{75A62821-1E65-D6FA-CA9B-1EBE6389ED44}"/>
                  </a:ext>
                </a:extLst>
              </p:cNvPr>
              <p:cNvGrpSpPr/>
              <p:nvPr/>
            </p:nvGrpSpPr>
            <p:grpSpPr>
              <a:xfrm>
                <a:off x="3743679" y="4499252"/>
                <a:ext cx="1144852" cy="455414"/>
                <a:chOff x="3897205" y="1192803"/>
                <a:chExt cx="1144852" cy="455414"/>
              </a:xfrm>
            </p:grpSpPr>
            <p:sp>
              <p:nvSpPr>
                <p:cNvPr id="46" name="矩形: 圓角 45">
                  <a:extLst>
                    <a:ext uri="{FF2B5EF4-FFF2-40B4-BE49-F238E27FC236}">
                      <a16:creationId xmlns:a16="http://schemas.microsoft.com/office/drawing/2014/main" id="{C71B0DB7-9491-8BCA-DD79-C8B084443EB3}"/>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文字方塊 46">
                  <a:extLst>
                    <a:ext uri="{FF2B5EF4-FFF2-40B4-BE49-F238E27FC236}">
                      <a16:creationId xmlns:a16="http://schemas.microsoft.com/office/drawing/2014/main" id="{A3F79D97-153F-0CD7-CD85-7A986768A07C}"/>
                    </a:ext>
                  </a:extLst>
                </p:cNvPr>
                <p:cNvSpPr txBox="1"/>
                <p:nvPr/>
              </p:nvSpPr>
              <p:spPr>
                <a:xfrm>
                  <a:off x="4138650" y="1227279"/>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安裝</a:t>
                  </a:r>
                </a:p>
              </p:txBody>
            </p:sp>
          </p:grpSp>
        </p:grpSp>
        <p:sp>
          <p:nvSpPr>
            <p:cNvPr id="29" name="矩形: 圓角 28">
              <a:extLst>
                <a:ext uri="{FF2B5EF4-FFF2-40B4-BE49-F238E27FC236}">
                  <a16:creationId xmlns:a16="http://schemas.microsoft.com/office/drawing/2014/main" id="{0BEEEE87-F09B-5925-5286-D2BA3C3426BF}"/>
                </a:ext>
              </a:extLst>
            </p:cNvPr>
            <p:cNvSpPr/>
            <p:nvPr/>
          </p:nvSpPr>
          <p:spPr>
            <a:xfrm>
              <a:off x="9123603" y="2601420"/>
              <a:ext cx="1442579" cy="1233433"/>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30" name="群組 29">
              <a:extLst>
                <a:ext uri="{FF2B5EF4-FFF2-40B4-BE49-F238E27FC236}">
                  <a16:creationId xmlns:a16="http://schemas.microsoft.com/office/drawing/2014/main" id="{8B8FF7FB-487B-6A8E-A07E-FF3E15AC6373}"/>
                </a:ext>
              </a:extLst>
            </p:cNvPr>
            <p:cNvGrpSpPr/>
            <p:nvPr/>
          </p:nvGrpSpPr>
          <p:grpSpPr>
            <a:xfrm>
              <a:off x="9272466" y="3284677"/>
              <a:ext cx="1144852" cy="455414"/>
              <a:chOff x="3897205" y="1192803"/>
              <a:chExt cx="1144852" cy="455414"/>
            </a:xfrm>
            <a:solidFill>
              <a:schemeClr val="accent5"/>
            </a:solidFill>
          </p:grpSpPr>
          <p:sp>
            <p:nvSpPr>
              <p:cNvPr id="38" name="矩形: 圓角 37">
                <a:extLst>
                  <a:ext uri="{FF2B5EF4-FFF2-40B4-BE49-F238E27FC236}">
                    <a16:creationId xmlns:a16="http://schemas.microsoft.com/office/drawing/2014/main" id="{F90B6FEF-BFFB-EF43-B30A-BD1499F5AA07}"/>
                  </a:ext>
                </a:extLst>
              </p:cNvPr>
              <p:cNvSpPr/>
              <p:nvPr/>
            </p:nvSpPr>
            <p:spPr>
              <a:xfrm>
                <a:off x="3897205" y="1192803"/>
                <a:ext cx="1144852" cy="455414"/>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 name="文字方塊 38">
                <a:extLst>
                  <a:ext uri="{FF2B5EF4-FFF2-40B4-BE49-F238E27FC236}">
                    <a16:creationId xmlns:a16="http://schemas.microsoft.com/office/drawing/2014/main" id="{98AF3256-B990-7E78-18FE-1F7B573ABCA9}"/>
                  </a:ext>
                </a:extLst>
              </p:cNvPr>
              <p:cNvSpPr txBox="1"/>
              <p:nvPr/>
            </p:nvSpPr>
            <p:spPr>
              <a:xfrm>
                <a:off x="4146464" y="1221715"/>
                <a:ext cx="646331" cy="369332"/>
              </a:xfrm>
              <a:prstGeom prst="rect">
                <a:avLst/>
              </a:prstGeom>
              <a:grp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授權</a:t>
                </a:r>
              </a:p>
            </p:txBody>
          </p:sp>
        </p:grpSp>
        <p:grpSp>
          <p:nvGrpSpPr>
            <p:cNvPr id="31" name="群組 30">
              <a:extLst>
                <a:ext uri="{FF2B5EF4-FFF2-40B4-BE49-F238E27FC236}">
                  <a16:creationId xmlns:a16="http://schemas.microsoft.com/office/drawing/2014/main" id="{92BC95C6-DF92-AE88-1BC8-288363489BAD}"/>
                </a:ext>
              </a:extLst>
            </p:cNvPr>
            <p:cNvGrpSpPr/>
            <p:nvPr/>
          </p:nvGrpSpPr>
          <p:grpSpPr>
            <a:xfrm>
              <a:off x="9272466" y="2699066"/>
              <a:ext cx="1144852" cy="455414"/>
              <a:chOff x="3897205" y="1192803"/>
              <a:chExt cx="1144852" cy="455414"/>
            </a:xfrm>
            <a:solidFill>
              <a:schemeClr val="accent5"/>
            </a:solidFill>
          </p:grpSpPr>
          <p:sp>
            <p:nvSpPr>
              <p:cNvPr id="36" name="矩形: 圓角 35">
                <a:extLst>
                  <a:ext uri="{FF2B5EF4-FFF2-40B4-BE49-F238E27FC236}">
                    <a16:creationId xmlns:a16="http://schemas.microsoft.com/office/drawing/2014/main" id="{45B7C7A7-8115-DA7D-FEB3-10265AA53B50}"/>
                  </a:ext>
                </a:extLst>
              </p:cNvPr>
              <p:cNvSpPr/>
              <p:nvPr/>
            </p:nvSpPr>
            <p:spPr>
              <a:xfrm>
                <a:off x="3897205" y="1192803"/>
                <a:ext cx="1144852" cy="455414"/>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7" name="文字方塊 36">
                <a:extLst>
                  <a:ext uri="{FF2B5EF4-FFF2-40B4-BE49-F238E27FC236}">
                    <a16:creationId xmlns:a16="http://schemas.microsoft.com/office/drawing/2014/main" id="{A160FD89-5722-9F7E-242C-1800CC30BE62}"/>
                  </a:ext>
                </a:extLst>
              </p:cNvPr>
              <p:cNvSpPr txBox="1"/>
              <p:nvPr/>
            </p:nvSpPr>
            <p:spPr>
              <a:xfrm>
                <a:off x="4146464" y="1221715"/>
                <a:ext cx="646331" cy="369332"/>
              </a:xfrm>
              <a:prstGeom prst="rect">
                <a:avLst/>
              </a:prstGeom>
              <a:grp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容器</a:t>
                </a:r>
              </a:p>
            </p:txBody>
          </p:sp>
        </p:grpSp>
        <p:sp>
          <p:nvSpPr>
            <p:cNvPr id="33" name="左中括弧 32">
              <a:extLst>
                <a:ext uri="{FF2B5EF4-FFF2-40B4-BE49-F238E27FC236}">
                  <a16:creationId xmlns:a16="http://schemas.microsoft.com/office/drawing/2014/main" id="{1977D154-8D3E-0BFA-1C13-35A0612BB860}"/>
                </a:ext>
              </a:extLst>
            </p:cNvPr>
            <p:cNvSpPr/>
            <p:nvPr/>
          </p:nvSpPr>
          <p:spPr>
            <a:xfrm>
              <a:off x="8321607" y="1900297"/>
              <a:ext cx="318878" cy="3399234"/>
            </a:xfrm>
            <a:prstGeom prst="leftBracket">
              <a:avLst/>
            </a:prstGeom>
            <a:ln>
              <a:headEnd type="arrow"/>
              <a:tailEnd type="arrow"/>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zh-TW" altLang="en-US" dirty="0"/>
            </a:p>
          </p:txBody>
        </p:sp>
      </p:grpSp>
      <p:pic>
        <p:nvPicPr>
          <p:cNvPr id="2" name="圖片 1">
            <a:extLst>
              <a:ext uri="{FF2B5EF4-FFF2-40B4-BE49-F238E27FC236}">
                <a16:creationId xmlns:a16="http://schemas.microsoft.com/office/drawing/2014/main" id="{A84A178D-E0D4-227E-B864-49414DBA235D}"/>
              </a:ext>
            </a:extLst>
          </p:cNvPr>
          <p:cNvPicPr>
            <a:picLocks noChangeAspect="1"/>
          </p:cNvPicPr>
          <p:nvPr/>
        </p:nvPicPr>
        <p:blipFill>
          <a:blip r:embed="rId4"/>
          <a:srcRect l="25619" t="38515" r="41870" b="-3955"/>
          <a:stretch>
            <a:fillRect/>
          </a:stretch>
        </p:blipFill>
        <p:spPr>
          <a:xfrm>
            <a:off x="4991763" y="4071001"/>
            <a:ext cx="1663037" cy="21146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93602259"/>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FAF6F-70AE-3A4C-DF47-CC22789ABDD9}"/>
            </a:ext>
          </a:extLst>
        </p:cNvPr>
        <p:cNvGrpSpPr/>
        <p:nvPr/>
      </p:nvGrpSpPr>
      <p:grpSpPr>
        <a:xfrm>
          <a:off x="0" y="0"/>
          <a:ext cx="0" cy="0"/>
          <a:chOff x="0" y="0"/>
          <a:chExt cx="0" cy="0"/>
        </a:xfrm>
      </p:grpSpPr>
      <p:sp>
        <p:nvSpPr>
          <p:cNvPr id="4" name="投影片編號版面配置區 1">
            <a:extLst>
              <a:ext uri="{FF2B5EF4-FFF2-40B4-BE49-F238E27FC236}">
                <a16:creationId xmlns:a16="http://schemas.microsoft.com/office/drawing/2014/main" id="{0A9BE00D-6063-0CDA-B0F5-3D50F943B308}"/>
              </a:ext>
            </a:extLst>
          </p:cNvPr>
          <p:cNvSpPr>
            <a:spLocks noGrp="1"/>
          </p:cNvSpPr>
          <p:nvPr>
            <p:ph type="sldNum" sz="quarter" idx="12"/>
          </p:nvPr>
        </p:nvSpPr>
        <p:spPr>
          <a:xfrm>
            <a:off x="9443573" y="6484265"/>
            <a:ext cx="2743200" cy="365125"/>
          </a:xfrm>
        </p:spPr>
        <p:txBody>
          <a:bodyPr/>
          <a:lstStyle/>
          <a:p>
            <a:fld id="{2E95FD34-61D0-4C5A-B773-4E2676150C65}" type="slidenum">
              <a:rPr lang="zh-TW" altLang="en-US" smtClean="0"/>
              <a:t>8</a:t>
            </a:fld>
            <a:endParaRPr lang="zh-TW" altLang="en-US"/>
          </a:p>
        </p:txBody>
      </p:sp>
      <p:sp>
        <p:nvSpPr>
          <p:cNvPr id="28" name="文字方塊 27">
            <a:extLst>
              <a:ext uri="{FF2B5EF4-FFF2-40B4-BE49-F238E27FC236}">
                <a16:creationId xmlns:a16="http://schemas.microsoft.com/office/drawing/2014/main" id="{6857BE44-2E69-C1F9-9AF5-7C3FCF41BE19}"/>
              </a:ext>
            </a:extLst>
          </p:cNvPr>
          <p:cNvSpPr txBox="1"/>
          <p:nvPr/>
        </p:nvSpPr>
        <p:spPr>
          <a:xfrm>
            <a:off x="161153" y="354569"/>
            <a:ext cx="9386884" cy="646331"/>
          </a:xfrm>
          <a:prstGeom prst="rect">
            <a:avLst/>
          </a:prstGeom>
          <a:noFill/>
        </p:spPr>
        <p:txBody>
          <a:bodyPr wrap="square" lIns="91440" tIns="45720" rIns="91440" bIns="45720" anchor="t">
            <a:spAutoFit/>
          </a:bodyPr>
          <a:lstStyle/>
          <a:p>
            <a:r>
              <a:rPr lang="zh-TW" altLang="en-US" sz="3600" b="1" dirty="0">
                <a:latin typeface="微軟正黑體"/>
                <a:ea typeface="微軟正黑體"/>
              </a:rPr>
              <a:t>合作模組</a:t>
            </a:r>
            <a:r>
              <a:rPr lang="en-US" altLang="zh-TW" sz="3600" b="1" dirty="0">
                <a:latin typeface="微軟正黑體"/>
                <a:ea typeface="微軟正黑體"/>
              </a:rPr>
              <a:t>1</a:t>
            </a:r>
            <a:endParaRPr lang="zh-TW" altLang="en-US" sz="3600" b="1" dirty="0">
              <a:latin typeface="微軟正黑體"/>
              <a:ea typeface="微軟正黑體"/>
            </a:endParaRPr>
          </a:p>
        </p:txBody>
      </p:sp>
      <p:graphicFrame>
        <p:nvGraphicFramePr>
          <p:cNvPr id="95" name="表格 94">
            <a:extLst>
              <a:ext uri="{FF2B5EF4-FFF2-40B4-BE49-F238E27FC236}">
                <a16:creationId xmlns:a16="http://schemas.microsoft.com/office/drawing/2014/main" id="{AC679C3F-595B-46E8-B9B2-2C0B57383788}"/>
              </a:ext>
            </a:extLst>
          </p:cNvPr>
          <p:cNvGraphicFramePr>
            <a:graphicFrameLocks noGrp="1"/>
          </p:cNvGraphicFramePr>
          <p:nvPr>
            <p:extLst>
              <p:ext uri="{D42A27DB-BD31-4B8C-83A1-F6EECF244321}">
                <p14:modId xmlns:p14="http://schemas.microsoft.com/office/powerpoint/2010/main" val="1644854298"/>
              </p:ext>
            </p:extLst>
          </p:nvPr>
        </p:nvGraphicFramePr>
        <p:xfrm>
          <a:off x="6553582" y="1639089"/>
          <a:ext cx="4553895" cy="1066800"/>
        </p:xfrm>
        <a:graphic>
          <a:graphicData uri="http://schemas.openxmlformats.org/drawingml/2006/table">
            <a:tbl>
              <a:tblPr/>
              <a:tblGrid>
                <a:gridCol w="1409700">
                  <a:extLst>
                    <a:ext uri="{9D8B030D-6E8A-4147-A177-3AD203B41FA5}">
                      <a16:colId xmlns:a16="http://schemas.microsoft.com/office/drawing/2014/main" val="1036956543"/>
                    </a:ext>
                  </a:extLst>
                </a:gridCol>
                <a:gridCol w="948267">
                  <a:extLst>
                    <a:ext uri="{9D8B030D-6E8A-4147-A177-3AD203B41FA5}">
                      <a16:colId xmlns:a16="http://schemas.microsoft.com/office/drawing/2014/main" val="3549043433"/>
                    </a:ext>
                  </a:extLst>
                </a:gridCol>
                <a:gridCol w="948267">
                  <a:extLst>
                    <a:ext uri="{9D8B030D-6E8A-4147-A177-3AD203B41FA5}">
                      <a16:colId xmlns:a16="http://schemas.microsoft.com/office/drawing/2014/main" val="729367603"/>
                    </a:ext>
                  </a:extLst>
                </a:gridCol>
                <a:gridCol w="1247661">
                  <a:extLst>
                    <a:ext uri="{9D8B030D-6E8A-4147-A177-3AD203B41FA5}">
                      <a16:colId xmlns:a16="http://schemas.microsoft.com/office/drawing/2014/main" val="4292039747"/>
                    </a:ext>
                  </a:extLst>
                </a:gridCol>
              </a:tblGrid>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分潤機制</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售價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同業</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rtl="0" fontAlgn="ctr">
                        <a:buNone/>
                      </a:pPr>
                      <a:r>
                        <a:rPr lang="zh-TW" altLang="en-US" sz="1600" b="1" i="0" u="none" strike="noStrike">
                          <a:solidFill>
                            <a:srgbClr val="000000"/>
                          </a:solidFill>
                          <a:effectLst/>
                          <a:latin typeface="微軟正黑體" panose="020B0604030504040204" pitchFamily="34" charset="-120"/>
                          <a:ea typeface="微軟正黑體" panose="020B0604030504040204" pitchFamily="34" charset="-120"/>
                        </a:rPr>
                        <a:t>旺來</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2455550625"/>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838521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1,300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1,100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55219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500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400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689328"/>
                  </a:ext>
                </a:extLst>
              </a:tr>
            </a:tbl>
          </a:graphicData>
        </a:graphic>
      </p:graphicFrame>
      <p:grpSp>
        <p:nvGrpSpPr>
          <p:cNvPr id="104" name="群組 103">
            <a:extLst>
              <a:ext uri="{FF2B5EF4-FFF2-40B4-BE49-F238E27FC236}">
                <a16:creationId xmlns:a16="http://schemas.microsoft.com/office/drawing/2014/main" id="{6DBD722D-B8BC-2157-D28F-41F9F73A0F33}"/>
              </a:ext>
            </a:extLst>
          </p:cNvPr>
          <p:cNvGrpSpPr/>
          <p:nvPr/>
        </p:nvGrpSpPr>
        <p:grpSpPr>
          <a:xfrm>
            <a:off x="841253" y="1191069"/>
            <a:ext cx="4992418" cy="4839841"/>
            <a:chOff x="767788" y="1255903"/>
            <a:chExt cx="4992418" cy="4839841"/>
          </a:xfrm>
        </p:grpSpPr>
        <p:grpSp>
          <p:nvGrpSpPr>
            <p:cNvPr id="24" name="群組 23">
              <a:extLst>
                <a:ext uri="{FF2B5EF4-FFF2-40B4-BE49-F238E27FC236}">
                  <a16:creationId xmlns:a16="http://schemas.microsoft.com/office/drawing/2014/main" id="{6A856428-554F-9E85-8362-5373EF7F3836}"/>
                </a:ext>
              </a:extLst>
            </p:cNvPr>
            <p:cNvGrpSpPr/>
            <p:nvPr/>
          </p:nvGrpSpPr>
          <p:grpSpPr>
            <a:xfrm>
              <a:off x="5271256" y="3098664"/>
              <a:ext cx="488950" cy="409032"/>
              <a:chOff x="5105400" y="1694599"/>
              <a:chExt cx="488950" cy="409032"/>
            </a:xfrm>
          </p:grpSpPr>
          <p:sp>
            <p:nvSpPr>
              <p:cNvPr id="22" name="流程圖: 接點 21">
                <a:extLst>
                  <a:ext uri="{FF2B5EF4-FFF2-40B4-BE49-F238E27FC236}">
                    <a16:creationId xmlns:a16="http://schemas.microsoft.com/office/drawing/2014/main" id="{AC379451-5353-CA11-8CB9-B937F03E56F8}"/>
                  </a:ext>
                </a:extLst>
              </p:cNvPr>
              <p:cNvSpPr/>
              <p:nvPr/>
            </p:nvSpPr>
            <p:spPr>
              <a:xfrm>
                <a:off x="5130800" y="1694599"/>
                <a:ext cx="438150" cy="409032"/>
              </a:xfrm>
              <a:prstGeom prst="flowChartConnector">
                <a:avLst/>
              </a:prstGeom>
              <a:ln>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id="{53EB46EC-B82A-6DEA-57FD-415DF706D10E}"/>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旺來</a:t>
                </a:r>
              </a:p>
            </p:txBody>
          </p:sp>
        </p:grpSp>
        <p:grpSp>
          <p:nvGrpSpPr>
            <p:cNvPr id="29" name="群組 28">
              <a:extLst>
                <a:ext uri="{FF2B5EF4-FFF2-40B4-BE49-F238E27FC236}">
                  <a16:creationId xmlns:a16="http://schemas.microsoft.com/office/drawing/2014/main" id="{627AECB8-3E26-B3D4-91BF-67D6CEE37850}"/>
                </a:ext>
              </a:extLst>
            </p:cNvPr>
            <p:cNvGrpSpPr/>
            <p:nvPr/>
          </p:nvGrpSpPr>
          <p:grpSpPr>
            <a:xfrm>
              <a:off x="2935818" y="1674881"/>
              <a:ext cx="488950" cy="409032"/>
              <a:chOff x="5105400" y="1694599"/>
              <a:chExt cx="488950" cy="409032"/>
            </a:xfrm>
          </p:grpSpPr>
          <p:sp>
            <p:nvSpPr>
              <p:cNvPr id="30" name="流程圖: 接點 29">
                <a:extLst>
                  <a:ext uri="{FF2B5EF4-FFF2-40B4-BE49-F238E27FC236}">
                    <a16:creationId xmlns:a16="http://schemas.microsoft.com/office/drawing/2014/main" id="{2D78D0A3-03AD-B262-5E18-722520AB4994}"/>
                  </a:ext>
                </a:extLst>
              </p:cNvPr>
              <p:cNvSpPr/>
              <p:nvPr/>
            </p:nvSpPr>
            <p:spPr>
              <a:xfrm>
                <a:off x="5130800" y="1694599"/>
                <a:ext cx="438150" cy="409032"/>
              </a:xfrm>
              <a:prstGeom prst="flowChartConnector">
                <a:avLst/>
              </a:prstGeom>
              <a:solidFill>
                <a:schemeClr val="accent4">
                  <a:lumMod val="60000"/>
                  <a:lumOff val="4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31" name="文字方塊 30">
                <a:extLst>
                  <a:ext uri="{FF2B5EF4-FFF2-40B4-BE49-F238E27FC236}">
                    <a16:creationId xmlns:a16="http://schemas.microsoft.com/office/drawing/2014/main" id="{F7095B61-358E-88C9-8668-526247CAB4BC}"/>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同業</a:t>
                </a:r>
              </a:p>
            </p:txBody>
          </p:sp>
        </p:grpSp>
        <p:grpSp>
          <p:nvGrpSpPr>
            <p:cNvPr id="32" name="群組 31">
              <a:extLst>
                <a:ext uri="{FF2B5EF4-FFF2-40B4-BE49-F238E27FC236}">
                  <a16:creationId xmlns:a16="http://schemas.microsoft.com/office/drawing/2014/main" id="{E4FB9944-5C4F-108D-6A42-B09317D2AE6F}"/>
                </a:ext>
              </a:extLst>
            </p:cNvPr>
            <p:cNvGrpSpPr/>
            <p:nvPr/>
          </p:nvGrpSpPr>
          <p:grpSpPr>
            <a:xfrm>
              <a:off x="2910418" y="4818010"/>
              <a:ext cx="488950" cy="409032"/>
              <a:chOff x="5105400" y="1694599"/>
              <a:chExt cx="488950" cy="409032"/>
            </a:xfrm>
          </p:grpSpPr>
          <p:sp>
            <p:nvSpPr>
              <p:cNvPr id="33" name="流程圖: 接點 32">
                <a:extLst>
                  <a:ext uri="{FF2B5EF4-FFF2-40B4-BE49-F238E27FC236}">
                    <a16:creationId xmlns:a16="http://schemas.microsoft.com/office/drawing/2014/main" id="{71047214-20E9-EB88-D6A6-52B9D6082AFD}"/>
                  </a:ext>
                </a:extLst>
              </p:cNvPr>
              <p:cNvSpPr/>
              <p:nvPr/>
            </p:nvSpPr>
            <p:spPr>
              <a:xfrm>
                <a:off x="5130800" y="1694599"/>
                <a:ext cx="438150" cy="409032"/>
              </a:xfrm>
              <a:prstGeom prst="flowChartConnector">
                <a:avLst/>
              </a:prstGeom>
              <a:solidFill>
                <a:schemeClr val="accent4">
                  <a:lumMod val="60000"/>
                  <a:lumOff val="4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34" name="文字方塊 33">
                <a:extLst>
                  <a:ext uri="{FF2B5EF4-FFF2-40B4-BE49-F238E27FC236}">
                    <a16:creationId xmlns:a16="http://schemas.microsoft.com/office/drawing/2014/main" id="{5278E7C5-2C89-B148-B575-C80A366352E8}"/>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同業</a:t>
                </a:r>
              </a:p>
            </p:txBody>
          </p:sp>
        </p:grpSp>
        <p:grpSp>
          <p:nvGrpSpPr>
            <p:cNvPr id="86" name="群組 85">
              <a:extLst>
                <a:ext uri="{FF2B5EF4-FFF2-40B4-BE49-F238E27FC236}">
                  <a16:creationId xmlns:a16="http://schemas.microsoft.com/office/drawing/2014/main" id="{78463411-F46E-9C24-1201-FE9EB9316797}"/>
                </a:ext>
              </a:extLst>
            </p:cNvPr>
            <p:cNvGrpSpPr/>
            <p:nvPr/>
          </p:nvGrpSpPr>
          <p:grpSpPr>
            <a:xfrm>
              <a:off x="3586999" y="1255903"/>
              <a:ext cx="1442579" cy="1334156"/>
              <a:chOff x="3612021" y="1524001"/>
              <a:chExt cx="1442579" cy="1334156"/>
            </a:xfrm>
          </p:grpSpPr>
          <p:sp>
            <p:nvSpPr>
              <p:cNvPr id="75" name="矩形: 圓角 74">
                <a:extLst>
                  <a:ext uri="{FF2B5EF4-FFF2-40B4-BE49-F238E27FC236}">
                    <a16:creationId xmlns:a16="http://schemas.microsoft.com/office/drawing/2014/main" id="{A4A1D6E8-7C40-1F1C-8393-8FF0BB59D7B7}"/>
                  </a:ext>
                </a:extLst>
              </p:cNvPr>
              <p:cNvSpPr/>
              <p:nvPr/>
            </p:nvSpPr>
            <p:spPr>
              <a:xfrm>
                <a:off x="3612021" y="1524001"/>
                <a:ext cx="1442579" cy="1334156"/>
              </a:xfrm>
              <a:prstGeom prst="round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7" name="群組 56">
                <a:extLst>
                  <a:ext uri="{FF2B5EF4-FFF2-40B4-BE49-F238E27FC236}">
                    <a16:creationId xmlns:a16="http://schemas.microsoft.com/office/drawing/2014/main" id="{75FEC997-D9E7-209D-7474-2BC7F1CB58DF}"/>
                  </a:ext>
                </a:extLst>
              </p:cNvPr>
              <p:cNvGrpSpPr/>
              <p:nvPr/>
            </p:nvGrpSpPr>
            <p:grpSpPr>
              <a:xfrm>
                <a:off x="3740147" y="1648217"/>
                <a:ext cx="1144852" cy="455414"/>
                <a:chOff x="3897205" y="1192803"/>
                <a:chExt cx="1144852" cy="455414"/>
              </a:xfrm>
            </p:grpSpPr>
            <p:sp>
              <p:nvSpPr>
                <p:cNvPr id="58" name="矩形: 圓角 57">
                  <a:extLst>
                    <a:ext uri="{FF2B5EF4-FFF2-40B4-BE49-F238E27FC236}">
                      <a16:creationId xmlns:a16="http://schemas.microsoft.com/office/drawing/2014/main" id="{BC2DDE9B-F5CC-FC79-4BC9-0CB9011005F6}"/>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9" name="文字方塊 58">
                  <a:extLst>
                    <a:ext uri="{FF2B5EF4-FFF2-40B4-BE49-F238E27FC236}">
                      <a16:creationId xmlns:a16="http://schemas.microsoft.com/office/drawing/2014/main" id="{90B57B54-2B13-184D-C04D-84A681E0CC40}"/>
                    </a:ext>
                  </a:extLst>
                </p:cNvPr>
                <p:cNvSpPr txBox="1"/>
                <p:nvPr/>
              </p:nvSpPr>
              <p:spPr>
                <a:xfrm>
                  <a:off x="4034581" y="1247813"/>
                  <a:ext cx="877163"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智取櫃</a:t>
                  </a:r>
                </a:p>
              </p:txBody>
            </p:sp>
          </p:grpSp>
          <p:grpSp>
            <p:nvGrpSpPr>
              <p:cNvPr id="60" name="群組 59">
                <a:extLst>
                  <a:ext uri="{FF2B5EF4-FFF2-40B4-BE49-F238E27FC236}">
                    <a16:creationId xmlns:a16="http://schemas.microsoft.com/office/drawing/2014/main" id="{97F8C967-C758-95FB-220A-CA10647D18E7}"/>
                  </a:ext>
                </a:extLst>
              </p:cNvPr>
              <p:cNvGrpSpPr/>
              <p:nvPr/>
            </p:nvGrpSpPr>
            <p:grpSpPr>
              <a:xfrm>
                <a:off x="3740147" y="2295534"/>
                <a:ext cx="1144852" cy="455414"/>
                <a:chOff x="3897205" y="1192803"/>
                <a:chExt cx="1144852" cy="455414"/>
              </a:xfrm>
            </p:grpSpPr>
            <p:sp>
              <p:nvSpPr>
                <p:cNvPr id="61" name="矩形: 圓角 60">
                  <a:extLst>
                    <a:ext uri="{FF2B5EF4-FFF2-40B4-BE49-F238E27FC236}">
                      <a16:creationId xmlns:a16="http://schemas.microsoft.com/office/drawing/2014/main" id="{E12AB0CE-2743-553F-2A57-FF9706E6163E}"/>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2" name="文字方塊 61">
                  <a:extLst>
                    <a:ext uri="{FF2B5EF4-FFF2-40B4-BE49-F238E27FC236}">
                      <a16:creationId xmlns:a16="http://schemas.microsoft.com/office/drawing/2014/main" id="{8265D592-7577-B3AE-D3E8-022F05D77BFD}"/>
                    </a:ext>
                  </a:extLst>
                </p:cNvPr>
                <p:cNvSpPr txBox="1"/>
                <p:nvPr/>
              </p:nvSpPr>
              <p:spPr>
                <a:xfrm>
                  <a:off x="4026768" y="1237248"/>
                  <a:ext cx="877163"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場地費</a:t>
                  </a:r>
                </a:p>
              </p:txBody>
            </p:sp>
          </p:grpSp>
        </p:grpSp>
        <p:grpSp>
          <p:nvGrpSpPr>
            <p:cNvPr id="85" name="群組 84">
              <a:extLst>
                <a:ext uri="{FF2B5EF4-FFF2-40B4-BE49-F238E27FC236}">
                  <a16:creationId xmlns:a16="http://schemas.microsoft.com/office/drawing/2014/main" id="{6099542D-98D2-3A76-D97F-11941FC98504}"/>
                </a:ext>
              </a:extLst>
            </p:cNvPr>
            <p:cNvGrpSpPr/>
            <p:nvPr/>
          </p:nvGrpSpPr>
          <p:grpSpPr>
            <a:xfrm>
              <a:off x="3586998" y="3999234"/>
              <a:ext cx="1442579" cy="2096510"/>
              <a:chOff x="3598077" y="3058263"/>
              <a:chExt cx="1442579" cy="2096510"/>
            </a:xfrm>
          </p:grpSpPr>
          <p:sp>
            <p:nvSpPr>
              <p:cNvPr id="55" name="矩形: 圓角 54">
                <a:extLst>
                  <a:ext uri="{FF2B5EF4-FFF2-40B4-BE49-F238E27FC236}">
                    <a16:creationId xmlns:a16="http://schemas.microsoft.com/office/drawing/2014/main" id="{80569538-7FA5-B98B-DD33-8AD97D548D72}"/>
                  </a:ext>
                </a:extLst>
              </p:cNvPr>
              <p:cNvSpPr/>
              <p:nvPr/>
            </p:nvSpPr>
            <p:spPr>
              <a:xfrm>
                <a:off x="3598077" y="3058263"/>
                <a:ext cx="1442579" cy="2096510"/>
              </a:xfrm>
              <a:prstGeom prst="roundRect">
                <a:avLst/>
              </a:prstGeom>
              <a:solidFill>
                <a:schemeClr val="tx2">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3" name="群組 62">
                <a:extLst>
                  <a:ext uri="{FF2B5EF4-FFF2-40B4-BE49-F238E27FC236}">
                    <a16:creationId xmlns:a16="http://schemas.microsoft.com/office/drawing/2014/main" id="{1B0E22A7-1B82-AE84-1E4A-5833ECDDB9FB}"/>
                  </a:ext>
                </a:extLst>
              </p:cNvPr>
              <p:cNvGrpSpPr/>
              <p:nvPr/>
            </p:nvGrpSpPr>
            <p:grpSpPr>
              <a:xfrm>
                <a:off x="3743679" y="3244318"/>
                <a:ext cx="1144852" cy="455414"/>
                <a:chOff x="3897205" y="1192803"/>
                <a:chExt cx="1144852" cy="455414"/>
              </a:xfrm>
            </p:grpSpPr>
            <p:sp>
              <p:nvSpPr>
                <p:cNvPr id="64" name="矩形: 圓角 63">
                  <a:extLst>
                    <a:ext uri="{FF2B5EF4-FFF2-40B4-BE49-F238E27FC236}">
                      <a16:creationId xmlns:a16="http://schemas.microsoft.com/office/drawing/2014/main" id="{63444AAE-5E90-5605-8816-7D1E572D77BC}"/>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文字方塊 64">
                  <a:extLst>
                    <a:ext uri="{FF2B5EF4-FFF2-40B4-BE49-F238E27FC236}">
                      <a16:creationId xmlns:a16="http://schemas.microsoft.com/office/drawing/2014/main" id="{FCACA76B-7BBD-E26B-29A8-9A2FBF3DFC73}"/>
                    </a:ext>
                  </a:extLst>
                </p:cNvPr>
                <p:cNvSpPr txBox="1"/>
                <p:nvPr/>
              </p:nvSpPr>
              <p:spPr>
                <a:xfrm>
                  <a:off x="4125519" y="1254054"/>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灌氣</a:t>
                  </a:r>
                </a:p>
              </p:txBody>
            </p:sp>
          </p:grpSp>
          <p:grpSp>
            <p:nvGrpSpPr>
              <p:cNvPr id="66" name="群組 65">
                <a:extLst>
                  <a:ext uri="{FF2B5EF4-FFF2-40B4-BE49-F238E27FC236}">
                    <a16:creationId xmlns:a16="http://schemas.microsoft.com/office/drawing/2014/main" id="{F228EB04-4B1C-9148-AA27-C929E0CD64DE}"/>
                  </a:ext>
                </a:extLst>
              </p:cNvPr>
              <p:cNvGrpSpPr/>
              <p:nvPr/>
            </p:nvGrpSpPr>
            <p:grpSpPr>
              <a:xfrm>
                <a:off x="3743679" y="3891635"/>
                <a:ext cx="1144852" cy="455414"/>
                <a:chOff x="3897205" y="1192803"/>
                <a:chExt cx="1144852" cy="455414"/>
              </a:xfrm>
            </p:grpSpPr>
            <p:sp>
              <p:nvSpPr>
                <p:cNvPr id="67" name="矩形: 圓角 66">
                  <a:extLst>
                    <a:ext uri="{FF2B5EF4-FFF2-40B4-BE49-F238E27FC236}">
                      <a16:creationId xmlns:a16="http://schemas.microsoft.com/office/drawing/2014/main" id="{C6EC5303-C9E2-FFA5-8ADF-F35C812A9DE8}"/>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8" name="文字方塊 67">
                  <a:extLst>
                    <a:ext uri="{FF2B5EF4-FFF2-40B4-BE49-F238E27FC236}">
                      <a16:creationId xmlns:a16="http://schemas.microsoft.com/office/drawing/2014/main" id="{8F8445C3-1CAF-DFD1-D219-BE973045F250}"/>
                    </a:ext>
                  </a:extLst>
                </p:cNvPr>
                <p:cNvSpPr txBox="1"/>
                <p:nvPr/>
              </p:nvSpPr>
              <p:spPr>
                <a:xfrm>
                  <a:off x="4125519" y="1232485"/>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配送</a:t>
                  </a:r>
                </a:p>
              </p:txBody>
            </p:sp>
          </p:grpSp>
          <p:grpSp>
            <p:nvGrpSpPr>
              <p:cNvPr id="69" name="群組 68">
                <a:extLst>
                  <a:ext uri="{FF2B5EF4-FFF2-40B4-BE49-F238E27FC236}">
                    <a16:creationId xmlns:a16="http://schemas.microsoft.com/office/drawing/2014/main" id="{BF600F9E-9B37-0895-6FFE-07C090CAD91D}"/>
                  </a:ext>
                </a:extLst>
              </p:cNvPr>
              <p:cNvGrpSpPr/>
              <p:nvPr/>
            </p:nvGrpSpPr>
            <p:grpSpPr>
              <a:xfrm>
                <a:off x="3743679" y="4499252"/>
                <a:ext cx="1144852" cy="455414"/>
                <a:chOff x="3897205" y="1192803"/>
                <a:chExt cx="1144852" cy="455414"/>
              </a:xfrm>
            </p:grpSpPr>
            <p:sp>
              <p:nvSpPr>
                <p:cNvPr id="70" name="矩形: 圓角 69">
                  <a:extLst>
                    <a:ext uri="{FF2B5EF4-FFF2-40B4-BE49-F238E27FC236}">
                      <a16:creationId xmlns:a16="http://schemas.microsoft.com/office/drawing/2014/main" id="{2607CDA1-71D1-C57A-46AB-85B0D3EB7814}"/>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1" name="文字方塊 70">
                  <a:extLst>
                    <a:ext uri="{FF2B5EF4-FFF2-40B4-BE49-F238E27FC236}">
                      <a16:creationId xmlns:a16="http://schemas.microsoft.com/office/drawing/2014/main" id="{F25D02B5-2F87-9424-68D3-6C01C9D21317}"/>
                    </a:ext>
                  </a:extLst>
                </p:cNvPr>
                <p:cNvSpPr txBox="1"/>
                <p:nvPr/>
              </p:nvSpPr>
              <p:spPr>
                <a:xfrm>
                  <a:off x="4138650" y="1227279"/>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安裝</a:t>
                  </a:r>
                </a:p>
              </p:txBody>
            </p:sp>
          </p:grpSp>
        </p:grpSp>
        <p:sp>
          <p:nvSpPr>
            <p:cNvPr id="78" name="矩形: 圓角 77">
              <a:extLst>
                <a:ext uri="{FF2B5EF4-FFF2-40B4-BE49-F238E27FC236}">
                  <a16:creationId xmlns:a16="http://schemas.microsoft.com/office/drawing/2014/main" id="{94572A04-2A84-D753-DBF7-E937D7D48067}"/>
                </a:ext>
              </a:extLst>
            </p:cNvPr>
            <p:cNvSpPr/>
            <p:nvPr/>
          </p:nvSpPr>
          <p:spPr>
            <a:xfrm>
              <a:off x="3579418" y="2666254"/>
              <a:ext cx="1442579" cy="1233433"/>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79" name="群組 78">
              <a:extLst>
                <a:ext uri="{FF2B5EF4-FFF2-40B4-BE49-F238E27FC236}">
                  <a16:creationId xmlns:a16="http://schemas.microsoft.com/office/drawing/2014/main" id="{CA97F9BA-7BB7-4D4D-4F2C-7BC47B2338D9}"/>
                </a:ext>
              </a:extLst>
            </p:cNvPr>
            <p:cNvGrpSpPr/>
            <p:nvPr/>
          </p:nvGrpSpPr>
          <p:grpSpPr>
            <a:xfrm>
              <a:off x="3728281" y="3349511"/>
              <a:ext cx="1144852" cy="455414"/>
              <a:chOff x="3897205" y="1192803"/>
              <a:chExt cx="1144852" cy="455414"/>
            </a:xfrm>
            <a:solidFill>
              <a:schemeClr val="accent5"/>
            </a:solidFill>
          </p:grpSpPr>
          <p:sp>
            <p:nvSpPr>
              <p:cNvPr id="80" name="矩形: 圓角 79">
                <a:extLst>
                  <a:ext uri="{FF2B5EF4-FFF2-40B4-BE49-F238E27FC236}">
                    <a16:creationId xmlns:a16="http://schemas.microsoft.com/office/drawing/2014/main" id="{D8C354B1-B83D-B18D-E11E-52D91512B07D}"/>
                  </a:ext>
                </a:extLst>
              </p:cNvPr>
              <p:cNvSpPr/>
              <p:nvPr/>
            </p:nvSpPr>
            <p:spPr>
              <a:xfrm>
                <a:off x="3897205" y="1192803"/>
                <a:ext cx="1144852" cy="455414"/>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1" name="文字方塊 80">
                <a:extLst>
                  <a:ext uri="{FF2B5EF4-FFF2-40B4-BE49-F238E27FC236}">
                    <a16:creationId xmlns:a16="http://schemas.microsoft.com/office/drawing/2014/main" id="{53357F45-A946-7135-8D97-03DD9D8354E8}"/>
                  </a:ext>
                </a:extLst>
              </p:cNvPr>
              <p:cNvSpPr txBox="1"/>
              <p:nvPr/>
            </p:nvSpPr>
            <p:spPr>
              <a:xfrm>
                <a:off x="4146464" y="1221715"/>
                <a:ext cx="646331" cy="369332"/>
              </a:xfrm>
              <a:prstGeom prst="rect">
                <a:avLst/>
              </a:prstGeom>
              <a:grp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授權</a:t>
                </a:r>
              </a:p>
            </p:txBody>
          </p:sp>
        </p:grpSp>
        <p:grpSp>
          <p:nvGrpSpPr>
            <p:cNvPr id="82" name="群組 81">
              <a:extLst>
                <a:ext uri="{FF2B5EF4-FFF2-40B4-BE49-F238E27FC236}">
                  <a16:creationId xmlns:a16="http://schemas.microsoft.com/office/drawing/2014/main" id="{4DCF23D2-162E-3A4E-162D-46B8C7430355}"/>
                </a:ext>
              </a:extLst>
            </p:cNvPr>
            <p:cNvGrpSpPr/>
            <p:nvPr/>
          </p:nvGrpSpPr>
          <p:grpSpPr>
            <a:xfrm>
              <a:off x="3728281" y="2763900"/>
              <a:ext cx="1144852" cy="455414"/>
              <a:chOff x="3897205" y="1192803"/>
              <a:chExt cx="1144852" cy="455414"/>
            </a:xfrm>
            <a:solidFill>
              <a:schemeClr val="accent5"/>
            </a:solidFill>
          </p:grpSpPr>
          <p:sp>
            <p:nvSpPr>
              <p:cNvPr id="83" name="矩形: 圓角 82">
                <a:extLst>
                  <a:ext uri="{FF2B5EF4-FFF2-40B4-BE49-F238E27FC236}">
                    <a16:creationId xmlns:a16="http://schemas.microsoft.com/office/drawing/2014/main" id="{3CF6C1C9-53B1-1B68-E8F0-FA5ED6372674}"/>
                  </a:ext>
                </a:extLst>
              </p:cNvPr>
              <p:cNvSpPr/>
              <p:nvPr/>
            </p:nvSpPr>
            <p:spPr>
              <a:xfrm>
                <a:off x="3897205" y="1192803"/>
                <a:ext cx="1144852" cy="455414"/>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4" name="文字方塊 83">
                <a:extLst>
                  <a:ext uri="{FF2B5EF4-FFF2-40B4-BE49-F238E27FC236}">
                    <a16:creationId xmlns:a16="http://schemas.microsoft.com/office/drawing/2014/main" id="{69AEDE05-E989-5B79-ED98-83155A6CFAA8}"/>
                  </a:ext>
                </a:extLst>
              </p:cNvPr>
              <p:cNvSpPr txBox="1"/>
              <p:nvPr/>
            </p:nvSpPr>
            <p:spPr>
              <a:xfrm>
                <a:off x="4146464" y="1221715"/>
                <a:ext cx="646331" cy="369332"/>
              </a:xfrm>
              <a:prstGeom prst="rect">
                <a:avLst/>
              </a:prstGeom>
              <a:grp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容器</a:t>
                </a:r>
              </a:p>
            </p:txBody>
          </p:sp>
        </p:grpSp>
        <p:grpSp>
          <p:nvGrpSpPr>
            <p:cNvPr id="90" name="群組 89">
              <a:extLst>
                <a:ext uri="{FF2B5EF4-FFF2-40B4-BE49-F238E27FC236}">
                  <a16:creationId xmlns:a16="http://schemas.microsoft.com/office/drawing/2014/main" id="{AFA2B140-9843-BF24-17F9-03BF7EE27176}"/>
                </a:ext>
              </a:extLst>
            </p:cNvPr>
            <p:cNvGrpSpPr/>
            <p:nvPr/>
          </p:nvGrpSpPr>
          <p:grpSpPr>
            <a:xfrm>
              <a:off x="767788" y="3201293"/>
              <a:ext cx="1100611" cy="455414"/>
              <a:chOff x="3897205" y="1192803"/>
              <a:chExt cx="1144852" cy="455414"/>
            </a:xfrm>
          </p:grpSpPr>
          <p:sp>
            <p:nvSpPr>
              <p:cNvPr id="91" name="矩形: 圓角 90">
                <a:extLst>
                  <a:ext uri="{FF2B5EF4-FFF2-40B4-BE49-F238E27FC236}">
                    <a16:creationId xmlns:a16="http://schemas.microsoft.com/office/drawing/2014/main" id="{3F7FCBD6-3386-22CC-F9E9-7F701309702C}"/>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t>智智</a:t>
                </a:r>
              </a:p>
            </p:txBody>
          </p:sp>
          <p:sp>
            <p:nvSpPr>
              <p:cNvPr id="92" name="文字方塊 91">
                <a:extLst>
                  <a:ext uri="{FF2B5EF4-FFF2-40B4-BE49-F238E27FC236}">
                    <a16:creationId xmlns:a16="http://schemas.microsoft.com/office/drawing/2014/main" id="{C868CE12-28E2-CBC3-6A1E-84A964F01C0A}"/>
                  </a:ext>
                </a:extLst>
              </p:cNvPr>
              <p:cNvSpPr txBox="1"/>
              <p:nvPr/>
            </p:nvSpPr>
            <p:spPr>
              <a:xfrm>
                <a:off x="3930311" y="1239185"/>
                <a:ext cx="732357"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新櫃設置</a:t>
                </a:r>
              </a:p>
            </p:txBody>
          </p:sp>
        </p:grpSp>
        <p:sp>
          <p:nvSpPr>
            <p:cNvPr id="102" name="左中括弧 101">
              <a:extLst>
                <a:ext uri="{FF2B5EF4-FFF2-40B4-BE49-F238E27FC236}">
                  <a16:creationId xmlns:a16="http://schemas.microsoft.com/office/drawing/2014/main" id="{4E0D0F4B-1C17-EC80-7692-762FA022F353}"/>
                </a:ext>
              </a:extLst>
            </p:cNvPr>
            <p:cNvSpPr/>
            <p:nvPr/>
          </p:nvSpPr>
          <p:spPr>
            <a:xfrm>
              <a:off x="2458544" y="1965131"/>
              <a:ext cx="318878" cy="3399234"/>
            </a:xfrm>
            <a:prstGeom prst="leftBracket">
              <a:avLst/>
            </a:prstGeom>
            <a:ln>
              <a:tailEnd type="arrow"/>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zh-TW" altLang="en-US"/>
            </a:p>
          </p:txBody>
        </p:sp>
      </p:grpSp>
      <p:graphicFrame>
        <p:nvGraphicFramePr>
          <p:cNvPr id="103" name="表格 102">
            <a:extLst>
              <a:ext uri="{FF2B5EF4-FFF2-40B4-BE49-F238E27FC236}">
                <a16:creationId xmlns:a16="http://schemas.microsoft.com/office/drawing/2014/main" id="{91845BA4-B4C8-57E0-17C2-38A258380F88}"/>
              </a:ext>
            </a:extLst>
          </p:cNvPr>
          <p:cNvGraphicFramePr>
            <a:graphicFrameLocks noGrp="1"/>
          </p:cNvGraphicFramePr>
          <p:nvPr>
            <p:extLst>
              <p:ext uri="{D42A27DB-BD31-4B8C-83A1-F6EECF244321}">
                <p14:modId xmlns:p14="http://schemas.microsoft.com/office/powerpoint/2010/main" val="83235253"/>
              </p:ext>
            </p:extLst>
          </p:nvPr>
        </p:nvGraphicFramePr>
        <p:xfrm>
          <a:off x="6553582" y="3571251"/>
          <a:ext cx="4560985" cy="1748832"/>
        </p:xfrm>
        <a:graphic>
          <a:graphicData uri="http://schemas.openxmlformats.org/drawingml/2006/table">
            <a:tbl>
              <a:tblPr/>
              <a:tblGrid>
                <a:gridCol w="1436319">
                  <a:extLst>
                    <a:ext uri="{9D8B030D-6E8A-4147-A177-3AD203B41FA5}">
                      <a16:colId xmlns:a16="http://schemas.microsoft.com/office/drawing/2014/main" val="1041324463"/>
                    </a:ext>
                  </a:extLst>
                </a:gridCol>
                <a:gridCol w="1409091">
                  <a:extLst>
                    <a:ext uri="{9D8B030D-6E8A-4147-A177-3AD203B41FA5}">
                      <a16:colId xmlns:a16="http://schemas.microsoft.com/office/drawing/2014/main" val="3469723183"/>
                    </a:ext>
                  </a:extLst>
                </a:gridCol>
                <a:gridCol w="1715575">
                  <a:extLst>
                    <a:ext uri="{9D8B030D-6E8A-4147-A177-3AD203B41FA5}">
                      <a16:colId xmlns:a16="http://schemas.microsoft.com/office/drawing/2014/main" val="3214899351"/>
                    </a:ext>
                  </a:extLst>
                </a:gridCol>
              </a:tblGrid>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189939874"/>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90486452"/>
                  </a:ext>
                </a:extLst>
              </a:tr>
              <a:tr h="291472">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29945602"/>
                  </a:ext>
                </a:extLst>
              </a:tr>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年度</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216313751"/>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39855137"/>
                  </a:ext>
                </a:extLst>
              </a:tr>
              <a:tr h="291472">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3200531"/>
                  </a:ext>
                </a:extLst>
              </a:tr>
            </a:tbl>
          </a:graphicData>
        </a:graphic>
      </p:graphicFrame>
      <p:sp>
        <p:nvSpPr>
          <p:cNvPr id="2" name="文字方塊 1">
            <a:extLst>
              <a:ext uri="{FF2B5EF4-FFF2-40B4-BE49-F238E27FC236}">
                <a16:creationId xmlns:a16="http://schemas.microsoft.com/office/drawing/2014/main" id="{44635046-1BF6-4BB6-8E3F-93701B04DB19}"/>
              </a:ext>
            </a:extLst>
          </p:cNvPr>
          <p:cNvSpPr txBox="1"/>
          <p:nvPr/>
        </p:nvSpPr>
        <p:spPr>
          <a:xfrm>
            <a:off x="6481175" y="5584487"/>
            <a:ext cx="3392275" cy="369332"/>
          </a:xfrm>
          <a:prstGeom prst="rect">
            <a:avLst/>
          </a:prstGeom>
          <a:noFill/>
        </p:spPr>
        <p:txBody>
          <a:bodyPr wrap="none" rtlCol="0">
            <a:spAutoFit/>
          </a:bodyPr>
          <a:lstStyle/>
          <a:p>
            <a:r>
              <a:rPr lang="en-US" altLang="zh-TW" b="1" dirty="0">
                <a:solidFill>
                  <a:srgbClr val="0000FF"/>
                </a:solidFill>
                <a:latin typeface="微軟正黑體" panose="020B0604030504040204" pitchFamily="34" charset="-120"/>
                <a:ea typeface="微軟正黑體" panose="020B0604030504040204" pitchFamily="34" charset="-120"/>
              </a:rPr>
              <a:t>3.</a:t>
            </a:r>
            <a:r>
              <a:rPr lang="zh-TW" altLang="en-US" b="1" dirty="0">
                <a:solidFill>
                  <a:srgbClr val="0000FF"/>
                </a:solidFill>
                <a:latin typeface="微軟正黑體" panose="020B0604030504040204" pitchFamily="34" charset="-120"/>
                <a:ea typeface="微軟正黑體" panose="020B0604030504040204" pitchFamily="34" charset="-120"/>
              </a:rPr>
              <a:t> 智取櫃</a:t>
            </a:r>
            <a:r>
              <a:rPr lang="en-US" altLang="zh-TW" b="1" dirty="0">
                <a:solidFill>
                  <a:srgbClr val="0000FF"/>
                </a:solidFill>
                <a:latin typeface="微軟正黑體" panose="020B0604030504040204" pitchFamily="34" charset="-120"/>
                <a:ea typeface="微軟正黑體" panose="020B0604030504040204" pitchFamily="34" charset="-120"/>
              </a:rPr>
              <a:t>55</a:t>
            </a:r>
            <a:r>
              <a:rPr lang="zh-TW" altLang="en-US" b="1" dirty="0">
                <a:solidFill>
                  <a:srgbClr val="0000FF"/>
                </a:solidFill>
                <a:latin typeface="微軟正黑體" panose="020B0604030504040204" pitchFamily="34" charset="-120"/>
                <a:ea typeface="微軟正黑體" panose="020B0604030504040204" pitchFamily="34" charset="-120"/>
              </a:rPr>
              <a:t>萬，每月租金</a:t>
            </a:r>
            <a:r>
              <a:rPr lang="en-US" altLang="zh-TW" b="1" dirty="0">
                <a:solidFill>
                  <a:srgbClr val="0000FF"/>
                </a:solidFill>
                <a:latin typeface="微軟正黑體" panose="020B0604030504040204" pitchFamily="34" charset="-120"/>
                <a:ea typeface="微軟正黑體" panose="020B0604030504040204" pitchFamily="34" charset="-120"/>
              </a:rPr>
              <a:t>2</a:t>
            </a:r>
            <a:r>
              <a:rPr lang="zh-TW" altLang="en-US" b="1" dirty="0">
                <a:solidFill>
                  <a:srgbClr val="0000FF"/>
                </a:solidFill>
                <a:latin typeface="微軟正黑體" panose="020B0604030504040204" pitchFamily="34" charset="-120"/>
                <a:ea typeface="微軟正黑體" panose="020B0604030504040204" pitchFamily="34" charset="-120"/>
              </a:rPr>
              <a:t>萬。</a:t>
            </a:r>
          </a:p>
        </p:txBody>
      </p:sp>
      <p:sp>
        <p:nvSpPr>
          <p:cNvPr id="3" name="文字方塊 2">
            <a:extLst>
              <a:ext uri="{FF2B5EF4-FFF2-40B4-BE49-F238E27FC236}">
                <a16:creationId xmlns:a16="http://schemas.microsoft.com/office/drawing/2014/main" id="{361B5350-6F26-951E-3A17-2F1EE42C19FD}"/>
              </a:ext>
            </a:extLst>
          </p:cNvPr>
          <p:cNvSpPr txBox="1"/>
          <p:nvPr/>
        </p:nvSpPr>
        <p:spPr>
          <a:xfrm>
            <a:off x="6477564" y="1247162"/>
            <a:ext cx="2113922" cy="369332"/>
          </a:xfrm>
          <a:prstGeom prst="rect">
            <a:avLst/>
          </a:prstGeom>
          <a:noFill/>
        </p:spPr>
        <p:txBody>
          <a:bodyPr wrap="square" rtlCol="0">
            <a:spAutoFit/>
          </a:bodyPr>
          <a:lstStyle/>
          <a:p>
            <a:r>
              <a:rPr lang="en-US" altLang="zh-TW" b="1" dirty="0">
                <a:latin typeface="+mj-ea"/>
                <a:ea typeface="+mj-ea"/>
              </a:rPr>
              <a:t>1. </a:t>
            </a:r>
            <a:r>
              <a:rPr lang="zh-TW" altLang="en-US" b="1" dirty="0">
                <a:latin typeface="+mj-ea"/>
                <a:ea typeface="+mj-ea"/>
              </a:rPr>
              <a:t>分潤機制</a:t>
            </a:r>
          </a:p>
        </p:txBody>
      </p:sp>
      <p:sp>
        <p:nvSpPr>
          <p:cNvPr id="5" name="文字方塊 4">
            <a:extLst>
              <a:ext uri="{FF2B5EF4-FFF2-40B4-BE49-F238E27FC236}">
                <a16:creationId xmlns:a16="http://schemas.microsoft.com/office/drawing/2014/main" id="{03A351FB-CCFB-670A-027F-87E119DDA8B5}"/>
              </a:ext>
            </a:extLst>
          </p:cNvPr>
          <p:cNvSpPr txBox="1"/>
          <p:nvPr/>
        </p:nvSpPr>
        <p:spPr>
          <a:xfrm>
            <a:off x="6481175" y="3097310"/>
            <a:ext cx="2113922" cy="369332"/>
          </a:xfrm>
          <a:prstGeom prst="rect">
            <a:avLst/>
          </a:prstGeom>
          <a:noFill/>
        </p:spPr>
        <p:txBody>
          <a:bodyPr wrap="square" rtlCol="0">
            <a:spAutoFit/>
          </a:bodyPr>
          <a:lstStyle/>
          <a:p>
            <a:r>
              <a:rPr lang="en-US" altLang="zh-TW" b="1" dirty="0">
                <a:latin typeface="+mj-ea"/>
                <a:ea typeface="+mj-ea"/>
              </a:rPr>
              <a:t>2. </a:t>
            </a:r>
            <a:r>
              <a:rPr lang="zh-TW" altLang="en-US" b="1" dirty="0">
                <a:latin typeface="+mj-ea"/>
                <a:ea typeface="+mj-ea"/>
              </a:rPr>
              <a:t>新增會員數</a:t>
            </a:r>
          </a:p>
        </p:txBody>
      </p:sp>
    </p:spTree>
    <p:extLst>
      <p:ext uri="{BB962C8B-B14F-4D97-AF65-F5344CB8AC3E}">
        <p14:creationId xmlns:p14="http://schemas.microsoft.com/office/powerpoint/2010/main" val="3698800131"/>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0BC16-7E20-4151-2D69-7BCD2707613B}"/>
            </a:ext>
          </a:extLst>
        </p:cNvPr>
        <p:cNvGrpSpPr/>
        <p:nvPr/>
      </p:nvGrpSpPr>
      <p:grpSpPr>
        <a:xfrm>
          <a:off x="0" y="0"/>
          <a:ext cx="0" cy="0"/>
          <a:chOff x="0" y="0"/>
          <a:chExt cx="0" cy="0"/>
        </a:xfrm>
      </p:grpSpPr>
      <p:sp>
        <p:nvSpPr>
          <p:cNvPr id="4" name="投影片編號版面配置區 1">
            <a:extLst>
              <a:ext uri="{FF2B5EF4-FFF2-40B4-BE49-F238E27FC236}">
                <a16:creationId xmlns:a16="http://schemas.microsoft.com/office/drawing/2014/main" id="{CEC96A8A-934F-AB2F-EFF8-864B54FEBD8D}"/>
              </a:ext>
            </a:extLst>
          </p:cNvPr>
          <p:cNvSpPr>
            <a:spLocks noGrp="1"/>
          </p:cNvSpPr>
          <p:nvPr>
            <p:ph type="sldNum" sz="quarter" idx="12"/>
          </p:nvPr>
        </p:nvSpPr>
        <p:spPr>
          <a:xfrm>
            <a:off x="9443573" y="6484265"/>
            <a:ext cx="2743200" cy="365125"/>
          </a:xfrm>
        </p:spPr>
        <p:txBody>
          <a:bodyPr/>
          <a:lstStyle/>
          <a:p>
            <a:fld id="{2E95FD34-61D0-4C5A-B773-4E2676150C65}" type="slidenum">
              <a:rPr lang="zh-TW" altLang="en-US" smtClean="0"/>
              <a:t>9</a:t>
            </a:fld>
            <a:endParaRPr lang="zh-TW" altLang="en-US" dirty="0"/>
          </a:p>
        </p:txBody>
      </p:sp>
      <p:sp>
        <p:nvSpPr>
          <p:cNvPr id="28" name="文字方塊 27">
            <a:extLst>
              <a:ext uri="{FF2B5EF4-FFF2-40B4-BE49-F238E27FC236}">
                <a16:creationId xmlns:a16="http://schemas.microsoft.com/office/drawing/2014/main" id="{10CA0D67-4F17-6F06-0CDD-8ECAE3C29672}"/>
              </a:ext>
            </a:extLst>
          </p:cNvPr>
          <p:cNvSpPr txBox="1"/>
          <p:nvPr/>
        </p:nvSpPr>
        <p:spPr>
          <a:xfrm>
            <a:off x="161153" y="354569"/>
            <a:ext cx="9386884" cy="646331"/>
          </a:xfrm>
          <a:prstGeom prst="rect">
            <a:avLst/>
          </a:prstGeom>
          <a:noFill/>
        </p:spPr>
        <p:txBody>
          <a:bodyPr wrap="square" lIns="91440" tIns="45720" rIns="91440" bIns="45720" anchor="t">
            <a:spAutoFit/>
          </a:bodyPr>
          <a:lstStyle/>
          <a:p>
            <a:r>
              <a:rPr lang="zh-TW" altLang="en-US" sz="3600" b="1" dirty="0">
                <a:latin typeface="微軟正黑體"/>
                <a:ea typeface="微軟正黑體"/>
              </a:rPr>
              <a:t>合作模組</a:t>
            </a:r>
            <a:r>
              <a:rPr lang="en-US" altLang="zh-TW" sz="3600" b="1" dirty="0">
                <a:latin typeface="微軟正黑體"/>
                <a:ea typeface="微軟正黑體"/>
              </a:rPr>
              <a:t>1_</a:t>
            </a:r>
            <a:r>
              <a:rPr lang="zh-TW" altLang="en-US" sz="3600" b="1" dirty="0">
                <a:latin typeface="微軟正黑體"/>
                <a:ea typeface="微軟正黑體"/>
              </a:rPr>
              <a:t>試算</a:t>
            </a:r>
          </a:p>
        </p:txBody>
      </p:sp>
      <p:graphicFrame>
        <p:nvGraphicFramePr>
          <p:cNvPr id="95" name="表格 94">
            <a:extLst>
              <a:ext uri="{FF2B5EF4-FFF2-40B4-BE49-F238E27FC236}">
                <a16:creationId xmlns:a16="http://schemas.microsoft.com/office/drawing/2014/main" id="{606153D2-44FD-9282-9814-95151BF50C39}"/>
              </a:ext>
            </a:extLst>
          </p:cNvPr>
          <p:cNvGraphicFramePr>
            <a:graphicFrameLocks noGrp="1"/>
          </p:cNvGraphicFramePr>
          <p:nvPr>
            <p:extLst>
              <p:ext uri="{D42A27DB-BD31-4B8C-83A1-F6EECF244321}">
                <p14:modId xmlns:p14="http://schemas.microsoft.com/office/powerpoint/2010/main" val="3858759827"/>
              </p:ext>
            </p:extLst>
          </p:nvPr>
        </p:nvGraphicFramePr>
        <p:xfrm>
          <a:off x="492902" y="1462447"/>
          <a:ext cx="5239666" cy="1066800"/>
        </p:xfrm>
        <a:graphic>
          <a:graphicData uri="http://schemas.openxmlformats.org/drawingml/2006/table">
            <a:tbl>
              <a:tblPr/>
              <a:tblGrid>
                <a:gridCol w="1705801">
                  <a:extLst>
                    <a:ext uri="{9D8B030D-6E8A-4147-A177-3AD203B41FA5}">
                      <a16:colId xmlns:a16="http://schemas.microsoft.com/office/drawing/2014/main" val="1036956543"/>
                    </a:ext>
                  </a:extLst>
                </a:gridCol>
                <a:gridCol w="1177955">
                  <a:extLst>
                    <a:ext uri="{9D8B030D-6E8A-4147-A177-3AD203B41FA5}">
                      <a16:colId xmlns:a16="http://schemas.microsoft.com/office/drawing/2014/main" val="3549043433"/>
                    </a:ext>
                  </a:extLst>
                </a:gridCol>
                <a:gridCol w="1177955">
                  <a:extLst>
                    <a:ext uri="{9D8B030D-6E8A-4147-A177-3AD203B41FA5}">
                      <a16:colId xmlns:a16="http://schemas.microsoft.com/office/drawing/2014/main" val="729367603"/>
                    </a:ext>
                  </a:extLst>
                </a:gridCol>
                <a:gridCol w="1177955">
                  <a:extLst>
                    <a:ext uri="{9D8B030D-6E8A-4147-A177-3AD203B41FA5}">
                      <a16:colId xmlns:a16="http://schemas.microsoft.com/office/drawing/2014/main" val="4292039747"/>
                    </a:ext>
                  </a:extLst>
                </a:gridCol>
              </a:tblGrid>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分潤機制</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售價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同業</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旺來</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2455550625"/>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838521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1,300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1,100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55219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500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400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689328"/>
                  </a:ext>
                </a:extLst>
              </a:tr>
            </a:tbl>
          </a:graphicData>
        </a:graphic>
      </p:graphicFrame>
      <p:graphicFrame>
        <p:nvGraphicFramePr>
          <p:cNvPr id="103" name="表格 102">
            <a:extLst>
              <a:ext uri="{FF2B5EF4-FFF2-40B4-BE49-F238E27FC236}">
                <a16:creationId xmlns:a16="http://schemas.microsoft.com/office/drawing/2014/main" id="{4A4D0ED5-122B-8AC0-5EDE-14949AD46EF0}"/>
              </a:ext>
            </a:extLst>
          </p:cNvPr>
          <p:cNvGraphicFramePr>
            <a:graphicFrameLocks noGrp="1"/>
          </p:cNvGraphicFramePr>
          <p:nvPr>
            <p:extLst>
              <p:ext uri="{D42A27DB-BD31-4B8C-83A1-F6EECF244321}">
                <p14:modId xmlns:p14="http://schemas.microsoft.com/office/powerpoint/2010/main" val="3043577711"/>
              </p:ext>
            </p:extLst>
          </p:nvPr>
        </p:nvGraphicFramePr>
        <p:xfrm>
          <a:off x="490329" y="2978853"/>
          <a:ext cx="5242239" cy="2116116"/>
        </p:xfrm>
        <a:graphic>
          <a:graphicData uri="http://schemas.openxmlformats.org/drawingml/2006/table">
            <a:tbl>
              <a:tblPr/>
              <a:tblGrid>
                <a:gridCol w="1747413">
                  <a:extLst>
                    <a:ext uri="{9D8B030D-6E8A-4147-A177-3AD203B41FA5}">
                      <a16:colId xmlns:a16="http://schemas.microsoft.com/office/drawing/2014/main" val="1041324463"/>
                    </a:ext>
                  </a:extLst>
                </a:gridCol>
                <a:gridCol w="1747413">
                  <a:extLst>
                    <a:ext uri="{9D8B030D-6E8A-4147-A177-3AD203B41FA5}">
                      <a16:colId xmlns:a16="http://schemas.microsoft.com/office/drawing/2014/main" val="3469723183"/>
                    </a:ext>
                  </a:extLst>
                </a:gridCol>
                <a:gridCol w="1747413">
                  <a:extLst>
                    <a:ext uri="{9D8B030D-6E8A-4147-A177-3AD203B41FA5}">
                      <a16:colId xmlns:a16="http://schemas.microsoft.com/office/drawing/2014/main" val="3214899351"/>
                    </a:ext>
                  </a:extLst>
                </a:gridCol>
              </a:tblGrid>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189939874"/>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90486452"/>
                  </a:ext>
                </a:extLst>
              </a:tr>
              <a:tr h="291472">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29945602"/>
                  </a:ext>
                </a:extLst>
              </a:tr>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年度</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216313751"/>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39855137"/>
                  </a:ext>
                </a:extLst>
              </a:tr>
              <a:tr h="367284">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3200531"/>
                  </a:ext>
                </a:extLst>
              </a:tr>
              <a:tr h="291472">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總桶數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720</a:t>
                      </a:r>
                    </a:p>
                  </a:txBody>
                  <a:tcPr marL="7620" marR="7620" marT="7620" marB="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2,448</a:t>
                      </a:r>
                    </a:p>
                  </a:txBody>
                  <a:tcPr marL="7620" marR="7620" marT="7620" marB="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923901019"/>
                  </a:ext>
                </a:extLst>
              </a:tr>
            </a:tbl>
          </a:graphicData>
        </a:graphic>
      </p:graphicFrame>
      <p:sp>
        <p:nvSpPr>
          <p:cNvPr id="3" name="文字方塊 2">
            <a:extLst>
              <a:ext uri="{FF2B5EF4-FFF2-40B4-BE49-F238E27FC236}">
                <a16:creationId xmlns:a16="http://schemas.microsoft.com/office/drawing/2014/main" id="{DD421F59-0F65-939B-9281-E0CE2C62817D}"/>
              </a:ext>
            </a:extLst>
          </p:cNvPr>
          <p:cNvSpPr txBox="1"/>
          <p:nvPr/>
        </p:nvSpPr>
        <p:spPr>
          <a:xfrm>
            <a:off x="6096000" y="3225952"/>
            <a:ext cx="5153975" cy="1893724"/>
          </a:xfrm>
          <a:prstGeom prst="rect">
            <a:avLst/>
          </a:prstGeom>
          <a:noFill/>
        </p:spPr>
        <p:txBody>
          <a:bodyPr wrap="none" rtlCol="0">
            <a:spAutoFit/>
          </a:bodyPr>
          <a:lstStyle/>
          <a:p>
            <a:pPr>
              <a:lnSpc>
                <a:spcPct val="150000"/>
              </a:lnSpc>
            </a:pPr>
            <a:r>
              <a:rPr lang="zh-TW" altLang="en-US" sz="1600" dirty="0">
                <a:solidFill>
                  <a:srgbClr val="0000FF"/>
                </a:solidFill>
                <a:latin typeface="微軟正黑體" panose="020B0604030504040204" pitchFamily="34" charset="-120"/>
                <a:ea typeface="微軟正黑體" panose="020B0604030504040204" pitchFamily="34" charset="-120"/>
              </a:rPr>
              <a:t>說明：</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600" dirty="0">
                <a:solidFill>
                  <a:srgbClr val="0000FF"/>
                </a:solidFill>
                <a:latin typeface="微軟正黑體" panose="020B0604030504040204" pitchFamily="34" charset="-120"/>
                <a:ea typeface="微軟正黑體" panose="020B0604030504040204" pitchFamily="34" charset="-120"/>
              </a:rPr>
              <a:t>第</a:t>
            </a:r>
            <a:r>
              <a:rPr lang="en-US" altLang="zh-TW" sz="1600" dirty="0">
                <a:solidFill>
                  <a:srgbClr val="0000FF"/>
                </a:solidFill>
                <a:latin typeface="微軟正黑體" panose="020B0604030504040204" pitchFamily="34" charset="-120"/>
                <a:ea typeface="微軟正黑體" panose="020B0604030504040204" pitchFamily="34" charset="-120"/>
              </a:rPr>
              <a:t>1</a:t>
            </a:r>
            <a:r>
              <a:rPr lang="zh-TW" altLang="en-US" sz="1600" dirty="0">
                <a:solidFill>
                  <a:srgbClr val="0000FF"/>
                </a:solidFill>
                <a:latin typeface="微軟正黑體" panose="020B0604030504040204" pitchFamily="34" charset="-120"/>
                <a:ea typeface="微軟正黑體" panose="020B0604030504040204" pitchFamily="34" charset="-120"/>
              </a:rPr>
              <a:t>年新會員數</a:t>
            </a:r>
            <a:r>
              <a:rPr lang="en-US" altLang="zh-TW" sz="1600" dirty="0">
                <a:solidFill>
                  <a:srgbClr val="0000FF"/>
                </a:solidFill>
                <a:latin typeface="微軟正黑體" panose="020B0604030504040204" pitchFamily="34" charset="-120"/>
                <a:ea typeface="微軟正黑體" panose="020B0604030504040204" pitchFamily="34" charset="-120"/>
              </a:rPr>
              <a:t>120</a:t>
            </a:r>
            <a:r>
              <a:rPr lang="zh-TW" altLang="en-US" sz="1600" dirty="0">
                <a:solidFill>
                  <a:srgbClr val="0000FF"/>
                </a:solidFill>
                <a:latin typeface="微軟正黑體" panose="020B0604030504040204" pitchFamily="34" charset="-120"/>
                <a:ea typeface="微軟正黑體" panose="020B0604030504040204" pitchFamily="34" charset="-120"/>
              </a:rPr>
              <a:t>人，第二年新會員數</a:t>
            </a:r>
            <a:r>
              <a:rPr lang="en-US" altLang="zh-TW" sz="1600" dirty="0">
                <a:solidFill>
                  <a:srgbClr val="0000FF"/>
                </a:solidFill>
                <a:latin typeface="微軟正黑體" panose="020B0604030504040204" pitchFamily="34" charset="-120"/>
                <a:ea typeface="微軟正黑體" panose="020B0604030504040204" pitchFamily="34" charset="-120"/>
              </a:rPr>
              <a:t>300</a:t>
            </a:r>
            <a:r>
              <a:rPr lang="zh-TW" altLang="en-US" sz="1600" dirty="0">
                <a:solidFill>
                  <a:srgbClr val="0000FF"/>
                </a:solidFill>
                <a:latin typeface="微軟正黑體" panose="020B0604030504040204" pitchFamily="34" charset="-120"/>
                <a:ea typeface="微軟正黑體" panose="020B0604030504040204" pitchFamily="34" charset="-120"/>
              </a:rPr>
              <a:t>人</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600" dirty="0">
                <a:solidFill>
                  <a:srgbClr val="0000FF"/>
                </a:solidFill>
                <a:latin typeface="微軟正黑體" panose="020B0604030504040204" pitchFamily="34" charset="-120"/>
                <a:ea typeface="微軟正黑體" panose="020B0604030504040204" pitchFamily="34" charset="-120"/>
              </a:rPr>
              <a:t>智取櫃櫃體</a:t>
            </a:r>
            <a:r>
              <a:rPr lang="en-US" altLang="zh-TW" sz="1600" dirty="0">
                <a:solidFill>
                  <a:srgbClr val="0000FF"/>
                </a:solidFill>
                <a:latin typeface="微軟正黑體" panose="020B0604030504040204" pitchFamily="34" charset="-120"/>
                <a:ea typeface="微軟正黑體" panose="020B0604030504040204" pitchFamily="34" charset="-120"/>
              </a:rPr>
              <a:t>55</a:t>
            </a:r>
            <a:r>
              <a:rPr lang="zh-TW" altLang="en-US" sz="1600" dirty="0">
                <a:solidFill>
                  <a:srgbClr val="0000FF"/>
                </a:solidFill>
                <a:latin typeface="微軟正黑體" panose="020B0604030504040204" pitchFamily="34" charset="-120"/>
                <a:ea typeface="微軟正黑體" panose="020B0604030504040204" pitchFamily="34" charset="-120"/>
              </a:rPr>
              <a:t>萬，場地租金每月</a:t>
            </a: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萬，</a:t>
            </a: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年合計</a:t>
            </a:r>
            <a:r>
              <a:rPr lang="en-US" altLang="zh-TW" sz="1600" dirty="0">
                <a:solidFill>
                  <a:srgbClr val="0000FF"/>
                </a:solidFill>
                <a:latin typeface="微軟正黑體" panose="020B0604030504040204" pitchFamily="34" charset="-120"/>
                <a:ea typeface="微軟正黑體" panose="020B0604030504040204" pitchFamily="34" charset="-120"/>
              </a:rPr>
              <a:t>48</a:t>
            </a:r>
            <a:r>
              <a:rPr lang="zh-TW" altLang="en-US" sz="1600" dirty="0">
                <a:solidFill>
                  <a:srgbClr val="0000FF"/>
                </a:solidFill>
                <a:latin typeface="微軟正黑體" panose="020B0604030504040204" pitchFamily="34" charset="-120"/>
                <a:ea typeface="微軟正黑體" panose="020B0604030504040204" pitchFamily="34" charset="-120"/>
              </a:rPr>
              <a:t>萬</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年同業總收入</a:t>
            </a:r>
            <a:r>
              <a:rPr lang="en-US" altLang="zh-TW" sz="1600" dirty="0">
                <a:solidFill>
                  <a:srgbClr val="0000FF"/>
                </a:solidFill>
                <a:latin typeface="微軟正黑體" panose="020B0604030504040204" pitchFamily="34" charset="-120"/>
                <a:ea typeface="微軟正黑體" panose="020B0604030504040204" pitchFamily="34" charset="-120"/>
              </a:rPr>
              <a:t>=205.8</a:t>
            </a:r>
            <a:r>
              <a:rPr lang="zh-TW" altLang="en-US" sz="1600" dirty="0">
                <a:solidFill>
                  <a:srgbClr val="0000FF"/>
                </a:solidFill>
                <a:latin typeface="微軟正黑體" panose="020B0604030504040204" pitchFamily="34" charset="-120"/>
                <a:ea typeface="微軟正黑體" panose="020B0604030504040204" pitchFamily="34" charset="-120"/>
              </a:rPr>
              <a:t>萬</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年同業獲利</a:t>
            </a:r>
            <a:r>
              <a:rPr lang="en-US" altLang="zh-TW" sz="1600" dirty="0">
                <a:solidFill>
                  <a:srgbClr val="0000FF"/>
                </a:solidFill>
                <a:latin typeface="微軟正黑體" panose="020B0604030504040204" pitchFamily="34" charset="-120"/>
                <a:ea typeface="微軟正黑體" panose="020B0604030504040204" pitchFamily="34" charset="-120"/>
              </a:rPr>
              <a:t>=2,058,000-550,000-480,000=102.8</a:t>
            </a:r>
            <a:r>
              <a:rPr lang="zh-TW" altLang="en-US" sz="1600" dirty="0">
                <a:solidFill>
                  <a:srgbClr val="0000FF"/>
                </a:solidFill>
                <a:latin typeface="微軟正黑體" panose="020B0604030504040204" pitchFamily="34" charset="-120"/>
                <a:ea typeface="微軟正黑體" panose="020B0604030504040204" pitchFamily="34" charset="-120"/>
              </a:rPr>
              <a:t>萬</a:t>
            </a:r>
            <a:endParaRPr lang="en-US" altLang="zh-TW" sz="1600" dirty="0">
              <a:solidFill>
                <a:srgbClr val="0000FF"/>
              </a:solidFill>
              <a:latin typeface="微軟正黑體" panose="020B0604030504040204" pitchFamily="34" charset="-120"/>
              <a:ea typeface="微軟正黑體" panose="020B0604030504040204" pitchFamily="34" charset="-120"/>
            </a:endParaRPr>
          </a:p>
        </p:txBody>
      </p:sp>
      <p:graphicFrame>
        <p:nvGraphicFramePr>
          <p:cNvPr id="7" name="表格 6">
            <a:extLst>
              <a:ext uri="{FF2B5EF4-FFF2-40B4-BE49-F238E27FC236}">
                <a16:creationId xmlns:a16="http://schemas.microsoft.com/office/drawing/2014/main" id="{1B3ADE44-2715-0B7A-4831-43CA0DB9FF2D}"/>
              </a:ext>
            </a:extLst>
          </p:cNvPr>
          <p:cNvGraphicFramePr>
            <a:graphicFrameLocks noGrp="1"/>
          </p:cNvGraphicFramePr>
          <p:nvPr>
            <p:extLst>
              <p:ext uri="{D42A27DB-BD31-4B8C-83A1-F6EECF244321}">
                <p14:modId xmlns:p14="http://schemas.microsoft.com/office/powerpoint/2010/main" val="1380298249"/>
              </p:ext>
            </p:extLst>
          </p:nvPr>
        </p:nvGraphicFramePr>
        <p:xfrm>
          <a:off x="6096000" y="1462447"/>
          <a:ext cx="6006093" cy="1453215"/>
        </p:xfrm>
        <a:graphic>
          <a:graphicData uri="http://schemas.openxmlformats.org/drawingml/2006/table">
            <a:tbl>
              <a:tblPr/>
              <a:tblGrid>
                <a:gridCol w="1052546">
                  <a:extLst>
                    <a:ext uri="{9D8B030D-6E8A-4147-A177-3AD203B41FA5}">
                      <a16:colId xmlns:a16="http://schemas.microsoft.com/office/drawing/2014/main" val="3154134444"/>
                    </a:ext>
                  </a:extLst>
                </a:gridCol>
                <a:gridCol w="835459">
                  <a:extLst>
                    <a:ext uri="{9D8B030D-6E8A-4147-A177-3AD203B41FA5}">
                      <a16:colId xmlns:a16="http://schemas.microsoft.com/office/drawing/2014/main" val="3740597211"/>
                    </a:ext>
                  </a:extLst>
                </a:gridCol>
                <a:gridCol w="588108">
                  <a:extLst>
                    <a:ext uri="{9D8B030D-6E8A-4147-A177-3AD203B41FA5}">
                      <a16:colId xmlns:a16="http://schemas.microsoft.com/office/drawing/2014/main" val="1416288873"/>
                    </a:ext>
                  </a:extLst>
                </a:gridCol>
                <a:gridCol w="882495">
                  <a:extLst>
                    <a:ext uri="{9D8B030D-6E8A-4147-A177-3AD203B41FA5}">
                      <a16:colId xmlns:a16="http://schemas.microsoft.com/office/drawing/2014/main" val="1985614780"/>
                    </a:ext>
                  </a:extLst>
                </a:gridCol>
                <a:gridCol w="882495">
                  <a:extLst>
                    <a:ext uri="{9D8B030D-6E8A-4147-A177-3AD203B41FA5}">
                      <a16:colId xmlns:a16="http://schemas.microsoft.com/office/drawing/2014/main" val="3094271731"/>
                    </a:ext>
                  </a:extLst>
                </a:gridCol>
                <a:gridCol w="882495">
                  <a:extLst>
                    <a:ext uri="{9D8B030D-6E8A-4147-A177-3AD203B41FA5}">
                      <a16:colId xmlns:a16="http://schemas.microsoft.com/office/drawing/2014/main" val="4193431359"/>
                    </a:ext>
                  </a:extLst>
                </a:gridCol>
                <a:gridCol w="882495">
                  <a:extLst>
                    <a:ext uri="{9D8B030D-6E8A-4147-A177-3AD203B41FA5}">
                      <a16:colId xmlns:a16="http://schemas.microsoft.com/office/drawing/2014/main" val="2951566018"/>
                    </a:ext>
                  </a:extLst>
                </a:gridCol>
              </a:tblGrid>
              <a:tr h="229135">
                <a:tc>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gridSpan="3">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tc gridSpan="3">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63036991"/>
                  </a:ext>
                </a:extLst>
              </a:tr>
              <a:tr h="452455">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案型</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86888506"/>
                  </a:ext>
                </a:extLst>
              </a:tr>
              <a:tr h="244256">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總計</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216,000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zh-TW" altLang="en-US" sz="1400" b="0" i="0" u="none" strike="noStrike" dirty="0">
                          <a:solidFill>
                            <a:srgbClr val="000000"/>
                          </a:solidFill>
                          <a:effectLst/>
                          <a:latin typeface="微軟正黑體" panose="020B0604030504040204" pitchFamily="34" charset="-120"/>
                          <a:ea typeface="微軟正黑體" panose="020B0604030504040204" pitchFamily="34" charset="-120"/>
                        </a:rPr>
                        <a:t>０</a:t>
                      </a:r>
                      <a:endPar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360,000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540,000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140,400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1,224,000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7433182"/>
                  </a:ext>
                </a:extLst>
              </a:tr>
              <a:tr h="244256">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同業分潤</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192,000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288,000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480,000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118,800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979,200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0112684"/>
                  </a:ext>
                </a:extLst>
              </a:tr>
              <a:tr h="244256">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旺來分潤</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24,000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72,000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60,000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21,600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244,800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4419857"/>
                  </a:ext>
                </a:extLst>
              </a:tr>
            </a:tbl>
          </a:graphicData>
        </a:graphic>
      </p:graphicFrame>
    </p:spTree>
    <p:extLst>
      <p:ext uri="{BB962C8B-B14F-4D97-AF65-F5344CB8AC3E}">
        <p14:creationId xmlns:p14="http://schemas.microsoft.com/office/powerpoint/2010/main" val="3752513481"/>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55CEE-3541-6EC8-F8A3-C28DD6F82E90}"/>
            </a:ext>
          </a:extLst>
        </p:cNvPr>
        <p:cNvGrpSpPr/>
        <p:nvPr/>
      </p:nvGrpSpPr>
      <p:grpSpPr>
        <a:xfrm>
          <a:off x="0" y="0"/>
          <a:ext cx="0" cy="0"/>
          <a:chOff x="0" y="0"/>
          <a:chExt cx="0" cy="0"/>
        </a:xfrm>
      </p:grpSpPr>
      <p:sp>
        <p:nvSpPr>
          <p:cNvPr id="4" name="投影片編號版面配置區 1">
            <a:extLst>
              <a:ext uri="{FF2B5EF4-FFF2-40B4-BE49-F238E27FC236}">
                <a16:creationId xmlns:a16="http://schemas.microsoft.com/office/drawing/2014/main" id="{EFB87844-B076-93F6-B727-2D6BD4D818B2}"/>
              </a:ext>
            </a:extLst>
          </p:cNvPr>
          <p:cNvSpPr>
            <a:spLocks noGrp="1"/>
          </p:cNvSpPr>
          <p:nvPr>
            <p:ph type="sldNum" sz="quarter" idx="12"/>
          </p:nvPr>
        </p:nvSpPr>
        <p:spPr>
          <a:xfrm>
            <a:off x="9443573" y="6484265"/>
            <a:ext cx="2743200" cy="365125"/>
          </a:xfrm>
        </p:spPr>
        <p:txBody>
          <a:bodyPr/>
          <a:lstStyle/>
          <a:p>
            <a:fld id="{2E95FD34-61D0-4C5A-B773-4E2676150C65}" type="slidenum">
              <a:rPr lang="zh-TW" altLang="en-US" smtClean="0"/>
              <a:t>10</a:t>
            </a:fld>
            <a:endParaRPr lang="zh-TW" altLang="en-US"/>
          </a:p>
        </p:txBody>
      </p:sp>
      <p:sp>
        <p:nvSpPr>
          <p:cNvPr id="28" name="文字方塊 27">
            <a:extLst>
              <a:ext uri="{FF2B5EF4-FFF2-40B4-BE49-F238E27FC236}">
                <a16:creationId xmlns:a16="http://schemas.microsoft.com/office/drawing/2014/main" id="{5D6278A5-761B-589B-883B-7103B1BA1CE4}"/>
              </a:ext>
            </a:extLst>
          </p:cNvPr>
          <p:cNvSpPr txBox="1"/>
          <p:nvPr/>
        </p:nvSpPr>
        <p:spPr>
          <a:xfrm>
            <a:off x="161153" y="354569"/>
            <a:ext cx="9386884" cy="646331"/>
          </a:xfrm>
          <a:prstGeom prst="rect">
            <a:avLst/>
          </a:prstGeom>
          <a:noFill/>
        </p:spPr>
        <p:txBody>
          <a:bodyPr wrap="square" lIns="91440" tIns="45720" rIns="91440" bIns="45720" anchor="t">
            <a:spAutoFit/>
          </a:bodyPr>
          <a:lstStyle/>
          <a:p>
            <a:r>
              <a:rPr lang="zh-TW" altLang="en-US" sz="3600" b="1" dirty="0">
                <a:latin typeface="微軟正黑體"/>
                <a:ea typeface="微軟正黑體"/>
              </a:rPr>
              <a:t>合作模組</a:t>
            </a:r>
            <a:r>
              <a:rPr lang="en-US" altLang="zh-TW" sz="3600" b="1" dirty="0">
                <a:latin typeface="微軟正黑體"/>
                <a:ea typeface="微軟正黑體"/>
              </a:rPr>
              <a:t>2</a:t>
            </a:r>
            <a:endParaRPr lang="zh-TW" altLang="en-US" sz="3600" b="1" dirty="0">
              <a:latin typeface="微軟正黑體"/>
              <a:ea typeface="微軟正黑體"/>
            </a:endParaRPr>
          </a:p>
        </p:txBody>
      </p:sp>
      <p:grpSp>
        <p:nvGrpSpPr>
          <p:cNvPr id="71" name="群組 70">
            <a:extLst>
              <a:ext uri="{FF2B5EF4-FFF2-40B4-BE49-F238E27FC236}">
                <a16:creationId xmlns:a16="http://schemas.microsoft.com/office/drawing/2014/main" id="{690F6D26-9A4C-94BC-B85B-C76EA7950694}"/>
              </a:ext>
            </a:extLst>
          </p:cNvPr>
          <p:cNvGrpSpPr/>
          <p:nvPr/>
        </p:nvGrpSpPr>
        <p:grpSpPr>
          <a:xfrm>
            <a:off x="1046912" y="1186936"/>
            <a:ext cx="4926105" cy="4732994"/>
            <a:chOff x="767788" y="1156187"/>
            <a:chExt cx="4926105" cy="4732994"/>
          </a:xfrm>
        </p:grpSpPr>
        <p:grpSp>
          <p:nvGrpSpPr>
            <p:cNvPr id="62" name="群組 61">
              <a:extLst>
                <a:ext uri="{FF2B5EF4-FFF2-40B4-BE49-F238E27FC236}">
                  <a16:creationId xmlns:a16="http://schemas.microsoft.com/office/drawing/2014/main" id="{0CC389F6-7CCA-8CCA-823A-CAA764B2EB3B}"/>
                </a:ext>
              </a:extLst>
            </p:cNvPr>
            <p:cNvGrpSpPr/>
            <p:nvPr/>
          </p:nvGrpSpPr>
          <p:grpSpPr>
            <a:xfrm>
              <a:off x="3641012" y="1156187"/>
              <a:ext cx="1442579" cy="1325527"/>
              <a:chOff x="3612021" y="1523999"/>
              <a:chExt cx="1442579" cy="1325527"/>
            </a:xfrm>
          </p:grpSpPr>
          <p:sp>
            <p:nvSpPr>
              <p:cNvPr id="55" name="矩形: 圓角 54">
                <a:extLst>
                  <a:ext uri="{FF2B5EF4-FFF2-40B4-BE49-F238E27FC236}">
                    <a16:creationId xmlns:a16="http://schemas.microsoft.com/office/drawing/2014/main" id="{95302F75-84A8-CBE0-B481-F3C6D9382287}"/>
                  </a:ext>
                </a:extLst>
              </p:cNvPr>
              <p:cNvSpPr/>
              <p:nvPr/>
            </p:nvSpPr>
            <p:spPr>
              <a:xfrm>
                <a:off x="3612021" y="1523999"/>
                <a:ext cx="1442579" cy="1325527"/>
              </a:xfrm>
              <a:prstGeom prst="round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 name="群組 5">
                <a:extLst>
                  <a:ext uri="{FF2B5EF4-FFF2-40B4-BE49-F238E27FC236}">
                    <a16:creationId xmlns:a16="http://schemas.microsoft.com/office/drawing/2014/main" id="{F947E554-42DA-CDA2-9672-AE8DD1793417}"/>
                  </a:ext>
                </a:extLst>
              </p:cNvPr>
              <p:cNvGrpSpPr/>
              <p:nvPr/>
            </p:nvGrpSpPr>
            <p:grpSpPr>
              <a:xfrm>
                <a:off x="3740147" y="1648217"/>
                <a:ext cx="1144852" cy="455414"/>
                <a:chOff x="3897205" y="1192803"/>
                <a:chExt cx="1144852" cy="455414"/>
              </a:xfrm>
            </p:grpSpPr>
            <p:sp>
              <p:nvSpPr>
                <p:cNvPr id="2" name="矩形: 圓角 1">
                  <a:extLst>
                    <a:ext uri="{FF2B5EF4-FFF2-40B4-BE49-F238E27FC236}">
                      <a16:creationId xmlns:a16="http://schemas.microsoft.com/office/drawing/2014/main" id="{DA4DFF07-8F64-9605-B756-DE77DE998987}"/>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 name="文字方塊 4">
                  <a:extLst>
                    <a:ext uri="{FF2B5EF4-FFF2-40B4-BE49-F238E27FC236}">
                      <a16:creationId xmlns:a16="http://schemas.microsoft.com/office/drawing/2014/main" id="{BEAF0ADE-4FB7-B080-7FB2-3D664EBCE6A3}"/>
                    </a:ext>
                  </a:extLst>
                </p:cNvPr>
                <p:cNvSpPr txBox="1"/>
                <p:nvPr/>
              </p:nvSpPr>
              <p:spPr>
                <a:xfrm>
                  <a:off x="4034581" y="1247813"/>
                  <a:ext cx="877163"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智取櫃</a:t>
                  </a:r>
                </a:p>
              </p:txBody>
            </p:sp>
          </p:grpSp>
          <p:grpSp>
            <p:nvGrpSpPr>
              <p:cNvPr id="7" name="群組 6">
                <a:extLst>
                  <a:ext uri="{FF2B5EF4-FFF2-40B4-BE49-F238E27FC236}">
                    <a16:creationId xmlns:a16="http://schemas.microsoft.com/office/drawing/2014/main" id="{340D58F0-41D5-CE8E-C40E-E70AE9166952}"/>
                  </a:ext>
                </a:extLst>
              </p:cNvPr>
              <p:cNvGrpSpPr/>
              <p:nvPr/>
            </p:nvGrpSpPr>
            <p:grpSpPr>
              <a:xfrm>
                <a:off x="3740147" y="2295534"/>
                <a:ext cx="1144852" cy="455414"/>
                <a:chOff x="3897205" y="1192803"/>
                <a:chExt cx="1144852" cy="455414"/>
              </a:xfrm>
            </p:grpSpPr>
            <p:sp>
              <p:nvSpPr>
                <p:cNvPr id="8" name="矩形: 圓角 7">
                  <a:extLst>
                    <a:ext uri="{FF2B5EF4-FFF2-40B4-BE49-F238E27FC236}">
                      <a16:creationId xmlns:a16="http://schemas.microsoft.com/office/drawing/2014/main" id="{A321E8A8-5C0C-B8CC-3B55-8F4419A2FB07}"/>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7B0D3347-1E04-1BF6-D96D-5C2BA2F3D57E}"/>
                    </a:ext>
                  </a:extLst>
                </p:cNvPr>
                <p:cNvSpPr txBox="1"/>
                <p:nvPr/>
              </p:nvSpPr>
              <p:spPr>
                <a:xfrm>
                  <a:off x="4026768" y="1237248"/>
                  <a:ext cx="877163"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場地費</a:t>
                  </a:r>
                </a:p>
              </p:txBody>
            </p:sp>
          </p:grpSp>
        </p:grpSp>
        <p:grpSp>
          <p:nvGrpSpPr>
            <p:cNvPr id="61" name="群組 60">
              <a:extLst>
                <a:ext uri="{FF2B5EF4-FFF2-40B4-BE49-F238E27FC236}">
                  <a16:creationId xmlns:a16="http://schemas.microsoft.com/office/drawing/2014/main" id="{B75AF4F6-6894-3437-8C06-39DD1B6F49E2}"/>
                </a:ext>
              </a:extLst>
            </p:cNvPr>
            <p:cNvGrpSpPr/>
            <p:nvPr/>
          </p:nvGrpSpPr>
          <p:grpSpPr>
            <a:xfrm>
              <a:off x="3641012" y="3916938"/>
              <a:ext cx="1442579" cy="1972243"/>
              <a:chOff x="3612021" y="3084055"/>
              <a:chExt cx="1442579" cy="1972243"/>
            </a:xfrm>
          </p:grpSpPr>
          <p:sp>
            <p:nvSpPr>
              <p:cNvPr id="56" name="矩形: 圓角 55">
                <a:extLst>
                  <a:ext uri="{FF2B5EF4-FFF2-40B4-BE49-F238E27FC236}">
                    <a16:creationId xmlns:a16="http://schemas.microsoft.com/office/drawing/2014/main" id="{26116D28-9C09-8A09-098A-8E257AF0E8BF}"/>
                  </a:ext>
                </a:extLst>
              </p:cNvPr>
              <p:cNvSpPr/>
              <p:nvPr/>
            </p:nvSpPr>
            <p:spPr>
              <a:xfrm>
                <a:off x="3612021" y="3084055"/>
                <a:ext cx="1442579" cy="1972243"/>
              </a:xfrm>
              <a:prstGeom prst="roundRect">
                <a:avLst/>
              </a:prstGeom>
              <a:solidFill>
                <a:schemeClr val="tx2">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0" name="群組 9">
                <a:extLst>
                  <a:ext uri="{FF2B5EF4-FFF2-40B4-BE49-F238E27FC236}">
                    <a16:creationId xmlns:a16="http://schemas.microsoft.com/office/drawing/2014/main" id="{A4474940-371D-9754-819D-DAD78F40A3E8}"/>
                  </a:ext>
                </a:extLst>
              </p:cNvPr>
              <p:cNvGrpSpPr/>
              <p:nvPr/>
            </p:nvGrpSpPr>
            <p:grpSpPr>
              <a:xfrm>
                <a:off x="3743679" y="3244318"/>
                <a:ext cx="1144852" cy="455414"/>
                <a:chOff x="3897205" y="1192803"/>
                <a:chExt cx="1144852" cy="455414"/>
              </a:xfrm>
            </p:grpSpPr>
            <p:sp>
              <p:nvSpPr>
                <p:cNvPr id="11" name="矩形: 圓角 10">
                  <a:extLst>
                    <a:ext uri="{FF2B5EF4-FFF2-40B4-BE49-F238E27FC236}">
                      <a16:creationId xmlns:a16="http://schemas.microsoft.com/office/drawing/2014/main" id="{DE6E14B9-4BD3-C447-04FA-CC9D920C3B20}"/>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 name="文字方塊 11">
                  <a:extLst>
                    <a:ext uri="{FF2B5EF4-FFF2-40B4-BE49-F238E27FC236}">
                      <a16:creationId xmlns:a16="http://schemas.microsoft.com/office/drawing/2014/main" id="{10372FD7-8159-1882-2027-9DC946BBF39B}"/>
                    </a:ext>
                  </a:extLst>
                </p:cNvPr>
                <p:cNvSpPr txBox="1"/>
                <p:nvPr/>
              </p:nvSpPr>
              <p:spPr>
                <a:xfrm>
                  <a:off x="4125519" y="1254054"/>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灌氣</a:t>
                  </a:r>
                </a:p>
              </p:txBody>
            </p:sp>
          </p:grpSp>
          <p:grpSp>
            <p:nvGrpSpPr>
              <p:cNvPr id="13" name="群組 12">
                <a:extLst>
                  <a:ext uri="{FF2B5EF4-FFF2-40B4-BE49-F238E27FC236}">
                    <a16:creationId xmlns:a16="http://schemas.microsoft.com/office/drawing/2014/main" id="{E52A8082-06F4-1C86-709B-C2C730C97691}"/>
                  </a:ext>
                </a:extLst>
              </p:cNvPr>
              <p:cNvGrpSpPr/>
              <p:nvPr/>
            </p:nvGrpSpPr>
            <p:grpSpPr>
              <a:xfrm>
                <a:off x="3743679" y="3891635"/>
                <a:ext cx="1144852" cy="455414"/>
                <a:chOff x="3897205" y="1192803"/>
                <a:chExt cx="1144852" cy="455414"/>
              </a:xfrm>
            </p:grpSpPr>
            <p:sp>
              <p:nvSpPr>
                <p:cNvPr id="14" name="矩形: 圓角 13">
                  <a:extLst>
                    <a:ext uri="{FF2B5EF4-FFF2-40B4-BE49-F238E27FC236}">
                      <a16:creationId xmlns:a16="http://schemas.microsoft.com/office/drawing/2014/main" id="{59BAE382-95A8-3406-5212-88DDA8FB1952}"/>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a:extLst>
                    <a:ext uri="{FF2B5EF4-FFF2-40B4-BE49-F238E27FC236}">
                      <a16:creationId xmlns:a16="http://schemas.microsoft.com/office/drawing/2014/main" id="{1BDB6734-C8E1-6316-80CA-A1196F36769A}"/>
                    </a:ext>
                  </a:extLst>
                </p:cNvPr>
                <p:cNvSpPr txBox="1"/>
                <p:nvPr/>
              </p:nvSpPr>
              <p:spPr>
                <a:xfrm>
                  <a:off x="4125519" y="1232485"/>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配送</a:t>
                  </a:r>
                </a:p>
              </p:txBody>
            </p:sp>
          </p:grpSp>
          <p:grpSp>
            <p:nvGrpSpPr>
              <p:cNvPr id="16" name="群組 15">
                <a:extLst>
                  <a:ext uri="{FF2B5EF4-FFF2-40B4-BE49-F238E27FC236}">
                    <a16:creationId xmlns:a16="http://schemas.microsoft.com/office/drawing/2014/main" id="{9ABFFFC2-561B-1EB8-51F2-C949EDF56354}"/>
                  </a:ext>
                </a:extLst>
              </p:cNvPr>
              <p:cNvGrpSpPr/>
              <p:nvPr/>
            </p:nvGrpSpPr>
            <p:grpSpPr>
              <a:xfrm>
                <a:off x="3743679" y="4499252"/>
                <a:ext cx="1144852" cy="455414"/>
                <a:chOff x="3897205" y="1192803"/>
                <a:chExt cx="1144852" cy="455414"/>
              </a:xfrm>
            </p:grpSpPr>
            <p:sp>
              <p:nvSpPr>
                <p:cNvPr id="17" name="矩形: 圓角 16">
                  <a:extLst>
                    <a:ext uri="{FF2B5EF4-FFF2-40B4-BE49-F238E27FC236}">
                      <a16:creationId xmlns:a16="http://schemas.microsoft.com/office/drawing/2014/main" id="{70C4420B-1AF5-62B1-E48A-A80E6E91A1BE}"/>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 name="文字方塊 17">
                  <a:extLst>
                    <a:ext uri="{FF2B5EF4-FFF2-40B4-BE49-F238E27FC236}">
                      <a16:creationId xmlns:a16="http://schemas.microsoft.com/office/drawing/2014/main" id="{C138EE5F-22FA-6501-2631-6B7AA7CA8529}"/>
                    </a:ext>
                  </a:extLst>
                </p:cNvPr>
                <p:cNvSpPr txBox="1"/>
                <p:nvPr/>
              </p:nvSpPr>
              <p:spPr>
                <a:xfrm>
                  <a:off x="4138650" y="1227279"/>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安裝</a:t>
                  </a:r>
                </a:p>
              </p:txBody>
            </p:sp>
          </p:grpSp>
        </p:grpSp>
        <p:grpSp>
          <p:nvGrpSpPr>
            <p:cNvPr id="19" name="群組 18">
              <a:extLst>
                <a:ext uri="{FF2B5EF4-FFF2-40B4-BE49-F238E27FC236}">
                  <a16:creationId xmlns:a16="http://schemas.microsoft.com/office/drawing/2014/main" id="{06644A87-BA0F-7C1F-63C2-ACBDED76F455}"/>
                </a:ext>
              </a:extLst>
            </p:cNvPr>
            <p:cNvGrpSpPr/>
            <p:nvPr/>
          </p:nvGrpSpPr>
          <p:grpSpPr>
            <a:xfrm>
              <a:off x="767788" y="3201293"/>
              <a:ext cx="1100611" cy="455414"/>
              <a:chOff x="3897205" y="1192803"/>
              <a:chExt cx="1144852" cy="455414"/>
            </a:xfrm>
          </p:grpSpPr>
          <p:sp>
            <p:nvSpPr>
              <p:cNvPr id="20" name="矩形: 圓角 19">
                <a:extLst>
                  <a:ext uri="{FF2B5EF4-FFF2-40B4-BE49-F238E27FC236}">
                    <a16:creationId xmlns:a16="http://schemas.microsoft.com/office/drawing/2014/main" id="{F0BF58FB-3B5A-0251-4798-591E28CBE892}"/>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t>智智</a:t>
                </a:r>
              </a:p>
            </p:txBody>
          </p:sp>
          <p:sp>
            <p:nvSpPr>
              <p:cNvPr id="21" name="文字方塊 20">
                <a:extLst>
                  <a:ext uri="{FF2B5EF4-FFF2-40B4-BE49-F238E27FC236}">
                    <a16:creationId xmlns:a16="http://schemas.microsoft.com/office/drawing/2014/main" id="{496DDCE9-CC4B-26BB-1B5A-33588072704C}"/>
                  </a:ext>
                </a:extLst>
              </p:cNvPr>
              <p:cNvSpPr txBox="1"/>
              <p:nvPr/>
            </p:nvSpPr>
            <p:spPr>
              <a:xfrm>
                <a:off x="3930311" y="1239185"/>
                <a:ext cx="732357"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新櫃設置</a:t>
                </a:r>
              </a:p>
            </p:txBody>
          </p:sp>
        </p:grpSp>
        <p:grpSp>
          <p:nvGrpSpPr>
            <p:cNvPr id="24" name="群組 23">
              <a:extLst>
                <a:ext uri="{FF2B5EF4-FFF2-40B4-BE49-F238E27FC236}">
                  <a16:creationId xmlns:a16="http://schemas.microsoft.com/office/drawing/2014/main" id="{A755EF76-5C1C-B3AD-4D05-B601BEDFC31A}"/>
                </a:ext>
              </a:extLst>
            </p:cNvPr>
            <p:cNvGrpSpPr/>
            <p:nvPr/>
          </p:nvGrpSpPr>
          <p:grpSpPr>
            <a:xfrm>
              <a:off x="5204943" y="1965131"/>
              <a:ext cx="488950" cy="409032"/>
              <a:chOff x="5105400" y="1694599"/>
              <a:chExt cx="488950" cy="409032"/>
            </a:xfrm>
          </p:grpSpPr>
          <p:sp>
            <p:nvSpPr>
              <p:cNvPr id="22" name="流程圖: 接點 21">
                <a:extLst>
                  <a:ext uri="{FF2B5EF4-FFF2-40B4-BE49-F238E27FC236}">
                    <a16:creationId xmlns:a16="http://schemas.microsoft.com/office/drawing/2014/main" id="{5ED60C09-9CD7-B8C6-F159-8C7CB1890749}"/>
                  </a:ext>
                </a:extLst>
              </p:cNvPr>
              <p:cNvSpPr/>
              <p:nvPr/>
            </p:nvSpPr>
            <p:spPr>
              <a:xfrm>
                <a:off x="5130800" y="1694599"/>
                <a:ext cx="438150" cy="409032"/>
              </a:xfrm>
              <a:prstGeom prst="flowChartConnector">
                <a:avLst/>
              </a:prstGeom>
              <a:ln>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id="{9F8E91D8-B792-3638-AFBB-DC6B0578D2E5}"/>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旺來</a:t>
                </a:r>
              </a:p>
            </p:txBody>
          </p:sp>
        </p:grpSp>
        <p:grpSp>
          <p:nvGrpSpPr>
            <p:cNvPr id="38" name="群組 37">
              <a:extLst>
                <a:ext uri="{FF2B5EF4-FFF2-40B4-BE49-F238E27FC236}">
                  <a16:creationId xmlns:a16="http://schemas.microsoft.com/office/drawing/2014/main" id="{D5A59E03-149A-06D2-C433-86280449DF0E}"/>
                </a:ext>
              </a:extLst>
            </p:cNvPr>
            <p:cNvGrpSpPr/>
            <p:nvPr/>
          </p:nvGrpSpPr>
          <p:grpSpPr>
            <a:xfrm>
              <a:off x="2934744" y="4747651"/>
              <a:ext cx="488950" cy="409032"/>
              <a:chOff x="5105400" y="1694599"/>
              <a:chExt cx="488950" cy="409032"/>
            </a:xfrm>
          </p:grpSpPr>
          <p:sp>
            <p:nvSpPr>
              <p:cNvPr id="39" name="流程圖: 接點 38">
                <a:extLst>
                  <a:ext uri="{FF2B5EF4-FFF2-40B4-BE49-F238E27FC236}">
                    <a16:creationId xmlns:a16="http://schemas.microsoft.com/office/drawing/2014/main" id="{146E9AF3-DE9A-06EF-2C7D-985FE3F98E59}"/>
                  </a:ext>
                </a:extLst>
              </p:cNvPr>
              <p:cNvSpPr/>
              <p:nvPr/>
            </p:nvSpPr>
            <p:spPr>
              <a:xfrm>
                <a:off x="5130800" y="1694599"/>
                <a:ext cx="438150" cy="409032"/>
              </a:xfrm>
              <a:prstGeom prst="flowChartConnector">
                <a:avLst/>
              </a:prstGeom>
              <a:solidFill>
                <a:schemeClr val="accent4">
                  <a:lumMod val="60000"/>
                  <a:lumOff val="4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40" name="文字方塊 39">
                <a:extLst>
                  <a:ext uri="{FF2B5EF4-FFF2-40B4-BE49-F238E27FC236}">
                    <a16:creationId xmlns:a16="http://schemas.microsoft.com/office/drawing/2014/main" id="{77B295EB-04C9-3554-CF31-AB9860421500}"/>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同業</a:t>
                </a:r>
              </a:p>
            </p:txBody>
          </p:sp>
        </p:grpSp>
        <p:sp>
          <p:nvSpPr>
            <p:cNvPr id="59" name="矩形: 圓角 58">
              <a:extLst>
                <a:ext uri="{FF2B5EF4-FFF2-40B4-BE49-F238E27FC236}">
                  <a16:creationId xmlns:a16="http://schemas.microsoft.com/office/drawing/2014/main" id="{4706089B-F9A7-3B96-99F6-803DE03D729D}"/>
                </a:ext>
              </a:extLst>
            </p:cNvPr>
            <p:cNvSpPr/>
            <p:nvPr/>
          </p:nvSpPr>
          <p:spPr>
            <a:xfrm>
              <a:off x="3636773" y="2574339"/>
              <a:ext cx="1442579" cy="1233433"/>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41" name="群組 40">
              <a:extLst>
                <a:ext uri="{FF2B5EF4-FFF2-40B4-BE49-F238E27FC236}">
                  <a16:creationId xmlns:a16="http://schemas.microsoft.com/office/drawing/2014/main" id="{CE8ED50F-CD4D-B5BA-6832-FCBA9F6C90D8}"/>
                </a:ext>
              </a:extLst>
            </p:cNvPr>
            <p:cNvGrpSpPr/>
            <p:nvPr/>
          </p:nvGrpSpPr>
          <p:grpSpPr>
            <a:xfrm>
              <a:off x="3785636" y="3257596"/>
              <a:ext cx="1144852" cy="455414"/>
              <a:chOff x="3897205" y="1192803"/>
              <a:chExt cx="1144852" cy="455414"/>
            </a:xfrm>
            <a:solidFill>
              <a:schemeClr val="accent5"/>
            </a:solidFill>
          </p:grpSpPr>
          <p:sp>
            <p:nvSpPr>
              <p:cNvPr id="42" name="矩形: 圓角 41">
                <a:extLst>
                  <a:ext uri="{FF2B5EF4-FFF2-40B4-BE49-F238E27FC236}">
                    <a16:creationId xmlns:a16="http://schemas.microsoft.com/office/drawing/2014/main" id="{B603784D-5D1D-B3E1-42CE-5517E82600C0}"/>
                  </a:ext>
                </a:extLst>
              </p:cNvPr>
              <p:cNvSpPr/>
              <p:nvPr/>
            </p:nvSpPr>
            <p:spPr>
              <a:xfrm>
                <a:off x="3897205" y="1192803"/>
                <a:ext cx="1144852" cy="455414"/>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文字方塊 42">
                <a:extLst>
                  <a:ext uri="{FF2B5EF4-FFF2-40B4-BE49-F238E27FC236}">
                    <a16:creationId xmlns:a16="http://schemas.microsoft.com/office/drawing/2014/main" id="{D5400891-5806-2EE6-9063-585C792AA3CD}"/>
                  </a:ext>
                </a:extLst>
              </p:cNvPr>
              <p:cNvSpPr txBox="1"/>
              <p:nvPr/>
            </p:nvSpPr>
            <p:spPr>
              <a:xfrm>
                <a:off x="4146464" y="1221715"/>
                <a:ext cx="646331" cy="369332"/>
              </a:xfrm>
              <a:prstGeom prst="rect">
                <a:avLst/>
              </a:prstGeom>
              <a:grp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授權</a:t>
                </a:r>
              </a:p>
            </p:txBody>
          </p:sp>
        </p:grpSp>
        <p:grpSp>
          <p:nvGrpSpPr>
            <p:cNvPr id="44" name="群組 43">
              <a:extLst>
                <a:ext uri="{FF2B5EF4-FFF2-40B4-BE49-F238E27FC236}">
                  <a16:creationId xmlns:a16="http://schemas.microsoft.com/office/drawing/2014/main" id="{4108BA76-7C29-A66D-4DA3-20B33202811C}"/>
                </a:ext>
              </a:extLst>
            </p:cNvPr>
            <p:cNvGrpSpPr/>
            <p:nvPr/>
          </p:nvGrpSpPr>
          <p:grpSpPr>
            <a:xfrm>
              <a:off x="5204943" y="2996777"/>
              <a:ext cx="488950" cy="409032"/>
              <a:chOff x="5105400" y="1694599"/>
              <a:chExt cx="488950" cy="409032"/>
            </a:xfrm>
          </p:grpSpPr>
          <p:sp>
            <p:nvSpPr>
              <p:cNvPr id="45" name="流程圖: 接點 44">
                <a:extLst>
                  <a:ext uri="{FF2B5EF4-FFF2-40B4-BE49-F238E27FC236}">
                    <a16:creationId xmlns:a16="http://schemas.microsoft.com/office/drawing/2014/main" id="{8BB7CC0A-09C5-56C4-E432-AF484D03ECEE}"/>
                  </a:ext>
                </a:extLst>
              </p:cNvPr>
              <p:cNvSpPr/>
              <p:nvPr/>
            </p:nvSpPr>
            <p:spPr>
              <a:xfrm>
                <a:off x="5130800" y="1694599"/>
                <a:ext cx="438150" cy="409032"/>
              </a:xfrm>
              <a:prstGeom prst="flowChartConnector">
                <a:avLst/>
              </a:prstGeom>
              <a:ln>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46" name="文字方塊 45">
                <a:extLst>
                  <a:ext uri="{FF2B5EF4-FFF2-40B4-BE49-F238E27FC236}">
                    <a16:creationId xmlns:a16="http://schemas.microsoft.com/office/drawing/2014/main" id="{2CEB5863-BAA1-1223-0202-5131E5683812}"/>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旺來</a:t>
                </a:r>
              </a:p>
            </p:txBody>
          </p:sp>
        </p:grpSp>
        <p:sp>
          <p:nvSpPr>
            <p:cNvPr id="57" name="左中括弧 56">
              <a:extLst>
                <a:ext uri="{FF2B5EF4-FFF2-40B4-BE49-F238E27FC236}">
                  <a16:creationId xmlns:a16="http://schemas.microsoft.com/office/drawing/2014/main" id="{9C8AF75D-1CA4-FA70-221B-368F6ED2A7C1}"/>
                </a:ext>
              </a:extLst>
            </p:cNvPr>
            <p:cNvSpPr/>
            <p:nvPr/>
          </p:nvSpPr>
          <p:spPr>
            <a:xfrm>
              <a:off x="2458544" y="1965131"/>
              <a:ext cx="318878" cy="3399234"/>
            </a:xfrm>
            <a:prstGeom prst="leftBracket">
              <a:avLst/>
            </a:prstGeom>
            <a:ln>
              <a:tailEnd type="arrow"/>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zh-TW" altLang="en-US"/>
            </a:p>
          </p:txBody>
        </p:sp>
        <p:grpSp>
          <p:nvGrpSpPr>
            <p:cNvPr id="63" name="群組 62">
              <a:extLst>
                <a:ext uri="{FF2B5EF4-FFF2-40B4-BE49-F238E27FC236}">
                  <a16:creationId xmlns:a16="http://schemas.microsoft.com/office/drawing/2014/main" id="{8503C760-2D32-A9D8-E742-A27DACAFC04F}"/>
                </a:ext>
              </a:extLst>
            </p:cNvPr>
            <p:cNvGrpSpPr/>
            <p:nvPr/>
          </p:nvGrpSpPr>
          <p:grpSpPr>
            <a:xfrm>
              <a:off x="3785636" y="2671985"/>
              <a:ext cx="1144852" cy="455414"/>
              <a:chOff x="3897205" y="1192803"/>
              <a:chExt cx="1144852" cy="455414"/>
            </a:xfrm>
            <a:solidFill>
              <a:schemeClr val="accent5"/>
            </a:solidFill>
          </p:grpSpPr>
          <p:sp>
            <p:nvSpPr>
              <p:cNvPr id="64" name="矩形: 圓角 63">
                <a:extLst>
                  <a:ext uri="{FF2B5EF4-FFF2-40B4-BE49-F238E27FC236}">
                    <a16:creationId xmlns:a16="http://schemas.microsoft.com/office/drawing/2014/main" id="{A6CE1121-8A5E-D953-51BA-13AFF331021D}"/>
                  </a:ext>
                </a:extLst>
              </p:cNvPr>
              <p:cNvSpPr/>
              <p:nvPr/>
            </p:nvSpPr>
            <p:spPr>
              <a:xfrm>
                <a:off x="3897205" y="1192803"/>
                <a:ext cx="1144852" cy="455414"/>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文字方塊 64">
                <a:extLst>
                  <a:ext uri="{FF2B5EF4-FFF2-40B4-BE49-F238E27FC236}">
                    <a16:creationId xmlns:a16="http://schemas.microsoft.com/office/drawing/2014/main" id="{23C16675-E910-3C1F-82F7-5086F57BD7BD}"/>
                  </a:ext>
                </a:extLst>
              </p:cNvPr>
              <p:cNvSpPr txBox="1"/>
              <p:nvPr/>
            </p:nvSpPr>
            <p:spPr>
              <a:xfrm>
                <a:off x="4146464" y="1221715"/>
                <a:ext cx="646331" cy="369332"/>
              </a:xfrm>
              <a:prstGeom prst="rect">
                <a:avLst/>
              </a:prstGeom>
              <a:grp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容器</a:t>
                </a:r>
              </a:p>
            </p:txBody>
          </p:sp>
        </p:grpSp>
        <p:grpSp>
          <p:nvGrpSpPr>
            <p:cNvPr id="66" name="群組 65">
              <a:extLst>
                <a:ext uri="{FF2B5EF4-FFF2-40B4-BE49-F238E27FC236}">
                  <a16:creationId xmlns:a16="http://schemas.microsoft.com/office/drawing/2014/main" id="{D61758F4-5AA7-4898-C61E-9E2424329203}"/>
                </a:ext>
              </a:extLst>
            </p:cNvPr>
            <p:cNvGrpSpPr/>
            <p:nvPr/>
          </p:nvGrpSpPr>
          <p:grpSpPr>
            <a:xfrm>
              <a:off x="2967025" y="1303596"/>
              <a:ext cx="488950" cy="409032"/>
              <a:chOff x="5105400" y="1694599"/>
              <a:chExt cx="488950" cy="409032"/>
            </a:xfrm>
          </p:grpSpPr>
          <p:sp>
            <p:nvSpPr>
              <p:cNvPr id="67" name="流程圖: 接點 66">
                <a:extLst>
                  <a:ext uri="{FF2B5EF4-FFF2-40B4-BE49-F238E27FC236}">
                    <a16:creationId xmlns:a16="http://schemas.microsoft.com/office/drawing/2014/main" id="{5ADC8896-6980-BB8E-25CD-31CF70A66BD8}"/>
                  </a:ext>
                </a:extLst>
              </p:cNvPr>
              <p:cNvSpPr/>
              <p:nvPr/>
            </p:nvSpPr>
            <p:spPr>
              <a:xfrm>
                <a:off x="5130800" y="1694599"/>
                <a:ext cx="438150" cy="409032"/>
              </a:xfrm>
              <a:prstGeom prst="flowChartConnector">
                <a:avLst/>
              </a:prstGeom>
              <a:solidFill>
                <a:schemeClr val="accent4">
                  <a:lumMod val="60000"/>
                  <a:lumOff val="4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68" name="文字方塊 67">
                <a:extLst>
                  <a:ext uri="{FF2B5EF4-FFF2-40B4-BE49-F238E27FC236}">
                    <a16:creationId xmlns:a16="http://schemas.microsoft.com/office/drawing/2014/main" id="{6D2DD350-03D3-A58B-117F-6BA2CFAF6010}"/>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同業</a:t>
                </a:r>
              </a:p>
            </p:txBody>
          </p:sp>
        </p:grpSp>
      </p:grpSp>
      <p:graphicFrame>
        <p:nvGraphicFramePr>
          <p:cNvPr id="70" name="表格 69">
            <a:extLst>
              <a:ext uri="{FF2B5EF4-FFF2-40B4-BE49-F238E27FC236}">
                <a16:creationId xmlns:a16="http://schemas.microsoft.com/office/drawing/2014/main" id="{9E4C8627-0C62-2BA5-1FF9-837E169C44F5}"/>
              </a:ext>
            </a:extLst>
          </p:cNvPr>
          <p:cNvGraphicFramePr>
            <a:graphicFrameLocks noGrp="1"/>
          </p:cNvGraphicFramePr>
          <p:nvPr>
            <p:extLst>
              <p:ext uri="{D42A27DB-BD31-4B8C-83A1-F6EECF244321}">
                <p14:modId xmlns:p14="http://schemas.microsoft.com/office/powerpoint/2010/main" val="1150566548"/>
              </p:ext>
            </p:extLst>
          </p:nvPr>
        </p:nvGraphicFramePr>
        <p:xfrm>
          <a:off x="6481175" y="1674660"/>
          <a:ext cx="4525663" cy="1066800"/>
        </p:xfrm>
        <a:graphic>
          <a:graphicData uri="http://schemas.openxmlformats.org/drawingml/2006/table">
            <a:tbl>
              <a:tblPr/>
              <a:tblGrid>
                <a:gridCol w="1409700">
                  <a:extLst>
                    <a:ext uri="{9D8B030D-6E8A-4147-A177-3AD203B41FA5}">
                      <a16:colId xmlns:a16="http://schemas.microsoft.com/office/drawing/2014/main" val="206151738"/>
                    </a:ext>
                  </a:extLst>
                </a:gridCol>
                <a:gridCol w="948267">
                  <a:extLst>
                    <a:ext uri="{9D8B030D-6E8A-4147-A177-3AD203B41FA5}">
                      <a16:colId xmlns:a16="http://schemas.microsoft.com/office/drawing/2014/main" val="4163806530"/>
                    </a:ext>
                  </a:extLst>
                </a:gridCol>
                <a:gridCol w="948267">
                  <a:extLst>
                    <a:ext uri="{9D8B030D-6E8A-4147-A177-3AD203B41FA5}">
                      <a16:colId xmlns:a16="http://schemas.microsoft.com/office/drawing/2014/main" val="245439981"/>
                    </a:ext>
                  </a:extLst>
                </a:gridCol>
                <a:gridCol w="1219429">
                  <a:extLst>
                    <a:ext uri="{9D8B030D-6E8A-4147-A177-3AD203B41FA5}">
                      <a16:colId xmlns:a16="http://schemas.microsoft.com/office/drawing/2014/main" val="135549141"/>
                    </a:ext>
                  </a:extLst>
                </a:gridCol>
              </a:tblGrid>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分潤機制</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售價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rtl="0" fontAlgn="ctr">
                        <a:buNone/>
                      </a:pPr>
                      <a:r>
                        <a:rPr lang="zh-TW" altLang="en-US" sz="1600" b="1" i="0" u="none" strike="noStrike">
                          <a:solidFill>
                            <a:srgbClr val="000000"/>
                          </a:solidFill>
                          <a:effectLst/>
                          <a:latin typeface="微軟正黑體" panose="020B0604030504040204" pitchFamily="34" charset="-120"/>
                          <a:ea typeface="微軟正黑體" panose="020B0604030504040204" pitchFamily="34" charset="-120"/>
                        </a:rPr>
                        <a:t>同業</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旺來</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301850159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5975448"/>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1,300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700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2680208"/>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500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350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0338279"/>
                  </a:ext>
                </a:extLst>
              </a:tr>
            </a:tbl>
          </a:graphicData>
        </a:graphic>
      </p:graphicFrame>
      <p:graphicFrame>
        <p:nvGraphicFramePr>
          <p:cNvPr id="72" name="表格 71">
            <a:extLst>
              <a:ext uri="{FF2B5EF4-FFF2-40B4-BE49-F238E27FC236}">
                <a16:creationId xmlns:a16="http://schemas.microsoft.com/office/drawing/2014/main" id="{5479E246-516C-7C26-D508-C4659E788522}"/>
              </a:ext>
            </a:extLst>
          </p:cNvPr>
          <p:cNvGraphicFramePr>
            <a:graphicFrameLocks noGrp="1"/>
          </p:cNvGraphicFramePr>
          <p:nvPr>
            <p:extLst>
              <p:ext uri="{D42A27DB-BD31-4B8C-83A1-F6EECF244321}">
                <p14:modId xmlns:p14="http://schemas.microsoft.com/office/powerpoint/2010/main" val="3031493144"/>
              </p:ext>
            </p:extLst>
          </p:nvPr>
        </p:nvGraphicFramePr>
        <p:xfrm>
          <a:off x="6481175" y="3464483"/>
          <a:ext cx="4554018" cy="1748832"/>
        </p:xfrm>
        <a:graphic>
          <a:graphicData uri="http://schemas.openxmlformats.org/drawingml/2006/table">
            <a:tbl>
              <a:tblPr/>
              <a:tblGrid>
                <a:gridCol w="1436319">
                  <a:extLst>
                    <a:ext uri="{9D8B030D-6E8A-4147-A177-3AD203B41FA5}">
                      <a16:colId xmlns:a16="http://schemas.microsoft.com/office/drawing/2014/main" val="1041324463"/>
                    </a:ext>
                  </a:extLst>
                </a:gridCol>
                <a:gridCol w="1409091">
                  <a:extLst>
                    <a:ext uri="{9D8B030D-6E8A-4147-A177-3AD203B41FA5}">
                      <a16:colId xmlns:a16="http://schemas.microsoft.com/office/drawing/2014/main" val="3469723183"/>
                    </a:ext>
                  </a:extLst>
                </a:gridCol>
                <a:gridCol w="1708608">
                  <a:extLst>
                    <a:ext uri="{9D8B030D-6E8A-4147-A177-3AD203B41FA5}">
                      <a16:colId xmlns:a16="http://schemas.microsoft.com/office/drawing/2014/main" val="3214899351"/>
                    </a:ext>
                  </a:extLst>
                </a:gridCol>
              </a:tblGrid>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189939874"/>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90486452"/>
                  </a:ext>
                </a:extLst>
              </a:tr>
              <a:tr h="291472">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29945602"/>
                  </a:ext>
                </a:extLst>
              </a:tr>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年度</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216313751"/>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39855137"/>
                  </a:ext>
                </a:extLst>
              </a:tr>
              <a:tr h="291472">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3200531"/>
                  </a:ext>
                </a:extLst>
              </a:tr>
            </a:tbl>
          </a:graphicData>
        </a:graphic>
      </p:graphicFrame>
      <p:sp>
        <p:nvSpPr>
          <p:cNvPr id="26" name="文字方塊 25">
            <a:extLst>
              <a:ext uri="{FF2B5EF4-FFF2-40B4-BE49-F238E27FC236}">
                <a16:creationId xmlns:a16="http://schemas.microsoft.com/office/drawing/2014/main" id="{5777F5D1-1373-9658-183B-42023179C178}"/>
              </a:ext>
            </a:extLst>
          </p:cNvPr>
          <p:cNvSpPr txBox="1"/>
          <p:nvPr/>
        </p:nvSpPr>
        <p:spPr>
          <a:xfrm>
            <a:off x="6375964" y="5479458"/>
            <a:ext cx="3392275" cy="369332"/>
          </a:xfrm>
          <a:prstGeom prst="rect">
            <a:avLst/>
          </a:prstGeom>
          <a:noFill/>
        </p:spPr>
        <p:txBody>
          <a:bodyPr wrap="none" rtlCol="0">
            <a:spAutoFit/>
          </a:bodyPr>
          <a:lstStyle/>
          <a:p>
            <a:r>
              <a:rPr lang="en-US" altLang="zh-TW" b="1" dirty="0">
                <a:solidFill>
                  <a:srgbClr val="0000FF"/>
                </a:solidFill>
                <a:latin typeface="微軟正黑體" panose="020B0604030504040204" pitchFamily="34" charset="-120"/>
                <a:ea typeface="微軟正黑體" panose="020B0604030504040204" pitchFamily="34" charset="-120"/>
              </a:rPr>
              <a:t>3.</a:t>
            </a:r>
            <a:r>
              <a:rPr lang="zh-TW" altLang="en-US" b="1" dirty="0">
                <a:solidFill>
                  <a:srgbClr val="0000FF"/>
                </a:solidFill>
                <a:latin typeface="微軟正黑體" panose="020B0604030504040204" pitchFamily="34" charset="-120"/>
                <a:ea typeface="微軟正黑體" panose="020B0604030504040204" pitchFamily="34" charset="-120"/>
              </a:rPr>
              <a:t> 智取櫃</a:t>
            </a:r>
            <a:r>
              <a:rPr lang="en-US" altLang="zh-TW" b="1" dirty="0">
                <a:solidFill>
                  <a:srgbClr val="0000FF"/>
                </a:solidFill>
                <a:latin typeface="微軟正黑體" panose="020B0604030504040204" pitchFamily="34" charset="-120"/>
                <a:ea typeface="微軟正黑體" panose="020B0604030504040204" pitchFamily="34" charset="-120"/>
              </a:rPr>
              <a:t>55</a:t>
            </a:r>
            <a:r>
              <a:rPr lang="zh-TW" altLang="en-US" b="1" dirty="0">
                <a:solidFill>
                  <a:srgbClr val="0000FF"/>
                </a:solidFill>
                <a:latin typeface="微軟正黑體" panose="020B0604030504040204" pitchFamily="34" charset="-120"/>
                <a:ea typeface="微軟正黑體" panose="020B0604030504040204" pitchFamily="34" charset="-120"/>
              </a:rPr>
              <a:t>萬，每月租金</a:t>
            </a:r>
            <a:r>
              <a:rPr lang="en-US" altLang="zh-TW" b="1" dirty="0">
                <a:solidFill>
                  <a:srgbClr val="0000FF"/>
                </a:solidFill>
                <a:latin typeface="微軟正黑體" panose="020B0604030504040204" pitchFamily="34" charset="-120"/>
                <a:ea typeface="微軟正黑體" panose="020B0604030504040204" pitchFamily="34" charset="-120"/>
              </a:rPr>
              <a:t>2</a:t>
            </a:r>
            <a:r>
              <a:rPr lang="zh-TW" altLang="en-US" b="1" dirty="0">
                <a:solidFill>
                  <a:srgbClr val="0000FF"/>
                </a:solidFill>
                <a:latin typeface="微軟正黑體" panose="020B0604030504040204" pitchFamily="34" charset="-120"/>
                <a:ea typeface="微軟正黑體" panose="020B0604030504040204" pitchFamily="34" charset="-120"/>
              </a:rPr>
              <a:t>萬。</a:t>
            </a:r>
          </a:p>
        </p:txBody>
      </p:sp>
      <p:sp>
        <p:nvSpPr>
          <p:cNvPr id="27" name="文字方塊 26">
            <a:extLst>
              <a:ext uri="{FF2B5EF4-FFF2-40B4-BE49-F238E27FC236}">
                <a16:creationId xmlns:a16="http://schemas.microsoft.com/office/drawing/2014/main" id="{1DEABD9C-EA63-6435-CF09-16B1C084D0A4}"/>
              </a:ext>
            </a:extLst>
          </p:cNvPr>
          <p:cNvSpPr txBox="1"/>
          <p:nvPr/>
        </p:nvSpPr>
        <p:spPr>
          <a:xfrm>
            <a:off x="6375964" y="1247162"/>
            <a:ext cx="2113922" cy="369332"/>
          </a:xfrm>
          <a:prstGeom prst="rect">
            <a:avLst/>
          </a:prstGeom>
          <a:noFill/>
        </p:spPr>
        <p:txBody>
          <a:bodyPr wrap="square" rtlCol="0">
            <a:spAutoFit/>
          </a:bodyPr>
          <a:lstStyle/>
          <a:p>
            <a:r>
              <a:rPr lang="en-US" altLang="zh-TW" b="1" dirty="0">
                <a:latin typeface="+mj-ea"/>
                <a:ea typeface="+mj-ea"/>
              </a:rPr>
              <a:t>1. </a:t>
            </a:r>
            <a:r>
              <a:rPr lang="zh-TW" altLang="en-US" b="1" dirty="0">
                <a:latin typeface="+mj-ea"/>
                <a:ea typeface="+mj-ea"/>
              </a:rPr>
              <a:t>分潤機制</a:t>
            </a:r>
          </a:p>
        </p:txBody>
      </p:sp>
      <p:sp>
        <p:nvSpPr>
          <p:cNvPr id="29" name="文字方塊 28">
            <a:extLst>
              <a:ext uri="{FF2B5EF4-FFF2-40B4-BE49-F238E27FC236}">
                <a16:creationId xmlns:a16="http://schemas.microsoft.com/office/drawing/2014/main" id="{0CF9FCA7-ACAC-455E-96CA-333DE1E0F5F8}"/>
              </a:ext>
            </a:extLst>
          </p:cNvPr>
          <p:cNvSpPr txBox="1"/>
          <p:nvPr/>
        </p:nvSpPr>
        <p:spPr>
          <a:xfrm>
            <a:off x="6411325" y="3097310"/>
            <a:ext cx="2113922" cy="369332"/>
          </a:xfrm>
          <a:prstGeom prst="rect">
            <a:avLst/>
          </a:prstGeom>
          <a:noFill/>
        </p:spPr>
        <p:txBody>
          <a:bodyPr wrap="square" rtlCol="0">
            <a:spAutoFit/>
          </a:bodyPr>
          <a:lstStyle/>
          <a:p>
            <a:r>
              <a:rPr lang="en-US" altLang="zh-TW" b="1" dirty="0">
                <a:latin typeface="+mj-ea"/>
                <a:ea typeface="+mj-ea"/>
              </a:rPr>
              <a:t>2. </a:t>
            </a:r>
            <a:r>
              <a:rPr lang="zh-TW" altLang="en-US" b="1" dirty="0">
                <a:latin typeface="+mj-ea"/>
                <a:ea typeface="+mj-ea"/>
              </a:rPr>
              <a:t>新增會員數</a:t>
            </a:r>
          </a:p>
        </p:txBody>
      </p:sp>
    </p:spTree>
    <p:extLst>
      <p:ext uri="{BB962C8B-B14F-4D97-AF65-F5344CB8AC3E}">
        <p14:creationId xmlns:p14="http://schemas.microsoft.com/office/powerpoint/2010/main" val="3243564317"/>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74C3A-4E10-19DD-085E-B870EF6E9E57}"/>
            </a:ext>
          </a:extLst>
        </p:cNvPr>
        <p:cNvGrpSpPr/>
        <p:nvPr/>
      </p:nvGrpSpPr>
      <p:grpSpPr>
        <a:xfrm>
          <a:off x="0" y="0"/>
          <a:ext cx="0" cy="0"/>
          <a:chOff x="0" y="0"/>
          <a:chExt cx="0" cy="0"/>
        </a:xfrm>
      </p:grpSpPr>
      <p:sp>
        <p:nvSpPr>
          <p:cNvPr id="4" name="投影片編號版面配置區 1">
            <a:extLst>
              <a:ext uri="{FF2B5EF4-FFF2-40B4-BE49-F238E27FC236}">
                <a16:creationId xmlns:a16="http://schemas.microsoft.com/office/drawing/2014/main" id="{DBCEC7CA-D51B-C05C-0A0B-D1594ADA1A83}"/>
              </a:ext>
            </a:extLst>
          </p:cNvPr>
          <p:cNvSpPr>
            <a:spLocks noGrp="1"/>
          </p:cNvSpPr>
          <p:nvPr>
            <p:ph type="sldNum" sz="quarter" idx="12"/>
          </p:nvPr>
        </p:nvSpPr>
        <p:spPr>
          <a:xfrm>
            <a:off x="9443573" y="6484265"/>
            <a:ext cx="2743200" cy="365125"/>
          </a:xfrm>
        </p:spPr>
        <p:txBody>
          <a:bodyPr/>
          <a:lstStyle/>
          <a:p>
            <a:fld id="{2E95FD34-61D0-4C5A-B773-4E2676150C65}" type="slidenum">
              <a:rPr lang="zh-TW" altLang="en-US" smtClean="0"/>
              <a:t>11</a:t>
            </a:fld>
            <a:endParaRPr lang="zh-TW" altLang="en-US" dirty="0"/>
          </a:p>
        </p:txBody>
      </p:sp>
      <p:sp>
        <p:nvSpPr>
          <p:cNvPr id="28" name="文字方塊 27">
            <a:extLst>
              <a:ext uri="{FF2B5EF4-FFF2-40B4-BE49-F238E27FC236}">
                <a16:creationId xmlns:a16="http://schemas.microsoft.com/office/drawing/2014/main" id="{08AFB228-6777-8C6D-4A79-60654AB3115C}"/>
              </a:ext>
            </a:extLst>
          </p:cNvPr>
          <p:cNvSpPr txBox="1"/>
          <p:nvPr/>
        </p:nvSpPr>
        <p:spPr>
          <a:xfrm>
            <a:off x="161153" y="354569"/>
            <a:ext cx="9386884" cy="646331"/>
          </a:xfrm>
          <a:prstGeom prst="rect">
            <a:avLst/>
          </a:prstGeom>
          <a:noFill/>
        </p:spPr>
        <p:txBody>
          <a:bodyPr wrap="square" lIns="91440" tIns="45720" rIns="91440" bIns="45720" anchor="t">
            <a:spAutoFit/>
          </a:bodyPr>
          <a:lstStyle/>
          <a:p>
            <a:r>
              <a:rPr lang="zh-TW" altLang="en-US" sz="3600" b="1" dirty="0">
                <a:latin typeface="微軟正黑體"/>
                <a:ea typeface="微軟正黑體"/>
              </a:rPr>
              <a:t>合作模組</a:t>
            </a:r>
            <a:r>
              <a:rPr lang="en-US" altLang="zh-TW" sz="3600" b="1" dirty="0">
                <a:latin typeface="微軟正黑體"/>
                <a:ea typeface="微軟正黑體"/>
              </a:rPr>
              <a:t>2_</a:t>
            </a:r>
            <a:r>
              <a:rPr lang="zh-TW" altLang="en-US" sz="3600" b="1" dirty="0">
                <a:latin typeface="微軟正黑體"/>
                <a:ea typeface="微軟正黑體"/>
              </a:rPr>
              <a:t>試算</a:t>
            </a:r>
          </a:p>
        </p:txBody>
      </p:sp>
      <p:graphicFrame>
        <p:nvGraphicFramePr>
          <p:cNvPr id="95" name="表格 94">
            <a:extLst>
              <a:ext uri="{FF2B5EF4-FFF2-40B4-BE49-F238E27FC236}">
                <a16:creationId xmlns:a16="http://schemas.microsoft.com/office/drawing/2014/main" id="{05CBC9A5-BFE5-72D5-C6DE-29803168A892}"/>
              </a:ext>
            </a:extLst>
          </p:cNvPr>
          <p:cNvGraphicFramePr>
            <a:graphicFrameLocks noGrp="1"/>
          </p:cNvGraphicFramePr>
          <p:nvPr>
            <p:extLst>
              <p:ext uri="{D42A27DB-BD31-4B8C-83A1-F6EECF244321}">
                <p14:modId xmlns:p14="http://schemas.microsoft.com/office/powerpoint/2010/main" val="4219052570"/>
              </p:ext>
            </p:extLst>
          </p:nvPr>
        </p:nvGraphicFramePr>
        <p:xfrm>
          <a:off x="492902" y="1462447"/>
          <a:ext cx="5043114" cy="1066800"/>
        </p:xfrm>
        <a:graphic>
          <a:graphicData uri="http://schemas.openxmlformats.org/drawingml/2006/table">
            <a:tbl>
              <a:tblPr/>
              <a:tblGrid>
                <a:gridCol w="1641813">
                  <a:extLst>
                    <a:ext uri="{9D8B030D-6E8A-4147-A177-3AD203B41FA5}">
                      <a16:colId xmlns:a16="http://schemas.microsoft.com/office/drawing/2014/main" val="1036956543"/>
                    </a:ext>
                  </a:extLst>
                </a:gridCol>
                <a:gridCol w="1133767">
                  <a:extLst>
                    <a:ext uri="{9D8B030D-6E8A-4147-A177-3AD203B41FA5}">
                      <a16:colId xmlns:a16="http://schemas.microsoft.com/office/drawing/2014/main" val="3549043433"/>
                    </a:ext>
                  </a:extLst>
                </a:gridCol>
                <a:gridCol w="1133767">
                  <a:extLst>
                    <a:ext uri="{9D8B030D-6E8A-4147-A177-3AD203B41FA5}">
                      <a16:colId xmlns:a16="http://schemas.microsoft.com/office/drawing/2014/main" val="729367603"/>
                    </a:ext>
                  </a:extLst>
                </a:gridCol>
                <a:gridCol w="1133767">
                  <a:extLst>
                    <a:ext uri="{9D8B030D-6E8A-4147-A177-3AD203B41FA5}">
                      <a16:colId xmlns:a16="http://schemas.microsoft.com/office/drawing/2014/main" val="4292039747"/>
                    </a:ext>
                  </a:extLst>
                </a:gridCol>
              </a:tblGrid>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分潤機制</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售價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同業</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旺來</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2455550625"/>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838521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1,300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700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55219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500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350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689328"/>
                  </a:ext>
                </a:extLst>
              </a:tr>
            </a:tbl>
          </a:graphicData>
        </a:graphic>
      </p:graphicFrame>
      <p:graphicFrame>
        <p:nvGraphicFramePr>
          <p:cNvPr id="5" name="表格 4">
            <a:extLst>
              <a:ext uri="{FF2B5EF4-FFF2-40B4-BE49-F238E27FC236}">
                <a16:creationId xmlns:a16="http://schemas.microsoft.com/office/drawing/2014/main" id="{4362EB54-C2F9-67EA-6F32-235B401004E8}"/>
              </a:ext>
            </a:extLst>
          </p:cNvPr>
          <p:cNvGraphicFramePr>
            <a:graphicFrameLocks noGrp="1"/>
          </p:cNvGraphicFramePr>
          <p:nvPr>
            <p:extLst>
              <p:ext uri="{D42A27DB-BD31-4B8C-83A1-F6EECF244321}">
                <p14:modId xmlns:p14="http://schemas.microsoft.com/office/powerpoint/2010/main" val="1226738708"/>
              </p:ext>
            </p:extLst>
          </p:nvPr>
        </p:nvGraphicFramePr>
        <p:xfrm>
          <a:off x="490328" y="3080047"/>
          <a:ext cx="5045688" cy="2116116"/>
        </p:xfrm>
        <a:graphic>
          <a:graphicData uri="http://schemas.openxmlformats.org/drawingml/2006/table">
            <a:tbl>
              <a:tblPr/>
              <a:tblGrid>
                <a:gridCol w="1681896">
                  <a:extLst>
                    <a:ext uri="{9D8B030D-6E8A-4147-A177-3AD203B41FA5}">
                      <a16:colId xmlns:a16="http://schemas.microsoft.com/office/drawing/2014/main" val="1041324463"/>
                    </a:ext>
                  </a:extLst>
                </a:gridCol>
                <a:gridCol w="1681896">
                  <a:extLst>
                    <a:ext uri="{9D8B030D-6E8A-4147-A177-3AD203B41FA5}">
                      <a16:colId xmlns:a16="http://schemas.microsoft.com/office/drawing/2014/main" val="3469723183"/>
                    </a:ext>
                  </a:extLst>
                </a:gridCol>
                <a:gridCol w="1681896">
                  <a:extLst>
                    <a:ext uri="{9D8B030D-6E8A-4147-A177-3AD203B41FA5}">
                      <a16:colId xmlns:a16="http://schemas.microsoft.com/office/drawing/2014/main" val="3214899351"/>
                    </a:ext>
                  </a:extLst>
                </a:gridCol>
              </a:tblGrid>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189939874"/>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90486452"/>
                  </a:ext>
                </a:extLst>
              </a:tr>
              <a:tr h="291472">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29945602"/>
                  </a:ext>
                </a:extLst>
              </a:tr>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年度</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216313751"/>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39855137"/>
                  </a:ext>
                </a:extLst>
              </a:tr>
              <a:tr h="367284">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3200531"/>
                  </a:ext>
                </a:extLst>
              </a:tr>
              <a:tr h="291472">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總桶數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720</a:t>
                      </a:r>
                    </a:p>
                  </a:txBody>
                  <a:tcPr marL="7620" marR="7620" marT="7620" marB="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2,448</a:t>
                      </a:r>
                    </a:p>
                  </a:txBody>
                  <a:tcPr marL="7620" marR="7620" marT="7620" marB="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923901019"/>
                  </a:ext>
                </a:extLst>
              </a:tr>
            </a:tbl>
          </a:graphicData>
        </a:graphic>
      </p:graphicFrame>
      <p:graphicFrame>
        <p:nvGraphicFramePr>
          <p:cNvPr id="6" name="表格 5">
            <a:extLst>
              <a:ext uri="{FF2B5EF4-FFF2-40B4-BE49-F238E27FC236}">
                <a16:creationId xmlns:a16="http://schemas.microsoft.com/office/drawing/2014/main" id="{3C3FE549-E520-CC9C-1C34-B3A5E9232BBC}"/>
              </a:ext>
            </a:extLst>
          </p:cNvPr>
          <p:cNvGraphicFramePr>
            <a:graphicFrameLocks noGrp="1"/>
          </p:cNvGraphicFramePr>
          <p:nvPr>
            <p:extLst>
              <p:ext uri="{D42A27DB-BD31-4B8C-83A1-F6EECF244321}">
                <p14:modId xmlns:p14="http://schemas.microsoft.com/office/powerpoint/2010/main" val="1804974593"/>
              </p:ext>
            </p:extLst>
          </p:nvPr>
        </p:nvGraphicFramePr>
        <p:xfrm>
          <a:off x="6096000" y="1462447"/>
          <a:ext cx="6006093" cy="1453215"/>
        </p:xfrm>
        <a:graphic>
          <a:graphicData uri="http://schemas.openxmlformats.org/drawingml/2006/table">
            <a:tbl>
              <a:tblPr/>
              <a:tblGrid>
                <a:gridCol w="1052546">
                  <a:extLst>
                    <a:ext uri="{9D8B030D-6E8A-4147-A177-3AD203B41FA5}">
                      <a16:colId xmlns:a16="http://schemas.microsoft.com/office/drawing/2014/main" val="3154134444"/>
                    </a:ext>
                  </a:extLst>
                </a:gridCol>
                <a:gridCol w="835459">
                  <a:extLst>
                    <a:ext uri="{9D8B030D-6E8A-4147-A177-3AD203B41FA5}">
                      <a16:colId xmlns:a16="http://schemas.microsoft.com/office/drawing/2014/main" val="3740597211"/>
                    </a:ext>
                  </a:extLst>
                </a:gridCol>
                <a:gridCol w="588108">
                  <a:extLst>
                    <a:ext uri="{9D8B030D-6E8A-4147-A177-3AD203B41FA5}">
                      <a16:colId xmlns:a16="http://schemas.microsoft.com/office/drawing/2014/main" val="1416288873"/>
                    </a:ext>
                  </a:extLst>
                </a:gridCol>
                <a:gridCol w="882495">
                  <a:extLst>
                    <a:ext uri="{9D8B030D-6E8A-4147-A177-3AD203B41FA5}">
                      <a16:colId xmlns:a16="http://schemas.microsoft.com/office/drawing/2014/main" val="1985614780"/>
                    </a:ext>
                  </a:extLst>
                </a:gridCol>
                <a:gridCol w="882495">
                  <a:extLst>
                    <a:ext uri="{9D8B030D-6E8A-4147-A177-3AD203B41FA5}">
                      <a16:colId xmlns:a16="http://schemas.microsoft.com/office/drawing/2014/main" val="3094271731"/>
                    </a:ext>
                  </a:extLst>
                </a:gridCol>
                <a:gridCol w="882495">
                  <a:extLst>
                    <a:ext uri="{9D8B030D-6E8A-4147-A177-3AD203B41FA5}">
                      <a16:colId xmlns:a16="http://schemas.microsoft.com/office/drawing/2014/main" val="4193431359"/>
                    </a:ext>
                  </a:extLst>
                </a:gridCol>
                <a:gridCol w="882495">
                  <a:extLst>
                    <a:ext uri="{9D8B030D-6E8A-4147-A177-3AD203B41FA5}">
                      <a16:colId xmlns:a16="http://schemas.microsoft.com/office/drawing/2014/main" val="2951566018"/>
                    </a:ext>
                  </a:extLst>
                </a:gridCol>
              </a:tblGrid>
              <a:tr h="229135">
                <a:tc>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gridSpan="3">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tc gridSpan="3">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63036991"/>
                  </a:ext>
                </a:extLst>
              </a:tr>
              <a:tr h="452455">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案型</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86888506"/>
                  </a:ext>
                </a:extLst>
              </a:tr>
              <a:tr h="244256">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總計</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216,000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zh-TW" altLang="en-US" sz="1400" b="0" i="0" u="none" strike="noStrike" dirty="0">
                          <a:solidFill>
                            <a:srgbClr val="000000"/>
                          </a:solidFill>
                          <a:effectLst/>
                          <a:latin typeface="微軟正黑體" panose="020B0604030504040204" pitchFamily="34" charset="-120"/>
                          <a:ea typeface="微軟正黑體" panose="020B0604030504040204" pitchFamily="34" charset="-120"/>
                        </a:rPr>
                        <a:t>０</a:t>
                      </a:r>
                      <a:endPar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360,000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540,000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140,400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1,224,000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7433182"/>
                  </a:ext>
                </a:extLst>
              </a:tr>
              <a:tr h="244256">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同業分潤</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72,000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252,000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180,000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64,800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856,800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0112684"/>
                  </a:ext>
                </a:extLst>
              </a:tr>
              <a:tr h="244256">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旺來分潤</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144,000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108,000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360,000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75,600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367,200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4419857"/>
                  </a:ext>
                </a:extLst>
              </a:tr>
            </a:tbl>
          </a:graphicData>
        </a:graphic>
      </p:graphicFrame>
      <p:sp>
        <p:nvSpPr>
          <p:cNvPr id="8" name="文字方塊 7">
            <a:extLst>
              <a:ext uri="{FF2B5EF4-FFF2-40B4-BE49-F238E27FC236}">
                <a16:creationId xmlns:a16="http://schemas.microsoft.com/office/drawing/2014/main" id="{780C6694-3D4C-2854-718D-94130E2F7233}"/>
              </a:ext>
            </a:extLst>
          </p:cNvPr>
          <p:cNvSpPr txBox="1"/>
          <p:nvPr/>
        </p:nvSpPr>
        <p:spPr>
          <a:xfrm>
            <a:off x="6096000" y="3225952"/>
            <a:ext cx="4968027" cy="1893724"/>
          </a:xfrm>
          <a:prstGeom prst="rect">
            <a:avLst/>
          </a:prstGeom>
          <a:noFill/>
        </p:spPr>
        <p:txBody>
          <a:bodyPr wrap="none" rtlCol="0">
            <a:spAutoFit/>
          </a:bodyPr>
          <a:lstStyle/>
          <a:p>
            <a:pPr>
              <a:lnSpc>
                <a:spcPct val="150000"/>
              </a:lnSpc>
            </a:pPr>
            <a:r>
              <a:rPr lang="zh-TW" altLang="en-US" sz="1600" dirty="0">
                <a:solidFill>
                  <a:srgbClr val="0000FF"/>
                </a:solidFill>
                <a:latin typeface="微軟正黑體" panose="020B0604030504040204" pitchFamily="34" charset="-120"/>
                <a:ea typeface="微軟正黑體" panose="020B0604030504040204" pitchFamily="34" charset="-120"/>
              </a:rPr>
              <a:t>說明：</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600" dirty="0">
                <a:solidFill>
                  <a:srgbClr val="0000FF"/>
                </a:solidFill>
                <a:latin typeface="微軟正黑體" panose="020B0604030504040204" pitchFamily="34" charset="-120"/>
                <a:ea typeface="微軟正黑體" panose="020B0604030504040204" pitchFamily="34" charset="-120"/>
              </a:rPr>
              <a:t>第</a:t>
            </a:r>
            <a:r>
              <a:rPr lang="en-US" altLang="zh-TW" sz="1600" dirty="0">
                <a:solidFill>
                  <a:srgbClr val="0000FF"/>
                </a:solidFill>
                <a:latin typeface="微軟正黑體" panose="020B0604030504040204" pitchFamily="34" charset="-120"/>
                <a:ea typeface="微軟正黑體" panose="020B0604030504040204" pitchFamily="34" charset="-120"/>
              </a:rPr>
              <a:t>1</a:t>
            </a:r>
            <a:r>
              <a:rPr lang="zh-TW" altLang="en-US" sz="1600" dirty="0">
                <a:solidFill>
                  <a:srgbClr val="0000FF"/>
                </a:solidFill>
                <a:latin typeface="微軟正黑體" panose="020B0604030504040204" pitchFamily="34" charset="-120"/>
                <a:ea typeface="微軟正黑體" panose="020B0604030504040204" pitchFamily="34" charset="-120"/>
              </a:rPr>
              <a:t>年新會員數</a:t>
            </a:r>
            <a:r>
              <a:rPr lang="en-US" altLang="zh-TW" sz="1600" dirty="0">
                <a:solidFill>
                  <a:srgbClr val="0000FF"/>
                </a:solidFill>
                <a:latin typeface="微軟正黑體" panose="020B0604030504040204" pitchFamily="34" charset="-120"/>
                <a:ea typeface="微軟正黑體" panose="020B0604030504040204" pitchFamily="34" charset="-120"/>
              </a:rPr>
              <a:t>120</a:t>
            </a:r>
            <a:r>
              <a:rPr lang="zh-TW" altLang="en-US" sz="1600" dirty="0">
                <a:solidFill>
                  <a:srgbClr val="0000FF"/>
                </a:solidFill>
                <a:latin typeface="微軟正黑體" panose="020B0604030504040204" pitchFamily="34" charset="-120"/>
                <a:ea typeface="微軟正黑體" panose="020B0604030504040204" pitchFamily="34" charset="-120"/>
              </a:rPr>
              <a:t>人，第二年新會員數</a:t>
            </a:r>
            <a:r>
              <a:rPr lang="en-US" altLang="zh-TW" sz="1600" dirty="0">
                <a:solidFill>
                  <a:srgbClr val="0000FF"/>
                </a:solidFill>
                <a:latin typeface="微軟正黑體" panose="020B0604030504040204" pitchFamily="34" charset="-120"/>
                <a:ea typeface="微軟正黑體" panose="020B0604030504040204" pitchFamily="34" charset="-120"/>
              </a:rPr>
              <a:t>300</a:t>
            </a:r>
            <a:r>
              <a:rPr lang="zh-TW" altLang="en-US" sz="1600" dirty="0">
                <a:solidFill>
                  <a:srgbClr val="0000FF"/>
                </a:solidFill>
                <a:latin typeface="微軟正黑體" panose="020B0604030504040204" pitchFamily="34" charset="-120"/>
                <a:ea typeface="微軟正黑體" panose="020B0604030504040204" pitchFamily="34" charset="-120"/>
              </a:rPr>
              <a:t>人</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600" dirty="0">
                <a:solidFill>
                  <a:srgbClr val="0000FF"/>
                </a:solidFill>
                <a:latin typeface="微軟正黑體" panose="020B0604030504040204" pitchFamily="34" charset="-120"/>
                <a:ea typeface="微軟正黑體" panose="020B0604030504040204" pitchFamily="34" charset="-120"/>
              </a:rPr>
              <a:t>智取櫃櫃體</a:t>
            </a:r>
            <a:r>
              <a:rPr lang="en-US" altLang="zh-TW" sz="1600" dirty="0">
                <a:solidFill>
                  <a:srgbClr val="0000FF"/>
                </a:solidFill>
                <a:latin typeface="微軟正黑體" panose="020B0604030504040204" pitchFamily="34" charset="-120"/>
                <a:ea typeface="微軟正黑體" panose="020B0604030504040204" pitchFamily="34" charset="-120"/>
              </a:rPr>
              <a:t>55</a:t>
            </a:r>
            <a:r>
              <a:rPr lang="zh-TW" altLang="en-US" sz="1600" dirty="0">
                <a:solidFill>
                  <a:srgbClr val="0000FF"/>
                </a:solidFill>
                <a:latin typeface="微軟正黑體" panose="020B0604030504040204" pitchFamily="34" charset="-120"/>
                <a:ea typeface="微軟正黑體" panose="020B0604030504040204" pitchFamily="34" charset="-120"/>
              </a:rPr>
              <a:t>萬，場地租金每月</a:t>
            </a: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萬，</a:t>
            </a: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年合計</a:t>
            </a:r>
            <a:r>
              <a:rPr lang="en-US" altLang="zh-TW" sz="1600" dirty="0">
                <a:solidFill>
                  <a:srgbClr val="0000FF"/>
                </a:solidFill>
                <a:latin typeface="微軟正黑體" panose="020B0604030504040204" pitchFamily="34" charset="-120"/>
                <a:ea typeface="微軟正黑體" panose="020B0604030504040204" pitchFamily="34" charset="-120"/>
              </a:rPr>
              <a:t>48</a:t>
            </a:r>
            <a:r>
              <a:rPr lang="zh-TW" altLang="en-US" sz="1600" dirty="0">
                <a:solidFill>
                  <a:srgbClr val="0000FF"/>
                </a:solidFill>
                <a:latin typeface="微軟正黑體" panose="020B0604030504040204" pitchFamily="34" charset="-120"/>
                <a:ea typeface="微軟正黑體" panose="020B0604030504040204" pitchFamily="34" charset="-120"/>
              </a:rPr>
              <a:t>萬</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年同業總收入</a:t>
            </a:r>
            <a:r>
              <a:rPr lang="en-US" altLang="zh-TW" sz="1600" dirty="0">
                <a:solidFill>
                  <a:srgbClr val="0000FF"/>
                </a:solidFill>
                <a:latin typeface="微軟正黑體" panose="020B0604030504040204" pitchFamily="34" charset="-120"/>
                <a:ea typeface="微軟正黑體" panose="020B0604030504040204" pitchFamily="34" charset="-120"/>
              </a:rPr>
              <a:t>=142.56</a:t>
            </a:r>
            <a:r>
              <a:rPr lang="zh-TW" altLang="en-US" sz="1600" dirty="0">
                <a:solidFill>
                  <a:srgbClr val="0000FF"/>
                </a:solidFill>
                <a:latin typeface="微軟正黑體" panose="020B0604030504040204" pitchFamily="34" charset="-120"/>
                <a:ea typeface="微軟正黑體" panose="020B0604030504040204" pitchFamily="34" charset="-120"/>
              </a:rPr>
              <a:t>萬</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年同業獲利</a:t>
            </a:r>
            <a:r>
              <a:rPr lang="en-US" altLang="zh-TW" sz="1600" dirty="0">
                <a:solidFill>
                  <a:srgbClr val="0000FF"/>
                </a:solidFill>
                <a:latin typeface="微軟正黑體" panose="020B0604030504040204" pitchFamily="34" charset="-120"/>
                <a:ea typeface="微軟正黑體" panose="020B0604030504040204" pitchFamily="34" charset="-120"/>
              </a:rPr>
              <a:t>=1,425,600-550,000=87.56</a:t>
            </a:r>
            <a:r>
              <a:rPr lang="zh-TW" altLang="en-US" sz="1600" dirty="0">
                <a:solidFill>
                  <a:srgbClr val="0000FF"/>
                </a:solidFill>
                <a:latin typeface="微軟正黑體" panose="020B0604030504040204" pitchFamily="34" charset="-120"/>
                <a:ea typeface="微軟正黑體" panose="020B0604030504040204" pitchFamily="34" charset="-120"/>
              </a:rPr>
              <a:t>萬</a:t>
            </a:r>
            <a:endParaRPr lang="en-US" altLang="zh-TW" sz="1600" dirty="0">
              <a:solidFill>
                <a:srgbClr val="0000FF"/>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413671650"/>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4DE99-BF6B-268E-615A-EC1CBE913BFC}"/>
            </a:ext>
          </a:extLst>
        </p:cNvPr>
        <p:cNvGrpSpPr/>
        <p:nvPr/>
      </p:nvGrpSpPr>
      <p:grpSpPr>
        <a:xfrm>
          <a:off x="0" y="0"/>
          <a:ext cx="0" cy="0"/>
          <a:chOff x="0" y="0"/>
          <a:chExt cx="0" cy="0"/>
        </a:xfrm>
      </p:grpSpPr>
      <p:sp>
        <p:nvSpPr>
          <p:cNvPr id="4" name="投影片編號版面配置區 1">
            <a:extLst>
              <a:ext uri="{FF2B5EF4-FFF2-40B4-BE49-F238E27FC236}">
                <a16:creationId xmlns:a16="http://schemas.microsoft.com/office/drawing/2014/main" id="{F74E48F5-B10E-C37E-73E9-059BAE360EAA}"/>
              </a:ext>
            </a:extLst>
          </p:cNvPr>
          <p:cNvSpPr>
            <a:spLocks noGrp="1"/>
          </p:cNvSpPr>
          <p:nvPr>
            <p:ph type="sldNum" sz="quarter" idx="12"/>
          </p:nvPr>
        </p:nvSpPr>
        <p:spPr>
          <a:xfrm>
            <a:off x="9443573" y="6484265"/>
            <a:ext cx="2743200" cy="365125"/>
          </a:xfrm>
        </p:spPr>
        <p:txBody>
          <a:bodyPr/>
          <a:lstStyle/>
          <a:p>
            <a:fld id="{2E95FD34-61D0-4C5A-B773-4E2676150C65}" type="slidenum">
              <a:rPr lang="zh-TW" altLang="en-US" smtClean="0"/>
              <a:t>12</a:t>
            </a:fld>
            <a:endParaRPr lang="zh-TW" altLang="en-US"/>
          </a:p>
        </p:txBody>
      </p:sp>
      <p:sp>
        <p:nvSpPr>
          <p:cNvPr id="28" name="文字方塊 27">
            <a:extLst>
              <a:ext uri="{FF2B5EF4-FFF2-40B4-BE49-F238E27FC236}">
                <a16:creationId xmlns:a16="http://schemas.microsoft.com/office/drawing/2014/main" id="{5702E0A7-B338-14F4-B791-B2323937E570}"/>
              </a:ext>
            </a:extLst>
          </p:cNvPr>
          <p:cNvSpPr txBox="1"/>
          <p:nvPr/>
        </p:nvSpPr>
        <p:spPr>
          <a:xfrm>
            <a:off x="161153" y="354569"/>
            <a:ext cx="9386884" cy="646331"/>
          </a:xfrm>
          <a:prstGeom prst="rect">
            <a:avLst/>
          </a:prstGeom>
          <a:noFill/>
        </p:spPr>
        <p:txBody>
          <a:bodyPr wrap="square" lIns="91440" tIns="45720" rIns="91440" bIns="45720" anchor="t">
            <a:spAutoFit/>
          </a:bodyPr>
          <a:lstStyle/>
          <a:p>
            <a:r>
              <a:rPr lang="zh-TW" altLang="en-US" sz="3600" b="1" dirty="0">
                <a:latin typeface="微軟正黑體"/>
                <a:ea typeface="微軟正黑體"/>
              </a:rPr>
              <a:t>合作模組</a:t>
            </a:r>
            <a:r>
              <a:rPr lang="en-US" altLang="zh-TW" sz="3600" b="1" dirty="0">
                <a:latin typeface="微軟正黑體"/>
                <a:ea typeface="微軟正黑體"/>
              </a:rPr>
              <a:t>3</a:t>
            </a:r>
            <a:endParaRPr lang="zh-TW" altLang="en-US" sz="3600" b="1" dirty="0">
              <a:latin typeface="微軟正黑體"/>
              <a:ea typeface="微軟正黑體"/>
            </a:endParaRPr>
          </a:p>
        </p:txBody>
      </p:sp>
      <p:grpSp>
        <p:nvGrpSpPr>
          <p:cNvPr id="115" name="群組 114">
            <a:extLst>
              <a:ext uri="{FF2B5EF4-FFF2-40B4-BE49-F238E27FC236}">
                <a16:creationId xmlns:a16="http://schemas.microsoft.com/office/drawing/2014/main" id="{E7DE92E4-9DFC-323B-8096-28533D0F4CE7}"/>
              </a:ext>
            </a:extLst>
          </p:cNvPr>
          <p:cNvGrpSpPr/>
          <p:nvPr/>
        </p:nvGrpSpPr>
        <p:grpSpPr>
          <a:xfrm>
            <a:off x="563294" y="1237057"/>
            <a:ext cx="4979890" cy="4732994"/>
            <a:chOff x="767788" y="1156187"/>
            <a:chExt cx="4979890" cy="4732994"/>
          </a:xfrm>
        </p:grpSpPr>
        <p:sp>
          <p:nvSpPr>
            <p:cNvPr id="106" name="矩形: 圓角 105">
              <a:extLst>
                <a:ext uri="{FF2B5EF4-FFF2-40B4-BE49-F238E27FC236}">
                  <a16:creationId xmlns:a16="http://schemas.microsoft.com/office/drawing/2014/main" id="{ECC97395-5B18-4A6C-500A-6EA2090216D2}"/>
                </a:ext>
              </a:extLst>
            </p:cNvPr>
            <p:cNvSpPr/>
            <p:nvPr/>
          </p:nvSpPr>
          <p:spPr>
            <a:xfrm>
              <a:off x="3636070" y="2554326"/>
              <a:ext cx="1442579" cy="1233433"/>
            </a:xfrm>
            <a:prstGeom prst="round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24" name="群組 23">
              <a:extLst>
                <a:ext uri="{FF2B5EF4-FFF2-40B4-BE49-F238E27FC236}">
                  <a16:creationId xmlns:a16="http://schemas.microsoft.com/office/drawing/2014/main" id="{CAA527BF-EE18-959E-9ADB-E23AD08D0661}"/>
                </a:ext>
              </a:extLst>
            </p:cNvPr>
            <p:cNvGrpSpPr/>
            <p:nvPr/>
          </p:nvGrpSpPr>
          <p:grpSpPr>
            <a:xfrm>
              <a:off x="5258728" y="2982307"/>
              <a:ext cx="488950" cy="409032"/>
              <a:chOff x="5105400" y="1694599"/>
              <a:chExt cx="488950" cy="409032"/>
            </a:xfrm>
          </p:grpSpPr>
          <p:sp>
            <p:nvSpPr>
              <p:cNvPr id="22" name="流程圖: 接點 21">
                <a:extLst>
                  <a:ext uri="{FF2B5EF4-FFF2-40B4-BE49-F238E27FC236}">
                    <a16:creationId xmlns:a16="http://schemas.microsoft.com/office/drawing/2014/main" id="{C6FFA136-FC7B-1656-ECA8-DFB65734968F}"/>
                  </a:ext>
                </a:extLst>
              </p:cNvPr>
              <p:cNvSpPr/>
              <p:nvPr/>
            </p:nvSpPr>
            <p:spPr>
              <a:xfrm>
                <a:off x="5130800" y="1694599"/>
                <a:ext cx="438150" cy="409032"/>
              </a:xfrm>
              <a:prstGeom prst="flowChartConnector">
                <a:avLst/>
              </a:prstGeom>
              <a:ln>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id="{2D5A128D-4B3D-FBF5-6DFF-335834CC9E04}"/>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旺來</a:t>
                </a:r>
              </a:p>
            </p:txBody>
          </p:sp>
        </p:grpSp>
        <p:grpSp>
          <p:nvGrpSpPr>
            <p:cNvPr id="29" name="群組 28">
              <a:extLst>
                <a:ext uri="{FF2B5EF4-FFF2-40B4-BE49-F238E27FC236}">
                  <a16:creationId xmlns:a16="http://schemas.microsoft.com/office/drawing/2014/main" id="{28D7F783-8C5B-D74B-B7DD-6909506FEBAE}"/>
                </a:ext>
              </a:extLst>
            </p:cNvPr>
            <p:cNvGrpSpPr/>
            <p:nvPr/>
          </p:nvGrpSpPr>
          <p:grpSpPr>
            <a:xfrm>
              <a:off x="3002439" y="1950913"/>
              <a:ext cx="488950" cy="409032"/>
              <a:chOff x="5105400" y="1694599"/>
              <a:chExt cx="488950" cy="409032"/>
            </a:xfrm>
          </p:grpSpPr>
          <p:sp>
            <p:nvSpPr>
              <p:cNvPr id="30" name="流程圖: 接點 29">
                <a:extLst>
                  <a:ext uri="{FF2B5EF4-FFF2-40B4-BE49-F238E27FC236}">
                    <a16:creationId xmlns:a16="http://schemas.microsoft.com/office/drawing/2014/main" id="{AA1B20C3-C7CF-0E12-18F8-2BC2F2CBD59A}"/>
                  </a:ext>
                </a:extLst>
              </p:cNvPr>
              <p:cNvSpPr/>
              <p:nvPr/>
            </p:nvSpPr>
            <p:spPr>
              <a:xfrm>
                <a:off x="5130800" y="1694599"/>
                <a:ext cx="438150" cy="409032"/>
              </a:xfrm>
              <a:prstGeom prst="flowChartConnector">
                <a:avLst/>
              </a:prstGeom>
              <a:solidFill>
                <a:schemeClr val="accent4">
                  <a:lumMod val="60000"/>
                  <a:lumOff val="4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31" name="文字方塊 30">
                <a:extLst>
                  <a:ext uri="{FF2B5EF4-FFF2-40B4-BE49-F238E27FC236}">
                    <a16:creationId xmlns:a16="http://schemas.microsoft.com/office/drawing/2014/main" id="{B090F7E8-4FE4-EC77-5FE9-13F882314E30}"/>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同業</a:t>
                </a:r>
              </a:p>
            </p:txBody>
          </p:sp>
        </p:grpSp>
        <p:grpSp>
          <p:nvGrpSpPr>
            <p:cNvPr id="43" name="群組 42">
              <a:extLst>
                <a:ext uri="{FF2B5EF4-FFF2-40B4-BE49-F238E27FC236}">
                  <a16:creationId xmlns:a16="http://schemas.microsoft.com/office/drawing/2014/main" id="{2C319713-E63A-810F-70F6-5A3225524C3D}"/>
                </a:ext>
              </a:extLst>
            </p:cNvPr>
            <p:cNvGrpSpPr/>
            <p:nvPr/>
          </p:nvGrpSpPr>
          <p:grpSpPr>
            <a:xfrm>
              <a:off x="5258614" y="1264597"/>
              <a:ext cx="488950" cy="409032"/>
              <a:chOff x="5105400" y="1694599"/>
              <a:chExt cx="488950" cy="409032"/>
            </a:xfrm>
          </p:grpSpPr>
          <p:sp>
            <p:nvSpPr>
              <p:cNvPr id="44" name="流程圖: 接點 43">
                <a:extLst>
                  <a:ext uri="{FF2B5EF4-FFF2-40B4-BE49-F238E27FC236}">
                    <a16:creationId xmlns:a16="http://schemas.microsoft.com/office/drawing/2014/main" id="{F597AB5A-AADB-302B-8950-CF428D7FC199}"/>
                  </a:ext>
                </a:extLst>
              </p:cNvPr>
              <p:cNvSpPr/>
              <p:nvPr/>
            </p:nvSpPr>
            <p:spPr>
              <a:xfrm>
                <a:off x="5130800" y="1694599"/>
                <a:ext cx="438150" cy="409032"/>
              </a:xfrm>
              <a:prstGeom prst="flowChartConnector">
                <a:avLst/>
              </a:prstGeom>
              <a:ln>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45" name="文字方塊 44">
                <a:extLst>
                  <a:ext uri="{FF2B5EF4-FFF2-40B4-BE49-F238E27FC236}">
                    <a16:creationId xmlns:a16="http://schemas.microsoft.com/office/drawing/2014/main" id="{B329B404-664D-62A8-4B0D-84163066E069}"/>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旺來</a:t>
                </a:r>
              </a:p>
            </p:txBody>
          </p:sp>
        </p:grpSp>
        <p:sp>
          <p:nvSpPr>
            <p:cNvPr id="71" name="左中括弧 70">
              <a:extLst>
                <a:ext uri="{FF2B5EF4-FFF2-40B4-BE49-F238E27FC236}">
                  <a16:creationId xmlns:a16="http://schemas.microsoft.com/office/drawing/2014/main" id="{38E1D325-2D33-38C0-66FC-D5C1D1CE3B81}"/>
                </a:ext>
              </a:extLst>
            </p:cNvPr>
            <p:cNvSpPr/>
            <p:nvPr/>
          </p:nvSpPr>
          <p:spPr>
            <a:xfrm>
              <a:off x="2458544" y="1965131"/>
              <a:ext cx="318878" cy="3399234"/>
            </a:xfrm>
            <a:prstGeom prst="leftBracket">
              <a:avLst/>
            </a:prstGeom>
            <a:ln>
              <a:tailEnd type="arrow"/>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zh-TW" altLang="en-US"/>
            </a:p>
          </p:txBody>
        </p:sp>
        <p:grpSp>
          <p:nvGrpSpPr>
            <p:cNvPr id="81" name="群組 80">
              <a:extLst>
                <a:ext uri="{FF2B5EF4-FFF2-40B4-BE49-F238E27FC236}">
                  <a16:creationId xmlns:a16="http://schemas.microsoft.com/office/drawing/2014/main" id="{4D600D3B-27AE-63B0-569D-FB661C175340}"/>
                </a:ext>
              </a:extLst>
            </p:cNvPr>
            <p:cNvGrpSpPr/>
            <p:nvPr/>
          </p:nvGrpSpPr>
          <p:grpSpPr>
            <a:xfrm>
              <a:off x="3641012" y="1156187"/>
              <a:ext cx="1442579" cy="1325527"/>
              <a:chOff x="3612021" y="1523999"/>
              <a:chExt cx="1442579" cy="1325527"/>
            </a:xfrm>
          </p:grpSpPr>
          <p:sp>
            <p:nvSpPr>
              <p:cNvPr id="82" name="矩形: 圓角 81">
                <a:extLst>
                  <a:ext uri="{FF2B5EF4-FFF2-40B4-BE49-F238E27FC236}">
                    <a16:creationId xmlns:a16="http://schemas.microsoft.com/office/drawing/2014/main" id="{A8188F38-E11C-089A-D4AE-D8F17EE07286}"/>
                  </a:ext>
                </a:extLst>
              </p:cNvPr>
              <p:cNvSpPr/>
              <p:nvPr/>
            </p:nvSpPr>
            <p:spPr>
              <a:xfrm>
                <a:off x="3612021" y="1523999"/>
                <a:ext cx="1442579" cy="1325527"/>
              </a:xfrm>
              <a:prstGeom prst="round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3" name="群組 82">
                <a:extLst>
                  <a:ext uri="{FF2B5EF4-FFF2-40B4-BE49-F238E27FC236}">
                    <a16:creationId xmlns:a16="http://schemas.microsoft.com/office/drawing/2014/main" id="{5B33C591-54C4-0A19-767E-864D59E23B10}"/>
                  </a:ext>
                </a:extLst>
              </p:cNvPr>
              <p:cNvGrpSpPr/>
              <p:nvPr/>
            </p:nvGrpSpPr>
            <p:grpSpPr>
              <a:xfrm>
                <a:off x="3740147" y="1648217"/>
                <a:ext cx="1144852" cy="455414"/>
                <a:chOff x="3897205" y="1192803"/>
                <a:chExt cx="1144852" cy="455414"/>
              </a:xfrm>
            </p:grpSpPr>
            <p:sp>
              <p:nvSpPr>
                <p:cNvPr id="87" name="矩形: 圓角 86">
                  <a:extLst>
                    <a:ext uri="{FF2B5EF4-FFF2-40B4-BE49-F238E27FC236}">
                      <a16:creationId xmlns:a16="http://schemas.microsoft.com/office/drawing/2014/main" id="{BA6E29B9-5906-2C4D-2046-F6666027B4B0}"/>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8" name="文字方塊 87">
                  <a:extLst>
                    <a:ext uri="{FF2B5EF4-FFF2-40B4-BE49-F238E27FC236}">
                      <a16:creationId xmlns:a16="http://schemas.microsoft.com/office/drawing/2014/main" id="{80A78E69-7891-6F40-99EC-515A9E10AA1C}"/>
                    </a:ext>
                  </a:extLst>
                </p:cNvPr>
                <p:cNvSpPr txBox="1"/>
                <p:nvPr/>
              </p:nvSpPr>
              <p:spPr>
                <a:xfrm>
                  <a:off x="4034581" y="1247813"/>
                  <a:ext cx="877163"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智取櫃</a:t>
                  </a:r>
                </a:p>
              </p:txBody>
            </p:sp>
          </p:grpSp>
          <p:grpSp>
            <p:nvGrpSpPr>
              <p:cNvPr id="84" name="群組 83">
                <a:extLst>
                  <a:ext uri="{FF2B5EF4-FFF2-40B4-BE49-F238E27FC236}">
                    <a16:creationId xmlns:a16="http://schemas.microsoft.com/office/drawing/2014/main" id="{56CA3456-2F95-84AE-E28B-9C2E6DFC50A4}"/>
                  </a:ext>
                </a:extLst>
              </p:cNvPr>
              <p:cNvGrpSpPr/>
              <p:nvPr/>
            </p:nvGrpSpPr>
            <p:grpSpPr>
              <a:xfrm>
                <a:off x="3740147" y="2295534"/>
                <a:ext cx="1144852" cy="455414"/>
                <a:chOff x="3897205" y="1192803"/>
                <a:chExt cx="1144852" cy="455414"/>
              </a:xfrm>
            </p:grpSpPr>
            <p:sp>
              <p:nvSpPr>
                <p:cNvPr id="85" name="矩形: 圓角 84">
                  <a:extLst>
                    <a:ext uri="{FF2B5EF4-FFF2-40B4-BE49-F238E27FC236}">
                      <a16:creationId xmlns:a16="http://schemas.microsoft.com/office/drawing/2014/main" id="{2D97CABD-A506-EC9A-B2A7-B64FC9AF2AD6}"/>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6" name="文字方塊 85">
                  <a:extLst>
                    <a:ext uri="{FF2B5EF4-FFF2-40B4-BE49-F238E27FC236}">
                      <a16:creationId xmlns:a16="http://schemas.microsoft.com/office/drawing/2014/main" id="{98F51636-E7DB-758A-BAF7-1898CE03A745}"/>
                    </a:ext>
                  </a:extLst>
                </p:cNvPr>
                <p:cNvSpPr txBox="1"/>
                <p:nvPr/>
              </p:nvSpPr>
              <p:spPr>
                <a:xfrm>
                  <a:off x="4026768" y="1237248"/>
                  <a:ext cx="877163"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場地費</a:t>
                  </a:r>
                </a:p>
              </p:txBody>
            </p:sp>
          </p:grpSp>
        </p:grpSp>
        <p:grpSp>
          <p:nvGrpSpPr>
            <p:cNvPr id="89" name="群組 88">
              <a:extLst>
                <a:ext uri="{FF2B5EF4-FFF2-40B4-BE49-F238E27FC236}">
                  <a16:creationId xmlns:a16="http://schemas.microsoft.com/office/drawing/2014/main" id="{5CB222C9-E358-9F4E-584F-44E610D953A3}"/>
                </a:ext>
              </a:extLst>
            </p:cNvPr>
            <p:cNvGrpSpPr/>
            <p:nvPr/>
          </p:nvGrpSpPr>
          <p:grpSpPr>
            <a:xfrm>
              <a:off x="3641012" y="3916938"/>
              <a:ext cx="1442579" cy="1972243"/>
              <a:chOff x="3612021" y="3084055"/>
              <a:chExt cx="1442579" cy="1972243"/>
            </a:xfrm>
          </p:grpSpPr>
          <p:sp>
            <p:nvSpPr>
              <p:cNvPr id="90" name="矩形: 圓角 89">
                <a:extLst>
                  <a:ext uri="{FF2B5EF4-FFF2-40B4-BE49-F238E27FC236}">
                    <a16:creationId xmlns:a16="http://schemas.microsoft.com/office/drawing/2014/main" id="{8088AAD2-6C2B-277A-E2AF-6BEF27ECC32D}"/>
                  </a:ext>
                </a:extLst>
              </p:cNvPr>
              <p:cNvSpPr/>
              <p:nvPr/>
            </p:nvSpPr>
            <p:spPr>
              <a:xfrm>
                <a:off x="3612021" y="3084055"/>
                <a:ext cx="1442579" cy="1972243"/>
              </a:xfrm>
              <a:prstGeom prst="roundRect">
                <a:avLst/>
              </a:prstGeom>
              <a:solidFill>
                <a:schemeClr val="tx2">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1" name="群組 90">
                <a:extLst>
                  <a:ext uri="{FF2B5EF4-FFF2-40B4-BE49-F238E27FC236}">
                    <a16:creationId xmlns:a16="http://schemas.microsoft.com/office/drawing/2014/main" id="{57DACFB3-B53A-D2B6-BCA4-AABE5538D899}"/>
                  </a:ext>
                </a:extLst>
              </p:cNvPr>
              <p:cNvGrpSpPr/>
              <p:nvPr/>
            </p:nvGrpSpPr>
            <p:grpSpPr>
              <a:xfrm>
                <a:off x="3743679" y="3244318"/>
                <a:ext cx="1144852" cy="455414"/>
                <a:chOff x="3897205" y="1192803"/>
                <a:chExt cx="1144852" cy="455414"/>
              </a:xfrm>
            </p:grpSpPr>
            <p:sp>
              <p:nvSpPr>
                <p:cNvPr id="98" name="矩形: 圓角 97">
                  <a:extLst>
                    <a:ext uri="{FF2B5EF4-FFF2-40B4-BE49-F238E27FC236}">
                      <a16:creationId xmlns:a16="http://schemas.microsoft.com/office/drawing/2014/main" id="{93B5933C-B029-2325-E221-F40AEA3A5653}"/>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9" name="文字方塊 98">
                  <a:extLst>
                    <a:ext uri="{FF2B5EF4-FFF2-40B4-BE49-F238E27FC236}">
                      <a16:creationId xmlns:a16="http://schemas.microsoft.com/office/drawing/2014/main" id="{049DCBEB-3D6A-DB88-4454-185EC2A8D82A}"/>
                    </a:ext>
                  </a:extLst>
                </p:cNvPr>
                <p:cNvSpPr txBox="1"/>
                <p:nvPr/>
              </p:nvSpPr>
              <p:spPr>
                <a:xfrm>
                  <a:off x="4125519" y="1254054"/>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灌氣</a:t>
                  </a:r>
                </a:p>
              </p:txBody>
            </p:sp>
          </p:grpSp>
          <p:grpSp>
            <p:nvGrpSpPr>
              <p:cNvPr id="92" name="群組 91">
                <a:extLst>
                  <a:ext uri="{FF2B5EF4-FFF2-40B4-BE49-F238E27FC236}">
                    <a16:creationId xmlns:a16="http://schemas.microsoft.com/office/drawing/2014/main" id="{8466F1F1-CE07-A06A-C84C-6FE780315601}"/>
                  </a:ext>
                </a:extLst>
              </p:cNvPr>
              <p:cNvGrpSpPr/>
              <p:nvPr/>
            </p:nvGrpSpPr>
            <p:grpSpPr>
              <a:xfrm>
                <a:off x="3743679" y="3891635"/>
                <a:ext cx="1144852" cy="455414"/>
                <a:chOff x="3897205" y="1192803"/>
                <a:chExt cx="1144852" cy="455414"/>
              </a:xfrm>
            </p:grpSpPr>
            <p:sp>
              <p:nvSpPr>
                <p:cNvPr id="96" name="矩形: 圓角 95">
                  <a:extLst>
                    <a:ext uri="{FF2B5EF4-FFF2-40B4-BE49-F238E27FC236}">
                      <a16:creationId xmlns:a16="http://schemas.microsoft.com/office/drawing/2014/main" id="{5180AB37-5602-4DB6-63AE-9D98B2596194}"/>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7" name="文字方塊 96">
                  <a:extLst>
                    <a:ext uri="{FF2B5EF4-FFF2-40B4-BE49-F238E27FC236}">
                      <a16:creationId xmlns:a16="http://schemas.microsoft.com/office/drawing/2014/main" id="{E39FBD86-7E5B-D6C9-5801-5F873B1E71CA}"/>
                    </a:ext>
                  </a:extLst>
                </p:cNvPr>
                <p:cNvSpPr txBox="1"/>
                <p:nvPr/>
              </p:nvSpPr>
              <p:spPr>
                <a:xfrm>
                  <a:off x="4125519" y="1232485"/>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配送</a:t>
                  </a:r>
                </a:p>
              </p:txBody>
            </p:sp>
          </p:grpSp>
          <p:grpSp>
            <p:nvGrpSpPr>
              <p:cNvPr id="93" name="群組 92">
                <a:extLst>
                  <a:ext uri="{FF2B5EF4-FFF2-40B4-BE49-F238E27FC236}">
                    <a16:creationId xmlns:a16="http://schemas.microsoft.com/office/drawing/2014/main" id="{DF99C043-4E9C-569F-2CBA-CF55F4F5EA79}"/>
                  </a:ext>
                </a:extLst>
              </p:cNvPr>
              <p:cNvGrpSpPr/>
              <p:nvPr/>
            </p:nvGrpSpPr>
            <p:grpSpPr>
              <a:xfrm>
                <a:off x="3743679" y="4499252"/>
                <a:ext cx="1144852" cy="455414"/>
                <a:chOff x="3897205" y="1192803"/>
                <a:chExt cx="1144852" cy="455414"/>
              </a:xfrm>
            </p:grpSpPr>
            <p:sp>
              <p:nvSpPr>
                <p:cNvPr id="94" name="矩形: 圓角 93">
                  <a:extLst>
                    <a:ext uri="{FF2B5EF4-FFF2-40B4-BE49-F238E27FC236}">
                      <a16:creationId xmlns:a16="http://schemas.microsoft.com/office/drawing/2014/main" id="{FA8ED03D-96BE-DA30-D8B4-FBD63282D782}"/>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5" name="文字方塊 94">
                  <a:extLst>
                    <a:ext uri="{FF2B5EF4-FFF2-40B4-BE49-F238E27FC236}">
                      <a16:creationId xmlns:a16="http://schemas.microsoft.com/office/drawing/2014/main" id="{EFFE7C16-C725-BFC5-1F26-A3B4246E23F1}"/>
                    </a:ext>
                  </a:extLst>
                </p:cNvPr>
                <p:cNvSpPr txBox="1"/>
                <p:nvPr/>
              </p:nvSpPr>
              <p:spPr>
                <a:xfrm>
                  <a:off x="4138650" y="1227279"/>
                  <a:ext cx="646331"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安裝</a:t>
                  </a:r>
                </a:p>
              </p:txBody>
            </p:sp>
          </p:grpSp>
        </p:grpSp>
        <p:grpSp>
          <p:nvGrpSpPr>
            <p:cNvPr id="100" name="群組 99">
              <a:extLst>
                <a:ext uri="{FF2B5EF4-FFF2-40B4-BE49-F238E27FC236}">
                  <a16:creationId xmlns:a16="http://schemas.microsoft.com/office/drawing/2014/main" id="{F66CF538-4127-8E02-0956-16F0BCB49160}"/>
                </a:ext>
              </a:extLst>
            </p:cNvPr>
            <p:cNvGrpSpPr/>
            <p:nvPr/>
          </p:nvGrpSpPr>
          <p:grpSpPr>
            <a:xfrm>
              <a:off x="3785636" y="3257596"/>
              <a:ext cx="1144852" cy="455414"/>
              <a:chOff x="3897205" y="1192803"/>
              <a:chExt cx="1144852" cy="455414"/>
            </a:xfrm>
            <a:solidFill>
              <a:schemeClr val="accent5"/>
            </a:solidFill>
          </p:grpSpPr>
          <p:sp>
            <p:nvSpPr>
              <p:cNvPr id="101" name="矩形: 圓角 100">
                <a:extLst>
                  <a:ext uri="{FF2B5EF4-FFF2-40B4-BE49-F238E27FC236}">
                    <a16:creationId xmlns:a16="http://schemas.microsoft.com/office/drawing/2014/main" id="{51C3FA69-2736-4CC6-CD6C-AF4A6CA5C35C}"/>
                  </a:ext>
                </a:extLst>
              </p:cNvPr>
              <p:cNvSpPr/>
              <p:nvPr/>
            </p:nvSpPr>
            <p:spPr>
              <a:xfrm>
                <a:off x="3897205" y="1192803"/>
                <a:ext cx="1144852" cy="455414"/>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2" name="文字方塊 101">
                <a:extLst>
                  <a:ext uri="{FF2B5EF4-FFF2-40B4-BE49-F238E27FC236}">
                    <a16:creationId xmlns:a16="http://schemas.microsoft.com/office/drawing/2014/main" id="{EFBC8860-006E-D9A5-37DA-5A9557D1B81A}"/>
                  </a:ext>
                </a:extLst>
              </p:cNvPr>
              <p:cNvSpPr txBox="1"/>
              <p:nvPr/>
            </p:nvSpPr>
            <p:spPr>
              <a:xfrm>
                <a:off x="4146464" y="1221715"/>
                <a:ext cx="646331" cy="369332"/>
              </a:xfrm>
              <a:prstGeom prst="rect">
                <a:avLst/>
              </a:prstGeom>
              <a:grp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授權</a:t>
                </a:r>
              </a:p>
            </p:txBody>
          </p:sp>
        </p:grpSp>
        <p:grpSp>
          <p:nvGrpSpPr>
            <p:cNvPr id="103" name="群組 102">
              <a:extLst>
                <a:ext uri="{FF2B5EF4-FFF2-40B4-BE49-F238E27FC236}">
                  <a16:creationId xmlns:a16="http://schemas.microsoft.com/office/drawing/2014/main" id="{49BB4415-1DF2-18B9-EED3-A760937903D1}"/>
                </a:ext>
              </a:extLst>
            </p:cNvPr>
            <p:cNvGrpSpPr/>
            <p:nvPr/>
          </p:nvGrpSpPr>
          <p:grpSpPr>
            <a:xfrm>
              <a:off x="3785636" y="2671985"/>
              <a:ext cx="1144852" cy="455414"/>
              <a:chOff x="3897205" y="1192803"/>
              <a:chExt cx="1144852" cy="455414"/>
            </a:xfrm>
            <a:solidFill>
              <a:schemeClr val="accent5"/>
            </a:solidFill>
          </p:grpSpPr>
          <p:sp>
            <p:nvSpPr>
              <p:cNvPr id="104" name="矩形: 圓角 103">
                <a:extLst>
                  <a:ext uri="{FF2B5EF4-FFF2-40B4-BE49-F238E27FC236}">
                    <a16:creationId xmlns:a16="http://schemas.microsoft.com/office/drawing/2014/main" id="{33F19870-A2DF-FC87-E10E-A6A0D12CAEA7}"/>
                  </a:ext>
                </a:extLst>
              </p:cNvPr>
              <p:cNvSpPr/>
              <p:nvPr/>
            </p:nvSpPr>
            <p:spPr>
              <a:xfrm>
                <a:off x="3897205" y="1192803"/>
                <a:ext cx="1144852" cy="455414"/>
              </a:xfrm>
              <a:prstGeom prst="round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5" name="文字方塊 104">
                <a:extLst>
                  <a:ext uri="{FF2B5EF4-FFF2-40B4-BE49-F238E27FC236}">
                    <a16:creationId xmlns:a16="http://schemas.microsoft.com/office/drawing/2014/main" id="{11BC3A7B-0CBF-ABF9-06A5-A129FA0FDC2A}"/>
                  </a:ext>
                </a:extLst>
              </p:cNvPr>
              <p:cNvSpPr txBox="1"/>
              <p:nvPr/>
            </p:nvSpPr>
            <p:spPr>
              <a:xfrm>
                <a:off x="4146464" y="1221715"/>
                <a:ext cx="646331" cy="369332"/>
              </a:xfrm>
              <a:prstGeom prst="rect">
                <a:avLst/>
              </a:prstGeom>
              <a:grp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容器</a:t>
                </a:r>
              </a:p>
            </p:txBody>
          </p:sp>
        </p:grpSp>
        <p:grpSp>
          <p:nvGrpSpPr>
            <p:cNvPr id="107" name="群組 106">
              <a:extLst>
                <a:ext uri="{FF2B5EF4-FFF2-40B4-BE49-F238E27FC236}">
                  <a16:creationId xmlns:a16="http://schemas.microsoft.com/office/drawing/2014/main" id="{79CBAF04-7851-8F9A-8918-D9E038C08AAA}"/>
                </a:ext>
              </a:extLst>
            </p:cNvPr>
            <p:cNvGrpSpPr/>
            <p:nvPr/>
          </p:nvGrpSpPr>
          <p:grpSpPr>
            <a:xfrm>
              <a:off x="3027839" y="4625300"/>
              <a:ext cx="488950" cy="409032"/>
              <a:chOff x="5105400" y="1694599"/>
              <a:chExt cx="488950" cy="409032"/>
            </a:xfrm>
          </p:grpSpPr>
          <p:sp>
            <p:nvSpPr>
              <p:cNvPr id="108" name="流程圖: 接點 107">
                <a:extLst>
                  <a:ext uri="{FF2B5EF4-FFF2-40B4-BE49-F238E27FC236}">
                    <a16:creationId xmlns:a16="http://schemas.microsoft.com/office/drawing/2014/main" id="{0E906AFB-1555-71C9-0292-52366F0F1301}"/>
                  </a:ext>
                </a:extLst>
              </p:cNvPr>
              <p:cNvSpPr/>
              <p:nvPr/>
            </p:nvSpPr>
            <p:spPr>
              <a:xfrm>
                <a:off x="5130800" y="1694599"/>
                <a:ext cx="438150" cy="409032"/>
              </a:xfrm>
              <a:prstGeom prst="flowChartConnector">
                <a:avLst/>
              </a:prstGeom>
              <a:solidFill>
                <a:schemeClr val="accent4">
                  <a:lumMod val="60000"/>
                  <a:lumOff val="4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09" name="文字方塊 108">
                <a:extLst>
                  <a:ext uri="{FF2B5EF4-FFF2-40B4-BE49-F238E27FC236}">
                    <a16:creationId xmlns:a16="http://schemas.microsoft.com/office/drawing/2014/main" id="{2AA3CB5D-426D-942E-65E8-9DA0A354A6CB}"/>
                  </a:ext>
                </a:extLst>
              </p:cNvPr>
              <p:cNvSpPr txBox="1"/>
              <p:nvPr/>
            </p:nvSpPr>
            <p:spPr>
              <a:xfrm>
                <a:off x="5105400" y="1760615"/>
                <a:ext cx="488950" cy="276999"/>
              </a:xfrm>
              <a:prstGeom prst="rect">
                <a:avLst/>
              </a:prstGeom>
              <a:noFill/>
              <a:ln>
                <a:noFill/>
              </a:ln>
            </p:spPr>
            <p:txBody>
              <a:bodyPr wrap="square" rtlCol="0">
                <a:spAutoFit/>
              </a:bodyPr>
              <a:lstStyle/>
              <a:p>
                <a:r>
                  <a:rPr lang="zh-TW" altLang="en-US" sz="1200" b="1" dirty="0">
                    <a:latin typeface="微軟正黑體" panose="020B0604030504040204" pitchFamily="34" charset="-120"/>
                    <a:ea typeface="微軟正黑體" panose="020B0604030504040204" pitchFamily="34" charset="-120"/>
                  </a:rPr>
                  <a:t>同業</a:t>
                </a:r>
              </a:p>
            </p:txBody>
          </p:sp>
        </p:grpSp>
        <p:grpSp>
          <p:nvGrpSpPr>
            <p:cNvPr id="110" name="群組 109">
              <a:extLst>
                <a:ext uri="{FF2B5EF4-FFF2-40B4-BE49-F238E27FC236}">
                  <a16:creationId xmlns:a16="http://schemas.microsoft.com/office/drawing/2014/main" id="{0510B029-AAA2-64F1-A29D-8B37A6BB8C1C}"/>
                </a:ext>
              </a:extLst>
            </p:cNvPr>
            <p:cNvGrpSpPr/>
            <p:nvPr/>
          </p:nvGrpSpPr>
          <p:grpSpPr>
            <a:xfrm>
              <a:off x="767788" y="3201293"/>
              <a:ext cx="1100611" cy="455414"/>
              <a:chOff x="3897205" y="1192803"/>
              <a:chExt cx="1144852" cy="455414"/>
            </a:xfrm>
          </p:grpSpPr>
          <p:sp>
            <p:nvSpPr>
              <p:cNvPr id="111" name="矩形: 圓角 110">
                <a:extLst>
                  <a:ext uri="{FF2B5EF4-FFF2-40B4-BE49-F238E27FC236}">
                    <a16:creationId xmlns:a16="http://schemas.microsoft.com/office/drawing/2014/main" id="{F5E9246D-6AB5-FC68-7F20-4D116A145B99}"/>
                  </a:ext>
                </a:extLst>
              </p:cNvPr>
              <p:cNvSpPr/>
              <p:nvPr/>
            </p:nvSpPr>
            <p:spPr>
              <a:xfrm>
                <a:off x="3897205" y="1192803"/>
                <a:ext cx="1144852" cy="45541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t>智智</a:t>
                </a:r>
              </a:p>
            </p:txBody>
          </p:sp>
          <p:sp>
            <p:nvSpPr>
              <p:cNvPr id="112" name="文字方塊 111">
                <a:extLst>
                  <a:ext uri="{FF2B5EF4-FFF2-40B4-BE49-F238E27FC236}">
                    <a16:creationId xmlns:a16="http://schemas.microsoft.com/office/drawing/2014/main" id="{0D3E47C6-A080-701D-E8ED-BE71F82B4DF9}"/>
                  </a:ext>
                </a:extLst>
              </p:cNvPr>
              <p:cNvSpPr txBox="1"/>
              <p:nvPr/>
            </p:nvSpPr>
            <p:spPr>
              <a:xfrm>
                <a:off x="3930311" y="1239185"/>
                <a:ext cx="732357" cy="369332"/>
              </a:xfrm>
              <a:prstGeom prst="rect">
                <a:avLst/>
              </a:prstGeom>
              <a:noFill/>
            </p:spPr>
            <p:txBody>
              <a:bodyPr wrap="none" rtlCol="0">
                <a:spAutoFit/>
              </a:bodyPr>
              <a:lstStyle/>
              <a:p>
                <a:r>
                  <a:rPr lang="zh-TW" altLang="en-US" b="1" dirty="0">
                    <a:latin typeface="微軟正黑體" panose="020B0604030504040204" pitchFamily="34" charset="-120"/>
                    <a:ea typeface="微軟正黑體" panose="020B0604030504040204" pitchFamily="34" charset="-120"/>
                  </a:rPr>
                  <a:t>新櫃設置</a:t>
                </a:r>
              </a:p>
            </p:txBody>
          </p:sp>
        </p:grpSp>
      </p:grpSp>
      <p:graphicFrame>
        <p:nvGraphicFramePr>
          <p:cNvPr id="113" name="表格 112">
            <a:extLst>
              <a:ext uri="{FF2B5EF4-FFF2-40B4-BE49-F238E27FC236}">
                <a16:creationId xmlns:a16="http://schemas.microsoft.com/office/drawing/2014/main" id="{B84701EB-37D3-68D1-3791-7670A5447948}"/>
              </a:ext>
            </a:extLst>
          </p:cNvPr>
          <p:cNvGraphicFramePr>
            <a:graphicFrameLocks noGrp="1"/>
          </p:cNvGraphicFramePr>
          <p:nvPr>
            <p:extLst>
              <p:ext uri="{D42A27DB-BD31-4B8C-83A1-F6EECF244321}">
                <p14:modId xmlns:p14="http://schemas.microsoft.com/office/powerpoint/2010/main" val="806058343"/>
              </p:ext>
            </p:extLst>
          </p:nvPr>
        </p:nvGraphicFramePr>
        <p:xfrm>
          <a:off x="6481175" y="1688482"/>
          <a:ext cx="4562533" cy="1066800"/>
        </p:xfrm>
        <a:graphic>
          <a:graphicData uri="http://schemas.openxmlformats.org/drawingml/2006/table">
            <a:tbl>
              <a:tblPr/>
              <a:tblGrid>
                <a:gridCol w="1511764">
                  <a:extLst>
                    <a:ext uri="{9D8B030D-6E8A-4147-A177-3AD203B41FA5}">
                      <a16:colId xmlns:a16="http://schemas.microsoft.com/office/drawing/2014/main" val="206151738"/>
                    </a:ext>
                  </a:extLst>
                </a:gridCol>
                <a:gridCol w="1016923">
                  <a:extLst>
                    <a:ext uri="{9D8B030D-6E8A-4147-A177-3AD203B41FA5}">
                      <a16:colId xmlns:a16="http://schemas.microsoft.com/office/drawing/2014/main" val="4163806530"/>
                    </a:ext>
                  </a:extLst>
                </a:gridCol>
                <a:gridCol w="1016923">
                  <a:extLst>
                    <a:ext uri="{9D8B030D-6E8A-4147-A177-3AD203B41FA5}">
                      <a16:colId xmlns:a16="http://schemas.microsoft.com/office/drawing/2014/main" val="245439981"/>
                    </a:ext>
                  </a:extLst>
                </a:gridCol>
                <a:gridCol w="1016923">
                  <a:extLst>
                    <a:ext uri="{9D8B030D-6E8A-4147-A177-3AD203B41FA5}">
                      <a16:colId xmlns:a16="http://schemas.microsoft.com/office/drawing/2014/main" val="135549141"/>
                    </a:ext>
                  </a:extLst>
                </a:gridCol>
              </a:tblGrid>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分潤機制</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售價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同業</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rtl="0" fontAlgn="ctr">
                        <a:buNone/>
                      </a:pPr>
                      <a:r>
                        <a:rPr lang="zh-TW" altLang="en-US" sz="1600" b="1" i="0" u="none" strike="noStrike">
                          <a:solidFill>
                            <a:srgbClr val="000000"/>
                          </a:solidFill>
                          <a:effectLst/>
                          <a:latin typeface="微軟正黑體" panose="020B0604030504040204" pitchFamily="34" charset="-120"/>
                          <a:ea typeface="微軟正黑體" panose="020B0604030504040204" pitchFamily="34" charset="-120"/>
                        </a:rPr>
                        <a:t>旺來</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301850159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5975448"/>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1,300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700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2680208"/>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500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350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0338279"/>
                  </a:ext>
                </a:extLst>
              </a:tr>
            </a:tbl>
          </a:graphicData>
        </a:graphic>
      </p:graphicFrame>
      <p:graphicFrame>
        <p:nvGraphicFramePr>
          <p:cNvPr id="114" name="表格 113">
            <a:extLst>
              <a:ext uri="{FF2B5EF4-FFF2-40B4-BE49-F238E27FC236}">
                <a16:creationId xmlns:a16="http://schemas.microsoft.com/office/drawing/2014/main" id="{C5631F72-9495-4D1F-AD48-3D8264B51760}"/>
              </a:ext>
            </a:extLst>
          </p:cNvPr>
          <p:cNvGraphicFramePr>
            <a:graphicFrameLocks noGrp="1"/>
          </p:cNvGraphicFramePr>
          <p:nvPr>
            <p:extLst>
              <p:ext uri="{D42A27DB-BD31-4B8C-83A1-F6EECF244321}">
                <p14:modId xmlns:p14="http://schemas.microsoft.com/office/powerpoint/2010/main" val="2276610540"/>
              </p:ext>
            </p:extLst>
          </p:nvPr>
        </p:nvGraphicFramePr>
        <p:xfrm>
          <a:off x="6481175" y="3482794"/>
          <a:ext cx="4562533" cy="1748832"/>
        </p:xfrm>
        <a:graphic>
          <a:graphicData uri="http://schemas.openxmlformats.org/drawingml/2006/table">
            <a:tbl>
              <a:tblPr/>
              <a:tblGrid>
                <a:gridCol w="1540311">
                  <a:extLst>
                    <a:ext uri="{9D8B030D-6E8A-4147-A177-3AD203B41FA5}">
                      <a16:colId xmlns:a16="http://schemas.microsoft.com/office/drawing/2014/main" val="1041324463"/>
                    </a:ext>
                  </a:extLst>
                </a:gridCol>
                <a:gridCol w="1511111">
                  <a:extLst>
                    <a:ext uri="{9D8B030D-6E8A-4147-A177-3AD203B41FA5}">
                      <a16:colId xmlns:a16="http://schemas.microsoft.com/office/drawing/2014/main" val="3469723183"/>
                    </a:ext>
                  </a:extLst>
                </a:gridCol>
                <a:gridCol w="1511111">
                  <a:extLst>
                    <a:ext uri="{9D8B030D-6E8A-4147-A177-3AD203B41FA5}">
                      <a16:colId xmlns:a16="http://schemas.microsoft.com/office/drawing/2014/main" val="3214899351"/>
                    </a:ext>
                  </a:extLst>
                </a:gridCol>
              </a:tblGrid>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189939874"/>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90486452"/>
                  </a:ext>
                </a:extLst>
              </a:tr>
              <a:tr h="291472">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29945602"/>
                  </a:ext>
                </a:extLst>
              </a:tr>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年度</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216313751"/>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39855137"/>
                  </a:ext>
                </a:extLst>
              </a:tr>
              <a:tr h="291472">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3200531"/>
                  </a:ext>
                </a:extLst>
              </a:tr>
            </a:tbl>
          </a:graphicData>
        </a:graphic>
      </p:graphicFrame>
      <p:sp>
        <p:nvSpPr>
          <p:cNvPr id="3" name="文字方塊 2">
            <a:extLst>
              <a:ext uri="{FF2B5EF4-FFF2-40B4-BE49-F238E27FC236}">
                <a16:creationId xmlns:a16="http://schemas.microsoft.com/office/drawing/2014/main" id="{08FB35D5-6D3F-2FF9-6B88-BB373A401119}"/>
              </a:ext>
            </a:extLst>
          </p:cNvPr>
          <p:cNvSpPr txBox="1"/>
          <p:nvPr/>
        </p:nvSpPr>
        <p:spPr>
          <a:xfrm>
            <a:off x="6375964" y="5479458"/>
            <a:ext cx="3392275" cy="369332"/>
          </a:xfrm>
          <a:prstGeom prst="rect">
            <a:avLst/>
          </a:prstGeom>
          <a:noFill/>
        </p:spPr>
        <p:txBody>
          <a:bodyPr wrap="none" rtlCol="0">
            <a:spAutoFit/>
          </a:bodyPr>
          <a:lstStyle/>
          <a:p>
            <a:r>
              <a:rPr lang="en-US" altLang="zh-TW" b="1" dirty="0">
                <a:solidFill>
                  <a:srgbClr val="0000FF"/>
                </a:solidFill>
                <a:latin typeface="微軟正黑體" panose="020B0604030504040204" pitchFamily="34" charset="-120"/>
                <a:ea typeface="微軟正黑體" panose="020B0604030504040204" pitchFamily="34" charset="-120"/>
              </a:rPr>
              <a:t>3.</a:t>
            </a:r>
            <a:r>
              <a:rPr lang="zh-TW" altLang="en-US" b="1" dirty="0">
                <a:solidFill>
                  <a:srgbClr val="0000FF"/>
                </a:solidFill>
                <a:latin typeface="微軟正黑體" panose="020B0604030504040204" pitchFamily="34" charset="-120"/>
                <a:ea typeface="微軟正黑體" panose="020B0604030504040204" pitchFamily="34" charset="-120"/>
              </a:rPr>
              <a:t> 智取櫃</a:t>
            </a:r>
            <a:r>
              <a:rPr lang="en-US" altLang="zh-TW" b="1" dirty="0">
                <a:solidFill>
                  <a:srgbClr val="0000FF"/>
                </a:solidFill>
                <a:latin typeface="微軟正黑體" panose="020B0604030504040204" pitchFamily="34" charset="-120"/>
                <a:ea typeface="微軟正黑體" panose="020B0604030504040204" pitchFamily="34" charset="-120"/>
              </a:rPr>
              <a:t>55</a:t>
            </a:r>
            <a:r>
              <a:rPr lang="zh-TW" altLang="en-US" b="1" dirty="0">
                <a:solidFill>
                  <a:srgbClr val="0000FF"/>
                </a:solidFill>
                <a:latin typeface="微軟正黑體" panose="020B0604030504040204" pitchFamily="34" charset="-120"/>
                <a:ea typeface="微軟正黑體" panose="020B0604030504040204" pitchFamily="34" charset="-120"/>
              </a:rPr>
              <a:t>萬，每月租金</a:t>
            </a:r>
            <a:r>
              <a:rPr lang="en-US" altLang="zh-TW" b="1" dirty="0">
                <a:solidFill>
                  <a:srgbClr val="0000FF"/>
                </a:solidFill>
                <a:latin typeface="微軟正黑體" panose="020B0604030504040204" pitchFamily="34" charset="-120"/>
                <a:ea typeface="微軟正黑體" panose="020B0604030504040204" pitchFamily="34" charset="-120"/>
              </a:rPr>
              <a:t>2</a:t>
            </a:r>
            <a:r>
              <a:rPr lang="zh-TW" altLang="en-US" b="1" dirty="0">
                <a:solidFill>
                  <a:srgbClr val="0000FF"/>
                </a:solidFill>
                <a:latin typeface="微軟正黑體" panose="020B0604030504040204" pitchFamily="34" charset="-120"/>
                <a:ea typeface="微軟正黑體" panose="020B0604030504040204" pitchFamily="34" charset="-120"/>
              </a:rPr>
              <a:t>萬。</a:t>
            </a:r>
          </a:p>
        </p:txBody>
      </p:sp>
      <p:sp>
        <p:nvSpPr>
          <p:cNvPr id="5" name="文字方塊 4">
            <a:extLst>
              <a:ext uri="{FF2B5EF4-FFF2-40B4-BE49-F238E27FC236}">
                <a16:creationId xmlns:a16="http://schemas.microsoft.com/office/drawing/2014/main" id="{5EB915FA-2427-0323-FC43-B8D8D308FD98}"/>
              </a:ext>
            </a:extLst>
          </p:cNvPr>
          <p:cNvSpPr txBox="1"/>
          <p:nvPr/>
        </p:nvSpPr>
        <p:spPr>
          <a:xfrm>
            <a:off x="6375964" y="1247162"/>
            <a:ext cx="2113922" cy="369332"/>
          </a:xfrm>
          <a:prstGeom prst="rect">
            <a:avLst/>
          </a:prstGeom>
          <a:noFill/>
        </p:spPr>
        <p:txBody>
          <a:bodyPr wrap="square" rtlCol="0">
            <a:spAutoFit/>
          </a:bodyPr>
          <a:lstStyle/>
          <a:p>
            <a:r>
              <a:rPr lang="en-US" altLang="zh-TW" b="1" dirty="0">
                <a:latin typeface="+mj-ea"/>
                <a:ea typeface="+mj-ea"/>
              </a:rPr>
              <a:t>1. </a:t>
            </a:r>
            <a:r>
              <a:rPr lang="zh-TW" altLang="en-US" b="1" dirty="0">
                <a:latin typeface="+mj-ea"/>
                <a:ea typeface="+mj-ea"/>
              </a:rPr>
              <a:t>分潤機制</a:t>
            </a:r>
          </a:p>
        </p:txBody>
      </p:sp>
      <p:sp>
        <p:nvSpPr>
          <p:cNvPr id="6" name="文字方塊 5">
            <a:extLst>
              <a:ext uri="{FF2B5EF4-FFF2-40B4-BE49-F238E27FC236}">
                <a16:creationId xmlns:a16="http://schemas.microsoft.com/office/drawing/2014/main" id="{9754DF55-9FD9-7F7E-D1E6-B427419A8795}"/>
              </a:ext>
            </a:extLst>
          </p:cNvPr>
          <p:cNvSpPr txBox="1"/>
          <p:nvPr/>
        </p:nvSpPr>
        <p:spPr>
          <a:xfrm>
            <a:off x="6417675" y="3097310"/>
            <a:ext cx="2113922" cy="369332"/>
          </a:xfrm>
          <a:prstGeom prst="rect">
            <a:avLst/>
          </a:prstGeom>
          <a:noFill/>
        </p:spPr>
        <p:txBody>
          <a:bodyPr wrap="square" rtlCol="0">
            <a:spAutoFit/>
          </a:bodyPr>
          <a:lstStyle/>
          <a:p>
            <a:r>
              <a:rPr lang="en-US" altLang="zh-TW" b="1" dirty="0">
                <a:latin typeface="+mj-ea"/>
                <a:ea typeface="+mj-ea"/>
              </a:rPr>
              <a:t>2. </a:t>
            </a:r>
            <a:r>
              <a:rPr lang="zh-TW" altLang="en-US" b="1" dirty="0">
                <a:latin typeface="+mj-ea"/>
                <a:ea typeface="+mj-ea"/>
              </a:rPr>
              <a:t>新增會員數</a:t>
            </a:r>
          </a:p>
        </p:txBody>
      </p:sp>
    </p:spTree>
    <p:extLst>
      <p:ext uri="{BB962C8B-B14F-4D97-AF65-F5344CB8AC3E}">
        <p14:creationId xmlns:p14="http://schemas.microsoft.com/office/powerpoint/2010/main" val="1233111445"/>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FFB32-448C-C03F-1AD1-2C2D382D726D}"/>
            </a:ext>
          </a:extLst>
        </p:cNvPr>
        <p:cNvGrpSpPr/>
        <p:nvPr/>
      </p:nvGrpSpPr>
      <p:grpSpPr>
        <a:xfrm>
          <a:off x="0" y="0"/>
          <a:ext cx="0" cy="0"/>
          <a:chOff x="0" y="0"/>
          <a:chExt cx="0" cy="0"/>
        </a:xfrm>
      </p:grpSpPr>
      <p:sp>
        <p:nvSpPr>
          <p:cNvPr id="4" name="投影片編號版面配置區 1">
            <a:extLst>
              <a:ext uri="{FF2B5EF4-FFF2-40B4-BE49-F238E27FC236}">
                <a16:creationId xmlns:a16="http://schemas.microsoft.com/office/drawing/2014/main" id="{D1757CA4-6206-EB3C-6BC3-5C17C4485431}"/>
              </a:ext>
            </a:extLst>
          </p:cNvPr>
          <p:cNvSpPr>
            <a:spLocks noGrp="1"/>
          </p:cNvSpPr>
          <p:nvPr>
            <p:ph type="sldNum" sz="quarter" idx="12"/>
          </p:nvPr>
        </p:nvSpPr>
        <p:spPr>
          <a:xfrm>
            <a:off x="9443573" y="6484265"/>
            <a:ext cx="2743200" cy="365125"/>
          </a:xfrm>
        </p:spPr>
        <p:txBody>
          <a:bodyPr/>
          <a:lstStyle/>
          <a:p>
            <a:fld id="{2E95FD34-61D0-4C5A-B773-4E2676150C65}" type="slidenum">
              <a:rPr lang="zh-TW" altLang="en-US" smtClean="0"/>
              <a:t>13</a:t>
            </a:fld>
            <a:endParaRPr lang="zh-TW" altLang="en-US" dirty="0"/>
          </a:p>
        </p:txBody>
      </p:sp>
      <p:sp>
        <p:nvSpPr>
          <p:cNvPr id="28" name="文字方塊 27">
            <a:extLst>
              <a:ext uri="{FF2B5EF4-FFF2-40B4-BE49-F238E27FC236}">
                <a16:creationId xmlns:a16="http://schemas.microsoft.com/office/drawing/2014/main" id="{E5324604-E092-1633-4F07-B3AD9E91B3DC}"/>
              </a:ext>
            </a:extLst>
          </p:cNvPr>
          <p:cNvSpPr txBox="1"/>
          <p:nvPr/>
        </p:nvSpPr>
        <p:spPr>
          <a:xfrm>
            <a:off x="161153" y="354569"/>
            <a:ext cx="9386884" cy="646331"/>
          </a:xfrm>
          <a:prstGeom prst="rect">
            <a:avLst/>
          </a:prstGeom>
          <a:noFill/>
        </p:spPr>
        <p:txBody>
          <a:bodyPr wrap="square" lIns="91440" tIns="45720" rIns="91440" bIns="45720" anchor="t">
            <a:spAutoFit/>
          </a:bodyPr>
          <a:lstStyle/>
          <a:p>
            <a:r>
              <a:rPr lang="zh-TW" altLang="en-US" sz="3600" b="1" dirty="0">
                <a:latin typeface="微軟正黑體"/>
                <a:ea typeface="微軟正黑體"/>
              </a:rPr>
              <a:t>合作模組</a:t>
            </a:r>
            <a:r>
              <a:rPr lang="en-US" altLang="zh-TW" sz="3600" b="1" dirty="0">
                <a:latin typeface="微軟正黑體"/>
                <a:ea typeface="微軟正黑體"/>
              </a:rPr>
              <a:t>3 _</a:t>
            </a:r>
            <a:r>
              <a:rPr lang="zh-TW" altLang="en-US" sz="3600" b="1" dirty="0">
                <a:latin typeface="微軟正黑體"/>
                <a:ea typeface="微軟正黑體"/>
              </a:rPr>
              <a:t>試算</a:t>
            </a:r>
          </a:p>
        </p:txBody>
      </p:sp>
      <p:graphicFrame>
        <p:nvGraphicFramePr>
          <p:cNvPr id="95" name="表格 94">
            <a:extLst>
              <a:ext uri="{FF2B5EF4-FFF2-40B4-BE49-F238E27FC236}">
                <a16:creationId xmlns:a16="http://schemas.microsoft.com/office/drawing/2014/main" id="{B1B94F29-3C60-0A6E-D657-48EB6DEA5CE7}"/>
              </a:ext>
            </a:extLst>
          </p:cNvPr>
          <p:cNvGraphicFramePr>
            <a:graphicFrameLocks noGrp="1"/>
          </p:cNvGraphicFramePr>
          <p:nvPr>
            <p:extLst>
              <p:ext uri="{D42A27DB-BD31-4B8C-83A1-F6EECF244321}">
                <p14:modId xmlns:p14="http://schemas.microsoft.com/office/powerpoint/2010/main" val="2810159611"/>
              </p:ext>
            </p:extLst>
          </p:nvPr>
        </p:nvGraphicFramePr>
        <p:xfrm>
          <a:off x="492902" y="1462447"/>
          <a:ext cx="5043113" cy="1066800"/>
        </p:xfrm>
        <a:graphic>
          <a:graphicData uri="http://schemas.openxmlformats.org/drawingml/2006/table">
            <a:tbl>
              <a:tblPr/>
              <a:tblGrid>
                <a:gridCol w="1641812">
                  <a:extLst>
                    <a:ext uri="{9D8B030D-6E8A-4147-A177-3AD203B41FA5}">
                      <a16:colId xmlns:a16="http://schemas.microsoft.com/office/drawing/2014/main" val="1036956543"/>
                    </a:ext>
                  </a:extLst>
                </a:gridCol>
                <a:gridCol w="1133767">
                  <a:extLst>
                    <a:ext uri="{9D8B030D-6E8A-4147-A177-3AD203B41FA5}">
                      <a16:colId xmlns:a16="http://schemas.microsoft.com/office/drawing/2014/main" val="3549043433"/>
                    </a:ext>
                  </a:extLst>
                </a:gridCol>
                <a:gridCol w="1133767">
                  <a:extLst>
                    <a:ext uri="{9D8B030D-6E8A-4147-A177-3AD203B41FA5}">
                      <a16:colId xmlns:a16="http://schemas.microsoft.com/office/drawing/2014/main" val="729367603"/>
                    </a:ext>
                  </a:extLst>
                </a:gridCol>
                <a:gridCol w="1133767">
                  <a:extLst>
                    <a:ext uri="{9D8B030D-6E8A-4147-A177-3AD203B41FA5}">
                      <a16:colId xmlns:a16="http://schemas.microsoft.com/office/drawing/2014/main" val="4292039747"/>
                    </a:ext>
                  </a:extLst>
                </a:gridCol>
              </a:tblGrid>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分潤機制</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售價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A"/>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同業</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旺來</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2455550625"/>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838521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1,300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700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552197"/>
                  </a:ext>
                </a:extLst>
              </a:tr>
              <a:tr h="266700">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500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350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689328"/>
                  </a:ext>
                </a:extLst>
              </a:tr>
            </a:tbl>
          </a:graphicData>
        </a:graphic>
      </p:graphicFrame>
      <p:graphicFrame>
        <p:nvGraphicFramePr>
          <p:cNvPr id="5" name="表格 4">
            <a:extLst>
              <a:ext uri="{FF2B5EF4-FFF2-40B4-BE49-F238E27FC236}">
                <a16:creationId xmlns:a16="http://schemas.microsoft.com/office/drawing/2014/main" id="{0EB36A79-D70A-1E5E-34B6-85F2C21CAE56}"/>
              </a:ext>
            </a:extLst>
          </p:cNvPr>
          <p:cNvGraphicFramePr>
            <a:graphicFrameLocks noGrp="1"/>
          </p:cNvGraphicFramePr>
          <p:nvPr>
            <p:extLst>
              <p:ext uri="{D42A27DB-BD31-4B8C-83A1-F6EECF244321}">
                <p14:modId xmlns:p14="http://schemas.microsoft.com/office/powerpoint/2010/main" val="2314899198"/>
              </p:ext>
            </p:extLst>
          </p:nvPr>
        </p:nvGraphicFramePr>
        <p:xfrm>
          <a:off x="490328" y="2768621"/>
          <a:ext cx="5045688" cy="2116116"/>
        </p:xfrm>
        <a:graphic>
          <a:graphicData uri="http://schemas.openxmlformats.org/drawingml/2006/table">
            <a:tbl>
              <a:tblPr/>
              <a:tblGrid>
                <a:gridCol w="1681896">
                  <a:extLst>
                    <a:ext uri="{9D8B030D-6E8A-4147-A177-3AD203B41FA5}">
                      <a16:colId xmlns:a16="http://schemas.microsoft.com/office/drawing/2014/main" val="1041324463"/>
                    </a:ext>
                  </a:extLst>
                </a:gridCol>
                <a:gridCol w="1681896">
                  <a:extLst>
                    <a:ext uri="{9D8B030D-6E8A-4147-A177-3AD203B41FA5}">
                      <a16:colId xmlns:a16="http://schemas.microsoft.com/office/drawing/2014/main" val="3469723183"/>
                    </a:ext>
                  </a:extLst>
                </a:gridCol>
                <a:gridCol w="1681896">
                  <a:extLst>
                    <a:ext uri="{9D8B030D-6E8A-4147-A177-3AD203B41FA5}">
                      <a16:colId xmlns:a16="http://schemas.microsoft.com/office/drawing/2014/main" val="3214899351"/>
                    </a:ext>
                  </a:extLst>
                </a:gridCol>
              </a:tblGrid>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第二年每月</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189939874"/>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90486452"/>
                  </a:ext>
                </a:extLst>
              </a:tr>
              <a:tr h="291472">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29945602"/>
                  </a:ext>
                </a:extLst>
              </a:tr>
              <a:tr h="291472">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年度</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val="1216313751"/>
                  </a:ext>
                </a:extLst>
              </a:tr>
              <a:tr h="291472">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首配新會員數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39855137"/>
                  </a:ext>
                </a:extLst>
              </a:tr>
              <a:tr h="367284">
                <a:tc>
                  <a:txBody>
                    <a:bodyPr/>
                    <a:lstStyle/>
                    <a:p>
                      <a:pPr algn="l" rtl="0"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續約舊會員數</a:t>
                      </a:r>
                      <a:endPar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FFFFFF"/>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3200531"/>
                  </a:ext>
                </a:extLst>
              </a:tr>
              <a:tr h="291472">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總桶數</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720</a:t>
                      </a:r>
                    </a:p>
                  </a:txBody>
                  <a:tcPr marL="7620" marR="7620" marT="7620" marB="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2,448</a:t>
                      </a:r>
                    </a:p>
                  </a:txBody>
                  <a:tcPr marL="7620" marR="7620" marT="7620" marB="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923901019"/>
                  </a:ext>
                </a:extLst>
              </a:tr>
            </a:tbl>
          </a:graphicData>
        </a:graphic>
      </p:graphicFrame>
      <p:sp>
        <p:nvSpPr>
          <p:cNvPr id="6" name="文字方塊 5">
            <a:extLst>
              <a:ext uri="{FF2B5EF4-FFF2-40B4-BE49-F238E27FC236}">
                <a16:creationId xmlns:a16="http://schemas.microsoft.com/office/drawing/2014/main" id="{EE0BE5EC-3F52-B412-D65B-C3294A5E372B}"/>
              </a:ext>
            </a:extLst>
          </p:cNvPr>
          <p:cNvSpPr txBox="1"/>
          <p:nvPr/>
        </p:nvSpPr>
        <p:spPr>
          <a:xfrm>
            <a:off x="6096000" y="2990794"/>
            <a:ext cx="4968027" cy="1893724"/>
          </a:xfrm>
          <a:prstGeom prst="rect">
            <a:avLst/>
          </a:prstGeom>
          <a:noFill/>
        </p:spPr>
        <p:txBody>
          <a:bodyPr wrap="none" rtlCol="0">
            <a:spAutoFit/>
          </a:bodyPr>
          <a:lstStyle/>
          <a:p>
            <a:pPr>
              <a:lnSpc>
                <a:spcPct val="150000"/>
              </a:lnSpc>
            </a:pPr>
            <a:r>
              <a:rPr lang="zh-TW" altLang="en-US" sz="1600" dirty="0">
                <a:solidFill>
                  <a:srgbClr val="0000FF"/>
                </a:solidFill>
                <a:latin typeface="微軟正黑體" panose="020B0604030504040204" pitchFamily="34" charset="-120"/>
                <a:ea typeface="微軟正黑體" panose="020B0604030504040204" pitchFamily="34" charset="-120"/>
              </a:rPr>
              <a:t>說明：</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600" dirty="0">
                <a:solidFill>
                  <a:srgbClr val="0000FF"/>
                </a:solidFill>
                <a:latin typeface="微軟正黑體" panose="020B0604030504040204" pitchFamily="34" charset="-120"/>
                <a:ea typeface="微軟正黑體" panose="020B0604030504040204" pitchFamily="34" charset="-120"/>
              </a:rPr>
              <a:t>第</a:t>
            </a:r>
            <a:r>
              <a:rPr lang="en-US" altLang="zh-TW" sz="1600" dirty="0">
                <a:solidFill>
                  <a:srgbClr val="0000FF"/>
                </a:solidFill>
                <a:latin typeface="微軟正黑體" panose="020B0604030504040204" pitchFamily="34" charset="-120"/>
                <a:ea typeface="微軟正黑體" panose="020B0604030504040204" pitchFamily="34" charset="-120"/>
              </a:rPr>
              <a:t>1</a:t>
            </a:r>
            <a:r>
              <a:rPr lang="zh-TW" altLang="en-US" sz="1600" dirty="0">
                <a:solidFill>
                  <a:srgbClr val="0000FF"/>
                </a:solidFill>
                <a:latin typeface="微軟正黑體" panose="020B0604030504040204" pitchFamily="34" charset="-120"/>
                <a:ea typeface="微軟正黑體" panose="020B0604030504040204" pitchFamily="34" charset="-120"/>
              </a:rPr>
              <a:t>年新會員數</a:t>
            </a:r>
            <a:r>
              <a:rPr lang="en-US" altLang="zh-TW" sz="1600" dirty="0">
                <a:solidFill>
                  <a:srgbClr val="0000FF"/>
                </a:solidFill>
                <a:latin typeface="微軟正黑體" panose="020B0604030504040204" pitchFamily="34" charset="-120"/>
                <a:ea typeface="微軟正黑體" panose="020B0604030504040204" pitchFamily="34" charset="-120"/>
              </a:rPr>
              <a:t>120</a:t>
            </a:r>
            <a:r>
              <a:rPr lang="zh-TW" altLang="en-US" sz="1600" dirty="0">
                <a:solidFill>
                  <a:srgbClr val="0000FF"/>
                </a:solidFill>
                <a:latin typeface="微軟正黑體" panose="020B0604030504040204" pitchFamily="34" charset="-120"/>
                <a:ea typeface="微軟正黑體" panose="020B0604030504040204" pitchFamily="34" charset="-120"/>
              </a:rPr>
              <a:t>人，第二年新會員數</a:t>
            </a:r>
            <a:r>
              <a:rPr lang="en-US" altLang="zh-TW" sz="1600" dirty="0">
                <a:solidFill>
                  <a:srgbClr val="0000FF"/>
                </a:solidFill>
                <a:latin typeface="微軟正黑體" panose="020B0604030504040204" pitchFamily="34" charset="-120"/>
                <a:ea typeface="微軟正黑體" panose="020B0604030504040204" pitchFamily="34" charset="-120"/>
              </a:rPr>
              <a:t>300</a:t>
            </a:r>
            <a:r>
              <a:rPr lang="zh-TW" altLang="en-US" sz="1600" dirty="0">
                <a:solidFill>
                  <a:srgbClr val="0000FF"/>
                </a:solidFill>
                <a:latin typeface="微軟正黑體" panose="020B0604030504040204" pitchFamily="34" charset="-120"/>
                <a:ea typeface="微軟正黑體" panose="020B0604030504040204" pitchFamily="34" charset="-120"/>
              </a:rPr>
              <a:t>人</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zh-TW" altLang="en-US" sz="1600" dirty="0">
                <a:solidFill>
                  <a:srgbClr val="0000FF"/>
                </a:solidFill>
                <a:latin typeface="微軟正黑體" panose="020B0604030504040204" pitchFamily="34" charset="-120"/>
                <a:ea typeface="微軟正黑體" panose="020B0604030504040204" pitchFamily="34" charset="-120"/>
              </a:rPr>
              <a:t>智取櫃櫃體</a:t>
            </a:r>
            <a:r>
              <a:rPr lang="en-US" altLang="zh-TW" sz="1600" dirty="0">
                <a:solidFill>
                  <a:srgbClr val="0000FF"/>
                </a:solidFill>
                <a:latin typeface="微軟正黑體" panose="020B0604030504040204" pitchFamily="34" charset="-120"/>
                <a:ea typeface="微軟正黑體" panose="020B0604030504040204" pitchFamily="34" charset="-120"/>
              </a:rPr>
              <a:t>55</a:t>
            </a:r>
            <a:r>
              <a:rPr lang="zh-TW" altLang="en-US" sz="1600" dirty="0">
                <a:solidFill>
                  <a:srgbClr val="0000FF"/>
                </a:solidFill>
                <a:latin typeface="微軟正黑體" panose="020B0604030504040204" pitchFamily="34" charset="-120"/>
                <a:ea typeface="微軟正黑體" panose="020B0604030504040204" pitchFamily="34" charset="-120"/>
              </a:rPr>
              <a:t>萬，場地租金每月</a:t>
            </a: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萬，</a:t>
            </a: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年合計</a:t>
            </a:r>
            <a:r>
              <a:rPr lang="en-US" altLang="zh-TW" sz="1600" dirty="0">
                <a:solidFill>
                  <a:srgbClr val="0000FF"/>
                </a:solidFill>
                <a:latin typeface="微軟正黑體" panose="020B0604030504040204" pitchFamily="34" charset="-120"/>
                <a:ea typeface="微軟正黑體" panose="020B0604030504040204" pitchFamily="34" charset="-120"/>
              </a:rPr>
              <a:t>48</a:t>
            </a:r>
            <a:r>
              <a:rPr lang="zh-TW" altLang="en-US" sz="1600" dirty="0">
                <a:solidFill>
                  <a:srgbClr val="0000FF"/>
                </a:solidFill>
                <a:latin typeface="微軟正黑體" panose="020B0604030504040204" pitchFamily="34" charset="-120"/>
                <a:ea typeface="微軟正黑體" panose="020B0604030504040204" pitchFamily="34" charset="-120"/>
              </a:rPr>
              <a:t>萬</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年同業總收入</a:t>
            </a:r>
            <a:r>
              <a:rPr lang="en-US" altLang="zh-TW" sz="1600" dirty="0">
                <a:solidFill>
                  <a:srgbClr val="0000FF"/>
                </a:solidFill>
                <a:latin typeface="微軟正黑體" panose="020B0604030504040204" pitchFamily="34" charset="-120"/>
                <a:ea typeface="微軟正黑體" panose="020B0604030504040204" pitchFamily="34" charset="-120"/>
              </a:rPr>
              <a:t>=142.56</a:t>
            </a:r>
            <a:r>
              <a:rPr lang="zh-TW" altLang="en-US" sz="1600" dirty="0">
                <a:solidFill>
                  <a:srgbClr val="0000FF"/>
                </a:solidFill>
                <a:latin typeface="微軟正黑體" panose="020B0604030504040204" pitchFamily="34" charset="-120"/>
                <a:ea typeface="微軟正黑體" panose="020B0604030504040204" pitchFamily="34" charset="-120"/>
              </a:rPr>
              <a:t>萬</a:t>
            </a:r>
            <a:endParaRPr lang="en-US" altLang="zh-TW" sz="1600" dirty="0">
              <a:solidFill>
                <a:srgbClr val="0000FF"/>
              </a:solidFill>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pPr>
            <a:r>
              <a:rPr lang="en-US" altLang="zh-TW" sz="1600" dirty="0">
                <a:solidFill>
                  <a:srgbClr val="0000FF"/>
                </a:solidFill>
                <a:latin typeface="微軟正黑體" panose="020B0604030504040204" pitchFamily="34" charset="-120"/>
                <a:ea typeface="微軟正黑體" panose="020B0604030504040204" pitchFamily="34" charset="-120"/>
              </a:rPr>
              <a:t>2</a:t>
            </a:r>
            <a:r>
              <a:rPr lang="zh-TW" altLang="en-US" sz="1600" dirty="0">
                <a:solidFill>
                  <a:srgbClr val="0000FF"/>
                </a:solidFill>
                <a:latin typeface="微軟正黑體" panose="020B0604030504040204" pitchFamily="34" charset="-120"/>
                <a:ea typeface="微軟正黑體" panose="020B0604030504040204" pitchFamily="34" charset="-120"/>
              </a:rPr>
              <a:t>年同業獲利</a:t>
            </a:r>
            <a:r>
              <a:rPr lang="en-US" altLang="zh-TW" sz="1600" dirty="0">
                <a:solidFill>
                  <a:srgbClr val="0000FF"/>
                </a:solidFill>
                <a:latin typeface="微軟正黑體" panose="020B0604030504040204" pitchFamily="34" charset="-120"/>
                <a:ea typeface="微軟正黑體" panose="020B0604030504040204" pitchFamily="34" charset="-120"/>
              </a:rPr>
              <a:t>=1,425,600-480,000=94.56</a:t>
            </a:r>
            <a:r>
              <a:rPr lang="zh-TW" altLang="en-US" sz="1600" dirty="0">
                <a:solidFill>
                  <a:srgbClr val="0000FF"/>
                </a:solidFill>
                <a:latin typeface="微軟正黑體" panose="020B0604030504040204" pitchFamily="34" charset="-120"/>
                <a:ea typeface="微軟正黑體" panose="020B0604030504040204" pitchFamily="34" charset="-120"/>
              </a:rPr>
              <a:t>萬</a:t>
            </a:r>
            <a:endParaRPr lang="en-US" altLang="zh-TW" sz="1600" dirty="0">
              <a:solidFill>
                <a:srgbClr val="0000FF"/>
              </a:solidFill>
              <a:latin typeface="微軟正黑體" panose="020B0604030504040204" pitchFamily="34" charset="-120"/>
              <a:ea typeface="微軟正黑體" panose="020B0604030504040204" pitchFamily="34" charset="-120"/>
            </a:endParaRPr>
          </a:p>
        </p:txBody>
      </p:sp>
      <p:graphicFrame>
        <p:nvGraphicFramePr>
          <p:cNvPr id="8" name="表格 7">
            <a:extLst>
              <a:ext uri="{FF2B5EF4-FFF2-40B4-BE49-F238E27FC236}">
                <a16:creationId xmlns:a16="http://schemas.microsoft.com/office/drawing/2014/main" id="{8462C128-BE78-3D74-7B0A-FEBE5BBD963E}"/>
              </a:ext>
            </a:extLst>
          </p:cNvPr>
          <p:cNvGraphicFramePr>
            <a:graphicFrameLocks noGrp="1"/>
          </p:cNvGraphicFramePr>
          <p:nvPr>
            <p:extLst>
              <p:ext uri="{D42A27DB-BD31-4B8C-83A1-F6EECF244321}">
                <p14:modId xmlns:p14="http://schemas.microsoft.com/office/powerpoint/2010/main" val="4145201251"/>
              </p:ext>
            </p:extLst>
          </p:nvPr>
        </p:nvGraphicFramePr>
        <p:xfrm>
          <a:off x="6096000" y="1462447"/>
          <a:ext cx="6006093" cy="1453215"/>
        </p:xfrm>
        <a:graphic>
          <a:graphicData uri="http://schemas.openxmlformats.org/drawingml/2006/table">
            <a:tbl>
              <a:tblPr/>
              <a:tblGrid>
                <a:gridCol w="1052546">
                  <a:extLst>
                    <a:ext uri="{9D8B030D-6E8A-4147-A177-3AD203B41FA5}">
                      <a16:colId xmlns:a16="http://schemas.microsoft.com/office/drawing/2014/main" val="3154134444"/>
                    </a:ext>
                  </a:extLst>
                </a:gridCol>
                <a:gridCol w="835459">
                  <a:extLst>
                    <a:ext uri="{9D8B030D-6E8A-4147-A177-3AD203B41FA5}">
                      <a16:colId xmlns:a16="http://schemas.microsoft.com/office/drawing/2014/main" val="3740597211"/>
                    </a:ext>
                  </a:extLst>
                </a:gridCol>
                <a:gridCol w="588108">
                  <a:extLst>
                    <a:ext uri="{9D8B030D-6E8A-4147-A177-3AD203B41FA5}">
                      <a16:colId xmlns:a16="http://schemas.microsoft.com/office/drawing/2014/main" val="1416288873"/>
                    </a:ext>
                  </a:extLst>
                </a:gridCol>
                <a:gridCol w="882495">
                  <a:extLst>
                    <a:ext uri="{9D8B030D-6E8A-4147-A177-3AD203B41FA5}">
                      <a16:colId xmlns:a16="http://schemas.microsoft.com/office/drawing/2014/main" val="1985614780"/>
                    </a:ext>
                  </a:extLst>
                </a:gridCol>
                <a:gridCol w="882495">
                  <a:extLst>
                    <a:ext uri="{9D8B030D-6E8A-4147-A177-3AD203B41FA5}">
                      <a16:colId xmlns:a16="http://schemas.microsoft.com/office/drawing/2014/main" val="3094271731"/>
                    </a:ext>
                  </a:extLst>
                </a:gridCol>
                <a:gridCol w="882495">
                  <a:extLst>
                    <a:ext uri="{9D8B030D-6E8A-4147-A177-3AD203B41FA5}">
                      <a16:colId xmlns:a16="http://schemas.microsoft.com/office/drawing/2014/main" val="4193431359"/>
                    </a:ext>
                  </a:extLst>
                </a:gridCol>
                <a:gridCol w="882495">
                  <a:extLst>
                    <a:ext uri="{9D8B030D-6E8A-4147-A177-3AD203B41FA5}">
                      <a16:colId xmlns:a16="http://schemas.microsoft.com/office/drawing/2014/main" val="2951566018"/>
                    </a:ext>
                  </a:extLst>
                </a:gridCol>
              </a:tblGrid>
              <a:tr h="229135">
                <a:tc>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gridSpan="3">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第一年</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tc gridSpan="3">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第二年</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hMerge="1">
                  <a:txBody>
                    <a:bodyPr/>
                    <a:lstStyle/>
                    <a:p>
                      <a:pPr algn="ctr" rtl="0" fontAlgn="ctr">
                        <a:buNone/>
                      </a:pP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63036991"/>
                  </a:ext>
                </a:extLst>
              </a:tr>
              <a:tr h="452455">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案型</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續約</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氣價</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86888506"/>
                  </a:ext>
                </a:extLst>
              </a:tr>
              <a:tr h="244256">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總計</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216,000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zh-TW" altLang="en-US" sz="1400" b="0" i="0" u="none" strike="noStrike" dirty="0">
                          <a:solidFill>
                            <a:srgbClr val="000000"/>
                          </a:solidFill>
                          <a:effectLst/>
                          <a:latin typeface="微軟正黑體" panose="020B0604030504040204" pitchFamily="34" charset="-120"/>
                          <a:ea typeface="微軟正黑體" panose="020B0604030504040204" pitchFamily="34" charset="-120"/>
                        </a:rPr>
                        <a:t>０</a:t>
                      </a:r>
                      <a:endPar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360,000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540,000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140,400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1,224,000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7433182"/>
                  </a:ext>
                </a:extLst>
              </a:tr>
              <a:tr h="244256">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同業分潤</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72,000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252,000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180,000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64,800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856,800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0112684"/>
                  </a:ext>
                </a:extLst>
              </a:tr>
              <a:tr h="244256">
                <a:tc>
                  <a:txBody>
                    <a:bodyPr/>
                    <a:lstStyle/>
                    <a:p>
                      <a:pPr algn="ctr" rtl="0" fontAlgn="ctr">
                        <a:buNone/>
                      </a:pP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旺來分潤</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144,000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108,000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360,000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75,600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367,200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4419857"/>
                  </a:ext>
                </a:extLst>
              </a:tr>
            </a:tbl>
          </a:graphicData>
        </a:graphic>
      </p:graphicFrame>
    </p:spTree>
    <p:extLst>
      <p:ext uri="{BB962C8B-B14F-4D97-AF65-F5344CB8AC3E}">
        <p14:creationId xmlns:p14="http://schemas.microsoft.com/office/powerpoint/2010/main" val="70446779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ctrTitle"/>
          </p:nvPr>
        </p:nvSpPr>
        <p:spPr>
          <a:xfrm>
            <a:off x="5951984" y="1581152"/>
            <a:ext cx="5683756" cy="1470025"/>
          </a:xfrm>
        </p:spPr>
        <p:txBody>
          <a:bodyPr>
            <a:normAutofit/>
          </a:bodyPr>
          <a:lstStyle/>
          <a:p>
            <a:pPr algn="ctr"/>
            <a:r>
              <a:rPr lang="en-US" altLang="zh-TW" b="1" dirty="0"/>
              <a:t>2026</a:t>
            </a:r>
            <a:r>
              <a:rPr lang="zh-TW" altLang="en-US" b="1" dirty="0"/>
              <a:t>策略共識營會議</a:t>
            </a:r>
          </a:p>
        </p:txBody>
      </p:sp>
      <p:sp>
        <p:nvSpPr>
          <p:cNvPr id="4" name="副標題 5"/>
          <p:cNvSpPr txBox="1">
            <a:spLocks/>
          </p:cNvSpPr>
          <p:nvPr/>
        </p:nvSpPr>
        <p:spPr>
          <a:xfrm>
            <a:off x="7320136" y="2708920"/>
            <a:ext cx="3456384" cy="64807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1800" kern="1200">
                <a:solidFill>
                  <a:schemeClr val="tx1">
                    <a:tint val="75000"/>
                  </a:schemeClr>
                </a:solidFill>
                <a:latin typeface="微軟正黑體" pitchFamily="34" charset="-120"/>
                <a:ea typeface="微軟正黑體" pitchFamily="34" charset="-120"/>
                <a:cs typeface="+mn-cs"/>
              </a:defRPr>
            </a:lvl1pPr>
            <a:lvl2pPr marL="457200" indent="0" algn="ctr" defTabSz="914400" rtl="0" eaLnBrk="1" latinLnBrk="0" hangingPunct="1">
              <a:spcBef>
                <a:spcPct val="20000"/>
              </a:spcBef>
              <a:buFont typeface="Arial" pitchFamily="34" charset="0"/>
              <a:buNone/>
              <a:defRPr sz="2400" kern="1200">
                <a:solidFill>
                  <a:schemeClr val="tx1">
                    <a:tint val="75000"/>
                  </a:schemeClr>
                </a:solidFill>
                <a:latin typeface="微軟正黑體" pitchFamily="34" charset="-120"/>
                <a:ea typeface="微軟正黑體" pitchFamily="34" charset="-120"/>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微軟正黑體" pitchFamily="34" charset="-120"/>
                <a:ea typeface="微軟正黑體" pitchFamily="34" charset="-120"/>
                <a:cs typeface="+mn-cs"/>
              </a:defRPr>
            </a:lvl3pPr>
            <a:lvl4pPr marL="1371600" indent="0" algn="ctr" defTabSz="914400" rtl="0" eaLnBrk="1" latinLnBrk="0" hangingPunct="1">
              <a:spcBef>
                <a:spcPct val="20000"/>
              </a:spcBef>
              <a:buFont typeface="Arial" pitchFamily="34" charset="0"/>
              <a:buNone/>
              <a:defRPr sz="2400" kern="1200">
                <a:solidFill>
                  <a:schemeClr val="tx1">
                    <a:tint val="75000"/>
                  </a:schemeClr>
                </a:solidFill>
                <a:latin typeface="微軟正黑體" pitchFamily="34" charset="-120"/>
                <a:ea typeface="微軟正黑體" pitchFamily="34" charset="-120"/>
                <a:cs typeface="+mn-cs"/>
              </a:defRPr>
            </a:lvl4pPr>
            <a:lvl5pPr marL="1828800" indent="0" algn="ctr" defTabSz="914400" rtl="0" eaLnBrk="1" latinLnBrk="0" hangingPunct="1">
              <a:spcBef>
                <a:spcPct val="20000"/>
              </a:spcBef>
              <a:buFont typeface="Arial" pitchFamily="34" charset="0"/>
              <a:buNone/>
              <a:defRPr sz="2400" kern="1200">
                <a:solidFill>
                  <a:schemeClr val="tx1">
                    <a:tint val="75000"/>
                  </a:schemeClr>
                </a:solidFill>
                <a:latin typeface="微軟正黑體" pitchFamily="34" charset="-120"/>
                <a:ea typeface="微軟正黑體" pitchFamily="34" charset="-120"/>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zh-TW" altLang="en-US" dirty="0"/>
          </a:p>
        </p:txBody>
      </p:sp>
    </p:spTree>
    <p:extLst>
      <p:ext uri="{BB962C8B-B14F-4D97-AF65-F5344CB8AC3E}">
        <p14:creationId xmlns:p14="http://schemas.microsoft.com/office/powerpoint/2010/main" val="3475855687"/>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DC356-62A5-760A-20EA-9749249DFF6C}"/>
            </a:ext>
          </a:extLst>
        </p:cNvPr>
        <p:cNvGrpSpPr/>
        <p:nvPr/>
      </p:nvGrpSpPr>
      <p:grpSpPr>
        <a:xfrm>
          <a:off x="0" y="0"/>
          <a:ext cx="0" cy="0"/>
          <a:chOff x="0" y="0"/>
          <a:chExt cx="0" cy="0"/>
        </a:xfrm>
      </p:grpSpPr>
      <p:sp>
        <p:nvSpPr>
          <p:cNvPr id="7" name="文字方塊 6">
            <a:extLst>
              <a:ext uri="{FF2B5EF4-FFF2-40B4-BE49-F238E27FC236}">
                <a16:creationId xmlns:a16="http://schemas.microsoft.com/office/drawing/2014/main" id="{3DDE4CC5-8C69-6E28-D537-6A2889E0B86F}"/>
              </a:ext>
            </a:extLst>
          </p:cNvPr>
          <p:cNvSpPr txBox="1"/>
          <p:nvPr/>
        </p:nvSpPr>
        <p:spPr>
          <a:xfrm>
            <a:off x="1847527" y="1124744"/>
            <a:ext cx="8789773" cy="4802212"/>
          </a:xfrm>
          <a:prstGeom prst="rect">
            <a:avLst/>
          </a:prstGeom>
          <a:noFill/>
        </p:spPr>
        <p:txBody>
          <a:bodyPr wrap="square">
            <a:spAutoFit/>
          </a:bodyPr>
          <a:lstStyle/>
          <a:p>
            <a:pPr>
              <a:lnSpc>
                <a:spcPct val="150000"/>
              </a:lnSpc>
            </a:pPr>
            <a:r>
              <a:rPr lang="zh-TW" altLang="en-US" sz="2400" b="1" dirty="0">
                <a:latin typeface="微軟正黑體" panose="020B0604030504040204" pitchFamily="34" charset="-120"/>
                <a:ea typeface="微軟正黑體" panose="020B0604030504040204" pitchFamily="34" charset="-120"/>
              </a:rPr>
              <a:t>一、市場規模與結構</a:t>
            </a:r>
            <a:endParaRPr lang="en-US" altLang="zh-TW" sz="2400" b="1" dirty="0">
              <a:latin typeface="微軟正黑體" panose="020B0604030504040204" pitchFamily="34" charset="-120"/>
              <a:ea typeface="微軟正黑體" panose="020B0604030504040204" pitchFamily="34" charset="-120"/>
            </a:endParaRPr>
          </a:p>
          <a:p>
            <a:pPr>
              <a:lnSpc>
                <a:spcPct val="150000"/>
              </a:lnSpc>
            </a:pPr>
            <a:r>
              <a:rPr lang="zh-TW" altLang="en-US" b="1" dirty="0">
                <a:latin typeface="微軟正黑體" panose="020B0604030504040204" pitchFamily="34" charset="-120"/>
                <a:ea typeface="微軟正黑體" panose="020B0604030504040204" pitchFamily="34" charset="-120"/>
              </a:rPr>
              <a:t>（一）用戶結構</a:t>
            </a:r>
            <a:endParaRPr lang="en-US" altLang="zh-TW" b="1"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依經濟部能源署統計口徑，桶裝液化石油氣用戶數</a:t>
            </a:r>
            <a:r>
              <a:rPr lang="en-US" altLang="zh-TW" sz="1600" dirty="0">
                <a:latin typeface="微軟正黑體" panose="020B0604030504040204" pitchFamily="34" charset="-120"/>
                <a:ea typeface="微軟正黑體" panose="020B0604030504040204" pitchFamily="34" charset="-120"/>
              </a:rPr>
              <a:t>439</a:t>
            </a:r>
            <a:r>
              <a:rPr lang="zh-TW" altLang="en-US" sz="1600" dirty="0">
                <a:latin typeface="微軟正黑體" panose="020B0604030504040204" pitchFamily="34" charset="-120"/>
                <a:ea typeface="微軟正黑體" panose="020B0604030504040204" pitchFamily="34" charset="-120"/>
              </a:rPr>
              <a:t>萬係以「住宅稅籍數扣除天然氣用戶及低度用電戶」方式推估，為目前政府部門採用之正式估算方法。</a:t>
            </a:r>
            <a:endParaRPr lang="en-US" altLang="zh-TW" sz="1600"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歷年統計顯示，液化石油氣仍為台灣重要民生能源之一，但其用戶結構已呈現逐步被天然氣取代之長期趨勢。</a:t>
            </a:r>
            <a:endParaRPr lang="en-US" altLang="zh-TW" sz="1600" dirty="0">
              <a:latin typeface="微軟正黑體" panose="020B0604030504040204" pitchFamily="34" charset="-120"/>
              <a:ea typeface="微軟正黑體" panose="020B0604030504040204" pitchFamily="34" charset="-120"/>
            </a:endParaRPr>
          </a:p>
          <a:p>
            <a:pPr lvl="1">
              <a:lnSpc>
                <a:spcPct val="150000"/>
              </a:lnSpc>
            </a:pPr>
            <a:endParaRPr lang="zh-TW" altLang="en-US" b="1" dirty="0">
              <a:latin typeface="微軟正黑體" panose="020B0604030504040204" pitchFamily="34" charset="-120"/>
              <a:ea typeface="微軟正黑體" panose="020B0604030504040204" pitchFamily="34" charset="-120"/>
            </a:endParaRPr>
          </a:p>
          <a:p>
            <a:pPr>
              <a:lnSpc>
                <a:spcPct val="150000"/>
              </a:lnSpc>
            </a:pPr>
            <a:r>
              <a:rPr lang="zh-TW" altLang="en-US" b="1" dirty="0">
                <a:latin typeface="微軟正黑體" panose="020B0604030504040204" pitchFamily="34" charset="-120"/>
                <a:ea typeface="微軟正黑體" panose="020B0604030504040204" pitchFamily="34" charset="-120"/>
              </a:rPr>
              <a:t>（二）零售與分裝結構</a:t>
            </a:r>
            <a:endParaRPr lang="en-US" altLang="zh-TW" b="1"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全國液化石油氣零售業者數</a:t>
            </a:r>
            <a:r>
              <a:rPr lang="en-US" altLang="zh-TW" sz="1600" dirty="0">
                <a:latin typeface="微軟正黑體" panose="020B0604030504040204" pitchFamily="34" charset="-120"/>
                <a:ea typeface="微軟正黑體" panose="020B0604030504040204" pitchFamily="34" charset="-120"/>
              </a:rPr>
              <a:t>2,700</a:t>
            </a:r>
            <a:r>
              <a:rPr lang="zh-TW" altLang="en-US" sz="1600" dirty="0">
                <a:latin typeface="微軟正黑體" panose="020B0604030504040204" pitchFamily="34" charset="-120"/>
                <a:ea typeface="微軟正黑體" panose="020B0604030504040204" pitchFamily="34" charset="-120"/>
              </a:rPr>
              <a:t>與分裝場數</a:t>
            </a:r>
            <a:r>
              <a:rPr lang="en-US" altLang="zh-TW" sz="1600" dirty="0">
                <a:latin typeface="微軟正黑體" panose="020B0604030504040204" pitchFamily="34" charset="-120"/>
                <a:ea typeface="微軟正黑體" panose="020B0604030504040204" pitchFamily="34" charset="-120"/>
              </a:rPr>
              <a:t>112</a:t>
            </a:r>
            <a:r>
              <a:rPr lang="zh-TW" altLang="en-US" sz="1600" dirty="0">
                <a:latin typeface="微軟正黑體" panose="020B0604030504040204" pitchFamily="34" charset="-120"/>
                <a:ea typeface="微軟正黑體" panose="020B0604030504040204" pitchFamily="34" charset="-120"/>
              </a:rPr>
              <a:t>，以 經濟部商業司 與 能源署 公布資料為準。</a:t>
            </a:r>
            <a:endParaRPr lang="en-US" altLang="zh-TW" sz="1600"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官方資料顯示：零售業者數量呈現長期下降趨勢分裝場數維持相對穩定，但服務集中化程度提高。</a:t>
            </a:r>
            <a:endParaRPr lang="en-US" altLang="zh-TW" sz="1600" dirty="0">
              <a:latin typeface="微軟正黑體" panose="020B0604030504040204" pitchFamily="34" charset="-120"/>
              <a:ea typeface="微軟正黑體" panose="020B0604030504040204" pitchFamily="34" charset="-120"/>
            </a:endParaRPr>
          </a:p>
        </p:txBody>
      </p:sp>
      <p:sp>
        <p:nvSpPr>
          <p:cNvPr id="16" name="內容版面配置區 2">
            <a:extLst>
              <a:ext uri="{FF2B5EF4-FFF2-40B4-BE49-F238E27FC236}">
                <a16:creationId xmlns:a16="http://schemas.microsoft.com/office/drawing/2014/main" id="{314ABBC4-BD47-D867-7AB7-78BFFB16C108}"/>
              </a:ext>
            </a:extLst>
          </p:cNvPr>
          <p:cNvSpPr txBox="1">
            <a:spLocks/>
          </p:cNvSpPr>
          <p:nvPr/>
        </p:nvSpPr>
        <p:spPr>
          <a:xfrm>
            <a:off x="328623" y="422017"/>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一</a:t>
            </a:r>
            <a:r>
              <a:rPr lang="en-US" altLang="zh-TW" sz="2800" b="1" dirty="0">
                <a:solidFill>
                  <a:schemeClr val="tx1"/>
                </a:solidFill>
              </a:rPr>
              <a:t>、</a:t>
            </a:r>
            <a:r>
              <a:rPr lang="zh-TW" altLang="en-US" sz="2800" b="1" dirty="0">
                <a:solidFill>
                  <a:schemeClr val="tx1"/>
                </a:solidFill>
              </a:rPr>
              <a:t>宏觀分析</a:t>
            </a:r>
            <a:endParaRPr lang="en-US" altLang="zh-TW" sz="2800" b="1" dirty="0">
              <a:solidFill>
                <a:schemeClr val="tx1"/>
              </a:solidFill>
            </a:endParaRPr>
          </a:p>
        </p:txBody>
      </p:sp>
    </p:spTree>
    <p:extLst>
      <p:ext uri="{BB962C8B-B14F-4D97-AF65-F5344CB8AC3E}">
        <p14:creationId xmlns:p14="http://schemas.microsoft.com/office/powerpoint/2010/main" val="197398997"/>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B8D64-BB3A-4565-0FE0-7ACC888CD00F}"/>
            </a:ext>
          </a:extLst>
        </p:cNvPr>
        <p:cNvGrpSpPr/>
        <p:nvPr/>
      </p:nvGrpSpPr>
      <p:grpSpPr>
        <a:xfrm>
          <a:off x="0" y="0"/>
          <a:ext cx="0" cy="0"/>
          <a:chOff x="0" y="0"/>
          <a:chExt cx="0" cy="0"/>
        </a:xfrm>
      </p:grpSpPr>
      <p:sp>
        <p:nvSpPr>
          <p:cNvPr id="16" name="內容版面配置區 2">
            <a:extLst>
              <a:ext uri="{FF2B5EF4-FFF2-40B4-BE49-F238E27FC236}">
                <a16:creationId xmlns:a16="http://schemas.microsoft.com/office/drawing/2014/main" id="{28EFF65D-1FDB-5750-A975-9F1F51B33490}"/>
              </a:ext>
            </a:extLst>
          </p:cNvPr>
          <p:cNvSpPr txBox="1">
            <a:spLocks/>
          </p:cNvSpPr>
          <p:nvPr/>
        </p:nvSpPr>
        <p:spPr>
          <a:xfrm>
            <a:off x="341779" y="517088"/>
            <a:ext cx="5904656" cy="548680"/>
          </a:xfrm>
          <a:prstGeom prst="rect">
            <a:avLst/>
          </a:prstGeom>
        </p:spPr>
        <p:txBody>
          <a:bodyPr vert="horz" lIns="91440" tIns="45720" rIns="91440" bIns="45720" rtlCol="0" anchor="ctr"/>
          <a:lstStyle>
            <a:defPPr>
              <a:defRPr lang="zh-TW"/>
            </a:defPPr>
            <a:lvl1pPr marL="0" defTabSz="914400" eaLnBrk="1" latinLnBrk="0" hangingPunct="1">
              <a:defRPr sz="2800" b="1">
                <a:latin typeface="微軟正黑體" pitchFamily="34" charset="-120"/>
                <a:ea typeface="微軟正黑體" pitchFamily="34" charset="-120"/>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r>
              <a:rPr lang="zh-TW" altLang="en-US" dirty="0"/>
              <a:t>一</a:t>
            </a:r>
            <a:r>
              <a:rPr lang="en-US" altLang="zh-TW" dirty="0"/>
              <a:t>、</a:t>
            </a:r>
            <a:r>
              <a:rPr lang="zh-TW" altLang="en-US" dirty="0"/>
              <a:t>宏觀分析</a:t>
            </a:r>
            <a:endParaRPr lang="en-US" altLang="zh-TW" dirty="0"/>
          </a:p>
        </p:txBody>
      </p:sp>
      <p:sp>
        <p:nvSpPr>
          <p:cNvPr id="3" name="文字方塊 2">
            <a:extLst>
              <a:ext uri="{FF2B5EF4-FFF2-40B4-BE49-F238E27FC236}">
                <a16:creationId xmlns:a16="http://schemas.microsoft.com/office/drawing/2014/main" id="{063B2B41-A132-96A9-EA09-FF913D43EEAB}"/>
              </a:ext>
            </a:extLst>
          </p:cNvPr>
          <p:cNvSpPr txBox="1"/>
          <p:nvPr/>
        </p:nvSpPr>
        <p:spPr>
          <a:xfrm>
            <a:off x="1847528" y="1065768"/>
            <a:ext cx="8496944" cy="5171544"/>
          </a:xfrm>
          <a:prstGeom prst="rect">
            <a:avLst/>
          </a:prstGeom>
          <a:noFill/>
        </p:spPr>
        <p:txBody>
          <a:bodyPr wrap="square">
            <a:spAutoFit/>
          </a:bodyPr>
          <a:lstStyle/>
          <a:p>
            <a:pPr>
              <a:lnSpc>
                <a:spcPct val="150000"/>
              </a:lnSpc>
            </a:pPr>
            <a:r>
              <a:rPr lang="zh-TW" altLang="en-US" sz="2400" b="1" dirty="0">
                <a:latin typeface="微軟正黑體" panose="020B0604030504040204" pitchFamily="34" charset="-120"/>
                <a:ea typeface="微軟正黑體" panose="020B0604030504040204" pitchFamily="34" charset="-120"/>
              </a:rPr>
              <a:t>二、供應鏈與價格政策</a:t>
            </a:r>
            <a:endParaRPr lang="en-US" altLang="zh-TW" sz="2400" b="1" dirty="0">
              <a:latin typeface="微軟正黑體" panose="020B0604030504040204" pitchFamily="34" charset="-120"/>
              <a:ea typeface="微軟正黑體" panose="020B0604030504040204" pitchFamily="34" charset="-120"/>
            </a:endParaRPr>
          </a:p>
          <a:p>
            <a:pPr>
              <a:lnSpc>
                <a:spcPct val="150000"/>
              </a:lnSpc>
            </a:pPr>
            <a:r>
              <a:rPr lang="zh-TW" altLang="en-US" b="1" dirty="0">
                <a:latin typeface="微軟正黑體" panose="020B0604030504040204" pitchFamily="34" charset="-120"/>
                <a:ea typeface="微軟正黑體" panose="020B0604030504040204" pitchFamily="34" charset="-120"/>
              </a:rPr>
              <a:t>（一）台灣中油液化石油氣價格政策（</a:t>
            </a:r>
            <a:r>
              <a:rPr lang="en-US" altLang="zh-TW" b="1" dirty="0">
                <a:latin typeface="微軟正黑體" panose="020B0604030504040204" pitchFamily="34" charset="-120"/>
                <a:ea typeface="微軟正黑體" panose="020B0604030504040204" pitchFamily="34" charset="-120"/>
              </a:rPr>
              <a:t>2025/11–2026/02</a:t>
            </a:r>
            <a:r>
              <a:rPr lang="zh-TW" altLang="en-US" b="1" dirty="0">
                <a:latin typeface="微軟正黑體" panose="020B0604030504040204" pitchFamily="34" charset="-120"/>
                <a:ea typeface="微軟正黑體" panose="020B0604030504040204" pitchFamily="34" charset="-120"/>
              </a:rPr>
              <a:t>）</a:t>
            </a:r>
            <a:endParaRPr lang="en-US" altLang="zh-TW" b="1"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2025 </a:t>
            </a:r>
            <a:r>
              <a:rPr lang="zh-TW" altLang="en-US" sz="1600" dirty="0">
                <a:latin typeface="微軟正黑體" panose="020B0604030504040204" pitchFamily="34" charset="-120"/>
                <a:ea typeface="微軟正黑體" panose="020B0604030504040204" pitchFamily="34" charset="-120"/>
              </a:rPr>
              <a:t>年 </a:t>
            </a:r>
            <a:r>
              <a:rPr lang="en-US" altLang="zh-TW" sz="1600" dirty="0">
                <a:latin typeface="微軟正黑體" panose="020B0604030504040204" pitchFamily="34" charset="-120"/>
                <a:ea typeface="微軟正黑體" panose="020B0604030504040204" pitchFamily="34" charset="-120"/>
              </a:rPr>
              <a:t>11 </a:t>
            </a:r>
            <a:r>
              <a:rPr lang="zh-TW" altLang="en-US" sz="1600" dirty="0">
                <a:latin typeface="微軟正黑體" panose="020B0604030504040204" pitchFamily="34" charset="-120"/>
                <a:ea typeface="微軟正黑體" panose="020B0604030504040204" pitchFamily="34" charset="-120"/>
              </a:rPr>
              <a:t>月至 </a:t>
            </a:r>
            <a:r>
              <a:rPr lang="en-US" altLang="zh-TW" sz="1600" dirty="0">
                <a:latin typeface="微軟正黑體" panose="020B0604030504040204" pitchFamily="34" charset="-120"/>
                <a:ea typeface="微軟正黑體" panose="020B0604030504040204" pitchFamily="34" charset="-120"/>
              </a:rPr>
              <a:t>2026 </a:t>
            </a:r>
            <a:r>
              <a:rPr lang="zh-TW" altLang="en-US" sz="1600" dirty="0">
                <a:latin typeface="微軟正黑體" panose="020B0604030504040204" pitchFamily="34" charset="-120"/>
                <a:ea typeface="微軟正黑體" panose="020B0604030504040204" pitchFamily="34" charset="-120"/>
              </a:rPr>
              <a:t>年 </a:t>
            </a:r>
            <a:r>
              <a:rPr lang="en-US" altLang="zh-TW" sz="1600" dirty="0">
                <a:latin typeface="微軟正黑體" panose="020B0604030504040204" pitchFamily="34" charset="-120"/>
                <a:ea typeface="微軟正黑體" panose="020B0604030504040204" pitchFamily="34" charset="-120"/>
              </a:rPr>
              <a:t>1 </a:t>
            </a:r>
            <a:r>
              <a:rPr lang="zh-TW" altLang="en-US" sz="1600" dirty="0">
                <a:latin typeface="微軟正黑體" panose="020B0604030504040204" pitchFamily="34" charset="-120"/>
                <a:ea typeface="微軟正黑體" panose="020B0604030504040204" pitchFamily="34" charset="-120"/>
              </a:rPr>
              <a:t>月：台灣中油 液化石油氣價格連續三個月調漲共計</a:t>
            </a:r>
            <a:r>
              <a:rPr lang="en-US" altLang="zh-TW" sz="1600" dirty="0">
                <a:latin typeface="微軟正黑體" panose="020B0604030504040204" pitchFamily="34" charset="-120"/>
                <a:ea typeface="微軟正黑體" panose="020B0604030504040204" pitchFamily="34" charset="-120"/>
              </a:rPr>
              <a:t>3.15</a:t>
            </a:r>
            <a:r>
              <a:rPr lang="zh-TW" altLang="en-US" sz="1600" dirty="0">
                <a:latin typeface="微軟正黑體" panose="020B0604030504040204" pitchFamily="34" charset="-120"/>
                <a:ea typeface="微軟正黑體" panose="020B0604030504040204" pitchFamily="34" charset="-120"/>
              </a:rPr>
              <a:t>元，反映國際油氣價格與進口成本變化。</a:t>
            </a:r>
            <a:endParaRPr lang="en-US" altLang="zh-TW" sz="1600"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en-US" altLang="zh-TW" sz="1600" dirty="0">
                <a:latin typeface="微軟正黑體" panose="020B0604030504040204" pitchFamily="34" charset="-120"/>
                <a:ea typeface="微軟正黑體" panose="020B0604030504040204" pitchFamily="34" charset="-120"/>
              </a:rPr>
              <a:t>2026 </a:t>
            </a:r>
            <a:r>
              <a:rPr lang="zh-TW" altLang="en-US" sz="1600" dirty="0">
                <a:latin typeface="微軟正黑體" panose="020B0604030504040204" pitchFamily="34" charset="-120"/>
                <a:ea typeface="微軟正黑體" panose="020B0604030504040204" pitchFamily="34" charset="-120"/>
              </a:rPr>
              <a:t>年 </a:t>
            </a:r>
            <a:r>
              <a:rPr lang="en-US" altLang="zh-TW" sz="1600" dirty="0">
                <a:latin typeface="微軟正黑體" panose="020B0604030504040204" pitchFamily="34" charset="-120"/>
                <a:ea typeface="微軟正黑體" panose="020B0604030504040204" pitchFamily="34" charset="-120"/>
              </a:rPr>
              <a:t>2 </a:t>
            </a:r>
            <a:r>
              <a:rPr lang="zh-TW" altLang="en-US" sz="1600" dirty="0">
                <a:latin typeface="微軟正黑體" panose="020B0604030504040204" pitchFamily="34" charset="-120"/>
                <a:ea typeface="微軟正黑體" panose="020B0604030504040204" pitchFamily="34" charset="-120"/>
              </a:rPr>
              <a:t>月（</a:t>
            </a:r>
            <a:r>
              <a:rPr lang="en-US" altLang="zh-TW" sz="1600" dirty="0">
                <a:latin typeface="微軟正黑體" panose="020B0604030504040204" pitchFamily="34" charset="-120"/>
                <a:ea typeface="微軟正黑體" panose="020B0604030504040204" pitchFamily="34" charset="-120"/>
              </a:rPr>
              <a:t>115 </a:t>
            </a:r>
            <a:r>
              <a:rPr lang="zh-TW" altLang="en-US" sz="1600" dirty="0">
                <a:latin typeface="微軟正黑體" panose="020B0604030504040204" pitchFamily="34" charset="-120"/>
                <a:ea typeface="微軟正黑體" panose="020B0604030504040204" pitchFamily="34" charset="-120"/>
              </a:rPr>
              <a:t>年 </a:t>
            </a:r>
            <a:r>
              <a:rPr lang="en-US" altLang="zh-TW" sz="1600" dirty="0">
                <a:latin typeface="微軟正黑體" panose="020B0604030504040204" pitchFamily="34" charset="-120"/>
                <a:ea typeface="微軟正黑體" panose="020B0604030504040204" pitchFamily="34" charset="-120"/>
              </a:rPr>
              <a:t>2 </a:t>
            </a:r>
            <a:r>
              <a:rPr lang="zh-TW" altLang="en-US" sz="1600" dirty="0">
                <a:latin typeface="微軟正黑體" panose="020B0604030504040204" pitchFamily="34" charset="-120"/>
                <a:ea typeface="微軟正黑體" panose="020B0604030504040204" pitchFamily="34" charset="-120"/>
              </a:rPr>
              <a:t>月）：依中油調價機制核算，液化石油氣價格原應調漲</a:t>
            </a:r>
            <a:r>
              <a:rPr lang="en-US" altLang="zh-TW" sz="1600" dirty="0">
                <a:latin typeface="微軟正黑體" panose="020B0604030504040204" pitchFamily="34" charset="-120"/>
                <a:ea typeface="微軟正黑體" panose="020B0604030504040204" pitchFamily="34" charset="-120"/>
              </a:rPr>
              <a:t>1.2</a:t>
            </a:r>
            <a:r>
              <a:rPr lang="zh-TW" altLang="en-US" sz="1600" dirty="0">
                <a:latin typeface="微軟正黑體" panose="020B0604030504040204" pitchFamily="34" charset="-120"/>
                <a:ea typeface="微軟正黑體" panose="020B0604030504040204" pitchFamily="34" charset="-120"/>
              </a:rPr>
              <a:t>元，惟配合政府春節期間穩定民生物價政策，價格凍漲不調整，相關差額由中油暫行吸收。</a:t>
            </a:r>
            <a:endParaRPr lang="en-US" altLang="zh-TW" sz="1600"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zh-TW" altLang="en-US" sz="1600" b="1" dirty="0">
                <a:solidFill>
                  <a:srgbClr val="FF0000"/>
                </a:solidFill>
                <a:latin typeface="微軟正黑體" panose="020B0604030504040204" pitchFamily="34" charset="-120"/>
                <a:ea typeface="微軟正黑體" panose="020B0604030504040204" pitchFamily="34" charset="-120"/>
              </a:rPr>
              <a:t>中油公告指出：</a:t>
            </a:r>
            <a:r>
              <a:rPr lang="en-US" altLang="zh-TW" sz="1600" b="1" dirty="0">
                <a:solidFill>
                  <a:srgbClr val="FF0000"/>
                </a:solidFill>
                <a:latin typeface="微軟正黑體" panose="020B0604030504040204" pitchFamily="34" charset="-120"/>
                <a:ea typeface="微軟正黑體" panose="020B0604030504040204" pitchFamily="34" charset="-120"/>
              </a:rPr>
              <a:t>110 </a:t>
            </a:r>
            <a:r>
              <a:rPr lang="zh-TW" altLang="en-US" sz="1600" b="1" dirty="0">
                <a:solidFill>
                  <a:srgbClr val="FF0000"/>
                </a:solidFill>
                <a:latin typeface="微軟正黑體" panose="020B0604030504040204" pitchFamily="34" charset="-120"/>
                <a:ea typeface="微軟正黑體" panose="020B0604030504040204" pitchFamily="34" charset="-120"/>
              </a:rPr>
              <a:t>年至 </a:t>
            </a:r>
            <a:r>
              <a:rPr lang="en-US" altLang="zh-TW" sz="1600" b="1" dirty="0">
                <a:solidFill>
                  <a:srgbClr val="FF0000"/>
                </a:solidFill>
                <a:latin typeface="微軟正黑體" panose="020B0604030504040204" pitchFamily="34" charset="-120"/>
                <a:ea typeface="微軟正黑體" panose="020B0604030504040204" pitchFamily="34" charset="-120"/>
              </a:rPr>
              <a:t>114 </a:t>
            </a:r>
            <a:r>
              <a:rPr lang="zh-TW" altLang="en-US" sz="1600" b="1" dirty="0">
                <a:solidFill>
                  <a:srgbClr val="FF0000"/>
                </a:solidFill>
                <a:latin typeface="微軟正黑體" panose="020B0604030504040204" pitchFamily="34" charset="-120"/>
                <a:ea typeface="微軟正黑體" panose="020B0604030504040204" pitchFamily="34" charset="-120"/>
              </a:rPr>
              <a:t>年期間，液化石油氣產品累計吸收金額已達 </a:t>
            </a:r>
            <a:r>
              <a:rPr lang="en-US" altLang="zh-TW" sz="1600" b="1" dirty="0">
                <a:solidFill>
                  <a:srgbClr val="FF0000"/>
                </a:solidFill>
                <a:latin typeface="微軟正黑體" panose="020B0604030504040204" pitchFamily="34" charset="-120"/>
                <a:ea typeface="微軟正黑體" panose="020B0604030504040204" pitchFamily="34" charset="-120"/>
              </a:rPr>
              <a:t>559 </a:t>
            </a:r>
            <a:r>
              <a:rPr lang="zh-TW" altLang="en-US" sz="1600" b="1" dirty="0">
                <a:solidFill>
                  <a:srgbClr val="FF0000"/>
                </a:solidFill>
                <a:latin typeface="微軟正黑體" panose="020B0604030504040204" pitchFamily="34" charset="-120"/>
                <a:ea typeface="微軟正黑體" panose="020B0604030504040204" pitchFamily="34" charset="-120"/>
              </a:rPr>
              <a:t>億元，並將持續採取「滾動式檢討」機制，視國際市場與政策條件調整價格。</a:t>
            </a:r>
            <a:endParaRPr lang="en-US" altLang="zh-TW" sz="1600" b="1" dirty="0">
              <a:solidFill>
                <a:srgbClr val="FF0000"/>
              </a:solidFill>
              <a:latin typeface="微軟正黑體" panose="020B0604030504040204" pitchFamily="34" charset="-120"/>
              <a:ea typeface="微軟正黑體" panose="020B0604030504040204" pitchFamily="34" charset="-120"/>
            </a:endParaRPr>
          </a:p>
          <a:p>
            <a:pPr lvl="1">
              <a:lnSpc>
                <a:spcPct val="150000"/>
              </a:lnSpc>
            </a:pPr>
            <a:endParaRPr lang="zh-TW" altLang="en-US" b="1" dirty="0">
              <a:latin typeface="微軟正黑體" panose="020B0604030504040204" pitchFamily="34" charset="-120"/>
              <a:ea typeface="微軟正黑體" panose="020B0604030504040204" pitchFamily="34" charset="-120"/>
            </a:endParaRPr>
          </a:p>
          <a:p>
            <a:pPr>
              <a:lnSpc>
                <a:spcPct val="150000"/>
              </a:lnSpc>
            </a:pPr>
            <a:r>
              <a:rPr lang="zh-TW" altLang="en-US" b="1" dirty="0">
                <a:latin typeface="微軟正黑體" panose="020B0604030504040204" pitchFamily="34" charset="-120"/>
                <a:ea typeface="微軟正黑體" panose="020B0604030504040204" pitchFamily="34" charset="-120"/>
              </a:rPr>
              <a:t>（二）上游原料與政策環境</a:t>
            </a:r>
          </a:p>
          <a:p>
            <a:pPr marL="742950" lvl="1" indent="-285750">
              <a:lnSpc>
                <a:spcPct val="150000"/>
              </a:lnSpc>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台塑石化工業用液化石油氣價格，依其公告反映國際行情與原料成本波動。</a:t>
            </a:r>
            <a:endParaRPr lang="en-US" altLang="zh-TW" sz="1600"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政府能源政策持續推動低碳轉型與天然氣佈建，對液化石油氣市場形成結構性競合</a:t>
            </a:r>
            <a:endParaRPr lang="en-US" altLang="zh-TW" sz="1600" dirty="0">
              <a:latin typeface="微軟正黑體" panose="020B0604030504040204" pitchFamily="34" charset="-120"/>
              <a:ea typeface="微軟正黑體" panose="020B0604030504040204" pitchFamily="34" charset="-120"/>
            </a:endParaRPr>
          </a:p>
          <a:p>
            <a:pPr lvl="1">
              <a:lnSpc>
                <a:spcPct val="150000"/>
              </a:lnSpc>
            </a:pPr>
            <a:r>
              <a:rPr lang="zh-TW" altLang="en-US" sz="1600" dirty="0">
                <a:latin typeface="微軟正黑體" panose="020B0604030504040204" pitchFamily="34" charset="-120"/>
                <a:ea typeface="微軟正黑體" panose="020B0604030504040204" pitchFamily="34" charset="-120"/>
              </a:rPr>
              <a:t>      關係。</a:t>
            </a:r>
            <a:endParaRPr lang="en-US" altLang="zh-TW" sz="16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929987837"/>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73ED5-D957-15FC-CCEE-3694211A8BCF}"/>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39A4E343-C497-68DD-EF41-5E3884D1BFEE}"/>
              </a:ext>
            </a:extLst>
          </p:cNvPr>
          <p:cNvSpPr txBox="1"/>
          <p:nvPr/>
        </p:nvSpPr>
        <p:spPr>
          <a:xfrm>
            <a:off x="1138066" y="1412777"/>
            <a:ext cx="10334694" cy="3293979"/>
          </a:xfrm>
          <a:prstGeom prst="rect">
            <a:avLst/>
          </a:prstGeom>
          <a:noFill/>
        </p:spPr>
        <p:txBody>
          <a:bodyPr wrap="square">
            <a:spAutoFit/>
          </a:bodyPr>
          <a:lstStyle/>
          <a:p>
            <a:pPr>
              <a:lnSpc>
                <a:spcPts val="2400"/>
              </a:lnSpc>
              <a:spcBef>
                <a:spcPts val="600"/>
              </a:spcBef>
              <a:spcAft>
                <a:spcPts val="600"/>
              </a:spcAft>
            </a:pPr>
            <a:r>
              <a:rPr lang="zh-TW" altLang="en-US" sz="2400" b="1" dirty="0">
                <a:latin typeface="微軟正黑體" panose="020B0604030504040204" pitchFamily="34" charset="-120"/>
                <a:ea typeface="微軟正黑體" panose="020B0604030504040204" pitchFamily="34" charset="-120"/>
              </a:rPr>
              <a:t>三、產業趨勢判讀</a:t>
            </a:r>
            <a:endParaRPr lang="en-US" altLang="zh-TW" sz="2400" b="1" dirty="0">
              <a:latin typeface="微軟正黑體" panose="020B0604030504040204" pitchFamily="34" charset="-120"/>
              <a:ea typeface="微軟正黑體" panose="020B0604030504040204" pitchFamily="34" charset="-120"/>
            </a:endParaRPr>
          </a:p>
          <a:p>
            <a:pPr>
              <a:lnSpc>
                <a:spcPts val="2400"/>
              </a:lnSpc>
              <a:spcBef>
                <a:spcPts val="600"/>
              </a:spcBef>
              <a:spcAft>
                <a:spcPts val="600"/>
              </a:spcAft>
            </a:pPr>
            <a:r>
              <a:rPr lang="zh-TW" altLang="en-US" b="1" dirty="0">
                <a:latin typeface="微軟正黑體" panose="020B0604030504040204" pitchFamily="34" charset="-120"/>
                <a:ea typeface="微軟正黑體" panose="020B0604030504040204" pitchFamily="34" charset="-120"/>
              </a:rPr>
              <a:t>（一）綜合官方資料與政策方向，可歸納目前液化石油氣零售市場的宏觀趨勢如下：</a:t>
            </a:r>
          </a:p>
          <a:p>
            <a:pPr marL="742950" lvl="1" indent="-285750">
              <a:lnSpc>
                <a:spcPts val="2400"/>
              </a:lnSpc>
              <a:spcBef>
                <a:spcPts val="600"/>
              </a:spcBef>
              <a:spcAft>
                <a:spcPts val="600"/>
              </a:spcAft>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總體需求結構調整液化石油氣逐步由</a:t>
            </a:r>
            <a:r>
              <a:rPr lang="zh-TW" altLang="en-US" sz="1600" b="1" dirty="0">
                <a:solidFill>
                  <a:srgbClr val="FF0000"/>
                </a:solidFill>
                <a:latin typeface="微軟正黑體" panose="020B0604030504040204" pitchFamily="34" charset="-120"/>
                <a:ea typeface="微軟正黑體" panose="020B0604030504040204" pitchFamily="34" charset="-120"/>
              </a:rPr>
              <a:t>「主流家庭能源」轉為「特定區域、特定場景」之重要補充能源。</a:t>
            </a:r>
          </a:p>
          <a:p>
            <a:pPr marL="742950" lvl="1" indent="-285750">
              <a:lnSpc>
                <a:spcPts val="2400"/>
              </a:lnSpc>
              <a:spcBef>
                <a:spcPts val="600"/>
              </a:spcBef>
              <a:spcAft>
                <a:spcPts val="600"/>
              </a:spcAft>
              <a:buFont typeface="Arial" panose="020B0604020202020204" pitchFamily="34" charset="0"/>
              <a:buChar char="•"/>
            </a:pPr>
            <a:r>
              <a:rPr lang="zh-TW" altLang="en-US" sz="1600" dirty="0">
                <a:latin typeface="微軟正黑體" panose="020B0604030504040204" pitchFamily="34" charset="-120"/>
                <a:ea typeface="微軟正黑體" panose="020B0604030504040204" pitchFamily="34" charset="-120"/>
              </a:rPr>
              <a:t>產業集中與整併加速零售端面臨人力、物流、法規與設備升級等制度性成本，</a:t>
            </a:r>
            <a:r>
              <a:rPr lang="zh-TW" altLang="en-US" sz="1600" b="1" dirty="0">
                <a:solidFill>
                  <a:srgbClr val="FF0000"/>
                </a:solidFill>
                <a:latin typeface="微軟正黑體" panose="020B0604030504040204" pitchFamily="34" charset="-120"/>
                <a:ea typeface="微軟正黑體" panose="020B0604030504040204" pitchFamily="34" charset="-120"/>
              </a:rPr>
              <a:t>市場淘汰無法負擔固定成本之小型業者。</a:t>
            </a:r>
          </a:p>
          <a:p>
            <a:pPr marL="742950" lvl="1" indent="-285750">
              <a:lnSpc>
                <a:spcPts val="2400"/>
              </a:lnSpc>
              <a:spcBef>
                <a:spcPts val="600"/>
              </a:spcBef>
              <a:spcAft>
                <a:spcPts val="600"/>
              </a:spcAft>
              <a:buFont typeface="Arial" panose="020B0604020202020204" pitchFamily="34" charset="0"/>
              <a:buChar char="•"/>
            </a:pPr>
            <a:r>
              <a:rPr lang="zh-TW" altLang="en-US" sz="1600" b="1" dirty="0">
                <a:solidFill>
                  <a:srgbClr val="FF0000"/>
                </a:solidFill>
                <a:latin typeface="微軟正黑體" panose="020B0604030504040204" pitchFamily="34" charset="-120"/>
                <a:ea typeface="微軟正黑體" panose="020B0604030504040204" pitchFamily="34" charset="-120"/>
              </a:rPr>
              <a:t>價格不確定性</a:t>
            </a:r>
            <a:r>
              <a:rPr lang="zh-TW" altLang="en-US" sz="1600" dirty="0">
                <a:latin typeface="微軟正黑體" panose="020B0604030504040204" pitchFamily="34" charset="-120"/>
                <a:ea typeface="微軟正黑體" panose="020B0604030504040204" pitchFamily="34" charset="-120"/>
              </a:rPr>
              <a:t>提高凍漲政策具短期緩衝效果，但成本壓力並未消失，價格風險已成為中長期經營的重要變數。</a:t>
            </a:r>
          </a:p>
          <a:p>
            <a:pPr lvl="1">
              <a:lnSpc>
                <a:spcPts val="2400"/>
              </a:lnSpc>
              <a:spcBef>
                <a:spcPts val="600"/>
              </a:spcBef>
              <a:spcAft>
                <a:spcPts val="600"/>
              </a:spcAft>
            </a:pPr>
            <a:r>
              <a:rPr lang="zh-TW" altLang="en-US" sz="1600" dirty="0">
                <a:latin typeface="微軟正黑體" panose="020B0604030504040204" pitchFamily="34" charset="-120"/>
                <a:ea typeface="微軟正黑體" panose="020B0604030504040204" pitchFamily="34" charset="-120"/>
              </a:rPr>
              <a:t>👉 </a:t>
            </a:r>
            <a:r>
              <a:rPr lang="zh-TW" altLang="en-US" sz="1600" b="1" dirty="0">
                <a:solidFill>
                  <a:srgbClr val="FF0000"/>
                </a:solidFill>
                <a:latin typeface="微軟正黑體" panose="020B0604030504040204" pitchFamily="34" charset="-120"/>
                <a:ea typeface="微軟正黑體" panose="020B0604030504040204" pitchFamily="34" charset="-120"/>
              </a:rPr>
              <a:t>產業已進入「總量趨緩 </a:t>
            </a:r>
            <a:r>
              <a:rPr lang="en-US" altLang="zh-TW" sz="1600" b="1" dirty="0">
                <a:solidFill>
                  <a:srgbClr val="FF0000"/>
                </a:solidFill>
                <a:latin typeface="微軟正黑體" panose="020B0604030504040204" pitchFamily="34" charset="-120"/>
                <a:ea typeface="微軟正黑體" panose="020B0604030504040204" pitchFamily="34" charset="-120"/>
              </a:rPr>
              <a:t>× </a:t>
            </a:r>
            <a:r>
              <a:rPr lang="zh-TW" altLang="en-US" sz="1600" b="1" dirty="0">
                <a:solidFill>
                  <a:srgbClr val="FF0000"/>
                </a:solidFill>
                <a:latin typeface="微軟正黑體" panose="020B0604030504040204" pitchFamily="34" charset="-120"/>
                <a:ea typeface="微軟正黑體" panose="020B0604030504040204" pitchFamily="34" charset="-120"/>
              </a:rPr>
              <a:t>結構淘汰 </a:t>
            </a:r>
            <a:r>
              <a:rPr lang="en-US" altLang="zh-TW" sz="1600" b="1" dirty="0">
                <a:solidFill>
                  <a:srgbClr val="FF0000"/>
                </a:solidFill>
                <a:latin typeface="微軟正黑體" panose="020B0604030504040204" pitchFamily="34" charset="-120"/>
                <a:ea typeface="微軟正黑體" panose="020B0604030504040204" pitchFamily="34" charset="-120"/>
              </a:rPr>
              <a:t>× </a:t>
            </a:r>
            <a:r>
              <a:rPr lang="zh-TW" altLang="en-US" sz="1600" b="1" dirty="0">
                <a:solidFill>
                  <a:srgbClr val="FF0000"/>
                </a:solidFill>
                <a:latin typeface="微軟正黑體" panose="020B0604030504040204" pitchFamily="34" charset="-120"/>
                <a:ea typeface="微軟正黑體" panose="020B0604030504040204" pitchFamily="34" charset="-120"/>
              </a:rPr>
              <a:t>價值競爭」階段，而非單純的景氣循環問題。</a:t>
            </a:r>
          </a:p>
        </p:txBody>
      </p:sp>
      <p:sp>
        <p:nvSpPr>
          <p:cNvPr id="2" name="內容版面配置區 2">
            <a:extLst>
              <a:ext uri="{FF2B5EF4-FFF2-40B4-BE49-F238E27FC236}">
                <a16:creationId xmlns:a16="http://schemas.microsoft.com/office/drawing/2014/main" id="{EBCAADEF-0BC8-85AD-115C-565127052E0A}"/>
              </a:ext>
            </a:extLst>
          </p:cNvPr>
          <p:cNvSpPr txBox="1">
            <a:spLocks/>
          </p:cNvSpPr>
          <p:nvPr/>
        </p:nvSpPr>
        <p:spPr>
          <a:xfrm>
            <a:off x="341779" y="517088"/>
            <a:ext cx="5904656" cy="548680"/>
          </a:xfrm>
          <a:prstGeom prst="rect">
            <a:avLst/>
          </a:prstGeom>
        </p:spPr>
        <p:txBody>
          <a:bodyPr vert="horz" lIns="91440" tIns="45720" rIns="91440" bIns="45720" rtlCol="0" anchor="ctr"/>
          <a:lstStyle>
            <a:defPPr>
              <a:defRPr lang="zh-TW"/>
            </a:defPPr>
            <a:lvl1pPr marL="0" defTabSz="914400" eaLnBrk="1" latinLnBrk="0" hangingPunct="1">
              <a:defRPr sz="2800" b="1">
                <a:latin typeface="微軟正黑體" pitchFamily="34" charset="-120"/>
                <a:ea typeface="微軟正黑體" pitchFamily="34" charset="-120"/>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r>
              <a:rPr lang="zh-TW" altLang="en-US" dirty="0"/>
              <a:t>一</a:t>
            </a:r>
            <a:r>
              <a:rPr lang="en-US" altLang="zh-TW" dirty="0"/>
              <a:t>、</a:t>
            </a:r>
            <a:r>
              <a:rPr lang="zh-TW" altLang="en-US" dirty="0"/>
              <a:t>宏觀分析</a:t>
            </a:r>
            <a:endParaRPr lang="en-US" altLang="zh-TW" dirty="0"/>
          </a:p>
        </p:txBody>
      </p:sp>
    </p:spTree>
    <p:extLst>
      <p:ext uri="{BB962C8B-B14F-4D97-AF65-F5344CB8AC3E}">
        <p14:creationId xmlns:p14="http://schemas.microsoft.com/office/powerpoint/2010/main" val="313526633"/>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C0250-6255-4F4B-4F9D-CEF579B280B0}"/>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4A5AEE6A-F5D9-D67E-55B5-50FE7BFF074C}"/>
              </a:ext>
            </a:extLst>
          </p:cNvPr>
          <p:cNvSpPr txBox="1"/>
          <p:nvPr/>
        </p:nvSpPr>
        <p:spPr>
          <a:xfrm>
            <a:off x="1847528" y="1196752"/>
            <a:ext cx="8496944" cy="4648324"/>
          </a:xfrm>
          <a:prstGeom prst="rect">
            <a:avLst/>
          </a:prstGeom>
          <a:noFill/>
        </p:spPr>
        <p:txBody>
          <a:bodyPr wrap="square">
            <a:spAutoFit/>
          </a:bodyPr>
          <a:lstStyle/>
          <a:p>
            <a:pPr>
              <a:lnSpc>
                <a:spcPct val="150000"/>
              </a:lnSpc>
              <a:spcBef>
                <a:spcPts val="600"/>
              </a:spcBef>
              <a:spcAft>
                <a:spcPts val="600"/>
              </a:spcAft>
            </a:pPr>
            <a:r>
              <a:rPr lang="zh-TW" altLang="en-US" sz="2400" b="1" dirty="0">
                <a:latin typeface="微軟正黑體" panose="020B0604030504040204" pitchFamily="34" charset="-120"/>
                <a:ea typeface="微軟正黑體" panose="020B0604030504040204" pitchFamily="34" charset="-120"/>
              </a:rPr>
              <a:t>四、對旺來瓦斯的宏觀啟示</a:t>
            </a:r>
            <a:endParaRPr lang="en-US" altLang="zh-TW" sz="2400" b="1" dirty="0">
              <a:latin typeface="微軟正黑體" panose="020B0604030504040204" pitchFamily="34" charset="-120"/>
              <a:ea typeface="微軟正黑體" panose="020B0604030504040204" pitchFamily="34" charset="-120"/>
            </a:endParaRPr>
          </a:p>
          <a:p>
            <a:pPr>
              <a:lnSpc>
                <a:spcPct val="150000"/>
              </a:lnSpc>
              <a:spcBef>
                <a:spcPts val="600"/>
              </a:spcBef>
              <a:spcAft>
                <a:spcPts val="600"/>
              </a:spcAft>
            </a:pPr>
            <a:r>
              <a:rPr lang="zh-TW" altLang="en-US" b="1" dirty="0">
                <a:latin typeface="微軟正黑體" panose="020B0604030504040204" pitchFamily="34" charset="-120"/>
                <a:ea typeface="微軟正黑體" panose="020B0604030504040204" pitchFamily="34" charset="-120"/>
              </a:rPr>
              <a:t>（一）本宏觀分析對旺來瓦斯的策略啟示為：</a:t>
            </a:r>
          </a:p>
          <a:p>
            <a:pPr marL="742950" lvl="1" indent="-285750">
              <a:lnSpc>
                <a:spcPts val="2400"/>
              </a:lnSpc>
              <a:buFont typeface="Arial" panose="020B0604020202020204" pitchFamily="34" charset="0"/>
              <a:buChar char="•"/>
            </a:pPr>
            <a:r>
              <a:rPr lang="zh-TW" altLang="en-US" sz="1600" b="1" dirty="0">
                <a:latin typeface="微軟正黑體" panose="020B0604030504040204" pitchFamily="34" charset="-120"/>
                <a:ea typeface="微軟正黑體" panose="020B0604030504040204" pitchFamily="34" charset="-120"/>
              </a:rPr>
              <a:t>競爭關鍵已非價格本身，而是</a:t>
            </a:r>
            <a:r>
              <a:rPr lang="zh-TW" altLang="en-US" sz="1600" b="1" dirty="0">
                <a:solidFill>
                  <a:srgbClr val="FF0000"/>
                </a:solidFill>
                <a:latin typeface="微軟正黑體" panose="020B0604030504040204" pitchFamily="34" charset="-120"/>
                <a:ea typeface="微軟正黑體" panose="020B0604030504040204" pitchFamily="34" charset="-120"/>
              </a:rPr>
              <a:t>價值成熟度與服務履約能力。</a:t>
            </a:r>
            <a:endParaRPr lang="en-US" altLang="zh-TW" sz="1600" b="1" dirty="0">
              <a:solidFill>
                <a:srgbClr val="FF0000"/>
              </a:solidFill>
              <a:latin typeface="微軟正黑體" panose="020B0604030504040204" pitchFamily="34" charset="-120"/>
              <a:ea typeface="微軟正黑體" panose="020B0604030504040204" pitchFamily="34" charset="-120"/>
            </a:endParaRPr>
          </a:p>
          <a:p>
            <a:pPr lvl="1">
              <a:lnSpc>
                <a:spcPts val="2400"/>
              </a:lnSpc>
            </a:pPr>
            <a:r>
              <a:rPr lang="zh-TW" altLang="en-US" sz="1600"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能否提供穩定、可被信任且可複製的服務體系，將直接決定品牌能否長期存續。</a:t>
            </a:r>
            <a:endParaRPr lang="en-US" altLang="zh-TW" sz="1400" dirty="0">
              <a:latin typeface="微軟正黑體" panose="020B0604030504040204" pitchFamily="34" charset="-120"/>
              <a:ea typeface="微軟正黑體" panose="020B0604030504040204" pitchFamily="34" charset="-120"/>
            </a:endParaRPr>
          </a:p>
          <a:p>
            <a:pPr lvl="1">
              <a:lnSpc>
                <a:spcPts val="2400"/>
              </a:lnSpc>
            </a:pPr>
            <a:endParaRPr lang="en-US" altLang="zh-TW" sz="1600" dirty="0">
              <a:latin typeface="微軟正黑體" panose="020B0604030504040204" pitchFamily="34" charset="-120"/>
              <a:ea typeface="微軟正黑體" panose="020B0604030504040204" pitchFamily="34" charset="-120"/>
            </a:endParaRPr>
          </a:p>
          <a:p>
            <a:pPr marL="742950" lvl="1" indent="-285750">
              <a:lnSpc>
                <a:spcPts val="2400"/>
              </a:lnSpc>
              <a:buFont typeface="Arial" panose="020B0604020202020204" pitchFamily="34" charset="0"/>
              <a:buChar char="•"/>
            </a:pPr>
            <a:r>
              <a:rPr lang="zh-TW" altLang="en-US" sz="1600" b="1" dirty="0">
                <a:solidFill>
                  <a:srgbClr val="FF0000"/>
                </a:solidFill>
                <a:latin typeface="微軟正黑體" panose="020B0604030504040204" pitchFamily="34" charset="-120"/>
                <a:ea typeface="微軟正黑體" panose="020B0604030504040204" pitchFamily="34" charset="-120"/>
              </a:rPr>
              <a:t>供應鏈韌性與履約穩定性</a:t>
            </a:r>
            <a:r>
              <a:rPr lang="zh-TW" altLang="en-US" sz="1600" b="1" dirty="0">
                <a:latin typeface="微軟正黑體" panose="020B0604030504040204" pitchFamily="34" charset="-120"/>
                <a:ea typeface="微軟正黑體" panose="020B0604030504040204" pitchFamily="34" charset="-120"/>
              </a:rPr>
              <a:t>，將成為市場分化的核心指標。</a:t>
            </a:r>
            <a:endParaRPr lang="en-US" altLang="zh-TW" sz="1600" b="1" dirty="0">
              <a:latin typeface="微軟正黑體" panose="020B0604030504040204" pitchFamily="34" charset="-120"/>
              <a:ea typeface="微軟正黑體" panose="020B0604030504040204" pitchFamily="34" charset="-120"/>
            </a:endParaRPr>
          </a:p>
          <a:p>
            <a:pPr lvl="1">
              <a:lnSpc>
                <a:spcPts val="2400"/>
              </a:lnSpc>
            </a:pPr>
            <a:r>
              <a:rPr lang="zh-TW" altLang="en-US" sz="1400" b="1"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在外部環境高度不確定下，穩定交付與風險承擔能力，將形成與傳統業者的本質差異。</a:t>
            </a:r>
            <a:endParaRPr lang="en-US" altLang="zh-TW" sz="1400" dirty="0">
              <a:latin typeface="微軟正黑體" panose="020B0604030504040204" pitchFamily="34" charset="-120"/>
              <a:ea typeface="微軟正黑體" panose="020B0604030504040204" pitchFamily="34" charset="-120"/>
            </a:endParaRPr>
          </a:p>
          <a:p>
            <a:pPr lvl="1">
              <a:lnSpc>
                <a:spcPts val="2400"/>
              </a:lnSpc>
            </a:pPr>
            <a:endParaRPr lang="en-US" altLang="zh-TW" sz="1400" dirty="0">
              <a:latin typeface="微軟正黑體" panose="020B0604030504040204" pitchFamily="34" charset="-120"/>
              <a:ea typeface="微軟正黑體" panose="020B0604030504040204" pitchFamily="34" charset="-120"/>
            </a:endParaRPr>
          </a:p>
          <a:p>
            <a:pPr marL="742950" lvl="1" indent="-285750">
              <a:lnSpc>
                <a:spcPts val="2400"/>
              </a:lnSpc>
              <a:buFont typeface="Arial" panose="020B0604020202020204" pitchFamily="34" charset="0"/>
              <a:buChar char="•"/>
            </a:pPr>
            <a:r>
              <a:rPr lang="zh-TW" altLang="en-US" sz="1600" b="1" dirty="0">
                <a:solidFill>
                  <a:srgbClr val="FF0000"/>
                </a:solidFill>
                <a:latin typeface="微軟正黑體" panose="020B0604030504040204" pitchFamily="34" charset="-120"/>
                <a:ea typeface="微軟正黑體" panose="020B0604030504040204" pitchFamily="34" charset="-120"/>
              </a:rPr>
              <a:t>數位化與 </a:t>
            </a:r>
            <a:r>
              <a:rPr lang="en-US" altLang="zh-TW" sz="1600" b="1" dirty="0">
                <a:solidFill>
                  <a:srgbClr val="FF0000"/>
                </a:solidFill>
                <a:latin typeface="微軟正黑體" panose="020B0604030504040204" pitchFamily="34" charset="-120"/>
                <a:ea typeface="微軟正黑體" panose="020B0604030504040204" pitchFamily="34" charset="-120"/>
              </a:rPr>
              <a:t>OMO </a:t>
            </a:r>
            <a:r>
              <a:rPr lang="zh-TW" altLang="en-US" sz="1600" b="1" dirty="0">
                <a:solidFill>
                  <a:srgbClr val="FF0000"/>
                </a:solidFill>
                <a:latin typeface="微軟正黑體" panose="020B0604030504040204" pitchFamily="34" charset="-120"/>
                <a:ea typeface="微軟正黑體" panose="020B0604030504040204" pitchFamily="34" charset="-120"/>
              </a:rPr>
              <a:t>架構</a:t>
            </a:r>
            <a:r>
              <a:rPr lang="zh-TW" altLang="en-US" sz="1600" b="1" dirty="0">
                <a:latin typeface="微軟正黑體" panose="020B0604030504040204" pitchFamily="34" charset="-120"/>
                <a:ea typeface="微軟正黑體" panose="020B0604030504040204" pitchFamily="34" charset="-120"/>
              </a:rPr>
              <a:t>，是對抗人力與物流不確定性的關鍵支撐。</a:t>
            </a:r>
            <a:endParaRPr lang="en-US" altLang="zh-TW" sz="1600" b="1" dirty="0">
              <a:latin typeface="微軟正黑體" panose="020B0604030504040204" pitchFamily="34" charset="-120"/>
              <a:ea typeface="微軟正黑體" panose="020B0604030504040204" pitchFamily="34" charset="-120"/>
            </a:endParaRPr>
          </a:p>
          <a:p>
            <a:pPr lvl="1">
              <a:lnSpc>
                <a:spcPts val="2400"/>
              </a:lnSpc>
            </a:pPr>
            <a:r>
              <a:rPr lang="en-US" altLang="zh-TW" sz="1600" b="1"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透過系統化管理、流程標準化與線上線下整合，可有效降低營運波動風險。</a:t>
            </a:r>
            <a:endParaRPr lang="en-US" altLang="zh-TW" sz="1400" dirty="0">
              <a:latin typeface="微軟正黑體" panose="020B0604030504040204" pitchFamily="34" charset="-120"/>
              <a:ea typeface="微軟正黑體" panose="020B0604030504040204" pitchFamily="34" charset="-120"/>
            </a:endParaRPr>
          </a:p>
          <a:p>
            <a:pPr lvl="1">
              <a:lnSpc>
                <a:spcPts val="2400"/>
              </a:lnSpc>
            </a:pPr>
            <a:endParaRPr lang="en-US" altLang="zh-TW" sz="1400" dirty="0">
              <a:latin typeface="微軟正黑體" panose="020B0604030504040204" pitchFamily="34" charset="-120"/>
              <a:ea typeface="微軟正黑體" panose="020B0604030504040204" pitchFamily="34" charset="-120"/>
            </a:endParaRPr>
          </a:p>
          <a:p>
            <a:pPr marL="742950" lvl="1" indent="-285750">
              <a:lnSpc>
                <a:spcPts val="2400"/>
              </a:lnSpc>
              <a:buFont typeface="Arial" panose="020B0604020202020204" pitchFamily="34" charset="0"/>
              <a:buChar char="•"/>
            </a:pPr>
            <a:r>
              <a:rPr lang="zh-TW" altLang="en-US" sz="1600" b="1" dirty="0">
                <a:latin typeface="微軟正黑體" panose="020B0604030504040204" pitchFamily="34" charset="-120"/>
                <a:ea typeface="微軟正黑體" panose="020B0604030504040204" pitchFamily="34" charset="-120"/>
              </a:rPr>
              <a:t>在能源轉型趨勢下，多元能源布局與</a:t>
            </a:r>
            <a:r>
              <a:rPr lang="zh-TW" altLang="en-US" sz="1600" b="1" dirty="0">
                <a:solidFill>
                  <a:srgbClr val="FF0000"/>
                </a:solidFill>
                <a:latin typeface="微軟正黑體" panose="020B0604030504040204" pitchFamily="34" charset="-120"/>
                <a:ea typeface="微軟正黑體" panose="020B0604030504040204" pitchFamily="34" charset="-120"/>
              </a:rPr>
              <a:t>服務型態延伸</a:t>
            </a:r>
            <a:r>
              <a:rPr lang="zh-TW" altLang="en-US" sz="1600" b="1" dirty="0">
                <a:latin typeface="微軟正黑體" panose="020B0604030504040204" pitchFamily="34" charset="-120"/>
                <a:ea typeface="微軟正黑體" panose="020B0604030504040204" pitchFamily="34" charset="-120"/>
              </a:rPr>
              <a:t>，具備長期結構性必要性。</a:t>
            </a:r>
            <a:endParaRPr lang="en-US" altLang="zh-TW" sz="1600" b="1" dirty="0">
              <a:latin typeface="微軟正黑體" panose="020B0604030504040204" pitchFamily="34" charset="-120"/>
              <a:ea typeface="微軟正黑體" panose="020B0604030504040204" pitchFamily="34" charset="-120"/>
            </a:endParaRPr>
          </a:p>
          <a:p>
            <a:pPr lvl="1">
              <a:lnSpc>
                <a:spcPts val="2400"/>
              </a:lnSpc>
            </a:pPr>
            <a:r>
              <a:rPr lang="en-US" altLang="zh-TW" sz="1600" b="1" dirty="0">
                <a:latin typeface="微軟正黑體" panose="020B0604030504040204" pitchFamily="34" charset="-120"/>
                <a:ea typeface="微軟正黑體" panose="020B0604030504040204" pitchFamily="34" charset="-120"/>
              </a:rPr>
              <a:t>     </a:t>
            </a:r>
            <a:r>
              <a:rPr lang="zh-TW" altLang="en-US" sz="1400" dirty="0">
                <a:latin typeface="微軟正黑體" panose="020B0604030504040204" pitchFamily="34" charset="-120"/>
                <a:ea typeface="微軟正黑體" panose="020B0604030504040204" pitchFamily="34" charset="-120"/>
              </a:rPr>
              <a:t>瓦斯不再只是單一能源商品，而是整體生活能源與安全服務的一環。</a:t>
            </a:r>
            <a:endParaRPr lang="zh-TW" altLang="en-US" sz="1600" dirty="0">
              <a:latin typeface="微軟正黑體" panose="020B0604030504040204" pitchFamily="34" charset="-120"/>
              <a:ea typeface="微軟正黑體" panose="020B0604030504040204" pitchFamily="34" charset="-120"/>
            </a:endParaRPr>
          </a:p>
        </p:txBody>
      </p:sp>
      <p:sp>
        <p:nvSpPr>
          <p:cNvPr id="2" name="內容版面配置區 2">
            <a:extLst>
              <a:ext uri="{FF2B5EF4-FFF2-40B4-BE49-F238E27FC236}">
                <a16:creationId xmlns:a16="http://schemas.microsoft.com/office/drawing/2014/main" id="{0DDB96DF-0BF0-948A-CD29-9D0B4638F638}"/>
              </a:ext>
            </a:extLst>
          </p:cNvPr>
          <p:cNvSpPr txBox="1">
            <a:spLocks/>
          </p:cNvSpPr>
          <p:nvPr/>
        </p:nvSpPr>
        <p:spPr>
          <a:xfrm>
            <a:off x="341779" y="517088"/>
            <a:ext cx="5904656" cy="548680"/>
          </a:xfrm>
          <a:prstGeom prst="rect">
            <a:avLst/>
          </a:prstGeom>
        </p:spPr>
        <p:txBody>
          <a:bodyPr vert="horz" lIns="91440" tIns="45720" rIns="91440" bIns="45720" rtlCol="0" anchor="ctr"/>
          <a:lstStyle>
            <a:defPPr>
              <a:defRPr lang="zh-TW"/>
            </a:defPPr>
            <a:lvl1pPr marL="0" defTabSz="914400" eaLnBrk="1" latinLnBrk="0" hangingPunct="1">
              <a:defRPr sz="2800" b="1">
                <a:latin typeface="微軟正黑體" pitchFamily="34" charset="-120"/>
                <a:ea typeface="微軟正黑體" pitchFamily="34" charset="-120"/>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r>
              <a:rPr lang="zh-TW" altLang="en-US" dirty="0"/>
              <a:t>一</a:t>
            </a:r>
            <a:r>
              <a:rPr lang="en-US" altLang="zh-TW" dirty="0"/>
              <a:t>、</a:t>
            </a:r>
            <a:r>
              <a:rPr lang="zh-TW" altLang="en-US" dirty="0"/>
              <a:t>宏觀分析</a:t>
            </a:r>
            <a:endParaRPr lang="en-US" altLang="zh-TW" dirty="0"/>
          </a:p>
        </p:txBody>
      </p:sp>
    </p:spTree>
    <p:extLst>
      <p:ext uri="{BB962C8B-B14F-4D97-AF65-F5344CB8AC3E}">
        <p14:creationId xmlns:p14="http://schemas.microsoft.com/office/powerpoint/2010/main" val="1827418093"/>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2FC49-991B-6167-9FCA-D7D1A0C56AE8}"/>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C1B64032-FA1A-C2E5-0629-AE20C64C29B8}"/>
              </a:ext>
            </a:extLst>
          </p:cNvPr>
          <p:cNvSpPr txBox="1"/>
          <p:nvPr/>
        </p:nvSpPr>
        <p:spPr>
          <a:xfrm>
            <a:off x="1739516" y="1268760"/>
            <a:ext cx="8712968" cy="3503908"/>
          </a:xfrm>
          <a:prstGeom prst="rect">
            <a:avLst/>
          </a:prstGeom>
          <a:noFill/>
        </p:spPr>
        <p:txBody>
          <a:bodyPr wrap="square">
            <a:spAutoFit/>
          </a:bodyPr>
          <a:lstStyle/>
          <a:p>
            <a:pPr>
              <a:lnSpc>
                <a:spcPct val="150000"/>
              </a:lnSpc>
            </a:pPr>
            <a:r>
              <a:rPr lang="zh-TW" altLang="en-US" sz="2400" b="1" dirty="0">
                <a:latin typeface="微軟正黑體" panose="020B0604030504040204" pitchFamily="34" charset="-120"/>
                <a:ea typeface="微軟正黑體" panose="020B0604030504040204" pitchFamily="34" charset="-120"/>
              </a:rPr>
              <a:t>五、資料來源說明</a:t>
            </a:r>
          </a:p>
          <a:p>
            <a:pPr>
              <a:lnSpc>
                <a:spcPct val="150000"/>
              </a:lnSpc>
            </a:pPr>
            <a:r>
              <a:rPr lang="zh-TW" altLang="en-US" dirty="0">
                <a:latin typeface="微軟正黑體" panose="020B0604030504040204" pitchFamily="34" charset="-120"/>
                <a:ea typeface="微軟正黑體" panose="020B0604030504040204" pitchFamily="34" charset="-120"/>
              </a:rPr>
              <a:t>本宏觀分析僅引用已公開、可查核之官方資料與主管機關公告，資料來源如下：</a:t>
            </a:r>
          </a:p>
          <a:p>
            <a:pPr marL="285750" indent="-285750">
              <a:lnSpc>
                <a:spcPct val="150000"/>
              </a:lnSpc>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經濟部能源署：能源統計年報、能源供需與結構統計、</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桶裝液化石油氣用戶數與用量開放資料</a:t>
            </a:r>
          </a:p>
          <a:p>
            <a:pPr marL="285750" indent="-285750">
              <a:lnSpc>
                <a:spcPct val="150000"/>
              </a:lnSpc>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經濟部商業司：零售業者登記與產業結構資料</a:t>
            </a:r>
          </a:p>
          <a:p>
            <a:pPr marL="285750" indent="-285750">
              <a:lnSpc>
                <a:spcPct val="150000"/>
              </a:lnSpc>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台灣中油：液化石油氣月度價格公告與政策說明</a:t>
            </a:r>
          </a:p>
          <a:p>
            <a:pPr marL="285750" indent="-285750">
              <a:lnSpc>
                <a:spcPct val="150000"/>
              </a:lnSpc>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台塑石化：工業用液化石油氣價格公告</a:t>
            </a:r>
          </a:p>
          <a:p>
            <a:pPr marL="285750" indent="-285750">
              <a:lnSpc>
                <a:spcPct val="150000"/>
              </a:lnSpc>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主流媒體（僅作政策事件與時間軸佐證，不作為單一數據來源）</a:t>
            </a:r>
          </a:p>
        </p:txBody>
      </p:sp>
      <p:sp>
        <p:nvSpPr>
          <p:cNvPr id="3" name="內容版面配置區 2">
            <a:extLst>
              <a:ext uri="{FF2B5EF4-FFF2-40B4-BE49-F238E27FC236}">
                <a16:creationId xmlns:a16="http://schemas.microsoft.com/office/drawing/2014/main" id="{A1F56AA8-AA2B-70C7-59D5-34E176A5B432}"/>
              </a:ext>
            </a:extLst>
          </p:cNvPr>
          <p:cNvSpPr txBox="1">
            <a:spLocks/>
          </p:cNvSpPr>
          <p:nvPr/>
        </p:nvSpPr>
        <p:spPr>
          <a:xfrm>
            <a:off x="341779" y="517088"/>
            <a:ext cx="5904656" cy="548680"/>
          </a:xfrm>
          <a:prstGeom prst="rect">
            <a:avLst/>
          </a:prstGeom>
        </p:spPr>
        <p:txBody>
          <a:bodyPr vert="horz" lIns="91440" tIns="45720" rIns="91440" bIns="45720" rtlCol="0" anchor="ctr"/>
          <a:lstStyle>
            <a:defPPr>
              <a:defRPr lang="zh-TW"/>
            </a:defPPr>
            <a:lvl1pPr marL="0" defTabSz="914400" eaLnBrk="1" latinLnBrk="0" hangingPunct="1">
              <a:defRPr sz="2800" b="1">
                <a:latin typeface="微軟正黑體" pitchFamily="34" charset="-120"/>
                <a:ea typeface="微軟正黑體" pitchFamily="34" charset="-120"/>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r>
              <a:rPr lang="zh-TW" altLang="en-US" dirty="0"/>
              <a:t>一</a:t>
            </a:r>
            <a:r>
              <a:rPr lang="en-US" altLang="zh-TW" dirty="0"/>
              <a:t>、</a:t>
            </a:r>
            <a:r>
              <a:rPr lang="zh-TW" altLang="en-US" dirty="0"/>
              <a:t>宏觀分析</a:t>
            </a:r>
            <a:endParaRPr lang="en-US" altLang="zh-TW" dirty="0"/>
          </a:p>
        </p:txBody>
      </p:sp>
    </p:spTree>
    <p:extLst>
      <p:ext uri="{BB962C8B-B14F-4D97-AF65-F5344CB8AC3E}">
        <p14:creationId xmlns:p14="http://schemas.microsoft.com/office/powerpoint/2010/main" val="896813522"/>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3847D-3296-32AD-0674-DD1A3F84AE6A}"/>
            </a:ext>
          </a:extLst>
        </p:cNvPr>
        <p:cNvGrpSpPr/>
        <p:nvPr/>
      </p:nvGrpSpPr>
      <p:grpSpPr>
        <a:xfrm>
          <a:off x="0" y="0"/>
          <a:ext cx="0" cy="0"/>
          <a:chOff x="0" y="0"/>
          <a:chExt cx="0" cy="0"/>
        </a:xfrm>
      </p:grpSpPr>
      <p:sp>
        <p:nvSpPr>
          <p:cNvPr id="29" name="圆角矩形 139">
            <a:extLst>
              <a:ext uri="{FF2B5EF4-FFF2-40B4-BE49-F238E27FC236}">
                <a16:creationId xmlns:a16="http://schemas.microsoft.com/office/drawing/2014/main" id="{4EC56D04-B3B3-ACC4-159F-810C06037154}"/>
              </a:ext>
            </a:extLst>
          </p:cNvPr>
          <p:cNvSpPr/>
          <p:nvPr/>
        </p:nvSpPr>
        <p:spPr bwMode="auto">
          <a:xfrm>
            <a:off x="1703512" y="1180166"/>
            <a:ext cx="8825205" cy="4863036"/>
          </a:xfrm>
          <a:prstGeom prst="roundRect">
            <a:avLst>
              <a:gd name="adj" fmla="val 5220"/>
            </a:avLst>
          </a:prstGeom>
          <a:solidFill>
            <a:srgbClr val="FFF0CD"/>
          </a:solidFill>
          <a:ln w="9525" cap="flat" cmpd="sng" algn="ctr">
            <a:noFill/>
            <a:prstDash val="solid"/>
            <a:round/>
            <a:headEnd type="none" w="med" len="med"/>
            <a:tailEnd type="none" w="med" len="med"/>
          </a:ln>
          <a:effectLst/>
        </p:spPr>
        <p:txBody>
          <a:bodyPr vert="horz" wrap="square" lIns="79200" tIns="39600" rIns="79200" bIns="39600" numCol="1" rtlCol="0" anchor="ctr" anchorCtr="0" compatLnSpc="1">
            <a:noAutofit/>
          </a:bodyPr>
          <a:lstStyle/>
          <a:p>
            <a:pPr algn="ctr" defTabSz="801370"/>
            <a:endParaRPr kumimoji="0" lang="zh-CN" altLang="en-US" sz="2400" b="1">
              <a:solidFill>
                <a:schemeClr val="bg1"/>
              </a:solidFill>
              <a:latin typeface="微軟正黑體" panose="020B0604030504040204" pitchFamily="34" charset="-120"/>
              <a:ea typeface="微軟正黑體" panose="020B0604030504040204" pitchFamily="34" charset="-120"/>
              <a:cs typeface="+mn-ea"/>
              <a:sym typeface="+mn-lt"/>
            </a:endParaRPr>
          </a:p>
        </p:txBody>
      </p:sp>
      <p:sp>
        <p:nvSpPr>
          <p:cNvPr id="5" name="內容版面配置區 2">
            <a:extLst>
              <a:ext uri="{FF2B5EF4-FFF2-40B4-BE49-F238E27FC236}">
                <a16:creationId xmlns:a16="http://schemas.microsoft.com/office/drawing/2014/main" id="{A225856F-BB08-5A6A-8FAE-F7695A002E6C}"/>
              </a:ext>
            </a:extLst>
          </p:cNvPr>
          <p:cNvSpPr txBox="1">
            <a:spLocks/>
          </p:cNvSpPr>
          <p:nvPr/>
        </p:nvSpPr>
        <p:spPr>
          <a:xfrm>
            <a:off x="263352" y="438174"/>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二</a:t>
            </a:r>
            <a:r>
              <a:rPr lang="en-US" altLang="zh-TW" sz="2800" b="1" dirty="0">
                <a:solidFill>
                  <a:schemeClr val="tx1"/>
                </a:solidFill>
              </a:rPr>
              <a:t>、SWOT</a:t>
            </a:r>
            <a:r>
              <a:rPr lang="zh-TW" altLang="en-US" sz="2800" b="1" dirty="0">
                <a:solidFill>
                  <a:schemeClr val="tx1"/>
                </a:solidFill>
              </a:rPr>
              <a:t>分析</a:t>
            </a:r>
            <a:endParaRPr lang="en-US" altLang="zh-TW" sz="2800" b="1" dirty="0">
              <a:solidFill>
                <a:schemeClr val="tx1"/>
              </a:solidFill>
            </a:endParaRPr>
          </a:p>
        </p:txBody>
      </p:sp>
      <p:cxnSp>
        <p:nvCxnSpPr>
          <p:cNvPr id="7" name="直接连接符 6">
            <a:extLst>
              <a:ext uri="{FF2B5EF4-FFF2-40B4-BE49-F238E27FC236}">
                <a16:creationId xmlns:a16="http://schemas.microsoft.com/office/drawing/2014/main" id="{B974F602-BB04-243E-C5C3-0A9D608D2F60}"/>
              </a:ext>
            </a:extLst>
          </p:cNvPr>
          <p:cNvCxnSpPr>
            <a:cxnSpLocks/>
          </p:cNvCxnSpPr>
          <p:nvPr/>
        </p:nvCxnSpPr>
        <p:spPr>
          <a:xfrm>
            <a:off x="1991544" y="3573016"/>
            <a:ext cx="8352928" cy="36426"/>
          </a:xfrm>
          <a:prstGeom prst="line">
            <a:avLst/>
          </a:prstGeom>
          <a:noFill/>
          <a:ln w="19050" cap="rnd">
            <a:solidFill>
              <a:srgbClr val="181715"/>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8">
            <a:extLst>
              <a:ext uri="{FF2B5EF4-FFF2-40B4-BE49-F238E27FC236}">
                <a16:creationId xmlns:a16="http://schemas.microsoft.com/office/drawing/2014/main" id="{99A6BCE8-6E36-154C-2E8D-6CD286532FE8}"/>
              </a:ext>
            </a:extLst>
          </p:cNvPr>
          <p:cNvCxnSpPr/>
          <p:nvPr/>
        </p:nvCxnSpPr>
        <p:spPr>
          <a:xfrm>
            <a:off x="6023992" y="1337632"/>
            <a:ext cx="0" cy="4674640"/>
          </a:xfrm>
          <a:prstGeom prst="line">
            <a:avLst/>
          </a:prstGeom>
          <a:noFill/>
          <a:ln w="19050" cap="rnd">
            <a:solidFill>
              <a:srgbClr val="181715"/>
            </a:solidFill>
            <a:prstDash val="sysDot"/>
            <a:headEnd type="oval"/>
            <a:tailEnd type="oval"/>
          </a:ln>
        </p:spPr>
        <p:style>
          <a:lnRef idx="2">
            <a:schemeClr val="accent1">
              <a:shade val="50000"/>
            </a:schemeClr>
          </a:lnRef>
          <a:fillRef idx="1">
            <a:schemeClr val="accent1"/>
          </a:fillRef>
          <a:effectRef idx="0">
            <a:schemeClr val="accent1"/>
          </a:effectRef>
          <a:fontRef idx="minor">
            <a:schemeClr val="lt1"/>
          </a:fontRef>
        </p:style>
      </p:cxnSp>
      <p:sp>
        <p:nvSpPr>
          <p:cNvPr id="9" name="矩形 8">
            <a:extLst>
              <a:ext uri="{FF2B5EF4-FFF2-40B4-BE49-F238E27FC236}">
                <a16:creationId xmlns:a16="http://schemas.microsoft.com/office/drawing/2014/main" id="{7CBDC9B5-F291-797F-E4EC-E855F8FFD071}"/>
              </a:ext>
            </a:extLst>
          </p:cNvPr>
          <p:cNvSpPr/>
          <p:nvPr/>
        </p:nvSpPr>
        <p:spPr>
          <a:xfrm>
            <a:off x="5540539" y="3067181"/>
            <a:ext cx="461909" cy="486419"/>
          </a:xfrm>
          <a:prstGeom prst="rect">
            <a:avLst/>
          </a:prstGeom>
          <a:solidFill>
            <a:srgbClr val="DC3D2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gn="ctr" eaLnBrk="1" hangingPunct="1"/>
            <a:endParaRPr lang="zh-CN" altLang="en-US">
              <a:solidFill>
                <a:srgbClr val="FFFFFF"/>
              </a:solidFill>
              <a:latin typeface="微軟正黑體" panose="020B0604030504040204" pitchFamily="34" charset="-120"/>
              <a:ea typeface="微軟正黑體" panose="020B0604030504040204" pitchFamily="34" charset="-120"/>
            </a:endParaRPr>
          </a:p>
        </p:txBody>
      </p:sp>
      <p:sp>
        <p:nvSpPr>
          <p:cNvPr id="13" name="矩形 6">
            <a:extLst>
              <a:ext uri="{FF2B5EF4-FFF2-40B4-BE49-F238E27FC236}">
                <a16:creationId xmlns:a16="http://schemas.microsoft.com/office/drawing/2014/main" id="{8E726FC9-81FC-BE8D-DFAA-095336AD5509}"/>
              </a:ext>
            </a:extLst>
          </p:cNvPr>
          <p:cNvSpPr>
            <a:spLocks noChangeArrowheads="1"/>
          </p:cNvSpPr>
          <p:nvPr/>
        </p:nvSpPr>
        <p:spPr bwMode="auto">
          <a:xfrm>
            <a:off x="1848941" y="1389289"/>
            <a:ext cx="4061367" cy="1985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nSpc>
                <a:spcPts val="1800"/>
              </a:lnSpc>
            </a:pPr>
            <a:r>
              <a:rPr lang="en-US"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SO(</a:t>
            </a:r>
            <a:r>
              <a:rPr lang="zh-TW"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前進策略</a:t>
            </a:r>
            <a:r>
              <a:rPr lang="en-US"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：善用優勢發展機會</a:t>
            </a:r>
          </a:p>
          <a:p>
            <a:pPr>
              <a:lnSpc>
                <a:spcPts val="1800"/>
              </a:lnSpc>
            </a:pPr>
            <a:r>
              <a:rPr lang="en-US" altLang="zh-TW" sz="1600" b="1" kern="100" dirty="0">
                <a:latin typeface="微軟正黑體" panose="020B0604030504040204" pitchFamily="34" charset="-120"/>
                <a:ea typeface="微軟正黑體" panose="020B0604030504040204" pitchFamily="34" charset="-120"/>
                <a:cs typeface="Times New Roman" panose="02020603050405020304" pitchFamily="18" charset="0"/>
              </a:rPr>
              <a:t> </a:t>
            </a:r>
            <a:endPar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新零售模式與數位工具</a:t>
            </a:r>
          </a:p>
          <a:p>
            <a:pPr marL="342900" indent="-34290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多元商業平台</a:t>
            </a:r>
          </a:p>
          <a:p>
            <a:pPr marL="342900" indent="-34290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品牌形象與服務模式</a:t>
            </a:r>
            <a:endPar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lvl="0">
              <a:lnSpc>
                <a:spcPct val="150000"/>
              </a:lnSpc>
            </a:pPr>
            <a:r>
              <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有溫度的</a:t>
            </a: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品牌</a:t>
            </a:r>
            <a:r>
              <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CN" sz="1600" dirty="0">
                <a:solidFill>
                  <a:srgbClr val="181715"/>
                </a:solidFill>
                <a:latin typeface="微軟正黑體" panose="020B0604030504040204" pitchFamily="34" charset="-120"/>
                <a:ea typeface="微軟正黑體" panose="020B0604030504040204" pitchFamily="34" charset="-120"/>
              </a:rPr>
              <a:t> </a:t>
            </a:r>
            <a:endParaRPr lang="zh-CN" altLang="en-US" sz="1600" dirty="0">
              <a:solidFill>
                <a:srgbClr val="181715"/>
              </a:solidFill>
              <a:latin typeface="微軟正黑體" panose="020B0604030504040204" pitchFamily="34" charset="-120"/>
              <a:ea typeface="微軟正黑體" panose="020B0604030504040204" pitchFamily="34" charset="-120"/>
            </a:endParaRPr>
          </a:p>
        </p:txBody>
      </p:sp>
      <p:sp>
        <p:nvSpPr>
          <p:cNvPr id="14" name="矩形 6">
            <a:extLst>
              <a:ext uri="{FF2B5EF4-FFF2-40B4-BE49-F238E27FC236}">
                <a16:creationId xmlns:a16="http://schemas.microsoft.com/office/drawing/2014/main" id="{DD4AE8ED-6BA2-9F0E-3DE3-A2E15A7F36A7}"/>
              </a:ext>
            </a:extLst>
          </p:cNvPr>
          <p:cNvSpPr>
            <a:spLocks noChangeArrowheads="1"/>
          </p:cNvSpPr>
          <p:nvPr/>
        </p:nvSpPr>
        <p:spPr bwMode="auto">
          <a:xfrm>
            <a:off x="6193594" y="1356967"/>
            <a:ext cx="4150878" cy="161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nSpc>
                <a:spcPts val="1800"/>
              </a:lnSpc>
            </a:pPr>
            <a:r>
              <a:rPr lang="en-US"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WO(</a:t>
            </a:r>
            <a:r>
              <a:rPr lang="zh-TW"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化解策略</a:t>
            </a:r>
            <a:r>
              <a:rPr lang="en-US"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：善用優勢化解或抵禦威脅</a:t>
            </a:r>
          </a:p>
          <a:p>
            <a:pPr>
              <a:lnSpc>
                <a:spcPts val="1800"/>
              </a:lnSpc>
            </a:pPr>
            <a:r>
              <a:rPr lang="en-US" altLang="zh-TW" sz="1600" b="1" kern="100" dirty="0">
                <a:latin typeface="微軟正黑體" panose="020B0604030504040204" pitchFamily="34" charset="-120"/>
                <a:ea typeface="微軟正黑體" panose="020B0604030504040204" pitchFamily="34" charset="-120"/>
                <a:cs typeface="Times New Roman" panose="02020603050405020304" pitchFamily="18" charset="0"/>
              </a:rPr>
              <a:t> </a:t>
            </a:r>
            <a:endPar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nSpc>
                <a:spcPct val="150000"/>
              </a:lnSpc>
              <a:buFont typeface="Arial" panose="020B0604020202020204" pitchFamily="34" charset="0"/>
              <a:buChar char="•"/>
            </a:pP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團隊</a:t>
            </a: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管理與</a:t>
            </a: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人才</a:t>
            </a: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留任機制</a:t>
            </a:r>
            <a:endPar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nSpc>
                <a:spcPct val="150000"/>
              </a:lnSpc>
              <a:buFont typeface="Arial" panose="020B0604020202020204" pitchFamily="34" charset="0"/>
              <a:buChar char="•"/>
            </a:pP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簡化</a:t>
            </a: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新零售模式流程</a:t>
            </a:r>
            <a:endPar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nSpc>
                <a:spcPct val="150000"/>
              </a:lnSpc>
              <a:buFont typeface="Arial" panose="020B0604020202020204" pitchFamily="34" charset="0"/>
              <a:buChar char="•"/>
            </a:pPr>
            <a:r>
              <a:rPr lang="zh-TW" altLang="en-US" sz="1400" kern="100" dirty="0">
                <a:latin typeface="微軟正黑體" panose="020B0604030504040204" pitchFamily="34" charset="-120"/>
                <a:ea typeface="微軟正黑體" panose="020B0604030504040204" pitchFamily="34" charset="-120"/>
                <a:cs typeface="Times New Roman" panose="02020603050405020304" pitchFamily="18" charset="0"/>
              </a:rPr>
              <a:t>智能自取系統研發</a:t>
            </a:r>
            <a:endParaRPr lang="en-US" altLang="zh-TW" sz="1400" kern="1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15" name="矩形 6">
            <a:extLst>
              <a:ext uri="{FF2B5EF4-FFF2-40B4-BE49-F238E27FC236}">
                <a16:creationId xmlns:a16="http://schemas.microsoft.com/office/drawing/2014/main" id="{F6E4F893-9641-351F-A577-0C4F678C8D9D}"/>
              </a:ext>
            </a:extLst>
          </p:cNvPr>
          <p:cNvSpPr>
            <a:spLocks noChangeArrowheads="1"/>
          </p:cNvSpPr>
          <p:nvPr/>
        </p:nvSpPr>
        <p:spPr bwMode="auto">
          <a:xfrm>
            <a:off x="6240017" y="4057146"/>
            <a:ext cx="4288701" cy="198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nSpc>
                <a:spcPts val="1800"/>
              </a:lnSpc>
            </a:pPr>
            <a:r>
              <a:rPr lang="en-US"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WT(</a:t>
            </a:r>
            <a:r>
              <a:rPr lang="zh-TW"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避開策略</a:t>
            </a:r>
            <a:r>
              <a:rPr lang="en-US"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：減少劣勢避開威脅</a:t>
            </a:r>
            <a:endPar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a:lnSpc>
                <a:spcPts val="1800"/>
              </a:lnSpc>
            </a:pPr>
            <a:endParaRPr lang="en-US" altLang="zh-TW" sz="1400" b="1" u="sng"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285750" indent="-28575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配送成本</a:t>
            </a: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減少</a:t>
            </a:r>
            <a:endPar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285750" indent="-28575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避開對價格敏感</a:t>
            </a:r>
            <a:r>
              <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 &amp; </a:t>
            </a: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無法線上化的長輩族群</a:t>
            </a:r>
            <a:endParaRPr lang="en-US" altLang="zh-TW" sz="1600" kern="100" dirty="0">
              <a:solidFill>
                <a:srgbClr val="181715"/>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285750" indent="-28575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停止與傳統瓦斯行的競價與商業模式比較</a:t>
            </a:r>
            <a:endPar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285750" indent="-28575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營運管理與系統優化</a:t>
            </a:r>
            <a:endPar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16" name="矩形 6">
            <a:extLst>
              <a:ext uri="{FF2B5EF4-FFF2-40B4-BE49-F238E27FC236}">
                <a16:creationId xmlns:a16="http://schemas.microsoft.com/office/drawing/2014/main" id="{E9932D3A-1329-6EBB-B542-16E194469481}"/>
              </a:ext>
            </a:extLst>
          </p:cNvPr>
          <p:cNvSpPr>
            <a:spLocks noChangeArrowheads="1"/>
          </p:cNvSpPr>
          <p:nvPr/>
        </p:nvSpPr>
        <p:spPr bwMode="auto">
          <a:xfrm>
            <a:off x="1861233" y="4002281"/>
            <a:ext cx="3888429" cy="198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nSpc>
                <a:spcPts val="1800"/>
              </a:lnSpc>
            </a:pPr>
            <a:r>
              <a:rPr lang="en-US"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ST(</a:t>
            </a:r>
            <a:r>
              <a:rPr lang="zh-TW"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聯合策略</a:t>
            </a:r>
            <a:r>
              <a:rPr lang="en-US"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rPr>
              <a:t>：如何減少劣勢掌握機會</a:t>
            </a:r>
            <a:endParaRPr lang="en-US" altLang="zh-TW" sz="1600" kern="100" dirty="0">
              <a:solidFill>
                <a:srgbClr val="0000FF"/>
              </a:solidFill>
              <a:latin typeface="微軟正黑體" panose="020B0604030504040204" pitchFamily="34" charset="-120"/>
              <a:ea typeface="微軟正黑體" panose="020B0604030504040204" pitchFamily="34" charset="-120"/>
              <a:cs typeface="Times New Roman" panose="02020603050405020304" pitchFamily="18" charset="0"/>
            </a:endParaRPr>
          </a:p>
          <a:p>
            <a:pPr algn="ctr">
              <a:lnSpc>
                <a:spcPts val="1800"/>
              </a:lnSpc>
            </a:pPr>
            <a:endPar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進行</a:t>
            </a: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通路</a:t>
            </a: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結盟</a:t>
            </a: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與同業加盟</a:t>
            </a:r>
            <a:endPar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nSpc>
                <a:spcPct val="150000"/>
              </a:lnSpc>
              <a:buFont typeface="Arial" panose="020B0604020202020204" pitchFamily="34" charset="0"/>
              <a:buChar char="•"/>
            </a:pP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透過結盟擴大市場</a:t>
            </a:r>
            <a:r>
              <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重質</a:t>
            </a:r>
            <a:r>
              <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a:t>
            </a:r>
          </a:p>
          <a:p>
            <a:pPr marL="342900" indent="-34290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透過自取</a:t>
            </a: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減少配送成本</a:t>
            </a:r>
            <a:endParaRPr lang="en-US" altLang="zh-TW" sz="16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342900" indent="-342900">
              <a:lnSpc>
                <a:spcPct val="150000"/>
              </a:lnSpc>
              <a:buFont typeface="Arial" panose="020B0604020202020204" pitchFamily="34" charset="0"/>
              <a:buChar char="•"/>
            </a:pP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開發新</a:t>
            </a:r>
            <a:r>
              <a:rPr lang="zh-TW" altLang="en-US" sz="1600" kern="100" dirty="0">
                <a:latin typeface="微軟正黑體" panose="020B0604030504040204" pitchFamily="34" charset="-120"/>
                <a:ea typeface="微軟正黑體" panose="020B0604030504040204" pitchFamily="34" charset="-120"/>
                <a:cs typeface="Times New Roman" panose="02020603050405020304" pitchFamily="18" charset="0"/>
              </a:rPr>
              <a:t>領域</a:t>
            </a:r>
            <a:r>
              <a:rPr lang="zh-TW" altLang="zh-TW" sz="1600" kern="100" dirty="0">
                <a:latin typeface="微軟正黑體" panose="020B0604030504040204" pitchFamily="34" charset="-120"/>
                <a:ea typeface="微軟正黑體" panose="020B0604030504040204" pitchFamily="34" charset="-120"/>
                <a:cs typeface="Times New Roman" panose="02020603050405020304" pitchFamily="18" charset="0"/>
              </a:rPr>
              <a:t>與新合約商家</a:t>
            </a:r>
            <a:endParaRPr lang="zh-CN" altLang="en-US" sz="1600" dirty="0">
              <a:solidFill>
                <a:srgbClr val="181715"/>
              </a:solidFill>
              <a:latin typeface="微軟正黑體" panose="020B0604030504040204" pitchFamily="34" charset="-120"/>
              <a:ea typeface="微軟正黑體" panose="020B0604030504040204" pitchFamily="34" charset="-120"/>
            </a:endParaRPr>
          </a:p>
        </p:txBody>
      </p:sp>
      <p:sp>
        <p:nvSpPr>
          <p:cNvPr id="17" name="Rectangle 3">
            <a:extLst>
              <a:ext uri="{FF2B5EF4-FFF2-40B4-BE49-F238E27FC236}">
                <a16:creationId xmlns:a16="http://schemas.microsoft.com/office/drawing/2014/main" id="{B9C06FD8-C3C5-5C79-AB5F-5CD9322DBCC5}"/>
              </a:ext>
            </a:extLst>
          </p:cNvPr>
          <p:cNvSpPr>
            <a:spLocks noChangeArrowheads="1"/>
          </p:cNvSpPr>
          <p:nvPr/>
        </p:nvSpPr>
        <p:spPr bwMode="auto">
          <a:xfrm>
            <a:off x="5572765" y="3114315"/>
            <a:ext cx="418941" cy="3936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gn="ctr" eaLnBrk="1" hangingPunct="1"/>
            <a:r>
              <a:rPr lang="en-US" altLang="zh-CN" sz="2000" dirty="0">
                <a:solidFill>
                  <a:srgbClr val="EAE7D4"/>
                </a:solidFill>
                <a:latin typeface="微軟正黑體" panose="020B0604030504040204" pitchFamily="34" charset="-120"/>
                <a:ea typeface="微軟正黑體" panose="020B0604030504040204" pitchFamily="34" charset="-120"/>
              </a:rPr>
              <a:t>S</a:t>
            </a:r>
            <a:endParaRPr lang="zh-CN" altLang="en-US" sz="2000" dirty="0">
              <a:solidFill>
                <a:srgbClr val="EAE7D4"/>
              </a:solidFill>
              <a:latin typeface="微軟正黑體" panose="020B0604030504040204" pitchFamily="34" charset="-120"/>
              <a:ea typeface="微軟正黑體" panose="020B0604030504040204" pitchFamily="34" charset="-120"/>
            </a:endParaRPr>
          </a:p>
        </p:txBody>
      </p:sp>
      <p:grpSp>
        <p:nvGrpSpPr>
          <p:cNvPr id="24" name="群組 23">
            <a:extLst>
              <a:ext uri="{FF2B5EF4-FFF2-40B4-BE49-F238E27FC236}">
                <a16:creationId xmlns:a16="http://schemas.microsoft.com/office/drawing/2014/main" id="{EAB42B4E-3384-B233-D1FA-FF83AE4DA89F}"/>
              </a:ext>
            </a:extLst>
          </p:cNvPr>
          <p:cNvGrpSpPr/>
          <p:nvPr/>
        </p:nvGrpSpPr>
        <p:grpSpPr>
          <a:xfrm>
            <a:off x="6034795" y="3067181"/>
            <a:ext cx="446029" cy="486419"/>
            <a:chOff x="4654810" y="3084918"/>
            <a:chExt cx="451167" cy="447572"/>
          </a:xfrm>
        </p:grpSpPr>
        <p:sp>
          <p:nvSpPr>
            <p:cNvPr id="10" name="矩形 9">
              <a:extLst>
                <a:ext uri="{FF2B5EF4-FFF2-40B4-BE49-F238E27FC236}">
                  <a16:creationId xmlns:a16="http://schemas.microsoft.com/office/drawing/2014/main" id="{37350333-F6B6-C149-FEBF-C82285BA3911}"/>
                </a:ext>
              </a:extLst>
            </p:cNvPr>
            <p:cNvSpPr/>
            <p:nvPr/>
          </p:nvSpPr>
          <p:spPr>
            <a:xfrm>
              <a:off x="4654810" y="3084918"/>
              <a:ext cx="451167" cy="447572"/>
            </a:xfrm>
            <a:prstGeom prst="rect">
              <a:avLst/>
            </a:prstGeom>
            <a:solidFill>
              <a:srgbClr val="4FA33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gn="ctr" eaLnBrk="1" hangingPunct="1"/>
              <a:endParaRPr lang="zh-CN" altLang="en-US">
                <a:solidFill>
                  <a:srgbClr val="FFFFFF"/>
                </a:solidFill>
                <a:latin typeface="微軟正黑體" panose="020B0604030504040204" pitchFamily="34" charset="-120"/>
                <a:ea typeface="微軟正黑體" panose="020B0604030504040204" pitchFamily="34" charset="-120"/>
              </a:endParaRPr>
            </a:p>
          </p:txBody>
        </p:sp>
        <p:sp>
          <p:nvSpPr>
            <p:cNvPr id="18" name="Rectangle 3">
              <a:extLst>
                <a:ext uri="{FF2B5EF4-FFF2-40B4-BE49-F238E27FC236}">
                  <a16:creationId xmlns:a16="http://schemas.microsoft.com/office/drawing/2014/main" id="{199A2A1B-2F6D-325C-F584-15EF83170DF3}"/>
                </a:ext>
              </a:extLst>
            </p:cNvPr>
            <p:cNvSpPr>
              <a:spLocks noChangeArrowheads="1"/>
            </p:cNvSpPr>
            <p:nvPr/>
          </p:nvSpPr>
          <p:spPr bwMode="auto">
            <a:xfrm>
              <a:off x="4671997" y="3107712"/>
              <a:ext cx="416793" cy="395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gn="ctr" eaLnBrk="1" hangingPunct="1"/>
              <a:r>
                <a:rPr lang="en-US" altLang="zh-CN" sz="2000" dirty="0">
                  <a:solidFill>
                    <a:srgbClr val="EAE7D4"/>
                  </a:solidFill>
                  <a:latin typeface="微軟正黑體" panose="020B0604030504040204" pitchFamily="34" charset="-120"/>
                  <a:ea typeface="微軟正黑體" panose="020B0604030504040204" pitchFamily="34" charset="-120"/>
                </a:rPr>
                <a:t>W</a:t>
              </a:r>
              <a:endParaRPr lang="zh-CN" altLang="en-US" sz="2000" dirty="0">
                <a:solidFill>
                  <a:srgbClr val="EAE7D4"/>
                </a:solidFill>
                <a:latin typeface="微軟正黑體" panose="020B0604030504040204" pitchFamily="34" charset="-120"/>
                <a:ea typeface="微軟正黑體" panose="020B0604030504040204" pitchFamily="34" charset="-120"/>
              </a:endParaRPr>
            </a:p>
          </p:txBody>
        </p:sp>
      </p:grpSp>
      <p:grpSp>
        <p:nvGrpSpPr>
          <p:cNvPr id="25" name="群組 24">
            <a:extLst>
              <a:ext uri="{FF2B5EF4-FFF2-40B4-BE49-F238E27FC236}">
                <a16:creationId xmlns:a16="http://schemas.microsoft.com/office/drawing/2014/main" id="{299DBA35-1601-F1FB-84D4-C741670BE316}"/>
              </a:ext>
            </a:extLst>
          </p:cNvPr>
          <p:cNvGrpSpPr/>
          <p:nvPr/>
        </p:nvGrpSpPr>
        <p:grpSpPr>
          <a:xfrm>
            <a:off x="5534093" y="3573016"/>
            <a:ext cx="457613" cy="462822"/>
            <a:chOff x="2383621" y="3688421"/>
            <a:chExt cx="457613" cy="447572"/>
          </a:xfrm>
        </p:grpSpPr>
        <p:sp>
          <p:nvSpPr>
            <p:cNvPr id="12" name="矩形 11">
              <a:extLst>
                <a:ext uri="{FF2B5EF4-FFF2-40B4-BE49-F238E27FC236}">
                  <a16:creationId xmlns:a16="http://schemas.microsoft.com/office/drawing/2014/main" id="{EDDB9323-4ADA-CCBB-3D26-9CEDC17B8BED}"/>
                </a:ext>
              </a:extLst>
            </p:cNvPr>
            <p:cNvSpPr/>
            <p:nvPr/>
          </p:nvSpPr>
          <p:spPr>
            <a:xfrm>
              <a:off x="2390067" y="3688421"/>
              <a:ext cx="451167" cy="447572"/>
            </a:xfrm>
            <a:prstGeom prst="rect">
              <a:avLst/>
            </a:prstGeom>
            <a:solidFill>
              <a:srgbClr val="309EB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gn="ctr" eaLnBrk="1" hangingPunct="1"/>
              <a:endParaRPr lang="zh-CN" altLang="en-US">
                <a:solidFill>
                  <a:srgbClr val="FFFFFF"/>
                </a:solidFill>
                <a:latin typeface="微軟正黑體" panose="020B0604030504040204" pitchFamily="34" charset="-120"/>
                <a:ea typeface="微軟正黑體" panose="020B0604030504040204" pitchFamily="34" charset="-120"/>
              </a:endParaRPr>
            </a:p>
          </p:txBody>
        </p:sp>
        <p:sp>
          <p:nvSpPr>
            <p:cNvPr id="19" name="Rectangle 3">
              <a:extLst>
                <a:ext uri="{FF2B5EF4-FFF2-40B4-BE49-F238E27FC236}">
                  <a16:creationId xmlns:a16="http://schemas.microsoft.com/office/drawing/2014/main" id="{A758EC5F-7913-B30B-70A9-ECA9478CEE6E}"/>
                </a:ext>
              </a:extLst>
            </p:cNvPr>
            <p:cNvSpPr>
              <a:spLocks noChangeArrowheads="1"/>
            </p:cNvSpPr>
            <p:nvPr/>
          </p:nvSpPr>
          <p:spPr bwMode="auto">
            <a:xfrm>
              <a:off x="2383621" y="3723647"/>
              <a:ext cx="416793" cy="395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gn="ctr" eaLnBrk="1" hangingPunct="1"/>
              <a:r>
                <a:rPr lang="en-US" altLang="zh-CN" sz="2000" dirty="0">
                  <a:solidFill>
                    <a:srgbClr val="EAE7D4"/>
                  </a:solidFill>
                  <a:latin typeface="微軟正黑體" panose="020B0604030504040204" pitchFamily="34" charset="-120"/>
                  <a:ea typeface="微軟正黑體" panose="020B0604030504040204" pitchFamily="34" charset="-120"/>
                </a:rPr>
                <a:t>O</a:t>
              </a:r>
              <a:endParaRPr lang="zh-CN" altLang="en-US" sz="2000" dirty="0">
                <a:solidFill>
                  <a:srgbClr val="EAE7D4"/>
                </a:solidFill>
                <a:latin typeface="微軟正黑體" panose="020B0604030504040204" pitchFamily="34" charset="-120"/>
                <a:ea typeface="微軟正黑體" panose="020B0604030504040204" pitchFamily="34" charset="-120"/>
              </a:endParaRPr>
            </a:p>
          </p:txBody>
        </p:sp>
      </p:grpSp>
      <p:grpSp>
        <p:nvGrpSpPr>
          <p:cNvPr id="26" name="群組 25">
            <a:extLst>
              <a:ext uri="{FF2B5EF4-FFF2-40B4-BE49-F238E27FC236}">
                <a16:creationId xmlns:a16="http://schemas.microsoft.com/office/drawing/2014/main" id="{B2220393-DB00-4BF3-1611-70659C0E2403}"/>
              </a:ext>
            </a:extLst>
          </p:cNvPr>
          <p:cNvGrpSpPr/>
          <p:nvPr/>
        </p:nvGrpSpPr>
        <p:grpSpPr>
          <a:xfrm>
            <a:off x="6029660" y="3588266"/>
            <a:ext cx="451167" cy="447572"/>
            <a:chOff x="6751713" y="3675679"/>
            <a:chExt cx="451167" cy="447572"/>
          </a:xfrm>
        </p:grpSpPr>
        <p:sp>
          <p:nvSpPr>
            <p:cNvPr id="11" name="矩形 10">
              <a:extLst>
                <a:ext uri="{FF2B5EF4-FFF2-40B4-BE49-F238E27FC236}">
                  <a16:creationId xmlns:a16="http://schemas.microsoft.com/office/drawing/2014/main" id="{9C9709CC-6B81-2559-9B04-1B3AC91495CC}"/>
                </a:ext>
              </a:extLst>
            </p:cNvPr>
            <p:cNvSpPr/>
            <p:nvPr/>
          </p:nvSpPr>
          <p:spPr>
            <a:xfrm>
              <a:off x="6751713" y="3675679"/>
              <a:ext cx="451167" cy="447572"/>
            </a:xfrm>
            <a:prstGeom prst="rect">
              <a:avLst/>
            </a:prstGeom>
            <a:solidFill>
              <a:srgbClr val="8F469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gn="ctr" eaLnBrk="1" hangingPunct="1"/>
              <a:endParaRPr lang="zh-CN" altLang="en-US">
                <a:solidFill>
                  <a:srgbClr val="FFFFFF"/>
                </a:solidFill>
                <a:latin typeface="微軟正黑體" panose="020B0604030504040204" pitchFamily="34" charset="-120"/>
                <a:ea typeface="微軟正黑體" panose="020B0604030504040204" pitchFamily="34" charset="-120"/>
              </a:endParaRPr>
            </a:p>
          </p:txBody>
        </p:sp>
        <p:sp>
          <p:nvSpPr>
            <p:cNvPr id="20" name="Rectangle 3">
              <a:extLst>
                <a:ext uri="{FF2B5EF4-FFF2-40B4-BE49-F238E27FC236}">
                  <a16:creationId xmlns:a16="http://schemas.microsoft.com/office/drawing/2014/main" id="{1E7D5819-76F4-73CD-32E9-BD46187A1F57}"/>
                </a:ext>
              </a:extLst>
            </p:cNvPr>
            <p:cNvSpPr>
              <a:spLocks noChangeArrowheads="1"/>
            </p:cNvSpPr>
            <p:nvPr/>
          </p:nvSpPr>
          <p:spPr bwMode="auto">
            <a:xfrm>
              <a:off x="6786087" y="3683967"/>
              <a:ext cx="416793" cy="3957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ea typeface="SimSun" panose="02010600030101010101" pitchFamily="2" charset="-122"/>
                </a:defRPr>
              </a:lvl1pPr>
              <a:lvl2pPr marL="742950" indent="-285750">
                <a:defRPr>
                  <a:solidFill>
                    <a:schemeClr val="tx1"/>
                  </a:solidFill>
                  <a:latin typeface="Calibri" panose="020F0502020204030204" pitchFamily="34" charset="0"/>
                  <a:ea typeface="SimSun" panose="02010600030101010101" pitchFamily="2" charset="-122"/>
                </a:defRPr>
              </a:lvl2pPr>
              <a:lvl3pPr marL="1143000" indent="-228600">
                <a:defRPr>
                  <a:solidFill>
                    <a:schemeClr val="tx1"/>
                  </a:solidFill>
                  <a:latin typeface="Calibri" panose="020F0502020204030204" pitchFamily="34" charset="0"/>
                  <a:ea typeface="SimSun" panose="02010600030101010101" pitchFamily="2" charset="-122"/>
                </a:defRPr>
              </a:lvl3pPr>
              <a:lvl4pPr marL="1600200" indent="-228600">
                <a:defRPr>
                  <a:solidFill>
                    <a:schemeClr val="tx1"/>
                  </a:solidFill>
                  <a:latin typeface="Calibri" panose="020F0502020204030204" pitchFamily="34" charset="0"/>
                  <a:ea typeface="SimSun" panose="02010600030101010101" pitchFamily="2" charset="-122"/>
                </a:defRPr>
              </a:lvl4pPr>
              <a:lvl5pPr marL="2057400" indent="-22860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algn="ctr" eaLnBrk="1" hangingPunct="1"/>
              <a:r>
                <a:rPr lang="en-US" altLang="zh-CN" sz="2000" dirty="0">
                  <a:solidFill>
                    <a:srgbClr val="EAE7D4"/>
                  </a:solidFill>
                  <a:latin typeface="微軟正黑體" panose="020B0604030504040204" pitchFamily="34" charset="-120"/>
                  <a:ea typeface="微軟正黑體" panose="020B0604030504040204" pitchFamily="34" charset="-120"/>
                </a:rPr>
                <a:t>T</a:t>
              </a:r>
              <a:endParaRPr lang="zh-CN" altLang="en-US" sz="2000" dirty="0">
                <a:solidFill>
                  <a:srgbClr val="EAE7D4"/>
                </a:solidFill>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2516454130"/>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63649-F8FD-5425-6B42-FAF0493AC974}"/>
            </a:ext>
          </a:extLst>
        </p:cNvPr>
        <p:cNvGrpSpPr/>
        <p:nvPr/>
      </p:nvGrpSpPr>
      <p:grpSpPr>
        <a:xfrm>
          <a:off x="0" y="0"/>
          <a:ext cx="0" cy="0"/>
          <a:chOff x="0" y="0"/>
          <a:chExt cx="0" cy="0"/>
        </a:xfrm>
      </p:grpSpPr>
      <p:graphicFrame>
        <p:nvGraphicFramePr>
          <p:cNvPr id="4" name="表格 12">
            <a:extLst>
              <a:ext uri="{FF2B5EF4-FFF2-40B4-BE49-F238E27FC236}">
                <a16:creationId xmlns:a16="http://schemas.microsoft.com/office/drawing/2014/main" id="{E5E0094B-5428-D53D-B135-E989513E6837}"/>
              </a:ext>
            </a:extLst>
          </p:cNvPr>
          <p:cNvGraphicFramePr>
            <a:graphicFrameLocks noGrp="1"/>
          </p:cNvGraphicFramePr>
          <p:nvPr/>
        </p:nvGraphicFramePr>
        <p:xfrm>
          <a:off x="1649760" y="1008706"/>
          <a:ext cx="8892480" cy="5201430"/>
        </p:xfrm>
        <a:graphic>
          <a:graphicData uri="http://schemas.openxmlformats.org/drawingml/2006/table">
            <a:tbl>
              <a:tblPr firstRow="1" bandRow="1">
                <a:tableStyleId>{5C22544A-7EE6-4342-B048-85BDC9FD1C3A}</a:tableStyleId>
              </a:tblPr>
              <a:tblGrid>
                <a:gridCol w="4446240">
                  <a:extLst>
                    <a:ext uri="{9D8B030D-6E8A-4147-A177-3AD203B41FA5}">
                      <a16:colId xmlns:a16="http://schemas.microsoft.com/office/drawing/2014/main" val="20000"/>
                    </a:ext>
                  </a:extLst>
                </a:gridCol>
                <a:gridCol w="4446240">
                  <a:extLst>
                    <a:ext uri="{9D8B030D-6E8A-4147-A177-3AD203B41FA5}">
                      <a16:colId xmlns:a16="http://schemas.microsoft.com/office/drawing/2014/main" val="20001"/>
                    </a:ext>
                  </a:extLst>
                </a:gridCol>
              </a:tblGrid>
              <a:tr h="23621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400" b="1" dirty="0">
                          <a:solidFill>
                            <a:srgbClr val="996600"/>
                          </a:solidFill>
                          <a:latin typeface="微軟正黑體" pitchFamily="34" charset="-120"/>
                          <a:ea typeface="微軟正黑體" pitchFamily="34" charset="-120"/>
                        </a:rPr>
                        <a:t>P </a:t>
                      </a:r>
                      <a:r>
                        <a:rPr lang="zh-TW" altLang="en-US" sz="1600" b="1" dirty="0">
                          <a:solidFill>
                            <a:srgbClr val="996600"/>
                          </a:solidFill>
                          <a:latin typeface="微軟正黑體" pitchFamily="34" charset="-120"/>
                          <a:ea typeface="微軟正黑體" pitchFamily="34" charset="-120"/>
                        </a:rPr>
                        <a:t>政治法律</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342900" indent="-342900" algn="l">
                        <a:lnSpc>
                          <a:spcPct val="150000"/>
                        </a:lnSpc>
                        <a:spcBef>
                          <a:spcPts val="0"/>
                        </a:spcBef>
                        <a:buFont typeface="+mj-lt"/>
                        <a:buAutoNum type="arabicPeriod"/>
                      </a:pPr>
                      <a:r>
                        <a:rPr lang="zh-TW" altLang="en-US" sz="1600" b="1" dirty="0">
                          <a:solidFill>
                            <a:schemeClr val="tx1"/>
                          </a:solidFill>
                          <a:latin typeface="微軟正黑體" panose="020B0604030504040204" pitchFamily="34" charset="-120"/>
                          <a:ea typeface="微軟正黑體" panose="020B0604030504040204" pitchFamily="34" charset="-120"/>
                        </a:rPr>
                        <a:t>政策與法規：</a:t>
                      </a:r>
                      <a:r>
                        <a:rPr lang="zh-TW" altLang="en-US" sz="1600" b="0" dirty="0">
                          <a:solidFill>
                            <a:schemeClr val="tx1"/>
                          </a:solidFill>
                          <a:latin typeface="微軟正黑體" panose="020B0604030504040204" pitchFamily="34" charset="-120"/>
                          <a:ea typeface="微軟正黑體" panose="020B0604030504040204" pitchFamily="34" charset="-120"/>
                        </a:rPr>
                        <a:t>能源價格、稅費、不補貼氣價。</a:t>
                      </a:r>
                      <a:endParaRPr lang="en-US" altLang="zh-TW" sz="1600" b="0" dirty="0">
                        <a:solidFill>
                          <a:schemeClr val="tx1"/>
                        </a:solidFill>
                        <a:latin typeface="微軟正黑體" pitchFamily="34" charset="-120"/>
                        <a:ea typeface="微軟正黑體" pitchFamily="34" charset="-120"/>
                      </a:endParaRPr>
                    </a:p>
                    <a:p>
                      <a:pPr marL="342900" indent="-342900" algn="l">
                        <a:lnSpc>
                          <a:spcPct val="150000"/>
                        </a:lnSpc>
                        <a:spcBef>
                          <a:spcPts val="0"/>
                        </a:spcBef>
                        <a:buFont typeface="+mj-lt"/>
                        <a:buAutoNum type="arabicPeriod"/>
                      </a:pPr>
                      <a:r>
                        <a:rPr lang="zh-TW" altLang="en-US" sz="1600" b="1" dirty="0">
                          <a:solidFill>
                            <a:schemeClr val="tx1"/>
                          </a:solidFill>
                          <a:latin typeface="微軟正黑體" panose="020B0604030504040204" pitchFamily="34" charset="-120"/>
                          <a:ea typeface="微軟正黑體" panose="020B0604030504040204" pitchFamily="34" charset="-120"/>
                        </a:rPr>
                        <a:t>安全標準：</a:t>
                      </a:r>
                      <a:r>
                        <a:rPr lang="zh-TW" altLang="en-US" sz="1600" b="0" dirty="0">
                          <a:solidFill>
                            <a:schemeClr val="tx1"/>
                          </a:solidFill>
                          <a:latin typeface="微軟正黑體" panose="020B0604030504040204" pitchFamily="34" charset="-120"/>
                          <a:ea typeface="微軟正黑體" panose="020B0604030504040204" pitchFamily="34" charset="-120"/>
                        </a:rPr>
                        <a:t>桶裝瓦斯用戶的申報與管理。</a:t>
                      </a:r>
                      <a:endParaRPr lang="en-US" altLang="zh-TW" sz="1600" b="0" dirty="0">
                        <a:solidFill>
                          <a:schemeClr val="tx1"/>
                        </a:solidFill>
                        <a:latin typeface="微軟正黑體" pitchFamily="34" charset="-120"/>
                        <a:ea typeface="微軟正黑體" pitchFamily="34" charset="-120"/>
                      </a:endParaRPr>
                    </a:p>
                    <a:p>
                      <a:pPr marL="342900" indent="-342900" algn="l">
                        <a:lnSpc>
                          <a:spcPct val="150000"/>
                        </a:lnSpc>
                        <a:spcBef>
                          <a:spcPts val="0"/>
                        </a:spcBef>
                        <a:buFont typeface="+mj-lt"/>
                        <a:buAutoNum type="arabicPeriod"/>
                      </a:pPr>
                      <a:r>
                        <a:rPr lang="zh-TW" altLang="en-US" sz="1600" b="1" dirty="0">
                          <a:solidFill>
                            <a:schemeClr val="tx1"/>
                          </a:solidFill>
                          <a:latin typeface="微軟正黑體" panose="020B0604030504040204" pitchFamily="34" charset="-120"/>
                          <a:ea typeface="微軟正黑體" panose="020B0604030504040204" pitchFamily="34" charset="-120"/>
                        </a:rPr>
                        <a:t>能源政策轉型：</a:t>
                      </a:r>
                      <a:r>
                        <a:rPr lang="zh-TW" altLang="en-US" sz="1600" b="0" dirty="0">
                          <a:solidFill>
                            <a:schemeClr val="tx1"/>
                          </a:solidFill>
                          <a:latin typeface="微軟正黑體" panose="020B0604030504040204" pitchFamily="34" charset="-120"/>
                          <a:ea typeface="微軟正黑體" panose="020B0604030504040204" pitchFamily="34" charset="-120"/>
                        </a:rPr>
                        <a:t>推行低碳排放政策，促進新</a:t>
                      </a:r>
                      <a:r>
                        <a:rPr lang="en-US" altLang="zh-TW" sz="1600" b="0" dirty="0">
                          <a:solidFill>
                            <a:schemeClr val="tx1"/>
                          </a:solidFill>
                          <a:latin typeface="微軟正黑體" panose="020B0604030504040204" pitchFamily="34" charset="-120"/>
                          <a:ea typeface="微軟正黑體" panose="020B0604030504040204" pitchFamily="34" charset="-120"/>
                        </a:rPr>
                        <a:t/>
                      </a:r>
                      <a:br>
                        <a:rPr lang="en-US" altLang="zh-TW" sz="1600" b="0" dirty="0">
                          <a:solidFill>
                            <a:schemeClr val="tx1"/>
                          </a:solidFill>
                          <a:latin typeface="微軟正黑體" panose="020B0604030504040204" pitchFamily="34" charset="-120"/>
                          <a:ea typeface="微軟正黑體" panose="020B0604030504040204" pitchFamily="34" charset="-120"/>
                        </a:rPr>
                      </a:br>
                      <a:r>
                        <a:rPr lang="en-US" altLang="zh-TW" sz="1600" b="0" dirty="0">
                          <a:solidFill>
                            <a:schemeClr val="tx1"/>
                          </a:solidFill>
                          <a:latin typeface="微軟正黑體" panose="020B0604030504040204" pitchFamily="34" charset="-120"/>
                          <a:ea typeface="微軟正黑體" panose="020B0604030504040204" pitchFamily="34" charset="-120"/>
                        </a:rPr>
                        <a:t>                            </a:t>
                      </a:r>
                      <a:r>
                        <a:rPr lang="zh-TW" altLang="en-US" sz="1600" b="0" dirty="0">
                          <a:solidFill>
                            <a:schemeClr val="tx1"/>
                          </a:solidFill>
                          <a:latin typeface="微軟正黑體" panose="020B0604030504040204" pitchFamily="34" charset="-120"/>
                          <a:ea typeface="微軟正黑體" panose="020B0604030504040204" pitchFamily="34" charset="-120"/>
                        </a:rPr>
                        <a:t>能源發展。</a:t>
                      </a:r>
                    </a:p>
                    <a:p>
                      <a:pPr marL="0" indent="0" algn="l" defTabSz="914400" rtl="0" eaLnBrk="1" latinLnBrk="0" hangingPunct="1">
                        <a:buFont typeface="Arial" panose="020B0604020202020204" pitchFamily="34" charset="0"/>
                        <a:buNone/>
                      </a:pP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L="51430" marR="51430" marT="25718" marB="25718">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US" altLang="zh-TW" sz="2400" b="1" dirty="0">
                          <a:solidFill>
                            <a:srgbClr val="000099"/>
                          </a:solidFill>
                          <a:latin typeface="微軟正黑體" panose="020B0604030504040204" pitchFamily="34" charset="-120"/>
                          <a:ea typeface="微軟正黑體" panose="020B0604030504040204" pitchFamily="34" charset="-120"/>
                        </a:rPr>
                        <a:t>E </a:t>
                      </a:r>
                      <a:r>
                        <a:rPr lang="zh-TW" altLang="en-US" sz="1600" b="1" dirty="0">
                          <a:solidFill>
                            <a:srgbClr val="000099"/>
                          </a:solidFill>
                          <a:latin typeface="微軟正黑體" panose="020B0604030504040204" pitchFamily="34" charset="-120"/>
                          <a:ea typeface="微軟正黑體" panose="020B0604030504040204" pitchFamily="34" charset="-120"/>
                        </a:rPr>
                        <a:t>經濟因素</a:t>
                      </a:r>
                      <a:endParaRPr lang="en-US" altLang="zh-TW" sz="1600" b="0" kern="1200" dirty="0">
                        <a:solidFill>
                          <a:schemeClr val="tx1"/>
                        </a:solidFill>
                        <a:latin typeface="微軟正黑體" panose="020B0604030504040204" pitchFamily="34" charset="-120"/>
                        <a:ea typeface="微軟正黑體" panose="020B0604030504040204" pitchFamily="34" charset="-120"/>
                        <a:cs typeface="+mn-cs"/>
                      </a:endParaRPr>
                    </a:p>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lang="zh-TW" altLang="en-US" sz="1600" b="1" dirty="0">
                          <a:solidFill>
                            <a:schemeClr val="tx1"/>
                          </a:solidFill>
                          <a:latin typeface="微軟正黑體" panose="020B0604030504040204" pitchFamily="34" charset="-120"/>
                          <a:ea typeface="微軟正黑體" panose="020B0604030504040204" pitchFamily="34" charset="-120"/>
                        </a:rPr>
                        <a:t>能源價格波動：</a:t>
                      </a:r>
                      <a:r>
                        <a:rPr lang="zh-TW" altLang="en-US" sz="1600" b="0" dirty="0">
                          <a:solidFill>
                            <a:schemeClr val="tx1"/>
                          </a:solidFill>
                          <a:latin typeface="微軟正黑體" panose="020B0604030504040204" pitchFamily="34" charset="-120"/>
                          <a:ea typeface="微軟正黑體" panose="020B0604030504040204" pitchFamily="34" charset="-120"/>
                        </a:rPr>
                        <a:t>液化石油氣價格提升。</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lang="zh-TW" altLang="en-US" sz="1600" b="1" dirty="0">
                          <a:solidFill>
                            <a:schemeClr val="tx1"/>
                          </a:solidFill>
                          <a:latin typeface="微軟正黑體" panose="020B0604030504040204" pitchFamily="34" charset="-120"/>
                          <a:ea typeface="微軟正黑體" panose="020B0604030504040204" pitchFamily="34" charset="-120"/>
                        </a:rPr>
                        <a:t>消費者購買力：</a:t>
                      </a:r>
                      <a:r>
                        <a:rPr lang="zh-TW" altLang="en-US" sz="1600" b="0" dirty="0">
                          <a:solidFill>
                            <a:schemeClr val="tx1"/>
                          </a:solidFill>
                          <a:latin typeface="微軟正黑體" panose="020B0604030504040204" pitchFamily="34" charset="-120"/>
                          <a:ea typeface="微軟正黑體" panose="020B0604030504040204" pitchFamily="34" charset="-120"/>
                        </a:rPr>
                        <a:t>家庭可支配收入下降，可能    </a:t>
                      </a:r>
                      <a:r>
                        <a:rPr lang="en-US" altLang="zh-TW" sz="1600" b="0" dirty="0">
                          <a:solidFill>
                            <a:schemeClr val="tx1"/>
                          </a:solidFill>
                          <a:latin typeface="微軟正黑體" panose="020B0604030504040204" pitchFamily="34" charset="-120"/>
                          <a:ea typeface="微軟正黑體" panose="020B0604030504040204" pitchFamily="34" charset="-120"/>
                        </a:rPr>
                        <a:t/>
                      </a:r>
                      <a:br>
                        <a:rPr lang="en-US" altLang="zh-TW" sz="1600" b="0" dirty="0">
                          <a:solidFill>
                            <a:schemeClr val="tx1"/>
                          </a:solidFill>
                          <a:latin typeface="微軟正黑體" panose="020B0604030504040204" pitchFamily="34" charset="-120"/>
                          <a:ea typeface="微軟正黑體" panose="020B0604030504040204" pitchFamily="34" charset="-120"/>
                        </a:rPr>
                      </a:br>
                      <a:r>
                        <a:rPr lang="en-US" altLang="zh-TW" sz="1600" b="0" dirty="0">
                          <a:solidFill>
                            <a:schemeClr val="tx1"/>
                          </a:solidFill>
                          <a:latin typeface="微軟正黑體" panose="020B0604030504040204" pitchFamily="34" charset="-120"/>
                          <a:ea typeface="微軟正黑體" panose="020B0604030504040204" pitchFamily="34" charset="-120"/>
                        </a:rPr>
                        <a:t>                            </a:t>
                      </a:r>
                      <a:r>
                        <a:rPr lang="zh-TW" altLang="en-US" sz="1600" b="0" dirty="0">
                          <a:solidFill>
                            <a:schemeClr val="tx1"/>
                          </a:solidFill>
                          <a:latin typeface="微軟正黑體" panose="020B0604030504040204" pitchFamily="34" charset="-120"/>
                          <a:ea typeface="微軟正黑體" panose="020B0604030504040204" pitchFamily="34" charset="-120"/>
                        </a:rPr>
                        <a:t>影響瓦斯需求，或用氣習慣</a:t>
                      </a:r>
                      <a:r>
                        <a:rPr lang="en-US" altLang="zh-TW" sz="1600" b="0" dirty="0">
                          <a:solidFill>
                            <a:schemeClr val="tx1"/>
                          </a:solidFill>
                          <a:latin typeface="微軟正黑體" panose="020B0604030504040204" pitchFamily="34" charset="-120"/>
                          <a:ea typeface="微軟正黑體" panose="020B0604030504040204" pitchFamily="34" charset="-120"/>
                        </a:rPr>
                        <a:t/>
                      </a:r>
                      <a:br>
                        <a:rPr lang="en-US" altLang="zh-TW" sz="1600" b="0" dirty="0">
                          <a:solidFill>
                            <a:schemeClr val="tx1"/>
                          </a:solidFill>
                          <a:latin typeface="微軟正黑體" panose="020B0604030504040204" pitchFamily="34" charset="-120"/>
                          <a:ea typeface="微軟正黑體" panose="020B0604030504040204" pitchFamily="34" charset="-120"/>
                        </a:rPr>
                      </a:br>
                      <a:r>
                        <a:rPr lang="en-US" altLang="zh-TW" sz="1600" b="0" dirty="0">
                          <a:solidFill>
                            <a:schemeClr val="tx1"/>
                          </a:solidFill>
                          <a:latin typeface="微軟正黑體" panose="020B0604030504040204" pitchFamily="34" charset="-120"/>
                          <a:ea typeface="微軟正黑體" panose="020B0604030504040204" pitchFamily="34" charset="-120"/>
                        </a:rPr>
                        <a:t>                            </a:t>
                      </a:r>
                      <a:r>
                        <a:rPr lang="zh-TW" altLang="en-US" sz="1600" b="0" dirty="0">
                          <a:solidFill>
                            <a:schemeClr val="tx1"/>
                          </a:solidFill>
                          <a:latin typeface="微軟正黑體" panose="020B0604030504040204" pitchFamily="34" charset="-120"/>
                          <a:ea typeface="微軟正黑體" panose="020B0604030504040204" pitchFamily="34" charset="-120"/>
                        </a:rPr>
                        <a:t>改變。</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lang="zh-TW" altLang="en-US" sz="1600" b="1" dirty="0">
                          <a:solidFill>
                            <a:schemeClr val="tx1"/>
                          </a:solidFill>
                          <a:latin typeface="微軟正黑體" panose="020B0604030504040204" pitchFamily="34" charset="-120"/>
                          <a:ea typeface="微軟正黑體" panose="020B0604030504040204" pitchFamily="34" charset="-120"/>
                        </a:rPr>
                        <a:t>物流成本增加：</a:t>
                      </a:r>
                      <a:r>
                        <a:rPr lang="zh-TW" altLang="en-US" sz="1600" b="0" dirty="0">
                          <a:solidFill>
                            <a:schemeClr val="tx1"/>
                          </a:solidFill>
                          <a:latin typeface="微軟正黑體" panose="020B0604030504040204" pitchFamily="34" charset="-120"/>
                          <a:ea typeface="微軟正黑體" panose="020B0604030504040204" pitchFamily="34" charset="-120"/>
                        </a:rPr>
                        <a:t>如油價上漲或車輛維護費用</a:t>
                      </a:r>
                      <a:r>
                        <a:rPr lang="en-US" altLang="zh-TW" sz="1600" b="0" dirty="0">
                          <a:solidFill>
                            <a:schemeClr val="tx1"/>
                          </a:solidFill>
                          <a:latin typeface="微軟正黑體" panose="020B0604030504040204" pitchFamily="34" charset="-120"/>
                          <a:ea typeface="微軟正黑體" panose="020B0604030504040204" pitchFamily="34" charset="-120"/>
                        </a:rPr>
                        <a:t/>
                      </a:r>
                      <a:br>
                        <a:rPr lang="en-US" altLang="zh-TW" sz="1600" b="0" dirty="0">
                          <a:solidFill>
                            <a:schemeClr val="tx1"/>
                          </a:solidFill>
                          <a:latin typeface="微軟正黑體" panose="020B0604030504040204" pitchFamily="34" charset="-120"/>
                          <a:ea typeface="微軟正黑體" panose="020B0604030504040204" pitchFamily="34" charset="-120"/>
                        </a:rPr>
                      </a:br>
                      <a:r>
                        <a:rPr lang="en-US" altLang="zh-TW" sz="1600" b="0" dirty="0">
                          <a:solidFill>
                            <a:schemeClr val="tx1"/>
                          </a:solidFill>
                          <a:latin typeface="微軟正黑體" panose="020B0604030504040204" pitchFamily="34" charset="-120"/>
                          <a:ea typeface="微軟正黑體" panose="020B0604030504040204" pitchFamily="34" charset="-120"/>
                        </a:rPr>
                        <a:t>                            </a:t>
                      </a:r>
                      <a:r>
                        <a:rPr lang="zh-TW" altLang="en-US" sz="1600" b="0" dirty="0">
                          <a:solidFill>
                            <a:schemeClr val="tx1"/>
                          </a:solidFill>
                          <a:latin typeface="微軟正黑體" panose="020B0604030504040204" pitchFamily="34" charset="-120"/>
                          <a:ea typeface="微軟正黑體" panose="020B0604030504040204" pitchFamily="34" charset="-120"/>
                        </a:rPr>
                        <a:t>上升。</a:t>
                      </a:r>
                      <a:endParaRPr lang="en-US" altLang="zh-TW" sz="1600" b="0" dirty="0">
                        <a:solidFill>
                          <a:schemeClr val="tx1"/>
                        </a:solidFill>
                        <a:latin typeface="微軟正黑體" panose="020B0604030504040204" pitchFamily="34" charset="-120"/>
                        <a:ea typeface="微軟正黑體" panose="020B0604030504040204" pitchFamily="34" charset="-120"/>
                      </a:endParaRPr>
                    </a:p>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lang="zh-TW" altLang="en-US" sz="1600" b="1" dirty="0">
                          <a:solidFill>
                            <a:schemeClr val="tx1"/>
                          </a:solidFill>
                          <a:latin typeface="微軟正黑體" panose="020B0604030504040204" pitchFamily="34" charset="-120"/>
                          <a:ea typeface="微軟正黑體" panose="020B0604030504040204" pitchFamily="34" charset="-120"/>
                        </a:rPr>
                        <a:t>市場競爭：</a:t>
                      </a:r>
                      <a:r>
                        <a:rPr lang="zh-TW" altLang="en-US" sz="1600" b="0" dirty="0">
                          <a:solidFill>
                            <a:schemeClr val="tx1"/>
                          </a:solidFill>
                          <a:latin typeface="微軟正黑體" panose="020B0604030504040204" pitchFamily="34" charset="-120"/>
                          <a:ea typeface="微軟正黑體" panose="020B0604030504040204" pitchFamily="34" charset="-120"/>
                        </a:rPr>
                        <a:t>其他瓦斯供應商的價格戰。</a:t>
                      </a:r>
                      <a:endParaRPr lang="zh-TW" altLang="en-US" sz="1600" b="0" kern="1200" dirty="0">
                        <a:solidFill>
                          <a:schemeClr val="tx1"/>
                        </a:solidFill>
                        <a:latin typeface="微軟正黑體" pitchFamily="34" charset="-120"/>
                        <a:ea typeface="微軟正黑體" pitchFamily="34" charset="-120"/>
                        <a:cs typeface="+mn-cs"/>
                      </a:endParaRPr>
                    </a:p>
                  </a:txBody>
                  <a:tcPr marL="51430" marR="51430" marT="25718" marB="25718">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2223914">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sz="2400" b="1" dirty="0">
                          <a:solidFill>
                            <a:srgbClr val="FF3300"/>
                          </a:solidFill>
                          <a:latin typeface="微軟正黑體" panose="020B0604030504040204" pitchFamily="34" charset="-120"/>
                          <a:ea typeface="微軟正黑體" panose="020B0604030504040204" pitchFamily="34" charset="-120"/>
                        </a:rPr>
                        <a:t>S </a:t>
                      </a:r>
                      <a:r>
                        <a:rPr lang="en-US" altLang="zh-TW" sz="1600" b="1" dirty="0" err="1">
                          <a:solidFill>
                            <a:srgbClr val="FF3300"/>
                          </a:solidFill>
                          <a:latin typeface="微軟正黑體" panose="020B0604030504040204" pitchFamily="34" charset="-120"/>
                          <a:ea typeface="微軟正黑體" panose="020B0604030504040204" pitchFamily="34" charset="-120"/>
                        </a:rPr>
                        <a:t>社會因素</a:t>
                      </a:r>
                      <a:endParaRPr lang="en-US" altLang="zh-TW" sz="1600" b="1" dirty="0">
                        <a:latin typeface="微軟正黑體" panose="020B0604030504040204" pitchFamily="34" charset="-120"/>
                        <a:ea typeface="微軟正黑體" panose="020B0604030504040204" pitchFamily="34" charset="-120"/>
                      </a:endParaRPr>
                    </a:p>
                    <a:p>
                      <a:pPr marL="342900" lvl="0" indent="-342900">
                        <a:lnSpc>
                          <a:spcPct val="100000"/>
                        </a:lnSpc>
                        <a:buFont typeface="+mj-lt"/>
                        <a:buAutoNum type="arabicPeriod"/>
                      </a:pPr>
                      <a:r>
                        <a:rPr lang="zh-TW" altLang="en-US" sz="1600" b="1" dirty="0">
                          <a:latin typeface="微軟正黑體" panose="020B0604030504040204" pitchFamily="34" charset="-120"/>
                          <a:ea typeface="微軟正黑體" panose="020B0604030504040204" pitchFamily="34" charset="-120"/>
                        </a:rPr>
                        <a:t>人口結構變化</a:t>
                      </a:r>
                      <a:r>
                        <a:rPr lang="zh-TW" altLang="en-US" sz="1600" dirty="0">
                          <a:latin typeface="微軟正黑體" panose="020B0604030504040204" pitchFamily="34" charset="-120"/>
                          <a:ea typeface="微軟正黑體" panose="020B0604030504040204" pitchFamily="34" charset="-120"/>
                        </a:rPr>
                        <a:t>：都市化、家庭結構改變或單</a:t>
                      </a:r>
                      <a:r>
                        <a:rPr lang="en-US" altLang="zh-TW" sz="1600" dirty="0">
                          <a:latin typeface="微軟正黑體" panose="020B0604030504040204" pitchFamily="34" charset="-120"/>
                          <a:ea typeface="微軟正黑體" panose="020B0604030504040204" pitchFamily="34" charset="-120"/>
                        </a:rPr>
                        <a:t/>
                      </a:r>
                      <a:br>
                        <a:rPr lang="en-US" altLang="zh-TW" sz="1600" dirty="0">
                          <a:latin typeface="微軟正黑體" panose="020B0604030504040204" pitchFamily="34" charset="-120"/>
                          <a:ea typeface="微軟正黑體" panose="020B0604030504040204" pitchFamily="34" charset="-120"/>
                        </a:rPr>
                      </a:br>
                      <a:r>
                        <a:rPr lang="en-US" altLang="zh-TW" sz="1600" dirty="0">
                          <a:latin typeface="微軟正黑體" panose="020B0604030504040204" pitchFamily="34" charset="-120"/>
                          <a:ea typeface="微軟正黑體" panose="020B0604030504040204" pitchFamily="34" charset="-120"/>
                        </a:rPr>
                        <a:t>                            </a:t>
                      </a:r>
                      <a:r>
                        <a:rPr lang="zh-TW" altLang="en-US" sz="1600" dirty="0">
                          <a:latin typeface="微軟正黑體" panose="020B0604030504040204" pitchFamily="34" charset="-120"/>
                          <a:ea typeface="微軟正黑體" panose="020B0604030504040204" pitchFamily="34" charset="-120"/>
                        </a:rPr>
                        <a:t>身貴族。</a:t>
                      </a:r>
                      <a:endParaRPr lang="en-US" altLang="zh-TW" sz="1600" dirty="0">
                        <a:latin typeface="微軟正黑體" panose="020B0604030504040204" pitchFamily="34" charset="-120"/>
                        <a:ea typeface="微軟正黑體" panose="020B0604030504040204" pitchFamily="34" charset="-120"/>
                      </a:endParaRPr>
                    </a:p>
                    <a:p>
                      <a:pPr marL="342900" lvl="0" indent="-342900">
                        <a:lnSpc>
                          <a:spcPct val="100000"/>
                        </a:lnSpc>
                        <a:buFont typeface="+mj-lt"/>
                        <a:buAutoNum type="arabicPeriod"/>
                      </a:pPr>
                      <a:r>
                        <a:rPr lang="zh-TW" altLang="en-US" sz="1600" b="1" dirty="0">
                          <a:latin typeface="微軟正黑體" panose="020B0604030504040204" pitchFamily="34" charset="-120"/>
                          <a:ea typeface="微軟正黑體" panose="020B0604030504040204" pitchFamily="34" charset="-120"/>
                        </a:rPr>
                        <a:t>安全意識提升</a:t>
                      </a:r>
                      <a:r>
                        <a:rPr lang="zh-TW" altLang="en-US" sz="1600" dirty="0">
                          <a:latin typeface="微軟正黑體" panose="020B0604030504040204" pitchFamily="34" charset="-120"/>
                          <a:ea typeface="微軟正黑體" panose="020B0604030504040204" pitchFamily="34" charset="-120"/>
                        </a:rPr>
                        <a:t>：消費者對瓦斯產品的安全性</a:t>
                      </a:r>
                      <a:r>
                        <a:rPr lang="en-US" altLang="zh-TW" sz="1600" dirty="0">
                          <a:latin typeface="微軟正黑體" panose="020B0604030504040204" pitchFamily="34" charset="-120"/>
                          <a:ea typeface="微軟正黑體" panose="020B0604030504040204" pitchFamily="34" charset="-120"/>
                        </a:rPr>
                        <a:t/>
                      </a:r>
                      <a:br>
                        <a:rPr lang="en-US" altLang="zh-TW" sz="1600" dirty="0">
                          <a:latin typeface="微軟正黑體" panose="020B0604030504040204" pitchFamily="34" charset="-120"/>
                          <a:ea typeface="微軟正黑體" panose="020B0604030504040204" pitchFamily="34" charset="-120"/>
                        </a:rPr>
                      </a:br>
                      <a:r>
                        <a:rPr lang="en-US" altLang="zh-TW" sz="1600" dirty="0">
                          <a:latin typeface="微軟正黑體" panose="020B0604030504040204" pitchFamily="34" charset="-120"/>
                          <a:ea typeface="微軟正黑體" panose="020B0604030504040204" pitchFamily="34" charset="-120"/>
                        </a:rPr>
                        <a:t>                            </a:t>
                      </a:r>
                      <a:r>
                        <a:rPr lang="zh-TW" altLang="en-US" sz="1600" dirty="0">
                          <a:latin typeface="微軟正黑體" panose="020B0604030504040204" pitchFamily="34" charset="-120"/>
                          <a:ea typeface="微軟正黑體" panose="020B0604030504040204" pitchFamily="34" charset="-120"/>
                        </a:rPr>
                        <a:t>更重視。</a:t>
                      </a:r>
                      <a:endParaRPr lang="en-US" altLang="zh-TW" sz="1600" dirty="0">
                        <a:latin typeface="微軟正黑體" panose="020B0604030504040204" pitchFamily="34" charset="-120"/>
                        <a:ea typeface="微軟正黑體" panose="020B0604030504040204" pitchFamily="34" charset="-120"/>
                      </a:endParaRPr>
                    </a:p>
                    <a:p>
                      <a:pPr marL="342900" lvl="0" indent="-342900">
                        <a:lnSpc>
                          <a:spcPct val="100000"/>
                        </a:lnSpc>
                        <a:buFont typeface="+mj-lt"/>
                        <a:buAutoNum type="arabicPeriod"/>
                      </a:pPr>
                      <a:r>
                        <a:rPr lang="zh-TW" altLang="en-US" sz="1600" b="1" dirty="0">
                          <a:latin typeface="微軟正黑體" panose="020B0604030504040204" pitchFamily="34" charset="-120"/>
                          <a:ea typeface="微軟正黑體" panose="020B0604030504040204" pitchFamily="34" charset="-120"/>
                        </a:rPr>
                        <a:t>生活習慣變遷</a:t>
                      </a:r>
                      <a:r>
                        <a:rPr lang="zh-TW" altLang="en-US" sz="1600" dirty="0">
                          <a:latin typeface="微軟正黑體" panose="020B0604030504040204" pitchFamily="34" charset="-120"/>
                          <a:ea typeface="微軟正黑體" panose="020B0604030504040204" pitchFamily="34" charset="-120"/>
                        </a:rPr>
                        <a:t>：如電氣化廚具普及，外食增</a:t>
                      </a:r>
                      <a:r>
                        <a:rPr lang="en-US" altLang="zh-TW" sz="1600" dirty="0">
                          <a:latin typeface="微軟正黑體" panose="020B0604030504040204" pitchFamily="34" charset="-120"/>
                          <a:ea typeface="微軟正黑體" panose="020B0604030504040204" pitchFamily="34" charset="-120"/>
                        </a:rPr>
                        <a:t/>
                      </a:r>
                      <a:br>
                        <a:rPr lang="en-US" altLang="zh-TW" sz="1600" dirty="0">
                          <a:latin typeface="微軟正黑體" panose="020B0604030504040204" pitchFamily="34" charset="-120"/>
                          <a:ea typeface="微軟正黑體" panose="020B0604030504040204" pitchFamily="34" charset="-120"/>
                        </a:rPr>
                      </a:br>
                      <a:r>
                        <a:rPr lang="en-US" altLang="zh-TW" sz="1600" dirty="0">
                          <a:latin typeface="微軟正黑體" panose="020B0604030504040204" pitchFamily="34" charset="-120"/>
                          <a:ea typeface="微軟正黑體" panose="020B0604030504040204" pitchFamily="34" charset="-120"/>
                        </a:rPr>
                        <a:t>                            </a:t>
                      </a:r>
                      <a:r>
                        <a:rPr lang="zh-TW" altLang="en-US" sz="1600" dirty="0">
                          <a:latin typeface="微軟正黑體" panose="020B0604030504040204" pitchFamily="34" charset="-120"/>
                          <a:ea typeface="微軟正黑體" panose="020B0604030504040204" pitchFamily="34" charset="-120"/>
                        </a:rPr>
                        <a:t>加。</a:t>
                      </a:r>
                      <a:endParaRPr lang="en-US" altLang="zh-TW" sz="1600" dirty="0">
                        <a:latin typeface="微軟正黑體" panose="020B0604030504040204" pitchFamily="34" charset="-120"/>
                        <a:ea typeface="微軟正黑體" panose="020B0604030504040204" pitchFamily="34" charset="-120"/>
                      </a:endParaRPr>
                    </a:p>
                    <a:p>
                      <a:pPr marL="342900" lvl="0" indent="-342900">
                        <a:lnSpc>
                          <a:spcPct val="100000"/>
                        </a:lnSpc>
                        <a:buFont typeface="+mj-lt"/>
                        <a:buAutoNum type="arabicPeriod"/>
                      </a:pPr>
                      <a:r>
                        <a:rPr lang="zh-TW" altLang="en-US" sz="1600" b="1" dirty="0">
                          <a:latin typeface="微軟正黑體" panose="020B0604030504040204" pitchFamily="34" charset="-120"/>
                          <a:ea typeface="微軟正黑體" panose="020B0604030504040204" pitchFamily="34" charset="-120"/>
                        </a:rPr>
                        <a:t>品牌信任</a:t>
                      </a:r>
                      <a:r>
                        <a:rPr lang="zh-TW" altLang="en-US" sz="1600" dirty="0">
                          <a:latin typeface="微軟正黑體" panose="020B0604030504040204" pitchFamily="34" charset="-120"/>
                          <a:ea typeface="微軟正黑體" panose="020B0604030504040204" pitchFamily="34" charset="-120"/>
                        </a:rPr>
                        <a:t>：品牌形象與信任度。</a:t>
                      </a:r>
                      <a:endParaRPr lang="en-US" altLang="zh-TW" sz="1600" b="0" dirty="0">
                        <a:solidFill>
                          <a:schemeClr val="tx1"/>
                        </a:solidFill>
                        <a:latin typeface="微軟正黑體" pitchFamily="34" charset="-120"/>
                        <a:ea typeface="微軟正黑體" pitchFamily="34" charset="-120"/>
                      </a:endParaRPr>
                    </a:p>
                  </a:txBody>
                  <a:tcPr marL="51430" marR="51430" marT="25718" marB="2571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nSpc>
                          <a:spcPct val="100000"/>
                        </a:lnSpc>
                      </a:pPr>
                      <a:r>
                        <a:rPr lang="en-US" altLang="zh-TW" sz="2400" b="1" dirty="0">
                          <a:solidFill>
                            <a:srgbClr val="3F3151"/>
                          </a:solidFill>
                          <a:latin typeface="微軟正黑體" panose="020B0604030504040204" pitchFamily="34" charset="-120"/>
                          <a:ea typeface="微軟正黑體" panose="020B0604030504040204" pitchFamily="34" charset="-120"/>
                        </a:rPr>
                        <a:t>T </a:t>
                      </a:r>
                      <a:r>
                        <a:rPr lang="zh-TW" altLang="en-US" sz="1600" b="1" dirty="0">
                          <a:solidFill>
                            <a:srgbClr val="3F3151"/>
                          </a:solidFill>
                          <a:latin typeface="微軟正黑體" panose="020B0604030504040204" pitchFamily="34" charset="-120"/>
                          <a:ea typeface="微軟正黑體" panose="020B0604030504040204" pitchFamily="34" charset="-120"/>
                        </a:rPr>
                        <a:t>科技因素</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342900" indent="-342900" algn="l">
                        <a:lnSpc>
                          <a:spcPct val="150000"/>
                        </a:lnSpc>
                        <a:buFont typeface="+mj-lt"/>
                        <a:buAutoNum type="arabicPeriod"/>
                      </a:pPr>
                      <a:r>
                        <a:rPr lang="zh-TW" altLang="en-US" sz="1600" b="1" dirty="0">
                          <a:latin typeface="微軟正黑體" panose="020B0604030504040204" pitchFamily="34" charset="-120"/>
                          <a:ea typeface="微軟正黑體" panose="020B0604030504040204" pitchFamily="34" charset="-120"/>
                        </a:rPr>
                        <a:t>產品技術升級</a:t>
                      </a:r>
                      <a:r>
                        <a:rPr lang="zh-TW" altLang="en-US" sz="1600" dirty="0">
                          <a:latin typeface="微軟正黑體" panose="020B0604030504040204" pitchFamily="34" charset="-120"/>
                          <a:ea typeface="微軟正黑體" panose="020B0604030504040204" pitchFamily="34" charset="-120"/>
                        </a:rPr>
                        <a:t>：如複合材料瓦斯桶。</a:t>
                      </a:r>
                      <a:endParaRPr lang="en-US" altLang="zh-TW" sz="1600" dirty="0">
                        <a:latin typeface="微軟正黑體" panose="020B0604030504040204" pitchFamily="34" charset="-120"/>
                        <a:ea typeface="微軟正黑體" panose="020B0604030504040204" pitchFamily="34" charset="-120"/>
                      </a:endParaRPr>
                    </a:p>
                    <a:p>
                      <a:pPr marL="342900" indent="-342900" algn="l">
                        <a:lnSpc>
                          <a:spcPct val="150000"/>
                        </a:lnSpc>
                        <a:buFont typeface="+mj-lt"/>
                        <a:buAutoNum type="arabicPeriod"/>
                      </a:pPr>
                      <a:r>
                        <a:rPr lang="zh-TW" altLang="en-US" sz="1600" b="1" dirty="0">
                          <a:latin typeface="微軟正黑體" panose="020B0604030504040204" pitchFamily="34" charset="-120"/>
                          <a:ea typeface="微軟正黑體" panose="020B0604030504040204" pitchFamily="34" charset="-120"/>
                        </a:rPr>
                        <a:t>物流管理技術</a:t>
                      </a:r>
                      <a:r>
                        <a:rPr lang="zh-TW" altLang="en-US" sz="1600" dirty="0">
                          <a:latin typeface="微軟正黑體" panose="020B0604030504040204" pitchFamily="34" charset="-120"/>
                          <a:ea typeface="微軟正黑體" panose="020B0604030504040204" pitchFamily="34" charset="-120"/>
                        </a:rPr>
                        <a:t>：車輛定位與配送優化技術。</a:t>
                      </a:r>
                      <a:endParaRPr lang="en-US" altLang="zh-TW" sz="1600" dirty="0">
                        <a:latin typeface="微軟正黑體" panose="020B0604030504040204" pitchFamily="34" charset="-120"/>
                        <a:ea typeface="微軟正黑體" panose="020B0604030504040204" pitchFamily="34" charset="-120"/>
                      </a:endParaRPr>
                    </a:p>
                    <a:p>
                      <a:pPr marL="342900" indent="-342900" algn="l">
                        <a:lnSpc>
                          <a:spcPct val="150000"/>
                        </a:lnSpc>
                        <a:buFont typeface="+mj-lt"/>
                        <a:buAutoNum type="arabicPeriod"/>
                      </a:pPr>
                      <a:r>
                        <a:rPr lang="zh-TW" altLang="en-US" sz="1600" b="1" dirty="0">
                          <a:latin typeface="微軟正黑體" panose="020B0604030504040204" pitchFamily="34" charset="-120"/>
                          <a:ea typeface="微軟正黑體" panose="020B0604030504040204" pitchFamily="34" charset="-120"/>
                        </a:rPr>
                        <a:t>數位化整合</a:t>
                      </a:r>
                      <a:r>
                        <a:rPr lang="zh-TW" altLang="en-US" sz="1600" dirty="0">
                          <a:latin typeface="微軟正黑體" panose="020B0604030504040204" pitchFamily="34" charset="-120"/>
                          <a:ea typeface="微軟正黑體" panose="020B0604030504040204" pitchFamily="34" charset="-120"/>
                        </a:rPr>
                        <a:t>：</a:t>
                      </a:r>
                      <a:r>
                        <a:rPr lang="en-US" altLang="zh-TW" sz="1600" dirty="0">
                          <a:latin typeface="微軟正黑體" panose="020B0604030504040204" pitchFamily="34" charset="-120"/>
                          <a:ea typeface="微軟正黑體" panose="020B0604030504040204" pitchFamily="34" charset="-120"/>
                        </a:rPr>
                        <a:t>OMO</a:t>
                      </a:r>
                      <a:r>
                        <a:rPr lang="zh-TW" altLang="en-US" sz="1600" dirty="0">
                          <a:latin typeface="微軟正黑體" panose="020B0604030504040204" pitchFamily="34" charset="-120"/>
                          <a:ea typeface="微軟正黑體" panose="020B0604030504040204" pitchFamily="34" charset="-120"/>
                        </a:rPr>
                        <a:t>（線上線下整合）服務。</a:t>
                      </a:r>
                      <a:endParaRPr lang="en-US" altLang="zh-TW" sz="1600" dirty="0">
                        <a:latin typeface="微軟正黑體" panose="020B0604030504040204" pitchFamily="34" charset="-120"/>
                        <a:ea typeface="微軟正黑體" panose="020B0604030504040204" pitchFamily="34" charset="-120"/>
                      </a:endParaRPr>
                    </a:p>
                    <a:p>
                      <a:pPr marL="342900" indent="-342900" algn="l">
                        <a:lnSpc>
                          <a:spcPct val="150000"/>
                        </a:lnSpc>
                        <a:buFont typeface="+mj-lt"/>
                        <a:buAutoNum type="arabicPeriod"/>
                      </a:pPr>
                      <a:r>
                        <a:rPr lang="zh-TW" altLang="en-US" sz="1600" b="1" dirty="0">
                          <a:latin typeface="微軟正黑體" panose="020B0604030504040204" pitchFamily="34" charset="-120"/>
                          <a:ea typeface="微軟正黑體" panose="020B0604030504040204" pitchFamily="34" charset="-120"/>
                        </a:rPr>
                        <a:t>安全監控技術</a:t>
                      </a:r>
                      <a:r>
                        <a:rPr lang="zh-TW" altLang="en-US" sz="1600" dirty="0">
                          <a:latin typeface="微軟正黑體" panose="020B0604030504040204" pitchFamily="34" charset="-120"/>
                          <a:ea typeface="微軟正黑體" panose="020B0604030504040204" pitchFamily="34" charset="-120"/>
                        </a:rPr>
                        <a:t>：氣體檢測與遠端監控技術。</a:t>
                      </a:r>
                      <a:endParaRPr lang="zh-TW" altLang="en-US" sz="1600" b="0" dirty="0">
                        <a:solidFill>
                          <a:schemeClr val="tx1"/>
                        </a:solidFill>
                        <a:latin typeface="微軟正黑體" pitchFamily="34" charset="-120"/>
                        <a:ea typeface="微軟正黑體" pitchFamily="34" charset="-120"/>
                      </a:endParaRPr>
                    </a:p>
                  </a:txBody>
                  <a:tcPr marL="51430" marR="51430" marT="25718" marB="2571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
        <p:nvSpPr>
          <p:cNvPr id="3" name="內容版面配置區 2">
            <a:extLst>
              <a:ext uri="{FF2B5EF4-FFF2-40B4-BE49-F238E27FC236}">
                <a16:creationId xmlns:a16="http://schemas.microsoft.com/office/drawing/2014/main" id="{D43EFE0F-122C-4109-726E-737F17AE2818}"/>
              </a:ext>
            </a:extLst>
          </p:cNvPr>
          <p:cNvSpPr txBox="1">
            <a:spLocks/>
          </p:cNvSpPr>
          <p:nvPr/>
        </p:nvSpPr>
        <p:spPr>
          <a:xfrm>
            <a:off x="269417" y="460026"/>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三</a:t>
            </a:r>
            <a:r>
              <a:rPr lang="en-US" altLang="zh-TW" sz="2800" b="1" dirty="0">
                <a:solidFill>
                  <a:schemeClr val="tx1"/>
                </a:solidFill>
              </a:rPr>
              <a:t>、PEST</a:t>
            </a:r>
            <a:r>
              <a:rPr lang="zh-TW" altLang="en-US" sz="2800" b="1" dirty="0">
                <a:solidFill>
                  <a:schemeClr val="tx1"/>
                </a:solidFill>
              </a:rPr>
              <a:t>環境因素</a:t>
            </a:r>
            <a:r>
              <a:rPr lang="en-US" altLang="zh-TW" sz="2800" b="1" dirty="0">
                <a:solidFill>
                  <a:schemeClr val="tx1"/>
                </a:solidFill>
              </a:rPr>
              <a:t>-</a:t>
            </a:r>
            <a:r>
              <a:rPr lang="zh-TW" altLang="en-US" sz="2800" b="1" dirty="0">
                <a:solidFill>
                  <a:schemeClr val="tx1"/>
                </a:solidFill>
              </a:rPr>
              <a:t>影響分析</a:t>
            </a:r>
            <a:endParaRPr lang="en-US" altLang="zh-TW" sz="2800" b="1" dirty="0">
              <a:solidFill>
                <a:schemeClr val="tx1"/>
              </a:solidFill>
            </a:endParaRPr>
          </a:p>
        </p:txBody>
      </p:sp>
    </p:spTree>
    <p:extLst>
      <p:ext uri="{BB962C8B-B14F-4D97-AF65-F5344CB8AC3E}">
        <p14:creationId xmlns:p14="http://schemas.microsoft.com/office/powerpoint/2010/main" val="118718332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12">
            <a:extLst>
              <a:ext uri="{FF2B5EF4-FFF2-40B4-BE49-F238E27FC236}">
                <a16:creationId xmlns:a16="http://schemas.microsoft.com/office/drawing/2014/main" id="{69C12357-C9FE-7277-B046-0B677F59CA30}"/>
              </a:ext>
            </a:extLst>
          </p:cNvPr>
          <p:cNvGraphicFramePr>
            <a:graphicFrameLocks noGrp="1"/>
          </p:cNvGraphicFramePr>
          <p:nvPr/>
        </p:nvGraphicFramePr>
        <p:xfrm>
          <a:off x="2495600" y="1517102"/>
          <a:ext cx="7798096" cy="4526009"/>
        </p:xfrm>
        <a:graphic>
          <a:graphicData uri="http://schemas.openxmlformats.org/drawingml/2006/table">
            <a:tbl>
              <a:tblPr firstRow="1" bandRow="1">
                <a:tableStyleId>{5C22544A-7EE6-4342-B048-85BDC9FD1C3A}</a:tableStyleId>
              </a:tblPr>
              <a:tblGrid>
                <a:gridCol w="3899048">
                  <a:extLst>
                    <a:ext uri="{9D8B030D-6E8A-4147-A177-3AD203B41FA5}">
                      <a16:colId xmlns:a16="http://schemas.microsoft.com/office/drawing/2014/main" val="20000"/>
                    </a:ext>
                  </a:extLst>
                </a:gridCol>
                <a:gridCol w="3899048">
                  <a:extLst>
                    <a:ext uri="{9D8B030D-6E8A-4147-A177-3AD203B41FA5}">
                      <a16:colId xmlns:a16="http://schemas.microsoft.com/office/drawing/2014/main" val="20001"/>
                    </a:ext>
                  </a:extLst>
                </a:gridCol>
              </a:tblGrid>
              <a:tr h="2264773">
                <a:tc>
                  <a:txBody>
                    <a:bodyPr/>
                    <a:lstStyle/>
                    <a:p>
                      <a:pPr marL="0" algn="ctr" defTabSz="914400" rtl="0" eaLnBrk="1" latinLnBrk="0" hangingPunct="1">
                        <a:lnSpc>
                          <a:spcPts val="1800"/>
                        </a:lnSpc>
                        <a:spcBef>
                          <a:spcPts val="0"/>
                        </a:spcBef>
                        <a:spcAft>
                          <a:spcPts val="0"/>
                        </a:spcAft>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持續滲透策略</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algn="l" defTabSz="914400" rtl="0" eaLnBrk="1" latinLnBrk="0" hangingPunct="1">
                        <a:lnSpc>
                          <a:spcPts val="1800"/>
                        </a:lnSpc>
                        <a:spcBef>
                          <a:spcPts val="0"/>
                        </a:spcBef>
                        <a:spcAft>
                          <a:spcPts val="0"/>
                        </a:spcAft>
                      </a:pP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algn="l" defTabSz="914400" rtl="0" eaLnBrk="1" latinLnBrk="0" hangingPunct="1">
                        <a:lnSpc>
                          <a:spcPts val="1800"/>
                        </a:lnSpc>
                        <a:spcBef>
                          <a:spcPts val="200"/>
                        </a:spcBef>
                        <a:spcAft>
                          <a:spcPts val="0"/>
                        </a:spcAft>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重疊：既有市場 </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 </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既有服務</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區域性拓點，在地化經營</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門市及智取櫃拓點，形成密集在地服務網</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結合知識宣導、消防局合作與線上曝光</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強化「安心用氣 </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 </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價值化服務」品牌印象</a:t>
                      </a:r>
                    </a:p>
                    <a:p>
                      <a:pPr marL="0" indent="0" algn="l" defTabSz="914400" rtl="0" eaLnBrk="1" latinLnBrk="0" hangingPunct="1">
                        <a:buFont typeface="Arial" panose="020B0604020202020204" pitchFamily="34" charset="0"/>
                        <a:buNone/>
                      </a:pP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L="51430" marR="51430" marT="25718" marB="25718">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algn="ctr" defTabSz="914400" rtl="0" eaLnBrk="1" latinLnBrk="0" hangingPunct="1">
                        <a:lnSpc>
                          <a:spcPts val="1800"/>
                        </a:lnSpc>
                        <a:spcBef>
                          <a:spcPts val="0"/>
                        </a:spcBef>
                        <a:spcAft>
                          <a:spcPts val="0"/>
                        </a:spcAft>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新產品開發策略</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ctr" defTabSz="914400" rtl="0" eaLnBrk="1" fontAlgn="auto" latinLnBrk="0" hangingPunct="1">
                        <a:lnSpc>
                          <a:spcPts val="1800"/>
                        </a:lnSpc>
                        <a:spcBef>
                          <a:spcPts val="0"/>
                        </a:spcBef>
                        <a:spcAft>
                          <a:spcPts val="0"/>
                        </a:spcAft>
                        <a:buClrTx/>
                        <a:buSzTx/>
                        <a:buFontTx/>
                        <a:buNone/>
                        <a:tabLst/>
                        <a:defRPr/>
                      </a:pPr>
                      <a:endParaRPr lang="en-US" altLang="zh-TW" sz="1600" b="0"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8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重疊：既有市場 </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 </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新服務 </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 </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新案型</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342900" marR="0" lvl="0" indent="-34290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新銷售案型導入（會員費＋首配費）</a:t>
                      </a:r>
                    </a:p>
                    <a:p>
                      <a:pPr marL="342900" marR="0" lvl="0" indent="-34290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依據節慶推出 體驗型新案型，降低首次使用門檻</a:t>
                      </a:r>
                    </a:p>
                    <a:p>
                      <a:pPr marL="342900" marR="0" lvl="0" indent="-34290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三機用品服務化（銷售、代裝、售後整合）</a:t>
                      </a:r>
                    </a:p>
                    <a:p>
                      <a:pPr marL="342900" marR="0" lvl="0" indent="-34290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既有客群加值，提升單一用戶服務深度</a:t>
                      </a:r>
                    </a:p>
                    <a:p>
                      <a:pPr marL="342900" marR="0" lvl="0" indent="-342900" algn="l" defTabSz="914400" rtl="0" eaLnBrk="1" fontAlgn="auto" latinLnBrk="0" hangingPunct="1">
                        <a:lnSpc>
                          <a:spcPts val="2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從「單次交易」轉為「長期服務關係</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L="51430" marR="51430" marT="25718" marB="25718">
                    <a:lnL w="6350" cap="flat" cmpd="sng" algn="ctr">
                      <a:solidFill>
                        <a:schemeClr val="tx1"/>
                      </a:solidFill>
                      <a:prstDash val="solid"/>
                      <a:round/>
                      <a:headEnd type="none" w="med" len="med"/>
                      <a:tailEnd type="none" w="med" len="med"/>
                    </a:lnL>
                    <a:lnB w="635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2223914">
                <a:tc>
                  <a:txBody>
                    <a:bodyPr/>
                    <a:lstStyle/>
                    <a:p>
                      <a:pPr marL="0" algn="ctr" defTabSz="914400" rtl="0" eaLnBrk="1" latinLnBrk="0" hangingPunct="1">
                        <a:lnSpc>
                          <a:spcPts val="1800"/>
                        </a:lnSpc>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新市場開發策略</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algn="ctr" defTabSz="914400" rtl="0" eaLnBrk="1" latinLnBrk="0" hangingPunct="1">
                        <a:lnSpc>
                          <a:spcPts val="1800"/>
                        </a:lnSpc>
                      </a:pP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algn="l" defTabSz="914400" rtl="0" eaLnBrk="1" latinLnBrk="0" hangingPunct="1">
                        <a:lnSpc>
                          <a:spcPts val="1800"/>
                        </a:lnSpc>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不重疊</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sym typeface="Wingdings" panose="05000000000000000000" pitchFamily="2" charset="2"/>
                        </a:rPr>
                        <a:t>：新市場 </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sym typeface="Wingdings" panose="05000000000000000000" pitchFamily="2" charset="2"/>
                        </a:rPr>
                        <a:t>× </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sym typeface="Wingdings" panose="05000000000000000000" pitchFamily="2" charset="2"/>
                        </a:rPr>
                        <a:t>既有服務（前進北三都）</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176213" indent="-176213" algn="l" defTabSz="914400" rtl="0" eaLnBrk="1" latinLnBrk="0" hangingPunct="1">
                        <a:lnSpc>
                          <a:spcPts val="2000"/>
                        </a:lnSpc>
                        <a:buFont typeface="Arial" panose="020B0604020202020204" pitchFamily="34" charset="0"/>
                        <a:buChar cha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以北三都驗證之服務與制度模組</a:t>
                      </a:r>
                    </a:p>
                    <a:p>
                      <a:pPr marL="176213" indent="-176213" algn="l" defTabSz="914400" rtl="0" eaLnBrk="1" latinLnBrk="0" hangingPunct="1">
                        <a:lnSpc>
                          <a:spcPts val="2000"/>
                        </a:lnSpc>
                        <a:buFont typeface="Arial" panose="020B0604020202020204" pitchFamily="34" charset="0"/>
                        <a:buChar cha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發展異業與大型通路合作（如全國電子等）</a:t>
                      </a:r>
                    </a:p>
                    <a:p>
                      <a:pPr marL="176213" indent="-176213" algn="l" defTabSz="914400" rtl="0" eaLnBrk="1" latinLnBrk="0" hangingPunct="1">
                        <a:lnSpc>
                          <a:spcPts val="2000"/>
                        </a:lnSpc>
                        <a:buFont typeface="Arial" panose="020B0604020202020204" pitchFamily="34" charset="0"/>
                        <a:buChar cha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開發機關團體與法人客群</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p>
                      <a:pPr marL="0" indent="0" algn="l" defTabSz="914400" rtl="0" eaLnBrk="1" latinLnBrk="0" hangingPunct="1">
                        <a:lnSpc>
                          <a:spcPts val="2000"/>
                        </a:lnSpc>
                        <a:buFont typeface="Arial" panose="020B0604020202020204" pitchFamily="34" charset="0"/>
                        <a:buNone/>
                      </a:pP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    </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（重視政策、安全、環保）</a:t>
                      </a:r>
                    </a:p>
                    <a:p>
                      <a:pPr marL="176213" indent="-176213" algn="l" defTabSz="914400" rtl="0" eaLnBrk="1" latinLnBrk="0" hangingPunct="1">
                        <a:lnSpc>
                          <a:spcPts val="2000"/>
                        </a:lnSpc>
                        <a:buFont typeface="Arial" panose="020B0604020202020204" pitchFamily="34" charset="0"/>
                        <a:buChar cha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導入多元支付與智取櫃，降低跨區服務門檻</a:t>
                      </a:r>
                    </a:p>
                    <a:p>
                      <a:pPr marL="176213" indent="-176213" algn="l" defTabSz="914400" rtl="0" eaLnBrk="1" latinLnBrk="0" hangingPunct="1">
                        <a:lnSpc>
                          <a:spcPts val="2000"/>
                        </a:lnSpc>
                        <a:buFont typeface="Arial" panose="020B0604020202020204" pitchFamily="34" charset="0"/>
                        <a:buChar cha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以「合規＋安檢＋安裝」作為市場切入點</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L="51430" marR="51430" marT="25718" marB="2571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marL="0" algn="ctr" defTabSz="914400" rtl="0" eaLnBrk="1" latinLnBrk="0" hangingPunct="1"/>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多角化經營策略</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algn="l" defTabSz="914400" rtl="0" eaLnBrk="1" latinLnBrk="0" hangingPunct="1"/>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不重疊</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sym typeface="Wingdings" panose="05000000000000000000" pitchFamily="2" charset="2"/>
                        </a:rPr>
                        <a:t>：新市場 </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sym typeface="Wingdings" panose="05000000000000000000" pitchFamily="2" charset="2"/>
                        </a:rPr>
                        <a:t>× </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sym typeface="Wingdings" panose="05000000000000000000" pitchFamily="2" charset="2"/>
                        </a:rPr>
                        <a:t>新產品 </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sym typeface="Wingdings" panose="05000000000000000000" pitchFamily="2" charset="2"/>
                        </a:rPr>
                        <a:t>/ </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sym typeface="Wingdings" panose="05000000000000000000" pitchFamily="2" charset="2"/>
                        </a:rPr>
                        <a:t>新體驗</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sym typeface="Wingdings" panose="05000000000000000000" pitchFamily="2" charset="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發展居家生活與能源體驗型應用</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開拓露營族、戶外生活族、行動用氣族群</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從「能源供應」延伸為「能源生活解決方案」</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L="51430" marR="51430" marT="25718" marB="2571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
        <p:nvSpPr>
          <p:cNvPr id="24589" name="文字方塊 4">
            <a:extLst>
              <a:ext uri="{FF2B5EF4-FFF2-40B4-BE49-F238E27FC236}">
                <a16:creationId xmlns:a16="http://schemas.microsoft.com/office/drawing/2014/main" id="{0BFF14CE-A112-E12C-29F7-705A45B62449}"/>
              </a:ext>
            </a:extLst>
          </p:cNvPr>
          <p:cNvSpPr txBox="1">
            <a:spLocks noChangeArrowheads="1"/>
          </p:cNvSpPr>
          <p:nvPr/>
        </p:nvSpPr>
        <p:spPr bwMode="auto">
          <a:xfrm>
            <a:off x="4068597" y="1078192"/>
            <a:ext cx="405480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新細明體" panose="02020500000000000000" pitchFamily="18" charset="-120"/>
              </a:defRPr>
            </a:lvl1pPr>
            <a:lvl2pPr marL="742950" indent="-285750">
              <a:defRPr kumimoji="1">
                <a:solidFill>
                  <a:schemeClr val="tx1"/>
                </a:solidFill>
                <a:latin typeface="Calibri" panose="020F0502020204030204" pitchFamily="34" charset="0"/>
                <a:ea typeface="新細明體" panose="02020500000000000000" pitchFamily="18" charset="-120"/>
              </a:defRPr>
            </a:lvl2pPr>
            <a:lvl3pPr marL="1143000" indent="-228600">
              <a:defRPr kumimoji="1">
                <a:solidFill>
                  <a:schemeClr val="tx1"/>
                </a:solidFill>
                <a:latin typeface="Calibri" panose="020F0502020204030204" pitchFamily="34" charset="0"/>
                <a:ea typeface="新細明體" panose="02020500000000000000" pitchFamily="18" charset="-120"/>
              </a:defRPr>
            </a:lvl3pPr>
            <a:lvl4pPr marL="1600200" indent="-228600">
              <a:defRPr kumimoji="1">
                <a:solidFill>
                  <a:schemeClr val="tx1"/>
                </a:solidFill>
                <a:latin typeface="Calibri" panose="020F0502020204030204" pitchFamily="34" charset="0"/>
                <a:ea typeface="新細明體" panose="02020500000000000000" pitchFamily="18" charset="-120"/>
              </a:defRPr>
            </a:lvl4pPr>
            <a:lvl5pPr marL="2057400" indent="-228600">
              <a:defRPr kumimoji="1">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pPr eaLnBrk="1" hangingPunct="1"/>
            <a:r>
              <a:rPr lang="zh-TW" altLang="en-US" b="1" dirty="0">
                <a:latin typeface="微軟正黑體" panose="020B0604030504040204" pitchFamily="34" charset="-120"/>
                <a:ea typeface="微軟正黑體" panose="020B0604030504040204" pitchFamily="34" charset="-120"/>
              </a:rPr>
              <a:t>現有 </a:t>
            </a:r>
          </a:p>
        </p:txBody>
      </p:sp>
      <p:sp>
        <p:nvSpPr>
          <p:cNvPr id="24590" name="文字方塊 5">
            <a:extLst>
              <a:ext uri="{FF2B5EF4-FFF2-40B4-BE49-F238E27FC236}">
                <a16:creationId xmlns:a16="http://schemas.microsoft.com/office/drawing/2014/main" id="{85BC06F4-AA22-EE3A-E8F7-97900A3739C0}"/>
              </a:ext>
            </a:extLst>
          </p:cNvPr>
          <p:cNvSpPr txBox="1">
            <a:spLocks noChangeArrowheads="1"/>
          </p:cNvSpPr>
          <p:nvPr/>
        </p:nvSpPr>
        <p:spPr bwMode="auto">
          <a:xfrm>
            <a:off x="6073642" y="980729"/>
            <a:ext cx="68267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新細明體" panose="02020500000000000000" pitchFamily="18" charset="-120"/>
              </a:defRPr>
            </a:lvl1pPr>
            <a:lvl2pPr marL="742950" indent="-285750">
              <a:defRPr kumimoji="1">
                <a:solidFill>
                  <a:schemeClr val="tx1"/>
                </a:solidFill>
                <a:latin typeface="Calibri" panose="020F0502020204030204" pitchFamily="34" charset="0"/>
                <a:ea typeface="新細明體" panose="02020500000000000000" pitchFamily="18" charset="-120"/>
              </a:defRPr>
            </a:lvl2pPr>
            <a:lvl3pPr marL="1143000" indent="-228600">
              <a:defRPr kumimoji="1">
                <a:solidFill>
                  <a:schemeClr val="tx1"/>
                </a:solidFill>
                <a:latin typeface="Calibri" panose="020F0502020204030204" pitchFamily="34" charset="0"/>
                <a:ea typeface="新細明體" panose="02020500000000000000" pitchFamily="18" charset="-120"/>
              </a:defRPr>
            </a:lvl3pPr>
            <a:lvl4pPr marL="1600200" indent="-228600">
              <a:defRPr kumimoji="1">
                <a:solidFill>
                  <a:schemeClr val="tx1"/>
                </a:solidFill>
                <a:latin typeface="Calibri" panose="020F0502020204030204" pitchFamily="34" charset="0"/>
                <a:ea typeface="新細明體" panose="02020500000000000000" pitchFamily="18" charset="-120"/>
              </a:defRPr>
            </a:lvl4pPr>
            <a:lvl5pPr marL="2057400" indent="-228600">
              <a:defRPr kumimoji="1">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pPr eaLnBrk="1" hangingPunct="1"/>
            <a:r>
              <a:rPr lang="zh-TW" altLang="en-US" sz="1700" b="1" dirty="0">
                <a:solidFill>
                  <a:srgbClr val="0000FF"/>
                </a:solidFill>
                <a:latin typeface="微軟正黑體" panose="020B0604030504040204" pitchFamily="34" charset="-120"/>
                <a:ea typeface="微軟正黑體" panose="020B0604030504040204" pitchFamily="34" charset="-120"/>
              </a:rPr>
              <a:t>產品</a:t>
            </a:r>
            <a:endParaRPr lang="en-US" altLang="zh-TW" sz="1700" b="1" dirty="0">
              <a:solidFill>
                <a:srgbClr val="0000FF"/>
              </a:solidFill>
              <a:latin typeface="微軟正黑體" panose="020B0604030504040204" pitchFamily="34" charset="-120"/>
              <a:ea typeface="微軟正黑體" panose="020B0604030504040204" pitchFamily="34" charset="-120"/>
            </a:endParaRPr>
          </a:p>
          <a:p>
            <a:pPr eaLnBrk="1" hangingPunct="1"/>
            <a:r>
              <a:rPr lang="zh-TW" altLang="en-US" sz="1700" b="1" dirty="0">
                <a:solidFill>
                  <a:srgbClr val="0000FF"/>
                </a:solidFill>
                <a:latin typeface="微軟正黑體" panose="020B0604030504040204" pitchFamily="34" charset="-120"/>
                <a:ea typeface="微軟正黑體" panose="020B0604030504040204" pitchFamily="34" charset="-120"/>
              </a:rPr>
              <a:t>需求</a:t>
            </a:r>
          </a:p>
        </p:txBody>
      </p:sp>
      <p:sp>
        <p:nvSpPr>
          <p:cNvPr id="24591" name="文字方塊 6">
            <a:extLst>
              <a:ext uri="{FF2B5EF4-FFF2-40B4-BE49-F238E27FC236}">
                <a16:creationId xmlns:a16="http://schemas.microsoft.com/office/drawing/2014/main" id="{88140EDD-D829-D593-5647-94B60F7D048D}"/>
              </a:ext>
            </a:extLst>
          </p:cNvPr>
          <p:cNvSpPr txBox="1">
            <a:spLocks noChangeArrowheads="1"/>
          </p:cNvSpPr>
          <p:nvPr/>
        </p:nvSpPr>
        <p:spPr bwMode="auto">
          <a:xfrm>
            <a:off x="1701115" y="2542515"/>
            <a:ext cx="65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新細明體" panose="02020500000000000000" pitchFamily="18" charset="-120"/>
              </a:defRPr>
            </a:lvl1pPr>
            <a:lvl2pPr marL="742950" indent="-285750">
              <a:defRPr kumimoji="1">
                <a:solidFill>
                  <a:schemeClr val="tx1"/>
                </a:solidFill>
                <a:latin typeface="Calibri" panose="020F0502020204030204" pitchFamily="34" charset="0"/>
                <a:ea typeface="新細明體" panose="02020500000000000000" pitchFamily="18" charset="-120"/>
              </a:defRPr>
            </a:lvl2pPr>
            <a:lvl3pPr marL="1143000" indent="-228600">
              <a:defRPr kumimoji="1">
                <a:solidFill>
                  <a:schemeClr val="tx1"/>
                </a:solidFill>
                <a:latin typeface="Calibri" panose="020F0502020204030204" pitchFamily="34" charset="0"/>
                <a:ea typeface="新細明體" panose="02020500000000000000" pitchFamily="18" charset="-120"/>
              </a:defRPr>
            </a:lvl3pPr>
            <a:lvl4pPr marL="1600200" indent="-228600">
              <a:defRPr kumimoji="1">
                <a:solidFill>
                  <a:schemeClr val="tx1"/>
                </a:solidFill>
                <a:latin typeface="Calibri" panose="020F0502020204030204" pitchFamily="34" charset="0"/>
                <a:ea typeface="新細明體" panose="02020500000000000000" pitchFamily="18" charset="-120"/>
              </a:defRPr>
            </a:lvl4pPr>
            <a:lvl5pPr marL="2057400" indent="-228600">
              <a:defRPr kumimoji="1">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pPr eaLnBrk="1" hangingPunct="1"/>
            <a:r>
              <a:rPr lang="zh-TW" altLang="en-US" b="1" dirty="0">
                <a:latin typeface="微軟正黑體" panose="020B0604030504040204" pitchFamily="34" charset="-120"/>
                <a:ea typeface="微軟正黑體" panose="020B0604030504040204" pitchFamily="34" charset="-120"/>
              </a:rPr>
              <a:t>現有</a:t>
            </a:r>
          </a:p>
        </p:txBody>
      </p:sp>
      <p:sp>
        <p:nvSpPr>
          <p:cNvPr id="24592" name="文字方塊 7">
            <a:extLst>
              <a:ext uri="{FF2B5EF4-FFF2-40B4-BE49-F238E27FC236}">
                <a16:creationId xmlns:a16="http://schemas.microsoft.com/office/drawing/2014/main" id="{B550306D-9EC6-1488-BDEF-E097EE4828F7}"/>
              </a:ext>
            </a:extLst>
          </p:cNvPr>
          <p:cNvSpPr txBox="1">
            <a:spLocks noChangeArrowheads="1"/>
          </p:cNvSpPr>
          <p:nvPr/>
        </p:nvSpPr>
        <p:spPr bwMode="auto">
          <a:xfrm>
            <a:off x="1844304" y="4913885"/>
            <a:ext cx="3745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新細明體" panose="02020500000000000000" pitchFamily="18" charset="-120"/>
              </a:defRPr>
            </a:lvl1pPr>
            <a:lvl2pPr marL="742950" indent="-285750">
              <a:defRPr kumimoji="1">
                <a:solidFill>
                  <a:schemeClr val="tx1"/>
                </a:solidFill>
                <a:latin typeface="Calibri" panose="020F0502020204030204" pitchFamily="34" charset="0"/>
                <a:ea typeface="新細明體" panose="02020500000000000000" pitchFamily="18" charset="-120"/>
              </a:defRPr>
            </a:lvl2pPr>
            <a:lvl3pPr marL="1143000" indent="-228600">
              <a:defRPr kumimoji="1">
                <a:solidFill>
                  <a:schemeClr val="tx1"/>
                </a:solidFill>
                <a:latin typeface="Calibri" panose="020F0502020204030204" pitchFamily="34" charset="0"/>
                <a:ea typeface="新細明體" panose="02020500000000000000" pitchFamily="18" charset="-120"/>
              </a:defRPr>
            </a:lvl3pPr>
            <a:lvl4pPr marL="1600200" indent="-228600">
              <a:defRPr kumimoji="1">
                <a:solidFill>
                  <a:schemeClr val="tx1"/>
                </a:solidFill>
                <a:latin typeface="Calibri" panose="020F0502020204030204" pitchFamily="34" charset="0"/>
                <a:ea typeface="新細明體" panose="02020500000000000000" pitchFamily="18" charset="-120"/>
              </a:defRPr>
            </a:lvl4pPr>
            <a:lvl5pPr marL="2057400" indent="-228600">
              <a:defRPr kumimoji="1">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pPr eaLnBrk="1" hangingPunct="1"/>
            <a:r>
              <a:rPr lang="zh-TW" altLang="en-US" b="1" dirty="0">
                <a:latin typeface="微軟正黑體" panose="020B0604030504040204" pitchFamily="34" charset="-120"/>
                <a:ea typeface="微軟正黑體" panose="020B0604030504040204" pitchFamily="34" charset="-120"/>
              </a:rPr>
              <a:t>新</a:t>
            </a:r>
          </a:p>
        </p:txBody>
      </p:sp>
      <p:sp>
        <p:nvSpPr>
          <p:cNvPr id="24593" name="文字方塊 8">
            <a:extLst>
              <a:ext uri="{FF2B5EF4-FFF2-40B4-BE49-F238E27FC236}">
                <a16:creationId xmlns:a16="http://schemas.microsoft.com/office/drawing/2014/main" id="{A68163E7-32A8-5E3F-BE18-92777C7A6EFF}"/>
              </a:ext>
            </a:extLst>
          </p:cNvPr>
          <p:cNvSpPr txBox="1">
            <a:spLocks noChangeArrowheads="1"/>
          </p:cNvSpPr>
          <p:nvPr/>
        </p:nvSpPr>
        <p:spPr bwMode="auto">
          <a:xfrm>
            <a:off x="1703513" y="3568051"/>
            <a:ext cx="65369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新細明體" panose="02020500000000000000" pitchFamily="18" charset="-120"/>
              </a:defRPr>
            </a:lvl1pPr>
            <a:lvl2pPr marL="742950" indent="-285750">
              <a:defRPr kumimoji="1">
                <a:solidFill>
                  <a:schemeClr val="tx1"/>
                </a:solidFill>
                <a:latin typeface="Calibri" panose="020F0502020204030204" pitchFamily="34" charset="0"/>
                <a:ea typeface="新細明體" panose="02020500000000000000" pitchFamily="18" charset="-120"/>
              </a:defRPr>
            </a:lvl2pPr>
            <a:lvl3pPr marL="1143000" indent="-228600">
              <a:defRPr kumimoji="1">
                <a:solidFill>
                  <a:schemeClr val="tx1"/>
                </a:solidFill>
                <a:latin typeface="Calibri" panose="020F0502020204030204" pitchFamily="34" charset="0"/>
                <a:ea typeface="新細明體" panose="02020500000000000000" pitchFamily="18" charset="-120"/>
              </a:defRPr>
            </a:lvl3pPr>
            <a:lvl4pPr marL="1600200" indent="-228600">
              <a:defRPr kumimoji="1">
                <a:solidFill>
                  <a:schemeClr val="tx1"/>
                </a:solidFill>
                <a:latin typeface="Calibri" panose="020F0502020204030204" pitchFamily="34" charset="0"/>
                <a:ea typeface="新細明體" panose="02020500000000000000" pitchFamily="18" charset="-120"/>
              </a:defRPr>
            </a:lvl4pPr>
            <a:lvl5pPr marL="2057400" indent="-228600">
              <a:defRPr kumimoji="1">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pPr eaLnBrk="1" hangingPunct="1"/>
            <a:r>
              <a:rPr lang="zh-TW" altLang="en-US" sz="1700" b="1" dirty="0">
                <a:solidFill>
                  <a:srgbClr val="0000FF"/>
                </a:solidFill>
                <a:latin typeface="微軟正黑體" panose="020B0604030504040204" pitchFamily="34" charset="-120"/>
                <a:ea typeface="微軟正黑體" panose="020B0604030504040204" pitchFamily="34" charset="-120"/>
              </a:rPr>
              <a:t>市場</a:t>
            </a:r>
            <a:endParaRPr lang="en-US" altLang="zh-TW" sz="1700" b="1" dirty="0">
              <a:solidFill>
                <a:srgbClr val="0000FF"/>
              </a:solidFill>
              <a:latin typeface="微軟正黑體" panose="020B0604030504040204" pitchFamily="34" charset="-120"/>
              <a:ea typeface="微軟正黑體" panose="020B0604030504040204" pitchFamily="34" charset="-120"/>
            </a:endParaRPr>
          </a:p>
          <a:p>
            <a:pPr eaLnBrk="1" hangingPunct="1"/>
            <a:r>
              <a:rPr lang="zh-TW" altLang="en-US" sz="1700" b="1" dirty="0">
                <a:solidFill>
                  <a:srgbClr val="0000FF"/>
                </a:solidFill>
                <a:latin typeface="微軟正黑體" panose="020B0604030504040204" pitchFamily="34" charset="-120"/>
                <a:ea typeface="微軟正黑體" panose="020B0604030504040204" pitchFamily="34" charset="-120"/>
              </a:rPr>
              <a:t>區隔</a:t>
            </a:r>
          </a:p>
        </p:txBody>
      </p:sp>
      <p:sp>
        <p:nvSpPr>
          <p:cNvPr id="24594" name="文字方塊 9">
            <a:extLst>
              <a:ext uri="{FF2B5EF4-FFF2-40B4-BE49-F238E27FC236}">
                <a16:creationId xmlns:a16="http://schemas.microsoft.com/office/drawing/2014/main" id="{BC5284FA-CC5A-FDEF-4E41-517B98DDDE5B}"/>
              </a:ext>
            </a:extLst>
          </p:cNvPr>
          <p:cNvSpPr txBox="1">
            <a:spLocks noChangeArrowheads="1"/>
          </p:cNvSpPr>
          <p:nvPr/>
        </p:nvSpPr>
        <p:spPr bwMode="auto">
          <a:xfrm>
            <a:off x="8041278" y="1052736"/>
            <a:ext cx="1367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新細明體" panose="02020500000000000000" pitchFamily="18" charset="-120"/>
              </a:defRPr>
            </a:lvl1pPr>
            <a:lvl2pPr marL="742950" indent="-285750">
              <a:defRPr kumimoji="1">
                <a:solidFill>
                  <a:schemeClr val="tx1"/>
                </a:solidFill>
                <a:latin typeface="Calibri" panose="020F0502020204030204" pitchFamily="34" charset="0"/>
                <a:ea typeface="新細明體" panose="02020500000000000000" pitchFamily="18" charset="-120"/>
              </a:defRPr>
            </a:lvl2pPr>
            <a:lvl3pPr marL="1143000" indent="-228600">
              <a:defRPr kumimoji="1">
                <a:solidFill>
                  <a:schemeClr val="tx1"/>
                </a:solidFill>
                <a:latin typeface="Calibri" panose="020F0502020204030204" pitchFamily="34" charset="0"/>
                <a:ea typeface="新細明體" panose="02020500000000000000" pitchFamily="18" charset="-120"/>
              </a:defRPr>
            </a:lvl3pPr>
            <a:lvl4pPr marL="1600200" indent="-228600">
              <a:defRPr kumimoji="1">
                <a:solidFill>
                  <a:schemeClr val="tx1"/>
                </a:solidFill>
                <a:latin typeface="Calibri" panose="020F0502020204030204" pitchFamily="34" charset="0"/>
                <a:ea typeface="新細明體" panose="02020500000000000000" pitchFamily="18" charset="-120"/>
              </a:defRPr>
            </a:lvl4pPr>
            <a:lvl5pPr marL="2057400" indent="-228600">
              <a:defRPr kumimoji="1">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pPr eaLnBrk="1" hangingPunct="1"/>
            <a:r>
              <a:rPr lang="zh-TW" altLang="en-US" b="1" dirty="0">
                <a:latin typeface="微軟正黑體" panose="020B0604030504040204" pitchFamily="34" charset="-120"/>
                <a:ea typeface="微軟正黑體" panose="020B0604030504040204" pitchFamily="34" charset="-120"/>
              </a:rPr>
              <a:t>新</a:t>
            </a:r>
          </a:p>
        </p:txBody>
      </p:sp>
      <p:sp>
        <p:nvSpPr>
          <p:cNvPr id="3" name="內容版面配置區 2">
            <a:extLst>
              <a:ext uri="{FF2B5EF4-FFF2-40B4-BE49-F238E27FC236}">
                <a16:creationId xmlns:a16="http://schemas.microsoft.com/office/drawing/2014/main" id="{3424F666-FE3B-FE16-D567-B37853F5F8B5}"/>
              </a:ext>
            </a:extLst>
          </p:cNvPr>
          <p:cNvSpPr txBox="1">
            <a:spLocks/>
          </p:cNvSpPr>
          <p:nvPr/>
        </p:nvSpPr>
        <p:spPr>
          <a:xfrm>
            <a:off x="118114" y="489400"/>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四</a:t>
            </a:r>
            <a:r>
              <a:rPr lang="en-US" altLang="zh-TW" sz="2800" b="1" dirty="0">
                <a:solidFill>
                  <a:schemeClr val="tx1"/>
                </a:solidFill>
              </a:rPr>
              <a:t>、</a:t>
            </a:r>
            <a:r>
              <a:rPr lang="zh-TW" altLang="en-US" sz="2800" b="1" dirty="0">
                <a:solidFill>
                  <a:schemeClr val="tx1"/>
                </a:solidFill>
              </a:rPr>
              <a:t>旺來</a:t>
            </a:r>
            <a:r>
              <a:rPr lang="en-US" altLang="zh-TW" sz="2800" b="1" dirty="0">
                <a:solidFill>
                  <a:schemeClr val="tx1"/>
                </a:solidFill>
              </a:rPr>
              <a:t>Ansoff</a:t>
            </a:r>
            <a:r>
              <a:rPr lang="zh-TW" altLang="en-US" sz="2800" b="1" dirty="0">
                <a:solidFill>
                  <a:schemeClr val="tx1"/>
                </a:solidFill>
              </a:rPr>
              <a:t>策略矩陣圖</a:t>
            </a:r>
            <a:endParaRPr lang="en-US" altLang="zh-TW" sz="2800" b="1"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5B31-1890-4768-DD9B-E5FC1ED1B785}"/>
            </a:ext>
          </a:extLst>
        </p:cNvPr>
        <p:cNvGrpSpPr/>
        <p:nvPr/>
      </p:nvGrpSpPr>
      <p:grpSpPr>
        <a:xfrm>
          <a:off x="0" y="0"/>
          <a:ext cx="0" cy="0"/>
          <a:chOff x="0" y="0"/>
          <a:chExt cx="0" cy="0"/>
        </a:xfrm>
      </p:grpSpPr>
      <p:sp>
        <p:nvSpPr>
          <p:cNvPr id="16" name="內容版面配置區 2">
            <a:extLst>
              <a:ext uri="{FF2B5EF4-FFF2-40B4-BE49-F238E27FC236}">
                <a16:creationId xmlns:a16="http://schemas.microsoft.com/office/drawing/2014/main" id="{325119F0-7FCA-2786-A0B4-5C4AB0557260}"/>
              </a:ext>
            </a:extLst>
          </p:cNvPr>
          <p:cNvSpPr txBox="1">
            <a:spLocks/>
          </p:cNvSpPr>
          <p:nvPr/>
        </p:nvSpPr>
        <p:spPr>
          <a:xfrm>
            <a:off x="191344" y="534988"/>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五</a:t>
            </a:r>
            <a:r>
              <a:rPr lang="en-US" altLang="zh-TW" sz="2800" b="1" dirty="0">
                <a:solidFill>
                  <a:schemeClr val="tx1"/>
                </a:solidFill>
              </a:rPr>
              <a:t>、2025</a:t>
            </a:r>
            <a:r>
              <a:rPr lang="zh-TW" altLang="en-US" sz="2800" b="1" dirty="0">
                <a:solidFill>
                  <a:schemeClr val="tx1"/>
                </a:solidFill>
              </a:rPr>
              <a:t>旺來回顧</a:t>
            </a:r>
            <a:endParaRPr lang="en-US" altLang="zh-TW" sz="2800" b="1" dirty="0">
              <a:solidFill>
                <a:schemeClr val="tx1"/>
              </a:solidFill>
            </a:endParaRPr>
          </a:p>
        </p:txBody>
      </p:sp>
      <p:sp>
        <p:nvSpPr>
          <p:cNvPr id="8" name="文字方塊 7">
            <a:extLst>
              <a:ext uri="{FF2B5EF4-FFF2-40B4-BE49-F238E27FC236}">
                <a16:creationId xmlns:a16="http://schemas.microsoft.com/office/drawing/2014/main" id="{AE8DF4AF-13B9-0C56-799C-A9B7892047A8}"/>
              </a:ext>
            </a:extLst>
          </p:cNvPr>
          <p:cNvSpPr txBox="1"/>
          <p:nvPr/>
        </p:nvSpPr>
        <p:spPr>
          <a:xfrm>
            <a:off x="1919536" y="1052737"/>
            <a:ext cx="7128792" cy="5145639"/>
          </a:xfrm>
          <a:prstGeom prst="rect">
            <a:avLst/>
          </a:prstGeom>
          <a:noFill/>
        </p:spPr>
        <p:txBody>
          <a:bodyPr wrap="square">
            <a:spAutoFit/>
          </a:bodyPr>
          <a:lstStyle/>
          <a:p>
            <a:pPr marL="571500">
              <a:lnSpc>
                <a:spcPct val="150000"/>
              </a:lnSpc>
            </a:pPr>
            <a:r>
              <a:rPr lang="zh-TW" altLang="en-US" sz="1700" b="1" dirty="0">
                <a:latin typeface="微軟正黑體" panose="020B0604030504040204" pitchFamily="34" charset="-120"/>
                <a:ea typeface="微軟正黑體" panose="020B0604030504040204" pitchFamily="34" charset="-120"/>
              </a:rPr>
              <a:t>說明：</a:t>
            </a:r>
            <a:endParaRPr lang="en-US" altLang="zh-TW" sz="1700" b="1" dirty="0">
              <a:latin typeface="微軟正黑體" panose="020B0604030504040204" pitchFamily="34" charset="-120"/>
              <a:ea typeface="微軟正黑體" panose="020B0604030504040204" pitchFamily="34" charset="-120"/>
            </a:endParaRPr>
          </a:p>
          <a:p>
            <a:pPr marL="1371600" lvl="1" indent="-342900">
              <a:lnSpc>
                <a:spcPct val="150000"/>
              </a:lnSpc>
              <a:buFont typeface="+mj-lt"/>
              <a:buAutoNum type="arabicPeriod"/>
            </a:pPr>
            <a:r>
              <a:rPr lang="zh-TW" altLang="en-US" sz="1700" b="1" dirty="0">
                <a:latin typeface="微軟正黑體" panose="020B0604030504040204" pitchFamily="34" charset="-120"/>
                <a:ea typeface="微軟正黑體" panose="020B0604030504040204" pitchFamily="34" charset="-120"/>
              </a:rPr>
              <a:t>重大事件：</a:t>
            </a:r>
            <a:endParaRPr lang="en-US" altLang="zh-TW" sz="1700" b="1" dirty="0">
              <a:latin typeface="微軟正黑體" panose="020B0604030504040204" pitchFamily="34" charset="-120"/>
              <a:ea typeface="微軟正黑體" panose="020B0604030504040204" pitchFamily="34" charset="-120"/>
            </a:endParaRPr>
          </a:p>
          <a:p>
            <a:pPr marL="1485900" lvl="2">
              <a:lnSpc>
                <a:spcPct val="150000"/>
              </a:lnSpc>
            </a:pPr>
            <a:r>
              <a:rPr lang="en-US" altLang="zh-TW" sz="1700" dirty="0">
                <a:latin typeface="微軟正黑體" panose="020B0604030504040204" pitchFamily="34" charset="-120"/>
                <a:ea typeface="微軟正黑體" panose="020B0604030504040204" pitchFamily="34" charset="-120"/>
              </a:rPr>
              <a:t>1.1. </a:t>
            </a:r>
            <a:r>
              <a:rPr lang="zh-TW" altLang="en-US" sz="1700" dirty="0">
                <a:latin typeface="微軟正黑體" panose="020B0604030504040204" pitchFamily="34" charset="-120"/>
                <a:ea typeface="微軟正黑體" panose="020B0604030504040204" pitchFamily="34" charset="-120"/>
              </a:rPr>
              <a:t>新會員案型</a:t>
            </a:r>
            <a:r>
              <a:rPr lang="en-US" altLang="zh-TW" sz="1700" dirty="0">
                <a:latin typeface="微軟正黑體" panose="020B0604030504040204" pitchFamily="34" charset="-120"/>
                <a:ea typeface="微軟正黑體" panose="020B0604030504040204" pitchFamily="34" charset="-120"/>
              </a:rPr>
              <a:t/>
            </a:r>
            <a:br>
              <a:rPr lang="en-US" altLang="zh-TW" sz="1700" dirty="0">
                <a:latin typeface="微軟正黑體" panose="020B0604030504040204" pitchFamily="34" charset="-120"/>
                <a:ea typeface="微軟正黑體" panose="020B0604030504040204" pitchFamily="34" charset="-120"/>
              </a:rPr>
            </a:br>
            <a:r>
              <a:rPr lang="en-US" altLang="zh-TW" sz="1700" dirty="0">
                <a:latin typeface="微軟正黑體" panose="020B0604030504040204" pitchFamily="34" charset="-120"/>
                <a:ea typeface="微軟正黑體" panose="020B0604030504040204" pitchFamily="34" charset="-120"/>
              </a:rPr>
              <a:t>1.2. 90</a:t>
            </a:r>
            <a:r>
              <a:rPr lang="zh-TW" altLang="en-US" sz="1700" dirty="0">
                <a:latin typeface="微軟正黑體" panose="020B0604030504040204" pitchFamily="34" charset="-120"/>
                <a:ea typeface="微軟正黑體" panose="020B0604030504040204" pitchFamily="34" charset="-120"/>
              </a:rPr>
              <a:t>天中秋方案（</a:t>
            </a:r>
            <a:r>
              <a:rPr lang="en-US" altLang="zh-TW" sz="1700" dirty="0">
                <a:latin typeface="微軟正黑體" panose="020B0604030504040204" pitchFamily="34" charset="-120"/>
                <a:ea typeface="微軟正黑體" panose="020B0604030504040204" pitchFamily="34" charset="-120"/>
              </a:rPr>
              <a:t>2025/8-2025/11</a:t>
            </a:r>
            <a:r>
              <a:rPr lang="zh-TW" altLang="en-US" sz="1700" dirty="0">
                <a:latin typeface="微軟正黑體" panose="020B0604030504040204" pitchFamily="34" charset="-120"/>
                <a:ea typeface="微軟正黑體" panose="020B0604030504040204" pitchFamily="34" charset="-120"/>
              </a:rPr>
              <a:t>）</a:t>
            </a:r>
            <a:endParaRPr lang="en-US" altLang="zh-TW" sz="1700" dirty="0">
              <a:latin typeface="微軟正黑體" panose="020B0604030504040204" pitchFamily="34" charset="-120"/>
              <a:ea typeface="微軟正黑體" panose="020B0604030504040204" pitchFamily="34" charset="-120"/>
            </a:endParaRPr>
          </a:p>
          <a:p>
            <a:pPr marL="1485900" lvl="2">
              <a:lnSpc>
                <a:spcPct val="150000"/>
              </a:lnSpc>
            </a:pPr>
            <a:r>
              <a:rPr lang="en-US" altLang="zh-TW" sz="1700" dirty="0">
                <a:latin typeface="微軟正黑體" panose="020B0604030504040204" pitchFamily="34" charset="-120"/>
                <a:ea typeface="微軟正黑體" panose="020B0604030504040204" pitchFamily="34" charset="-120"/>
              </a:rPr>
              <a:t>1.3. 999</a:t>
            </a:r>
            <a:r>
              <a:rPr lang="zh-TW" altLang="en-US" sz="1700" dirty="0">
                <a:latin typeface="微軟正黑體" panose="020B0604030504040204" pitchFamily="34" charset="-120"/>
                <a:ea typeface="微軟正黑體" panose="020B0604030504040204" pitchFamily="34" charset="-120"/>
              </a:rPr>
              <a:t>舊戶移居方案（</a:t>
            </a:r>
            <a:r>
              <a:rPr lang="en-US" altLang="zh-TW" sz="1700" dirty="0">
                <a:latin typeface="微軟正黑體" panose="020B0604030504040204" pitchFamily="34" charset="-120"/>
                <a:ea typeface="微軟正黑體" panose="020B0604030504040204" pitchFamily="34" charset="-120"/>
              </a:rPr>
              <a:t>2025/7</a:t>
            </a:r>
            <a:r>
              <a:rPr lang="zh-TW" altLang="en-US" sz="1700" dirty="0">
                <a:latin typeface="微軟正黑體" panose="020B0604030504040204" pitchFamily="34" charset="-120"/>
                <a:ea typeface="微軟正黑體" panose="020B0604030504040204" pitchFamily="34" charset="-120"/>
              </a:rPr>
              <a:t>起）</a:t>
            </a:r>
            <a:endParaRPr lang="en-US" altLang="zh-TW" sz="1700" dirty="0">
              <a:latin typeface="微軟正黑體" panose="020B0604030504040204" pitchFamily="34" charset="-120"/>
              <a:ea typeface="微軟正黑體" panose="020B0604030504040204" pitchFamily="34" charset="-120"/>
            </a:endParaRPr>
          </a:p>
          <a:p>
            <a:pPr marL="1485900" lvl="2">
              <a:lnSpc>
                <a:spcPct val="150000"/>
              </a:lnSpc>
            </a:pPr>
            <a:r>
              <a:rPr lang="en-US" altLang="zh-TW" sz="1700" dirty="0">
                <a:latin typeface="微軟正黑體" panose="020B0604030504040204" pitchFamily="34" charset="-120"/>
                <a:ea typeface="微軟正黑體" panose="020B0604030504040204" pitchFamily="34" charset="-120"/>
              </a:rPr>
              <a:t>1.4. </a:t>
            </a:r>
            <a:r>
              <a:rPr lang="zh-TW" altLang="en-US" sz="1700" dirty="0">
                <a:latin typeface="微軟正黑體" panose="020B0604030504040204" pitchFamily="34" charset="-120"/>
                <a:ea typeface="微軟正黑體" panose="020B0604030504040204" pitchFamily="34" charset="-120"/>
              </a:rPr>
              <a:t>金龍發加盟</a:t>
            </a:r>
            <a:endParaRPr lang="en-US" altLang="zh-TW" sz="1700" dirty="0">
              <a:latin typeface="微軟正黑體" panose="020B0604030504040204" pitchFamily="34" charset="-120"/>
              <a:ea typeface="微軟正黑體" panose="020B0604030504040204" pitchFamily="34" charset="-120"/>
            </a:endParaRPr>
          </a:p>
          <a:p>
            <a:pPr marL="1485900" lvl="2">
              <a:lnSpc>
                <a:spcPct val="150000"/>
              </a:lnSpc>
            </a:pPr>
            <a:r>
              <a:rPr lang="en-US" altLang="zh-TW" sz="1700" dirty="0">
                <a:latin typeface="微軟正黑體" panose="020B0604030504040204" pitchFamily="34" charset="-120"/>
                <a:ea typeface="微軟正黑體" panose="020B0604030504040204" pitchFamily="34" charset="-120"/>
              </a:rPr>
              <a:t>1.5. </a:t>
            </a:r>
            <a:r>
              <a:rPr lang="zh-TW" altLang="en-US" sz="1700" dirty="0">
                <a:latin typeface="微軟正黑體" panose="020B0604030504040204" pitchFamily="34" charset="-120"/>
                <a:ea typeface="微軟正黑體" panose="020B0604030504040204" pitchFamily="34" charset="-120"/>
              </a:rPr>
              <a:t>萊爾富行銷</a:t>
            </a:r>
            <a:r>
              <a:rPr lang="en-US" altLang="zh-TW" sz="1700" dirty="0">
                <a:latin typeface="微軟正黑體" panose="020B0604030504040204" pitchFamily="34" charset="-120"/>
                <a:ea typeface="微軟正黑體" panose="020B0604030504040204" pitchFamily="34" charset="-120"/>
              </a:rPr>
              <a:t> </a:t>
            </a:r>
          </a:p>
          <a:p>
            <a:pPr marL="1371600" lvl="1" indent="-342900">
              <a:lnSpc>
                <a:spcPct val="150000"/>
              </a:lnSpc>
              <a:buFont typeface="+mj-lt"/>
              <a:buAutoNum type="arabicPeriod" startAt="2"/>
            </a:pPr>
            <a:r>
              <a:rPr lang="zh-TW" altLang="en-US" sz="1700" b="1" dirty="0">
                <a:latin typeface="微軟正黑體" panose="020B0604030504040204" pitchFamily="34" charset="-120"/>
                <a:ea typeface="微軟正黑體" panose="020B0604030504040204" pitchFamily="34" charset="-120"/>
              </a:rPr>
              <a:t>重要營收數字回顧：</a:t>
            </a:r>
            <a:endParaRPr lang="en-US" altLang="zh-TW" sz="1700" b="1" dirty="0">
              <a:latin typeface="微軟正黑體" panose="020B0604030504040204" pitchFamily="34" charset="-120"/>
              <a:ea typeface="微軟正黑體" panose="020B0604030504040204" pitchFamily="34" charset="-120"/>
            </a:endParaRPr>
          </a:p>
          <a:p>
            <a:pPr marL="1485900" lvl="2">
              <a:lnSpc>
                <a:spcPct val="150000"/>
              </a:lnSpc>
            </a:pPr>
            <a:r>
              <a:rPr lang="en-US" altLang="zh-TW" sz="1700" dirty="0">
                <a:latin typeface="微軟正黑體" panose="020B0604030504040204" pitchFamily="34" charset="-120"/>
                <a:ea typeface="微軟正黑體" panose="020B0604030504040204" pitchFamily="34" charset="-120"/>
              </a:rPr>
              <a:t>2.1. </a:t>
            </a:r>
            <a:r>
              <a:rPr lang="zh-TW" altLang="en-US" sz="1700" dirty="0">
                <a:latin typeface="微軟正黑體" panose="020B0604030504040204" pitchFamily="34" charset="-120"/>
                <a:ea typeface="微軟正黑體" panose="020B0604030504040204" pitchFamily="34" charset="-120"/>
              </a:rPr>
              <a:t>營業額</a:t>
            </a:r>
            <a:r>
              <a:rPr lang="en-US" altLang="zh-TW" sz="1700" dirty="0">
                <a:latin typeface="微軟正黑體" panose="020B0604030504040204" pitchFamily="34" charset="-120"/>
                <a:ea typeface="微軟正黑體" panose="020B0604030504040204" pitchFamily="34" charset="-120"/>
              </a:rPr>
              <a:t/>
            </a:r>
            <a:br>
              <a:rPr lang="en-US" altLang="zh-TW" sz="1700" dirty="0">
                <a:latin typeface="微軟正黑體" panose="020B0604030504040204" pitchFamily="34" charset="-120"/>
                <a:ea typeface="微軟正黑體" panose="020B0604030504040204" pitchFamily="34" charset="-120"/>
              </a:rPr>
            </a:br>
            <a:r>
              <a:rPr lang="en-US" altLang="zh-TW" sz="1700" dirty="0">
                <a:latin typeface="微軟正黑體" panose="020B0604030504040204" pitchFamily="34" charset="-120"/>
                <a:ea typeface="微軟正黑體" panose="020B0604030504040204" pitchFamily="34" charset="-120"/>
              </a:rPr>
              <a:t>2.2.</a:t>
            </a:r>
            <a:r>
              <a:rPr lang="zh-TW" altLang="en-US" sz="1700" dirty="0">
                <a:latin typeface="微軟正黑體" panose="020B0604030504040204" pitchFamily="34" charset="-120"/>
                <a:ea typeface="微軟正黑體" panose="020B0604030504040204" pitchFamily="34" charset="-120"/>
              </a:rPr>
              <a:t> 毛利額或毛利率</a:t>
            </a:r>
            <a:endParaRPr lang="en-US" altLang="zh-TW" sz="1700" dirty="0">
              <a:latin typeface="微軟正黑體" panose="020B0604030504040204" pitchFamily="34" charset="-120"/>
              <a:ea typeface="微軟正黑體" panose="020B0604030504040204" pitchFamily="34" charset="-120"/>
            </a:endParaRPr>
          </a:p>
          <a:p>
            <a:pPr marL="1485900" lvl="2">
              <a:lnSpc>
                <a:spcPct val="150000"/>
              </a:lnSpc>
            </a:pPr>
            <a:r>
              <a:rPr lang="en-US" altLang="zh-TW" sz="1700" dirty="0">
                <a:latin typeface="微軟正黑體" panose="020B0604030504040204" pitchFamily="34" charset="-120"/>
                <a:ea typeface="微軟正黑體" panose="020B0604030504040204" pitchFamily="34" charset="-120"/>
              </a:rPr>
              <a:t>2.3. </a:t>
            </a:r>
            <a:r>
              <a:rPr lang="zh-TW" altLang="en-US" sz="1700" dirty="0">
                <a:latin typeface="微軟正黑體" panose="020B0604030504040204" pitchFamily="34" charset="-120"/>
                <a:ea typeface="微軟正黑體" panose="020B0604030504040204" pitchFamily="34" charset="-120"/>
              </a:rPr>
              <a:t>物流成本分析（油資、維修費、保險費、人力）</a:t>
            </a:r>
            <a:endParaRPr lang="en-US" altLang="zh-TW" sz="1700" b="1" dirty="0">
              <a:latin typeface="微軟正黑體" panose="020B0604030504040204" pitchFamily="34" charset="-120"/>
              <a:ea typeface="微軟正黑體" panose="020B0604030504040204" pitchFamily="34" charset="-120"/>
            </a:endParaRPr>
          </a:p>
          <a:p>
            <a:pPr marL="1371600" lvl="1" indent="-342900">
              <a:lnSpc>
                <a:spcPct val="150000"/>
              </a:lnSpc>
              <a:buFont typeface="+mj-lt"/>
              <a:buAutoNum type="arabicPeriod" startAt="2"/>
            </a:pPr>
            <a:r>
              <a:rPr lang="zh-TW" altLang="en-US" sz="1700" b="1" dirty="0">
                <a:latin typeface="微軟正黑體" panose="020B0604030504040204" pitchFamily="34" charset="-120"/>
                <a:ea typeface="微軟正黑體" panose="020B0604030504040204" pitchFamily="34" charset="-120"/>
              </a:rPr>
              <a:t>人員流動</a:t>
            </a:r>
            <a:r>
              <a:rPr lang="en-US" altLang="zh-TW" sz="1700" b="1" dirty="0">
                <a:latin typeface="微軟正黑體" panose="020B0604030504040204" pitchFamily="34" charset="-120"/>
                <a:ea typeface="微軟正黑體" panose="020B0604030504040204" pitchFamily="34" charset="-120"/>
              </a:rPr>
              <a:t>-</a:t>
            </a:r>
            <a:r>
              <a:rPr lang="zh-TW" altLang="en-US" sz="1700" b="1" dirty="0">
                <a:latin typeface="微軟正黑體" panose="020B0604030504040204" pitchFamily="34" charset="-120"/>
                <a:ea typeface="微軟正黑體" panose="020B0604030504040204" pitchFamily="34" charset="-120"/>
              </a:rPr>
              <a:t>詳見補充說明</a:t>
            </a:r>
            <a:endParaRPr lang="en-US" altLang="zh-TW" sz="1700" b="1" dirty="0">
              <a:latin typeface="微軟正黑體" panose="020B0604030504040204" pitchFamily="34" charset="-120"/>
              <a:ea typeface="微軟正黑體" panose="020B0604030504040204" pitchFamily="34" charset="-120"/>
            </a:endParaRPr>
          </a:p>
          <a:p>
            <a:pPr marL="1371600" lvl="1" indent="-342900">
              <a:lnSpc>
                <a:spcPct val="150000"/>
              </a:lnSpc>
              <a:buFont typeface="+mj-lt"/>
              <a:buAutoNum type="arabicPeriod" startAt="2"/>
            </a:pPr>
            <a:r>
              <a:rPr lang="zh-TW" altLang="en-US" sz="1700" b="1" dirty="0">
                <a:latin typeface="微軟正黑體" panose="020B0604030504040204" pitchFamily="34" charset="-120"/>
                <a:ea typeface="微軟正黑體" panose="020B0604030504040204" pitchFamily="34" charset="-120"/>
              </a:rPr>
              <a:t>新增會員及解約會員分析</a:t>
            </a:r>
          </a:p>
        </p:txBody>
      </p:sp>
    </p:spTree>
    <p:extLst>
      <p:ext uri="{BB962C8B-B14F-4D97-AF65-F5344CB8AC3E}">
        <p14:creationId xmlns:p14="http://schemas.microsoft.com/office/powerpoint/2010/main" val="2553843585"/>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BAFF9-290D-423A-893E-81C0A7D2E158}"/>
            </a:ext>
          </a:extLst>
        </p:cNvPr>
        <p:cNvGrpSpPr/>
        <p:nvPr/>
      </p:nvGrpSpPr>
      <p:grpSpPr>
        <a:xfrm>
          <a:off x="0" y="0"/>
          <a:ext cx="0" cy="0"/>
          <a:chOff x="0" y="0"/>
          <a:chExt cx="0" cy="0"/>
        </a:xfrm>
      </p:grpSpPr>
      <p:sp>
        <p:nvSpPr>
          <p:cNvPr id="8" name="文字方塊 7">
            <a:extLst>
              <a:ext uri="{FF2B5EF4-FFF2-40B4-BE49-F238E27FC236}">
                <a16:creationId xmlns:a16="http://schemas.microsoft.com/office/drawing/2014/main" id="{0347D9DD-0EB8-EAEA-90E7-12FBD0FCCC56}"/>
              </a:ext>
            </a:extLst>
          </p:cNvPr>
          <p:cNvSpPr txBox="1"/>
          <p:nvPr/>
        </p:nvSpPr>
        <p:spPr>
          <a:xfrm>
            <a:off x="926342" y="1083668"/>
            <a:ext cx="7272808" cy="2672911"/>
          </a:xfrm>
          <a:prstGeom prst="rect">
            <a:avLst/>
          </a:prstGeom>
          <a:noFill/>
        </p:spPr>
        <p:txBody>
          <a:bodyPr wrap="square">
            <a:spAutoFit/>
          </a:bodyPr>
          <a:lstStyle/>
          <a:p>
            <a:pPr>
              <a:lnSpc>
                <a:spcPct val="150000"/>
              </a:lnSpc>
            </a:pPr>
            <a:r>
              <a:rPr lang="zh-TW" altLang="en-US" sz="2400" b="1" dirty="0">
                <a:latin typeface="微軟正黑體" panose="020B0604030504040204" pitchFamily="34" charset="-120"/>
                <a:ea typeface="微軟正黑體" panose="020B0604030504040204" pitchFamily="34" charset="-120"/>
              </a:rPr>
              <a:t>說明：</a:t>
            </a:r>
            <a:endParaRPr lang="en-US" altLang="zh-TW" sz="2400" b="1"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營收</a:t>
            </a:r>
            <a:r>
              <a:rPr lang="en-US" altLang="zh-TW" dirty="0">
                <a:latin typeface="微軟正黑體" panose="020B0604030504040204" pitchFamily="34" charset="-120"/>
                <a:ea typeface="微軟正黑體" panose="020B0604030504040204" pitchFamily="34" charset="-120"/>
              </a:rPr>
              <a:t>3,884</a:t>
            </a:r>
            <a:r>
              <a:rPr lang="zh-TW" altLang="en-US" dirty="0">
                <a:latin typeface="微軟正黑體" panose="020B0604030504040204" pitchFamily="34" charset="-120"/>
                <a:ea typeface="微軟正黑體" panose="020B0604030504040204" pitchFamily="34" charset="-120"/>
              </a:rPr>
              <a:t>萬 ， </a:t>
            </a:r>
            <a:r>
              <a:rPr lang="en-US" altLang="zh-TW" dirty="0">
                <a:latin typeface="微軟正黑體" panose="020B0604030504040204" pitchFamily="34" charset="-120"/>
                <a:ea typeface="微軟正黑體" panose="020B0604030504040204" pitchFamily="34" charset="-120"/>
              </a:rPr>
              <a:t>YOY</a:t>
            </a:r>
            <a:r>
              <a:rPr lang="zh-TW" altLang="en-US" dirty="0">
                <a:latin typeface="微軟正黑體" panose="020B0604030504040204" pitchFamily="34" charset="-120"/>
                <a:ea typeface="微軟正黑體" panose="020B0604030504040204" pitchFamily="34" charset="-120"/>
              </a:rPr>
              <a:t>成長</a:t>
            </a:r>
            <a:r>
              <a:rPr lang="en-US" altLang="zh-TW" dirty="0">
                <a:latin typeface="微軟正黑體" panose="020B0604030504040204" pitchFamily="34" charset="-120"/>
                <a:ea typeface="微軟正黑體" panose="020B0604030504040204" pitchFamily="34" charset="-120"/>
              </a:rPr>
              <a:t>0.68%</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毛利結構改善，</a:t>
            </a:r>
            <a:r>
              <a:rPr lang="en-US" altLang="zh-TW" dirty="0">
                <a:latin typeface="微軟正黑體" panose="020B0604030504040204" pitchFamily="34" charset="-120"/>
                <a:ea typeface="微軟正黑體" panose="020B0604030504040204" pitchFamily="34" charset="-120"/>
              </a:rPr>
              <a:t>YOY</a:t>
            </a:r>
            <a:r>
              <a:rPr lang="zh-TW" altLang="en-US" dirty="0">
                <a:latin typeface="微軟正黑體" panose="020B0604030504040204" pitchFamily="34" charset="-120"/>
                <a:ea typeface="微軟正黑體" panose="020B0604030504040204" pitchFamily="34" charset="-120"/>
              </a:rPr>
              <a:t>毛利上升</a:t>
            </a:r>
            <a:r>
              <a:rPr lang="en-US" altLang="zh-TW" dirty="0">
                <a:latin typeface="微軟正黑體" panose="020B0604030504040204" pitchFamily="34" charset="-120"/>
                <a:ea typeface="微軟正黑體" panose="020B0604030504040204" pitchFamily="34" charset="-120"/>
              </a:rPr>
              <a:t>25% </a:t>
            </a:r>
          </a:p>
          <a:p>
            <a:pPr lvl="1">
              <a:lnSpc>
                <a:spcPct val="150000"/>
              </a:lnSpc>
            </a:pPr>
            <a:r>
              <a:rPr lang="zh-TW" altLang="en-US" dirty="0">
                <a:latin typeface="微軟正黑體" panose="020B0604030504040204" pitchFamily="34" charset="-120"/>
                <a:ea typeface="微軟正黑體" panose="020B0604030504040204" pitchFamily="34" charset="-120"/>
              </a:rPr>
              <a:t>      毛利額由</a:t>
            </a:r>
            <a:r>
              <a:rPr lang="en-US" altLang="zh-TW" dirty="0">
                <a:latin typeface="微軟正黑體" panose="020B0604030504040204" pitchFamily="34" charset="-120"/>
                <a:ea typeface="微軟正黑體" panose="020B0604030504040204" pitchFamily="34" charset="-120"/>
              </a:rPr>
              <a:t>559</a:t>
            </a:r>
            <a:r>
              <a:rPr lang="zh-TW" altLang="en-US" dirty="0">
                <a:latin typeface="微軟正黑體" panose="020B0604030504040204" pitchFamily="34" charset="-120"/>
                <a:ea typeface="微軟正黑體" panose="020B0604030504040204" pitchFamily="34" charset="-120"/>
              </a:rPr>
              <a:t>萬到</a:t>
            </a:r>
            <a:r>
              <a:rPr lang="en-US" altLang="zh-TW" dirty="0">
                <a:latin typeface="微軟正黑體" panose="020B0604030504040204" pitchFamily="34" charset="-120"/>
                <a:ea typeface="微軟正黑體" panose="020B0604030504040204" pitchFamily="34" charset="-120"/>
              </a:rPr>
              <a:t>697</a:t>
            </a:r>
            <a:r>
              <a:rPr lang="zh-TW" altLang="en-US" dirty="0">
                <a:latin typeface="微軟正黑體" panose="020B0604030504040204" pitchFamily="34" charset="-120"/>
                <a:ea typeface="微軟正黑體" panose="020B0604030504040204" pitchFamily="34" charset="-120"/>
              </a:rPr>
              <a:t>萬。</a:t>
            </a:r>
            <a:endParaRPr lang="en-US" altLang="zh-TW" dirty="0">
              <a:latin typeface="微軟正黑體" panose="020B0604030504040204" pitchFamily="34" charset="-120"/>
              <a:ea typeface="微軟正黑體" panose="020B0604030504040204" pitchFamily="34" charset="-120"/>
            </a:endParaRPr>
          </a:p>
          <a:p>
            <a:pPr marL="742950" lvl="1" indent="-285750">
              <a:lnSpc>
                <a:spcPct val="150000"/>
              </a:lnSpc>
              <a:buFont typeface="Arial" panose="020B0604020202020204" pitchFamily="34" charset="0"/>
              <a:buChar char="•"/>
            </a:pPr>
            <a:r>
              <a:rPr lang="en-US" altLang="zh-TW" dirty="0">
                <a:latin typeface="微軟正黑體" panose="020B0604030504040204" pitchFamily="34" charset="-120"/>
                <a:ea typeface="微軟正黑體" panose="020B0604030504040204" pitchFamily="34" charset="-120"/>
              </a:rPr>
              <a:t>2024</a:t>
            </a:r>
            <a:r>
              <a:rPr lang="zh-TW" altLang="en-US" dirty="0">
                <a:latin typeface="微軟正黑體" panose="020B0604030504040204" pitchFamily="34" charset="-120"/>
                <a:ea typeface="微軟正黑體" panose="020B0604030504040204" pitchFamily="34" charset="-120"/>
              </a:rPr>
              <a:t>及</a:t>
            </a:r>
            <a:r>
              <a:rPr lang="en-US" altLang="zh-TW" dirty="0">
                <a:latin typeface="微軟正黑體" panose="020B0604030504040204" pitchFamily="34" charset="-120"/>
                <a:ea typeface="微軟正黑體" panose="020B0604030504040204" pitchFamily="34" charset="-120"/>
              </a:rPr>
              <a:t>2025</a:t>
            </a:r>
            <a:r>
              <a:rPr lang="zh-TW" altLang="en-US" dirty="0">
                <a:latin typeface="微軟正黑體" panose="020B0604030504040204" pitchFamily="34" charset="-120"/>
                <a:ea typeface="微軟正黑體" panose="020B0604030504040204" pitchFamily="34" charset="-120"/>
              </a:rPr>
              <a:t>工程課及物流課成本分析：</a:t>
            </a:r>
            <a:endParaRPr lang="en-US" altLang="zh-TW" dirty="0">
              <a:latin typeface="微軟正黑體" panose="020B0604030504040204" pitchFamily="34" charset="-120"/>
              <a:ea typeface="微軟正黑體" panose="020B0604030504040204" pitchFamily="34" charset="-120"/>
            </a:endParaRPr>
          </a:p>
          <a:p>
            <a:pPr lvl="1">
              <a:lnSpc>
                <a:spcPct val="150000"/>
              </a:lnSpc>
            </a:pPr>
            <a:endParaRPr lang="en-US" altLang="zh-TW" dirty="0">
              <a:latin typeface="微軟正黑體" panose="020B0604030504040204" pitchFamily="34" charset="-120"/>
              <a:ea typeface="微軟正黑體" panose="020B0604030504040204" pitchFamily="34" charset="-120"/>
            </a:endParaRPr>
          </a:p>
        </p:txBody>
      </p:sp>
      <p:pic>
        <p:nvPicPr>
          <p:cNvPr id="7" name="圖片 6">
            <a:extLst>
              <a:ext uri="{FF2B5EF4-FFF2-40B4-BE49-F238E27FC236}">
                <a16:creationId xmlns:a16="http://schemas.microsoft.com/office/drawing/2014/main" id="{A259CD7A-0B05-0951-724E-7F5B737E89F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4319" b="89037" l="1952" r="94794">
                        <a14:foregroundMark x1="47722" y1="39535" x2="47722" y2="39535"/>
                      </a14:backgroundRemoval>
                    </a14:imgEffect>
                  </a14:imgLayer>
                </a14:imgProps>
              </a:ext>
            </a:extLst>
          </a:blip>
          <a:stretch>
            <a:fillRect/>
          </a:stretch>
        </p:blipFill>
        <p:spPr>
          <a:xfrm>
            <a:off x="6750766" y="2983104"/>
            <a:ext cx="1145265" cy="747776"/>
          </a:xfrm>
          <a:prstGeom prst="rect">
            <a:avLst/>
          </a:prstGeom>
        </p:spPr>
      </p:pic>
      <p:grpSp>
        <p:nvGrpSpPr>
          <p:cNvPr id="9" name="组合 191">
            <a:extLst>
              <a:ext uri="{FF2B5EF4-FFF2-40B4-BE49-F238E27FC236}">
                <a16:creationId xmlns:a16="http://schemas.microsoft.com/office/drawing/2014/main" id="{CB4F1518-A06C-F431-8EEB-B18F20DCBF1C}"/>
              </a:ext>
            </a:extLst>
          </p:cNvPr>
          <p:cNvGrpSpPr/>
          <p:nvPr/>
        </p:nvGrpSpPr>
        <p:grpSpPr>
          <a:xfrm>
            <a:off x="8516376" y="1988840"/>
            <a:ext cx="1560339" cy="1152128"/>
            <a:chOff x="4846638" y="2463800"/>
            <a:chExt cx="960438" cy="660401"/>
          </a:xfrm>
        </p:grpSpPr>
        <p:sp>
          <p:nvSpPr>
            <p:cNvPr id="10" name="Freeform 123">
              <a:extLst>
                <a:ext uri="{FF2B5EF4-FFF2-40B4-BE49-F238E27FC236}">
                  <a16:creationId xmlns:a16="http://schemas.microsoft.com/office/drawing/2014/main" id="{CD62D104-BDEF-D513-B19C-5C6607A0F925}"/>
                </a:ext>
              </a:extLst>
            </p:cNvPr>
            <p:cNvSpPr>
              <a:spLocks/>
            </p:cNvSpPr>
            <p:nvPr/>
          </p:nvSpPr>
          <p:spPr bwMode="auto">
            <a:xfrm>
              <a:off x="4905376" y="2463800"/>
              <a:ext cx="842963" cy="569913"/>
            </a:xfrm>
            <a:custGeom>
              <a:avLst/>
              <a:gdLst>
                <a:gd name="T0" fmla="*/ 208 w 224"/>
                <a:gd name="T1" fmla="*/ 0 h 152"/>
                <a:gd name="T2" fmla="*/ 16 w 224"/>
                <a:gd name="T3" fmla="*/ 0 h 152"/>
                <a:gd name="T4" fmla="*/ 0 w 224"/>
                <a:gd name="T5" fmla="*/ 16 h 152"/>
                <a:gd name="T6" fmla="*/ 0 w 224"/>
                <a:gd name="T7" fmla="*/ 152 h 152"/>
                <a:gd name="T8" fmla="*/ 224 w 224"/>
                <a:gd name="T9" fmla="*/ 152 h 152"/>
                <a:gd name="T10" fmla="*/ 224 w 224"/>
                <a:gd name="T11" fmla="*/ 16 h 152"/>
                <a:gd name="T12" fmla="*/ 208 w 224"/>
                <a:gd name="T13" fmla="*/ 0 h 152"/>
              </a:gdLst>
              <a:ahLst/>
              <a:cxnLst>
                <a:cxn ang="0">
                  <a:pos x="T0" y="T1"/>
                </a:cxn>
                <a:cxn ang="0">
                  <a:pos x="T2" y="T3"/>
                </a:cxn>
                <a:cxn ang="0">
                  <a:pos x="T4" y="T5"/>
                </a:cxn>
                <a:cxn ang="0">
                  <a:pos x="T6" y="T7"/>
                </a:cxn>
                <a:cxn ang="0">
                  <a:pos x="T8" y="T9"/>
                </a:cxn>
                <a:cxn ang="0">
                  <a:pos x="T10" y="T11"/>
                </a:cxn>
                <a:cxn ang="0">
                  <a:pos x="T12" y="T13"/>
                </a:cxn>
              </a:cxnLst>
              <a:rect l="0" t="0" r="r" b="b"/>
              <a:pathLst>
                <a:path w="224" h="152">
                  <a:moveTo>
                    <a:pt x="208" y="0"/>
                  </a:moveTo>
                  <a:cubicBezTo>
                    <a:pt x="16" y="0"/>
                    <a:pt x="16" y="0"/>
                    <a:pt x="16" y="0"/>
                  </a:cubicBezTo>
                  <a:cubicBezTo>
                    <a:pt x="7" y="0"/>
                    <a:pt x="0" y="7"/>
                    <a:pt x="0" y="16"/>
                  </a:cubicBezTo>
                  <a:cubicBezTo>
                    <a:pt x="0" y="152"/>
                    <a:pt x="0" y="152"/>
                    <a:pt x="0" y="152"/>
                  </a:cubicBezTo>
                  <a:cubicBezTo>
                    <a:pt x="224" y="152"/>
                    <a:pt x="224" y="152"/>
                    <a:pt x="224" y="152"/>
                  </a:cubicBezTo>
                  <a:cubicBezTo>
                    <a:pt x="224" y="16"/>
                    <a:pt x="224" y="16"/>
                    <a:pt x="224" y="16"/>
                  </a:cubicBezTo>
                  <a:cubicBezTo>
                    <a:pt x="224" y="7"/>
                    <a:pt x="217" y="0"/>
                    <a:pt x="208" y="0"/>
                  </a:cubicBezTo>
                  <a:close/>
                </a:path>
              </a:pathLst>
            </a:custGeom>
            <a:solidFill>
              <a:srgbClr val="5C5D5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Rectangle 124">
              <a:extLst>
                <a:ext uri="{FF2B5EF4-FFF2-40B4-BE49-F238E27FC236}">
                  <a16:creationId xmlns:a16="http://schemas.microsoft.com/office/drawing/2014/main" id="{42D54FBC-F5A8-BB50-EE35-F67743F71F0F}"/>
                </a:ext>
              </a:extLst>
            </p:cNvPr>
            <p:cNvSpPr>
              <a:spLocks noChangeArrowheads="1"/>
            </p:cNvSpPr>
            <p:nvPr/>
          </p:nvSpPr>
          <p:spPr bwMode="auto">
            <a:xfrm>
              <a:off x="4965701" y="2524125"/>
              <a:ext cx="722313" cy="4508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125">
              <a:extLst>
                <a:ext uri="{FF2B5EF4-FFF2-40B4-BE49-F238E27FC236}">
                  <a16:creationId xmlns:a16="http://schemas.microsoft.com/office/drawing/2014/main" id="{245FD6D9-1AEE-F9FB-24DD-723556CB1EE2}"/>
                </a:ext>
              </a:extLst>
            </p:cNvPr>
            <p:cNvSpPr>
              <a:spLocks/>
            </p:cNvSpPr>
            <p:nvPr/>
          </p:nvSpPr>
          <p:spPr bwMode="auto">
            <a:xfrm>
              <a:off x="4846638" y="3033713"/>
              <a:ext cx="960438" cy="90488"/>
            </a:xfrm>
            <a:custGeom>
              <a:avLst/>
              <a:gdLst>
                <a:gd name="T0" fmla="*/ 0 w 256"/>
                <a:gd name="T1" fmla="*/ 0 h 24"/>
                <a:gd name="T2" fmla="*/ 24 w 256"/>
                <a:gd name="T3" fmla="*/ 24 h 24"/>
                <a:gd name="T4" fmla="*/ 232 w 256"/>
                <a:gd name="T5" fmla="*/ 24 h 24"/>
                <a:gd name="T6" fmla="*/ 256 w 256"/>
                <a:gd name="T7" fmla="*/ 0 h 24"/>
                <a:gd name="T8" fmla="*/ 0 w 256"/>
                <a:gd name="T9" fmla="*/ 0 h 24"/>
              </a:gdLst>
              <a:ahLst/>
              <a:cxnLst>
                <a:cxn ang="0">
                  <a:pos x="T0" y="T1"/>
                </a:cxn>
                <a:cxn ang="0">
                  <a:pos x="T2" y="T3"/>
                </a:cxn>
                <a:cxn ang="0">
                  <a:pos x="T4" y="T5"/>
                </a:cxn>
                <a:cxn ang="0">
                  <a:pos x="T6" y="T7"/>
                </a:cxn>
                <a:cxn ang="0">
                  <a:pos x="T8" y="T9"/>
                </a:cxn>
              </a:cxnLst>
              <a:rect l="0" t="0" r="r" b="b"/>
              <a:pathLst>
                <a:path w="256" h="24">
                  <a:moveTo>
                    <a:pt x="0" y="0"/>
                  </a:moveTo>
                  <a:cubicBezTo>
                    <a:pt x="0" y="16"/>
                    <a:pt x="8" y="24"/>
                    <a:pt x="24" y="24"/>
                  </a:cubicBezTo>
                  <a:cubicBezTo>
                    <a:pt x="232" y="24"/>
                    <a:pt x="232" y="24"/>
                    <a:pt x="232" y="24"/>
                  </a:cubicBezTo>
                  <a:cubicBezTo>
                    <a:pt x="248" y="24"/>
                    <a:pt x="256" y="16"/>
                    <a:pt x="256" y="0"/>
                  </a:cubicBezTo>
                  <a:lnTo>
                    <a:pt x="0" y="0"/>
                  </a:lnTo>
                  <a:close/>
                </a:path>
              </a:pathLst>
            </a:custGeom>
            <a:solidFill>
              <a:srgbClr val="D3D7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126">
              <a:extLst>
                <a:ext uri="{FF2B5EF4-FFF2-40B4-BE49-F238E27FC236}">
                  <a16:creationId xmlns:a16="http://schemas.microsoft.com/office/drawing/2014/main" id="{077EFBE6-E002-975A-2563-3BCA8B796177}"/>
                </a:ext>
              </a:extLst>
            </p:cNvPr>
            <p:cNvSpPr>
              <a:spLocks/>
            </p:cNvSpPr>
            <p:nvPr/>
          </p:nvSpPr>
          <p:spPr bwMode="auto">
            <a:xfrm>
              <a:off x="5237163" y="3033713"/>
              <a:ext cx="179388" cy="30163"/>
            </a:xfrm>
            <a:custGeom>
              <a:avLst/>
              <a:gdLst>
                <a:gd name="T0" fmla="*/ 104 w 113"/>
                <a:gd name="T1" fmla="*/ 19 h 19"/>
                <a:gd name="T2" fmla="*/ 9 w 113"/>
                <a:gd name="T3" fmla="*/ 19 h 19"/>
                <a:gd name="T4" fmla="*/ 0 w 113"/>
                <a:gd name="T5" fmla="*/ 0 h 19"/>
                <a:gd name="T6" fmla="*/ 113 w 113"/>
                <a:gd name="T7" fmla="*/ 0 h 19"/>
                <a:gd name="T8" fmla="*/ 104 w 113"/>
                <a:gd name="T9" fmla="*/ 19 h 19"/>
              </a:gdLst>
              <a:ahLst/>
              <a:cxnLst>
                <a:cxn ang="0">
                  <a:pos x="T0" y="T1"/>
                </a:cxn>
                <a:cxn ang="0">
                  <a:pos x="T2" y="T3"/>
                </a:cxn>
                <a:cxn ang="0">
                  <a:pos x="T4" y="T5"/>
                </a:cxn>
                <a:cxn ang="0">
                  <a:pos x="T6" y="T7"/>
                </a:cxn>
                <a:cxn ang="0">
                  <a:pos x="T8" y="T9"/>
                </a:cxn>
              </a:cxnLst>
              <a:rect l="0" t="0" r="r" b="b"/>
              <a:pathLst>
                <a:path w="113" h="19">
                  <a:moveTo>
                    <a:pt x="104" y="19"/>
                  </a:moveTo>
                  <a:lnTo>
                    <a:pt x="9" y="19"/>
                  </a:lnTo>
                  <a:lnTo>
                    <a:pt x="0" y="0"/>
                  </a:lnTo>
                  <a:lnTo>
                    <a:pt x="113" y="0"/>
                  </a:lnTo>
                  <a:lnTo>
                    <a:pt x="104" y="19"/>
                  </a:lnTo>
                  <a:close/>
                </a:path>
              </a:pathLst>
            </a:custGeom>
            <a:solidFill>
              <a:srgbClr val="82858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Rectangle 127">
              <a:extLst>
                <a:ext uri="{FF2B5EF4-FFF2-40B4-BE49-F238E27FC236}">
                  <a16:creationId xmlns:a16="http://schemas.microsoft.com/office/drawing/2014/main" id="{EF54FA4D-8FCC-2C41-9BBA-F717855C80AE}"/>
                </a:ext>
              </a:extLst>
            </p:cNvPr>
            <p:cNvSpPr>
              <a:spLocks noChangeArrowheads="1"/>
            </p:cNvSpPr>
            <p:nvPr/>
          </p:nvSpPr>
          <p:spPr bwMode="auto">
            <a:xfrm>
              <a:off x="5026026" y="2582863"/>
              <a:ext cx="60325" cy="331788"/>
            </a:xfrm>
            <a:prstGeom prst="rect">
              <a:avLst/>
            </a:prstGeom>
            <a:solidFill>
              <a:srgbClr val="EBF0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Rectangle 128">
              <a:extLst>
                <a:ext uri="{FF2B5EF4-FFF2-40B4-BE49-F238E27FC236}">
                  <a16:creationId xmlns:a16="http://schemas.microsoft.com/office/drawing/2014/main" id="{7750702F-CB48-A929-099B-B51EE55E6948}"/>
                </a:ext>
              </a:extLst>
            </p:cNvPr>
            <p:cNvSpPr>
              <a:spLocks noChangeArrowheads="1"/>
            </p:cNvSpPr>
            <p:nvPr/>
          </p:nvSpPr>
          <p:spPr bwMode="auto">
            <a:xfrm>
              <a:off x="5116513" y="2582863"/>
              <a:ext cx="60325" cy="331788"/>
            </a:xfrm>
            <a:prstGeom prst="rect">
              <a:avLst/>
            </a:prstGeom>
            <a:solidFill>
              <a:srgbClr val="EBF0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129">
              <a:extLst>
                <a:ext uri="{FF2B5EF4-FFF2-40B4-BE49-F238E27FC236}">
                  <a16:creationId xmlns:a16="http://schemas.microsoft.com/office/drawing/2014/main" id="{00C934D7-59DA-C633-B0F4-A459C7A230AD}"/>
                </a:ext>
              </a:extLst>
            </p:cNvPr>
            <p:cNvSpPr>
              <a:spLocks noChangeArrowheads="1"/>
            </p:cNvSpPr>
            <p:nvPr/>
          </p:nvSpPr>
          <p:spPr bwMode="auto">
            <a:xfrm>
              <a:off x="5207001" y="2582863"/>
              <a:ext cx="60325" cy="331788"/>
            </a:xfrm>
            <a:prstGeom prst="rect">
              <a:avLst/>
            </a:prstGeom>
            <a:solidFill>
              <a:srgbClr val="EBF0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Rectangle 130">
              <a:extLst>
                <a:ext uri="{FF2B5EF4-FFF2-40B4-BE49-F238E27FC236}">
                  <a16:creationId xmlns:a16="http://schemas.microsoft.com/office/drawing/2014/main" id="{ABD739BD-23D9-64B5-8403-CDD3EAE5F63F}"/>
                </a:ext>
              </a:extLst>
            </p:cNvPr>
            <p:cNvSpPr>
              <a:spLocks noChangeArrowheads="1"/>
            </p:cNvSpPr>
            <p:nvPr/>
          </p:nvSpPr>
          <p:spPr bwMode="auto">
            <a:xfrm>
              <a:off x="5297488" y="2582863"/>
              <a:ext cx="58738" cy="331788"/>
            </a:xfrm>
            <a:prstGeom prst="rect">
              <a:avLst/>
            </a:prstGeom>
            <a:solidFill>
              <a:srgbClr val="EBF0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Rectangle 131">
              <a:extLst>
                <a:ext uri="{FF2B5EF4-FFF2-40B4-BE49-F238E27FC236}">
                  <a16:creationId xmlns:a16="http://schemas.microsoft.com/office/drawing/2014/main" id="{3C79E924-BDAE-69D3-FA19-6BC76FD339B4}"/>
                </a:ext>
              </a:extLst>
            </p:cNvPr>
            <p:cNvSpPr>
              <a:spLocks noChangeArrowheads="1"/>
            </p:cNvSpPr>
            <p:nvPr/>
          </p:nvSpPr>
          <p:spPr bwMode="auto">
            <a:xfrm>
              <a:off x="5386388" y="2582863"/>
              <a:ext cx="60325" cy="331788"/>
            </a:xfrm>
            <a:prstGeom prst="rect">
              <a:avLst/>
            </a:prstGeom>
            <a:solidFill>
              <a:srgbClr val="EBF0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Rectangle 132">
              <a:extLst>
                <a:ext uri="{FF2B5EF4-FFF2-40B4-BE49-F238E27FC236}">
                  <a16:creationId xmlns:a16="http://schemas.microsoft.com/office/drawing/2014/main" id="{A4189E9E-87B7-AA16-859D-604EB9E14CB3}"/>
                </a:ext>
              </a:extLst>
            </p:cNvPr>
            <p:cNvSpPr>
              <a:spLocks noChangeArrowheads="1"/>
            </p:cNvSpPr>
            <p:nvPr/>
          </p:nvSpPr>
          <p:spPr bwMode="auto">
            <a:xfrm>
              <a:off x="5476876" y="2582863"/>
              <a:ext cx="60325" cy="331788"/>
            </a:xfrm>
            <a:prstGeom prst="rect">
              <a:avLst/>
            </a:prstGeom>
            <a:solidFill>
              <a:srgbClr val="EBF0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Rectangle 133">
              <a:extLst>
                <a:ext uri="{FF2B5EF4-FFF2-40B4-BE49-F238E27FC236}">
                  <a16:creationId xmlns:a16="http://schemas.microsoft.com/office/drawing/2014/main" id="{BAFE70E0-390C-3E93-B112-ACEB26A68BE7}"/>
                </a:ext>
              </a:extLst>
            </p:cNvPr>
            <p:cNvSpPr>
              <a:spLocks noChangeArrowheads="1"/>
            </p:cNvSpPr>
            <p:nvPr/>
          </p:nvSpPr>
          <p:spPr bwMode="auto">
            <a:xfrm>
              <a:off x="5567363" y="2582863"/>
              <a:ext cx="60325" cy="331788"/>
            </a:xfrm>
            <a:prstGeom prst="rect">
              <a:avLst/>
            </a:prstGeom>
            <a:solidFill>
              <a:srgbClr val="EBF0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Freeform 134">
              <a:extLst>
                <a:ext uri="{FF2B5EF4-FFF2-40B4-BE49-F238E27FC236}">
                  <a16:creationId xmlns:a16="http://schemas.microsoft.com/office/drawing/2014/main" id="{20D3A5DF-0E8B-B2D6-70FA-F93A326AD2CF}"/>
                </a:ext>
              </a:extLst>
            </p:cNvPr>
            <p:cNvSpPr>
              <a:spLocks/>
            </p:cNvSpPr>
            <p:nvPr/>
          </p:nvSpPr>
          <p:spPr bwMode="auto">
            <a:xfrm>
              <a:off x="5026026" y="2659063"/>
              <a:ext cx="301625" cy="255588"/>
            </a:xfrm>
            <a:custGeom>
              <a:avLst/>
              <a:gdLst>
                <a:gd name="T0" fmla="*/ 190 w 190"/>
                <a:gd name="T1" fmla="*/ 28 h 161"/>
                <a:gd name="T2" fmla="*/ 57 w 190"/>
                <a:gd name="T3" fmla="*/ 161 h 161"/>
                <a:gd name="T4" fmla="*/ 0 w 190"/>
                <a:gd name="T5" fmla="*/ 161 h 161"/>
                <a:gd name="T6" fmla="*/ 161 w 190"/>
                <a:gd name="T7" fmla="*/ 0 h 161"/>
                <a:gd name="T8" fmla="*/ 190 w 190"/>
                <a:gd name="T9" fmla="*/ 28 h 161"/>
              </a:gdLst>
              <a:ahLst/>
              <a:cxnLst>
                <a:cxn ang="0">
                  <a:pos x="T0" y="T1"/>
                </a:cxn>
                <a:cxn ang="0">
                  <a:pos x="T2" y="T3"/>
                </a:cxn>
                <a:cxn ang="0">
                  <a:pos x="T4" y="T5"/>
                </a:cxn>
                <a:cxn ang="0">
                  <a:pos x="T6" y="T7"/>
                </a:cxn>
                <a:cxn ang="0">
                  <a:pos x="T8" y="T9"/>
                </a:cxn>
              </a:cxnLst>
              <a:rect l="0" t="0" r="r" b="b"/>
              <a:pathLst>
                <a:path w="190" h="161">
                  <a:moveTo>
                    <a:pt x="190" y="28"/>
                  </a:moveTo>
                  <a:lnTo>
                    <a:pt x="57" y="161"/>
                  </a:lnTo>
                  <a:lnTo>
                    <a:pt x="0" y="161"/>
                  </a:lnTo>
                  <a:lnTo>
                    <a:pt x="161" y="0"/>
                  </a:lnTo>
                  <a:lnTo>
                    <a:pt x="190" y="28"/>
                  </a:lnTo>
                  <a:close/>
                </a:path>
              </a:pathLst>
            </a:custGeom>
            <a:solidFill>
              <a:srgbClr val="EDAE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Freeform 135">
              <a:extLst>
                <a:ext uri="{FF2B5EF4-FFF2-40B4-BE49-F238E27FC236}">
                  <a16:creationId xmlns:a16="http://schemas.microsoft.com/office/drawing/2014/main" id="{2721A138-99AA-E4CF-6DD5-FB21225617C8}"/>
                </a:ext>
              </a:extLst>
            </p:cNvPr>
            <p:cNvSpPr>
              <a:spLocks/>
            </p:cNvSpPr>
            <p:nvPr/>
          </p:nvSpPr>
          <p:spPr bwMode="auto">
            <a:xfrm>
              <a:off x="5327651" y="2582863"/>
              <a:ext cx="300038" cy="255588"/>
            </a:xfrm>
            <a:custGeom>
              <a:avLst/>
              <a:gdLst>
                <a:gd name="T0" fmla="*/ 189 w 189"/>
                <a:gd name="T1" fmla="*/ 0 h 161"/>
                <a:gd name="T2" fmla="*/ 28 w 189"/>
                <a:gd name="T3" fmla="*/ 161 h 161"/>
                <a:gd name="T4" fmla="*/ 0 w 189"/>
                <a:gd name="T5" fmla="*/ 133 h 161"/>
                <a:gd name="T6" fmla="*/ 132 w 189"/>
                <a:gd name="T7" fmla="*/ 0 h 161"/>
                <a:gd name="T8" fmla="*/ 189 w 189"/>
                <a:gd name="T9" fmla="*/ 0 h 161"/>
              </a:gdLst>
              <a:ahLst/>
              <a:cxnLst>
                <a:cxn ang="0">
                  <a:pos x="T0" y="T1"/>
                </a:cxn>
                <a:cxn ang="0">
                  <a:pos x="T2" y="T3"/>
                </a:cxn>
                <a:cxn ang="0">
                  <a:pos x="T4" y="T5"/>
                </a:cxn>
                <a:cxn ang="0">
                  <a:pos x="T6" y="T7"/>
                </a:cxn>
                <a:cxn ang="0">
                  <a:pos x="T8" y="T9"/>
                </a:cxn>
              </a:cxnLst>
              <a:rect l="0" t="0" r="r" b="b"/>
              <a:pathLst>
                <a:path w="189" h="161">
                  <a:moveTo>
                    <a:pt x="189" y="0"/>
                  </a:moveTo>
                  <a:lnTo>
                    <a:pt x="28" y="161"/>
                  </a:lnTo>
                  <a:lnTo>
                    <a:pt x="0" y="133"/>
                  </a:lnTo>
                  <a:lnTo>
                    <a:pt x="132" y="0"/>
                  </a:lnTo>
                  <a:lnTo>
                    <a:pt x="189" y="0"/>
                  </a:lnTo>
                  <a:close/>
                </a:path>
              </a:pathLst>
            </a:custGeom>
            <a:solidFill>
              <a:srgbClr val="EDAE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36">
              <a:extLst>
                <a:ext uri="{FF2B5EF4-FFF2-40B4-BE49-F238E27FC236}">
                  <a16:creationId xmlns:a16="http://schemas.microsoft.com/office/drawing/2014/main" id="{8A6F2BC7-0FEE-44BA-5F61-EF51B633794B}"/>
                </a:ext>
              </a:extLst>
            </p:cNvPr>
            <p:cNvSpPr>
              <a:spLocks/>
            </p:cNvSpPr>
            <p:nvPr/>
          </p:nvSpPr>
          <p:spPr bwMode="auto">
            <a:xfrm>
              <a:off x="5281613" y="2703513"/>
              <a:ext cx="90488" cy="90488"/>
            </a:xfrm>
            <a:custGeom>
              <a:avLst/>
              <a:gdLst>
                <a:gd name="T0" fmla="*/ 29 w 57"/>
                <a:gd name="T1" fmla="*/ 57 h 57"/>
                <a:gd name="T2" fmla="*/ 0 w 57"/>
                <a:gd name="T3" fmla="*/ 29 h 57"/>
                <a:gd name="T4" fmla="*/ 29 w 57"/>
                <a:gd name="T5" fmla="*/ 0 h 57"/>
                <a:gd name="T6" fmla="*/ 57 w 57"/>
                <a:gd name="T7" fmla="*/ 29 h 57"/>
                <a:gd name="T8" fmla="*/ 29 w 57"/>
                <a:gd name="T9" fmla="*/ 57 h 57"/>
              </a:gdLst>
              <a:ahLst/>
              <a:cxnLst>
                <a:cxn ang="0">
                  <a:pos x="T0" y="T1"/>
                </a:cxn>
                <a:cxn ang="0">
                  <a:pos x="T2" y="T3"/>
                </a:cxn>
                <a:cxn ang="0">
                  <a:pos x="T4" y="T5"/>
                </a:cxn>
                <a:cxn ang="0">
                  <a:pos x="T6" y="T7"/>
                </a:cxn>
                <a:cxn ang="0">
                  <a:pos x="T8" y="T9"/>
                </a:cxn>
              </a:cxnLst>
              <a:rect l="0" t="0" r="r" b="b"/>
              <a:pathLst>
                <a:path w="57" h="57">
                  <a:moveTo>
                    <a:pt x="29" y="57"/>
                  </a:moveTo>
                  <a:lnTo>
                    <a:pt x="0" y="29"/>
                  </a:lnTo>
                  <a:lnTo>
                    <a:pt x="29" y="0"/>
                  </a:lnTo>
                  <a:lnTo>
                    <a:pt x="57" y="29"/>
                  </a:lnTo>
                  <a:lnTo>
                    <a:pt x="29" y="57"/>
                  </a:lnTo>
                  <a:close/>
                </a:path>
              </a:pathLst>
            </a:custGeom>
            <a:solidFill>
              <a:srgbClr val="EDAE5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aphicFrame>
        <p:nvGraphicFramePr>
          <p:cNvPr id="2" name="表格 1">
            <a:extLst>
              <a:ext uri="{FF2B5EF4-FFF2-40B4-BE49-F238E27FC236}">
                <a16:creationId xmlns:a16="http://schemas.microsoft.com/office/drawing/2014/main" id="{889F6872-D36A-9C64-F9C0-741630D895CD}"/>
              </a:ext>
            </a:extLst>
          </p:cNvPr>
          <p:cNvGraphicFramePr>
            <a:graphicFrameLocks noGrp="1"/>
          </p:cNvGraphicFramePr>
          <p:nvPr>
            <p:extLst>
              <p:ext uri="{D42A27DB-BD31-4B8C-83A1-F6EECF244321}">
                <p14:modId xmlns:p14="http://schemas.microsoft.com/office/powerpoint/2010/main" val="1523830355"/>
              </p:ext>
            </p:extLst>
          </p:nvPr>
        </p:nvGraphicFramePr>
        <p:xfrm>
          <a:off x="1821711" y="3418396"/>
          <a:ext cx="4654032" cy="2448270"/>
        </p:xfrm>
        <a:graphic>
          <a:graphicData uri="http://schemas.openxmlformats.org/drawingml/2006/table">
            <a:tbl>
              <a:tblPr>
                <a:tableStyleId>{616DA210-FB5B-4158-B5E0-FEB733F419BA}</a:tableStyleId>
              </a:tblPr>
              <a:tblGrid>
                <a:gridCol w="1551344">
                  <a:extLst>
                    <a:ext uri="{9D8B030D-6E8A-4147-A177-3AD203B41FA5}">
                      <a16:colId xmlns:a16="http://schemas.microsoft.com/office/drawing/2014/main" val="2891790050"/>
                    </a:ext>
                  </a:extLst>
                </a:gridCol>
                <a:gridCol w="1551344">
                  <a:extLst>
                    <a:ext uri="{9D8B030D-6E8A-4147-A177-3AD203B41FA5}">
                      <a16:colId xmlns:a16="http://schemas.microsoft.com/office/drawing/2014/main" val="1942548442"/>
                    </a:ext>
                  </a:extLst>
                </a:gridCol>
                <a:gridCol w="1551344">
                  <a:extLst>
                    <a:ext uri="{9D8B030D-6E8A-4147-A177-3AD203B41FA5}">
                      <a16:colId xmlns:a16="http://schemas.microsoft.com/office/drawing/2014/main" val="2341287401"/>
                    </a:ext>
                  </a:extLst>
                </a:gridCol>
              </a:tblGrid>
              <a:tr h="408045">
                <a:tc>
                  <a:txBody>
                    <a:bodyPr/>
                    <a:lstStyle/>
                    <a:p>
                      <a:pPr algn="ctr" rtl="0" fontAlgn="ctr"/>
                      <a:r>
                        <a:rPr lang="zh-TW" altLang="en-US" sz="1600" b="1" u="none" strike="noStrike" dirty="0">
                          <a:effectLst/>
                          <a:latin typeface="微軟正黑體" panose="020B0604030504040204" pitchFamily="34" charset="-120"/>
                          <a:ea typeface="微軟正黑體" panose="020B0604030504040204" pitchFamily="34" charset="-120"/>
                        </a:rPr>
                        <a:t>項目</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b="1" u="none" strike="noStrike" dirty="0">
                          <a:effectLst/>
                          <a:latin typeface="微軟正黑體" panose="020B0604030504040204" pitchFamily="34" charset="-120"/>
                          <a:ea typeface="微軟正黑體" panose="020B0604030504040204" pitchFamily="34" charset="-120"/>
                        </a:rPr>
                        <a:t>2024</a:t>
                      </a:r>
                      <a:r>
                        <a:rPr lang="zh-TW" altLang="en-US" sz="1600" b="1" u="none" strike="noStrike" dirty="0">
                          <a:effectLst/>
                          <a:latin typeface="微軟正黑體" panose="020B0604030504040204" pitchFamily="34" charset="-120"/>
                          <a:ea typeface="微軟正黑體" panose="020B0604030504040204" pitchFamily="34" charset="-120"/>
                        </a:rPr>
                        <a:t>年</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b="1" u="none" strike="noStrike" dirty="0">
                          <a:effectLst/>
                          <a:latin typeface="微軟正黑體" panose="020B0604030504040204" pitchFamily="34" charset="-120"/>
                          <a:ea typeface="微軟正黑體" panose="020B0604030504040204" pitchFamily="34" charset="-120"/>
                        </a:rPr>
                        <a:t>2025</a:t>
                      </a:r>
                      <a:r>
                        <a:rPr lang="zh-TW" altLang="en-US" sz="1600" b="1" u="none" strike="noStrike" dirty="0">
                          <a:effectLst/>
                          <a:latin typeface="微軟正黑體" panose="020B0604030504040204" pitchFamily="34" charset="-120"/>
                          <a:ea typeface="微軟正黑體" panose="020B0604030504040204" pitchFamily="34" charset="-120"/>
                        </a:rPr>
                        <a:t>年</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extLst>
                  <a:ext uri="{0D108BD9-81ED-4DB2-BD59-A6C34878D82A}">
                    <a16:rowId xmlns:a16="http://schemas.microsoft.com/office/drawing/2014/main" val="870437536"/>
                  </a:ext>
                </a:extLst>
              </a:tr>
              <a:tr h="408045">
                <a:tc>
                  <a:txBody>
                    <a:bodyPr/>
                    <a:lstStyle/>
                    <a:p>
                      <a:pPr algn="ctr" rtl="0" fontAlgn="ctr"/>
                      <a:r>
                        <a:rPr lang="zh-TW" altLang="en-US" sz="1600" b="1" u="none" strike="noStrike" dirty="0">
                          <a:effectLst/>
                          <a:latin typeface="微軟正黑體" panose="020B0604030504040204" pitchFamily="34" charset="-120"/>
                          <a:ea typeface="微軟正黑體" panose="020B0604030504040204" pitchFamily="34" charset="-120"/>
                        </a:rPr>
                        <a:t>薪資支出</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u="none" strike="noStrike" dirty="0">
                          <a:effectLst/>
                          <a:latin typeface="微軟正黑體" panose="020B0604030504040204" pitchFamily="34" charset="-120"/>
                          <a:ea typeface="微軟正黑體" panose="020B0604030504040204" pitchFamily="34" charset="-120"/>
                        </a:rPr>
                        <a:t>5,508,866</a:t>
                      </a:r>
                      <a:endPar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u="none" strike="noStrike">
                          <a:effectLst/>
                          <a:latin typeface="微軟正黑體" panose="020B0604030504040204" pitchFamily="34" charset="-120"/>
                          <a:ea typeface="微軟正黑體" panose="020B0604030504040204" pitchFamily="34" charset="-120"/>
                        </a:rPr>
                        <a:t>5,058,486</a:t>
                      </a:r>
                      <a:endParaRPr lang="en-US" altLang="zh-TW" sz="1600" b="0" i="0" u="none" strike="noStrike">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extLst>
                  <a:ext uri="{0D108BD9-81ED-4DB2-BD59-A6C34878D82A}">
                    <a16:rowId xmlns:a16="http://schemas.microsoft.com/office/drawing/2014/main" val="138496601"/>
                  </a:ext>
                </a:extLst>
              </a:tr>
              <a:tr h="408045">
                <a:tc>
                  <a:txBody>
                    <a:bodyPr/>
                    <a:lstStyle/>
                    <a:p>
                      <a:pPr algn="ctr" rtl="0" fontAlgn="ctr"/>
                      <a:r>
                        <a:rPr lang="zh-TW" altLang="en-US" sz="1600" b="1" u="none" strike="noStrike" dirty="0">
                          <a:effectLst/>
                          <a:latin typeface="微軟正黑體" panose="020B0604030504040204" pitchFamily="34" charset="-120"/>
                          <a:ea typeface="微軟正黑體" panose="020B0604030504040204" pitchFamily="34" charset="-120"/>
                        </a:rPr>
                        <a:t>修繕費</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u="none" strike="noStrike">
                          <a:effectLst/>
                          <a:latin typeface="微軟正黑體" panose="020B0604030504040204" pitchFamily="34" charset="-120"/>
                          <a:ea typeface="微軟正黑體" panose="020B0604030504040204" pitchFamily="34" charset="-120"/>
                        </a:rPr>
                        <a:t>1,092,275</a:t>
                      </a:r>
                      <a:endParaRPr lang="en-US" altLang="zh-TW" sz="1600" b="0" i="0" u="none" strike="noStrike">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u="none" strike="noStrike" dirty="0">
                          <a:effectLst/>
                          <a:latin typeface="微軟正黑體" panose="020B0604030504040204" pitchFamily="34" charset="-120"/>
                          <a:ea typeface="微軟正黑體" panose="020B0604030504040204" pitchFamily="34" charset="-120"/>
                        </a:rPr>
                        <a:t>560,983</a:t>
                      </a:r>
                      <a:endPar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extLst>
                  <a:ext uri="{0D108BD9-81ED-4DB2-BD59-A6C34878D82A}">
                    <a16:rowId xmlns:a16="http://schemas.microsoft.com/office/drawing/2014/main" val="1784088397"/>
                  </a:ext>
                </a:extLst>
              </a:tr>
              <a:tr h="408045">
                <a:tc>
                  <a:txBody>
                    <a:bodyPr/>
                    <a:lstStyle/>
                    <a:p>
                      <a:pPr algn="ctr" rtl="0" fontAlgn="ctr"/>
                      <a:r>
                        <a:rPr lang="zh-TW" altLang="en-US" sz="1600" b="1" u="none" strike="noStrike" dirty="0">
                          <a:effectLst/>
                          <a:latin typeface="微軟正黑體" panose="020B0604030504040204" pitchFamily="34" charset="-120"/>
                          <a:ea typeface="微軟正黑體" panose="020B0604030504040204" pitchFamily="34" charset="-120"/>
                        </a:rPr>
                        <a:t>燃料費</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u="none" strike="noStrike" dirty="0">
                          <a:effectLst/>
                          <a:latin typeface="微軟正黑體" panose="020B0604030504040204" pitchFamily="34" charset="-120"/>
                          <a:ea typeface="微軟正黑體" panose="020B0604030504040204" pitchFamily="34" charset="-120"/>
                        </a:rPr>
                        <a:t>1,192,736</a:t>
                      </a:r>
                      <a:endPar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u="none" strike="noStrike" dirty="0">
                          <a:effectLst/>
                          <a:latin typeface="微軟正黑體" panose="020B0604030504040204" pitchFamily="34" charset="-120"/>
                          <a:ea typeface="微軟正黑體" panose="020B0604030504040204" pitchFamily="34" charset="-120"/>
                        </a:rPr>
                        <a:t>1,005,046</a:t>
                      </a:r>
                      <a:endPar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extLst>
                  <a:ext uri="{0D108BD9-81ED-4DB2-BD59-A6C34878D82A}">
                    <a16:rowId xmlns:a16="http://schemas.microsoft.com/office/drawing/2014/main" val="1092063381"/>
                  </a:ext>
                </a:extLst>
              </a:tr>
              <a:tr h="408045">
                <a:tc>
                  <a:txBody>
                    <a:bodyPr/>
                    <a:lstStyle/>
                    <a:p>
                      <a:pPr algn="ctr" rtl="0" fontAlgn="ctr"/>
                      <a:r>
                        <a:rPr lang="zh-TW" altLang="en-US" sz="1600" b="1" u="none" strike="noStrike" dirty="0">
                          <a:effectLst/>
                          <a:latin typeface="微軟正黑體" panose="020B0604030504040204" pitchFamily="34" charset="-120"/>
                          <a:ea typeface="微軟正黑體" panose="020B0604030504040204" pitchFamily="34" charset="-120"/>
                        </a:rPr>
                        <a:t>保險費</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u="none" strike="noStrike">
                          <a:effectLst/>
                          <a:latin typeface="微軟正黑體" panose="020B0604030504040204" pitchFamily="34" charset="-120"/>
                          <a:ea typeface="微軟正黑體" panose="020B0604030504040204" pitchFamily="34" charset="-120"/>
                        </a:rPr>
                        <a:t>174,477</a:t>
                      </a:r>
                      <a:endParaRPr lang="en-US" altLang="zh-TW" sz="1600" b="0" i="0" u="none" strike="noStrike">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u="none" strike="noStrike" dirty="0">
                          <a:effectLst/>
                          <a:latin typeface="微軟正黑體" panose="020B0604030504040204" pitchFamily="34" charset="-120"/>
                          <a:ea typeface="微軟正黑體" panose="020B0604030504040204" pitchFamily="34" charset="-120"/>
                        </a:rPr>
                        <a:t>180,343</a:t>
                      </a:r>
                      <a:endPar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extLst>
                  <a:ext uri="{0D108BD9-81ED-4DB2-BD59-A6C34878D82A}">
                    <a16:rowId xmlns:a16="http://schemas.microsoft.com/office/drawing/2014/main" val="1806698732"/>
                  </a:ext>
                </a:extLst>
              </a:tr>
              <a:tr h="408045">
                <a:tc>
                  <a:txBody>
                    <a:bodyPr/>
                    <a:lstStyle/>
                    <a:p>
                      <a:pPr algn="ctr" rtl="0" fontAlgn="ctr"/>
                      <a:r>
                        <a:rPr lang="zh-TW" altLang="en-US" sz="1600" b="1" u="none" strike="noStrike" dirty="0">
                          <a:effectLst/>
                          <a:latin typeface="微軟正黑體" panose="020B0604030504040204" pitchFamily="34" charset="-120"/>
                          <a:ea typeface="微軟正黑體" panose="020B0604030504040204" pitchFamily="34" charset="-120"/>
                        </a:rPr>
                        <a:t>總計</a:t>
                      </a:r>
                      <a:endPar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tc>
                <a:tc>
                  <a:txBody>
                    <a:bodyPr/>
                    <a:lstStyle/>
                    <a:p>
                      <a:pPr algn="ctr" rtl="0" fontAlgn="ctr"/>
                      <a:r>
                        <a:rPr lang="en-US" altLang="zh-TW" sz="1600" b="1" i="0" u="none" strike="noStrike">
                          <a:solidFill>
                            <a:srgbClr val="FF0000"/>
                          </a:solidFill>
                          <a:effectLst/>
                          <a:latin typeface="微軟正黑體" panose="020B0604030504040204" pitchFamily="34" charset="-120"/>
                          <a:ea typeface="微軟正黑體" panose="020B0604030504040204" pitchFamily="34" charset="-120"/>
                        </a:rPr>
                        <a:t>7,968,354</a:t>
                      </a:r>
                    </a:p>
                  </a:txBody>
                  <a:tcPr marL="7620" marR="7620" marT="7620" marB="0" anchor="ctr"/>
                </a:tc>
                <a:tc>
                  <a:txBody>
                    <a:bodyPr/>
                    <a:lstStyle/>
                    <a:p>
                      <a:pPr algn="ctr" rtl="0" fontAlgn="ctr"/>
                      <a:r>
                        <a:rPr lang="en-US" altLang="zh-TW" sz="1600" b="1" i="0" u="none" strike="noStrike" dirty="0">
                          <a:solidFill>
                            <a:srgbClr val="FF0000"/>
                          </a:solidFill>
                          <a:effectLst/>
                          <a:latin typeface="微軟正黑體" panose="020B0604030504040204" pitchFamily="34" charset="-120"/>
                          <a:ea typeface="微軟正黑體" panose="020B0604030504040204" pitchFamily="34" charset="-120"/>
                        </a:rPr>
                        <a:t>6,804,858</a:t>
                      </a:r>
                    </a:p>
                  </a:txBody>
                  <a:tcPr marL="7620" marR="7620" marT="7620" marB="0" anchor="ctr"/>
                </a:tc>
                <a:extLst>
                  <a:ext uri="{0D108BD9-81ED-4DB2-BD59-A6C34878D82A}">
                    <a16:rowId xmlns:a16="http://schemas.microsoft.com/office/drawing/2014/main" val="1544747646"/>
                  </a:ext>
                </a:extLst>
              </a:tr>
            </a:tbl>
          </a:graphicData>
        </a:graphic>
      </p:graphicFrame>
      <p:sp>
        <p:nvSpPr>
          <p:cNvPr id="3" name="內容版面配置區 2">
            <a:extLst>
              <a:ext uri="{FF2B5EF4-FFF2-40B4-BE49-F238E27FC236}">
                <a16:creationId xmlns:a16="http://schemas.microsoft.com/office/drawing/2014/main" id="{D7F8A6E5-A863-55AD-BB61-6EF9023E2388}"/>
              </a:ext>
            </a:extLst>
          </p:cNvPr>
          <p:cNvSpPr txBox="1">
            <a:spLocks/>
          </p:cNvSpPr>
          <p:nvPr/>
        </p:nvSpPr>
        <p:spPr>
          <a:xfrm>
            <a:off x="191344" y="534988"/>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五</a:t>
            </a:r>
            <a:r>
              <a:rPr lang="en-US" altLang="zh-TW" sz="2800" b="1" dirty="0">
                <a:solidFill>
                  <a:schemeClr val="tx1"/>
                </a:solidFill>
              </a:rPr>
              <a:t>、2025</a:t>
            </a:r>
            <a:r>
              <a:rPr lang="zh-TW" altLang="en-US" sz="2800" b="1" dirty="0">
                <a:solidFill>
                  <a:schemeClr val="tx1"/>
                </a:solidFill>
              </a:rPr>
              <a:t>旺來回顧</a:t>
            </a:r>
            <a:endParaRPr lang="en-US" altLang="zh-TW" sz="2800" b="1" dirty="0">
              <a:solidFill>
                <a:schemeClr val="tx1"/>
              </a:solidFill>
            </a:endParaRPr>
          </a:p>
        </p:txBody>
      </p:sp>
    </p:spTree>
    <p:extLst>
      <p:ext uri="{BB962C8B-B14F-4D97-AF65-F5344CB8AC3E}">
        <p14:creationId xmlns:p14="http://schemas.microsoft.com/office/powerpoint/2010/main" val="762271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91D9C-AFB5-9235-8647-F945A222FF65}"/>
            </a:ext>
          </a:extLst>
        </p:cNvPr>
        <p:cNvGrpSpPr/>
        <p:nvPr/>
      </p:nvGrpSpPr>
      <p:grpSpPr>
        <a:xfrm>
          <a:off x="0" y="0"/>
          <a:ext cx="0" cy="0"/>
          <a:chOff x="0" y="0"/>
          <a:chExt cx="0" cy="0"/>
        </a:xfrm>
      </p:grpSpPr>
      <p:sp>
        <p:nvSpPr>
          <p:cNvPr id="4" name="文字方塊 6">
            <a:extLst>
              <a:ext uri="{FF2B5EF4-FFF2-40B4-BE49-F238E27FC236}">
                <a16:creationId xmlns:a16="http://schemas.microsoft.com/office/drawing/2014/main" id="{7A708E13-4D12-41E2-932A-02929E07C390}"/>
              </a:ext>
            </a:extLst>
          </p:cNvPr>
          <p:cNvSpPr txBox="1">
            <a:spLocks noChangeArrowheads="1"/>
          </p:cNvSpPr>
          <p:nvPr/>
        </p:nvSpPr>
        <p:spPr bwMode="auto">
          <a:xfrm>
            <a:off x="735405" y="1383941"/>
            <a:ext cx="10605786" cy="73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Calibri" panose="020F0502020204030204" pitchFamily="34" charset="0"/>
                <a:ea typeface="新細明體" panose="02020500000000000000" pitchFamily="18" charset="-120"/>
              </a:defRPr>
            </a:lvl1pPr>
            <a:lvl2pPr marL="742950" indent="-285750">
              <a:defRPr kumimoji="1">
                <a:solidFill>
                  <a:schemeClr val="tx1"/>
                </a:solidFill>
                <a:latin typeface="Calibri" panose="020F0502020204030204" pitchFamily="34" charset="0"/>
                <a:ea typeface="新細明體" panose="02020500000000000000" pitchFamily="18" charset="-120"/>
              </a:defRPr>
            </a:lvl2pPr>
            <a:lvl3pPr marL="1143000" indent="-228600">
              <a:defRPr kumimoji="1">
                <a:solidFill>
                  <a:schemeClr val="tx1"/>
                </a:solidFill>
                <a:latin typeface="Calibri" panose="020F0502020204030204" pitchFamily="34" charset="0"/>
                <a:ea typeface="新細明體" panose="02020500000000000000" pitchFamily="18" charset="-120"/>
              </a:defRPr>
            </a:lvl3pPr>
            <a:lvl4pPr marL="1600200" indent="-228600">
              <a:defRPr kumimoji="1">
                <a:solidFill>
                  <a:schemeClr val="tx1"/>
                </a:solidFill>
                <a:latin typeface="Calibri" panose="020F0502020204030204" pitchFamily="34" charset="0"/>
                <a:ea typeface="新細明體" panose="02020500000000000000" pitchFamily="18" charset="-120"/>
              </a:defRPr>
            </a:lvl4pPr>
            <a:lvl5pPr marL="2057400" indent="-228600">
              <a:defRPr kumimoji="1">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pPr eaLnBrk="1" hangingPunct="1"/>
            <a:r>
              <a:rPr lang="zh-TW" altLang="en-US" b="1" dirty="0">
                <a:latin typeface="微軟正黑體" panose="020B0604030504040204" pitchFamily="34" charset="-120"/>
                <a:ea typeface="微軟正黑體" panose="020B0604030504040204" pitchFamily="34" charset="-120"/>
              </a:rPr>
              <a:t>說明：</a:t>
            </a:r>
            <a:endParaRPr lang="en-US" altLang="zh-TW" b="1" dirty="0">
              <a:latin typeface="微軟正黑體" panose="020B0604030504040204" pitchFamily="34" charset="-120"/>
              <a:ea typeface="微軟正黑體" panose="020B0604030504040204" pitchFamily="34" charset="-120"/>
            </a:endParaRPr>
          </a:p>
          <a:p>
            <a:pPr>
              <a:lnSpc>
                <a:spcPct val="150000"/>
              </a:lnSpc>
            </a:pPr>
            <a:r>
              <a:rPr lang="en-US" altLang="zh-TW" b="1" dirty="0">
                <a:latin typeface="微軟正黑體" panose="020B0604030504040204" pitchFamily="34" charset="-120"/>
                <a:ea typeface="微軟正黑體" panose="020B0604030504040204" pitchFamily="34" charset="-120"/>
              </a:rPr>
              <a:t>          2024</a:t>
            </a:r>
            <a:r>
              <a:rPr lang="zh-TW" altLang="en-US" b="1" dirty="0">
                <a:latin typeface="微軟正黑體" panose="020B0604030504040204" pitchFamily="34" charset="-120"/>
                <a:ea typeface="微軟正黑體" panose="020B0604030504040204" pitchFamily="34" charset="-120"/>
              </a:rPr>
              <a:t>年底因組織調整，部分在職員工離職；於</a:t>
            </a:r>
            <a:r>
              <a:rPr lang="en-US" altLang="zh-TW" b="1" dirty="0">
                <a:latin typeface="微軟正黑體" panose="020B0604030504040204" pitchFamily="34" charset="-120"/>
                <a:ea typeface="微軟正黑體" panose="020B0604030504040204" pitchFamily="34" charset="-120"/>
              </a:rPr>
              <a:t>2025 </a:t>
            </a:r>
            <a:r>
              <a:rPr lang="zh-TW" altLang="en-US" b="1" dirty="0">
                <a:latin typeface="微軟正黑體" panose="020B0604030504040204" pitchFamily="34" charset="-120"/>
                <a:ea typeface="微軟正黑體" panose="020B0604030504040204" pitchFamily="34" charset="-120"/>
              </a:rPr>
              <a:t>年招募新人，確保員工總人數保持不變。</a:t>
            </a:r>
            <a:endParaRPr lang="en-US" altLang="zh-TW" b="1" dirty="0">
              <a:solidFill>
                <a:srgbClr val="0000FF"/>
              </a:solidFill>
              <a:latin typeface="微軟正黑體" panose="020B0604030504040204" pitchFamily="34" charset="-120"/>
              <a:ea typeface="微軟正黑體" panose="020B0604030504040204" pitchFamily="34" charset="-120"/>
            </a:endParaRPr>
          </a:p>
        </p:txBody>
      </p:sp>
      <p:sp>
        <p:nvSpPr>
          <p:cNvPr id="7" name="內容版面配置區 2">
            <a:extLst>
              <a:ext uri="{FF2B5EF4-FFF2-40B4-BE49-F238E27FC236}">
                <a16:creationId xmlns:a16="http://schemas.microsoft.com/office/drawing/2014/main" id="{6BC2F161-72D5-6CCC-4570-905153E05175}"/>
              </a:ext>
            </a:extLst>
          </p:cNvPr>
          <p:cNvSpPr txBox="1">
            <a:spLocks/>
          </p:cNvSpPr>
          <p:nvPr/>
        </p:nvSpPr>
        <p:spPr>
          <a:xfrm>
            <a:off x="262839" y="440457"/>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六</a:t>
            </a:r>
            <a:r>
              <a:rPr lang="en-US" altLang="zh-TW" sz="2800" b="1" dirty="0">
                <a:solidFill>
                  <a:schemeClr val="tx1"/>
                </a:solidFill>
              </a:rPr>
              <a:t>、</a:t>
            </a:r>
            <a:r>
              <a:rPr lang="zh-TW" altLang="en-US" sz="2800" b="1" dirty="0">
                <a:solidFill>
                  <a:schemeClr val="tx1"/>
                </a:solidFill>
              </a:rPr>
              <a:t>補充說明</a:t>
            </a:r>
            <a:r>
              <a:rPr lang="en-US" altLang="zh-TW" sz="2800" b="1" dirty="0">
                <a:solidFill>
                  <a:schemeClr val="tx1"/>
                </a:solidFill>
              </a:rPr>
              <a:t>_</a:t>
            </a:r>
            <a:r>
              <a:rPr lang="zh-TW" altLang="en-US" sz="2800" b="1" dirty="0">
                <a:solidFill>
                  <a:schemeClr val="tx1"/>
                </a:solidFill>
              </a:rPr>
              <a:t>人員流動率</a:t>
            </a:r>
            <a:endParaRPr lang="en-US" altLang="zh-TW" sz="2800" b="1" dirty="0">
              <a:solidFill>
                <a:schemeClr val="tx1"/>
              </a:solidFill>
            </a:endParaRPr>
          </a:p>
        </p:txBody>
      </p:sp>
      <p:graphicFrame>
        <p:nvGraphicFramePr>
          <p:cNvPr id="2" name="表格 1"/>
          <p:cNvGraphicFramePr>
            <a:graphicFrameLocks noGrp="1"/>
          </p:cNvGraphicFramePr>
          <p:nvPr>
            <p:extLst>
              <p:ext uri="{D42A27DB-BD31-4B8C-83A1-F6EECF244321}">
                <p14:modId xmlns:p14="http://schemas.microsoft.com/office/powerpoint/2010/main" val="2191800821"/>
              </p:ext>
            </p:extLst>
          </p:nvPr>
        </p:nvGraphicFramePr>
        <p:xfrm>
          <a:off x="847238" y="2450582"/>
          <a:ext cx="10939903" cy="3159635"/>
        </p:xfrm>
        <a:graphic>
          <a:graphicData uri="http://schemas.openxmlformats.org/drawingml/2006/table">
            <a:tbl>
              <a:tblPr firstRow="1" bandRow="1">
                <a:tableStyleId>{93296810-A885-4BE3-A3E7-6D5BEEA58F35}</a:tableStyleId>
              </a:tblPr>
              <a:tblGrid>
                <a:gridCol w="1377569">
                  <a:extLst>
                    <a:ext uri="{9D8B030D-6E8A-4147-A177-3AD203B41FA5}">
                      <a16:colId xmlns:a16="http://schemas.microsoft.com/office/drawing/2014/main" val="1007089148"/>
                    </a:ext>
                  </a:extLst>
                </a:gridCol>
                <a:gridCol w="960939">
                  <a:extLst>
                    <a:ext uri="{9D8B030D-6E8A-4147-A177-3AD203B41FA5}">
                      <a16:colId xmlns:a16="http://schemas.microsoft.com/office/drawing/2014/main" val="3915833966"/>
                    </a:ext>
                  </a:extLst>
                </a:gridCol>
                <a:gridCol w="893539">
                  <a:extLst>
                    <a:ext uri="{9D8B030D-6E8A-4147-A177-3AD203B41FA5}">
                      <a16:colId xmlns:a16="http://schemas.microsoft.com/office/drawing/2014/main" val="1362396460"/>
                    </a:ext>
                  </a:extLst>
                </a:gridCol>
                <a:gridCol w="963482">
                  <a:extLst>
                    <a:ext uri="{9D8B030D-6E8A-4147-A177-3AD203B41FA5}">
                      <a16:colId xmlns:a16="http://schemas.microsoft.com/office/drawing/2014/main" val="2085313185"/>
                    </a:ext>
                  </a:extLst>
                </a:gridCol>
                <a:gridCol w="963482">
                  <a:extLst>
                    <a:ext uri="{9D8B030D-6E8A-4147-A177-3AD203B41FA5}">
                      <a16:colId xmlns:a16="http://schemas.microsoft.com/office/drawing/2014/main" val="1694185608"/>
                    </a:ext>
                  </a:extLst>
                </a:gridCol>
                <a:gridCol w="963482">
                  <a:extLst>
                    <a:ext uri="{9D8B030D-6E8A-4147-A177-3AD203B41FA5}">
                      <a16:colId xmlns:a16="http://schemas.microsoft.com/office/drawing/2014/main" val="3262047170"/>
                    </a:ext>
                  </a:extLst>
                </a:gridCol>
                <a:gridCol w="963482">
                  <a:extLst>
                    <a:ext uri="{9D8B030D-6E8A-4147-A177-3AD203B41FA5}">
                      <a16:colId xmlns:a16="http://schemas.microsoft.com/office/drawing/2014/main" val="959190538"/>
                    </a:ext>
                  </a:extLst>
                </a:gridCol>
                <a:gridCol w="963482">
                  <a:extLst>
                    <a:ext uri="{9D8B030D-6E8A-4147-A177-3AD203B41FA5}">
                      <a16:colId xmlns:a16="http://schemas.microsoft.com/office/drawing/2014/main" val="4051179291"/>
                    </a:ext>
                  </a:extLst>
                </a:gridCol>
                <a:gridCol w="963482">
                  <a:extLst>
                    <a:ext uri="{9D8B030D-6E8A-4147-A177-3AD203B41FA5}">
                      <a16:colId xmlns:a16="http://schemas.microsoft.com/office/drawing/2014/main" val="2713529539"/>
                    </a:ext>
                  </a:extLst>
                </a:gridCol>
                <a:gridCol w="963482">
                  <a:extLst>
                    <a:ext uri="{9D8B030D-6E8A-4147-A177-3AD203B41FA5}">
                      <a16:colId xmlns:a16="http://schemas.microsoft.com/office/drawing/2014/main" val="1923915610"/>
                    </a:ext>
                  </a:extLst>
                </a:gridCol>
                <a:gridCol w="963482">
                  <a:extLst>
                    <a:ext uri="{9D8B030D-6E8A-4147-A177-3AD203B41FA5}">
                      <a16:colId xmlns:a16="http://schemas.microsoft.com/office/drawing/2014/main" val="14157869"/>
                    </a:ext>
                  </a:extLst>
                </a:gridCol>
              </a:tblGrid>
              <a:tr h="911029">
                <a:tc>
                  <a:txBody>
                    <a:bodyPr/>
                    <a:lstStyle/>
                    <a:p>
                      <a:pPr algn="ctr"/>
                      <a:r>
                        <a:rPr lang="zh-TW" altLang="en-US" sz="1400" b="0" i="0" baseline="0" dirty="0">
                          <a:latin typeface="微軟正黑體" panose="020B0604030504040204" pitchFamily="34" charset="-120"/>
                          <a:ea typeface="微軟正黑體" panose="020B0604030504040204" pitchFamily="34" charset="-120"/>
                        </a:rPr>
                        <a:t>年度／項目</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sz="1400" b="0" i="0" baseline="0" dirty="0">
                          <a:latin typeface="微軟正黑體" panose="020B0604030504040204" pitchFamily="34" charset="-120"/>
                          <a:ea typeface="微軟正黑體" panose="020B0604030504040204" pitchFamily="34" charset="-120"/>
                        </a:rPr>
                        <a:t>WG</a:t>
                      </a:r>
                      <a:r>
                        <a:rPr lang="zh-TW" altLang="en-US" sz="1400" b="0" i="0" baseline="0" dirty="0">
                          <a:latin typeface="微軟正黑體" panose="020B0604030504040204" pitchFamily="34" charset="-120"/>
                          <a:ea typeface="微軟正黑體" panose="020B0604030504040204" pitchFamily="34" charset="-120"/>
                        </a:rPr>
                        <a:t>能源通路事業處</a:t>
                      </a:r>
                      <a:r>
                        <a:rPr lang="en-US" altLang="zh-TW" sz="1400" b="0" i="0" baseline="0" dirty="0">
                          <a:latin typeface="微軟正黑體" panose="020B0604030504040204" pitchFamily="34" charset="-120"/>
                          <a:ea typeface="微軟正黑體" panose="020B0604030504040204" pitchFamily="34" charset="-120"/>
                        </a:rPr>
                        <a:t>(WGTC)</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400" b="0" i="0" baseline="0" dirty="0">
                          <a:latin typeface="微軟正黑體" panose="020B0604030504040204" pitchFamily="34" charset="-120"/>
                          <a:ea typeface="微軟正黑體" panose="020B0604030504040204" pitchFamily="34" charset="-120"/>
                        </a:rPr>
                        <a:t>營運部</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400" b="0" i="0" baseline="0" dirty="0">
                          <a:latin typeface="微軟正黑體" panose="020B0604030504040204" pitchFamily="34" charset="-120"/>
                          <a:ea typeface="微軟正黑體" panose="020B0604030504040204" pitchFamily="34" charset="-120"/>
                        </a:rPr>
                        <a:t>會計課</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400" b="0" i="0" baseline="0" dirty="0">
                          <a:latin typeface="微軟正黑體" panose="020B0604030504040204" pitchFamily="34" charset="-120"/>
                          <a:ea typeface="微軟正黑體" panose="020B0604030504040204" pitchFamily="34" charset="-120"/>
                        </a:rPr>
                        <a:t>物流課</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400" b="0" i="0" baseline="0" dirty="0">
                          <a:latin typeface="微軟正黑體" panose="020B0604030504040204" pitchFamily="34" charset="-120"/>
                          <a:ea typeface="微軟正黑體" panose="020B0604030504040204" pitchFamily="34" charset="-120"/>
                        </a:rPr>
                        <a:t>工程課</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400" b="0" i="0" baseline="0" dirty="0">
                          <a:latin typeface="微軟正黑體" panose="020B0604030504040204" pitchFamily="34" charset="-120"/>
                          <a:ea typeface="微軟正黑體" panose="020B0604030504040204" pitchFamily="34" charset="-120"/>
                        </a:rPr>
                        <a:t>管理課</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400" b="0" i="0" baseline="0" dirty="0">
                          <a:latin typeface="微軟正黑體" panose="020B0604030504040204" pitchFamily="34" charset="-120"/>
                          <a:ea typeface="微軟正黑體" panose="020B0604030504040204" pitchFamily="34" charset="-120"/>
                        </a:rPr>
                        <a:t>資訊課</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400" b="0" i="0" baseline="0" dirty="0">
                          <a:latin typeface="微軟正黑體" panose="020B0604030504040204" pitchFamily="34" charset="-120"/>
                          <a:ea typeface="微軟正黑體" panose="020B0604030504040204" pitchFamily="34" charset="-120"/>
                        </a:rPr>
                        <a:t>開發課</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400" b="0" i="0" baseline="0" dirty="0">
                          <a:latin typeface="微軟正黑體" panose="020B0604030504040204" pitchFamily="34" charset="-120"/>
                          <a:ea typeface="微軟正黑體" panose="020B0604030504040204" pitchFamily="34" charset="-120"/>
                        </a:rPr>
                        <a:t>門市課</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sz="1400" b="0" i="0" baseline="0" dirty="0">
                          <a:latin typeface="微軟正黑體" panose="020B0604030504040204" pitchFamily="34" charset="-120"/>
                          <a:ea typeface="微軟正黑體" panose="020B0604030504040204" pitchFamily="34" charset="-120"/>
                        </a:rPr>
                        <a:t>總人數</a:t>
                      </a:r>
                      <a:endParaRPr lang="en-US" sz="1400" b="0" i="0" baseline="0" dirty="0">
                        <a:latin typeface="微軟正黑體" panose="020B0604030504040204" pitchFamily="34" charset="-120"/>
                        <a:ea typeface="微軟正黑體" panose="020B0604030504040204" pitchFamily="34" charset="-120"/>
                      </a:endParaRPr>
                    </a:p>
                  </a:txBody>
                  <a:tcPr anchor="ctr"/>
                </a:tc>
                <a:extLst>
                  <a:ext uri="{0D108BD9-81ED-4DB2-BD59-A6C34878D82A}">
                    <a16:rowId xmlns:a16="http://schemas.microsoft.com/office/drawing/2014/main" val="199742160"/>
                  </a:ext>
                </a:extLst>
              </a:tr>
              <a:tr h="497300">
                <a:tc>
                  <a:txBody>
                    <a:bodyPr/>
                    <a:lstStyle/>
                    <a:p>
                      <a:pPr algn="ctr"/>
                      <a:r>
                        <a:rPr lang="en-US" altLang="zh-TW" sz="1400" b="0" i="0" baseline="0" dirty="0">
                          <a:latin typeface="微軟正黑體" panose="020B0604030504040204" pitchFamily="34" charset="-120"/>
                          <a:ea typeface="微軟正黑體" panose="020B0604030504040204" pitchFamily="34" charset="-120"/>
                        </a:rPr>
                        <a:t>2024</a:t>
                      </a:r>
                      <a:r>
                        <a:rPr lang="zh-TW" altLang="en-US" sz="1400" b="0" i="0" baseline="0" dirty="0">
                          <a:latin typeface="微軟正黑體" panose="020B0604030504040204" pitchFamily="34" charset="-120"/>
                          <a:ea typeface="微軟正黑體" panose="020B0604030504040204" pitchFamily="34" charset="-120"/>
                        </a:rPr>
                        <a:t>員工人數（含留停）</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2</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2</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2</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4</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23</a:t>
                      </a:r>
                    </a:p>
                  </a:txBody>
                  <a:tcPr anchor="ctr"/>
                </a:tc>
                <a:extLst>
                  <a:ext uri="{0D108BD9-81ED-4DB2-BD59-A6C34878D82A}">
                    <a16:rowId xmlns:a16="http://schemas.microsoft.com/office/drawing/2014/main" val="1309977166"/>
                  </a:ext>
                </a:extLst>
              </a:tr>
              <a:tr h="509973">
                <a:tc>
                  <a:txBody>
                    <a:bodyPr/>
                    <a:lstStyle/>
                    <a:p>
                      <a:pPr algn="ctr"/>
                      <a:r>
                        <a:rPr lang="en-US" altLang="zh-TW" sz="1400" b="0" i="0" baseline="0" dirty="0">
                          <a:latin typeface="微軟正黑體" panose="020B0604030504040204" pitchFamily="34" charset="-120"/>
                          <a:ea typeface="微軟正黑體" panose="020B0604030504040204" pitchFamily="34" charset="-120"/>
                        </a:rPr>
                        <a:t>2025</a:t>
                      </a:r>
                      <a:r>
                        <a:rPr lang="zh-TW" altLang="en-US" sz="1400" b="0" i="0" baseline="0" dirty="0">
                          <a:latin typeface="微軟正黑體" panose="020B0604030504040204" pitchFamily="34" charset="-120"/>
                          <a:ea typeface="微軟正黑體" panose="020B0604030504040204" pitchFamily="34" charset="-120"/>
                        </a:rPr>
                        <a:t>新進人數</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2</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3</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5</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11</a:t>
                      </a:r>
                    </a:p>
                  </a:txBody>
                  <a:tcPr anchor="ctr"/>
                </a:tc>
                <a:extLst>
                  <a:ext uri="{0D108BD9-81ED-4DB2-BD59-A6C34878D82A}">
                    <a16:rowId xmlns:a16="http://schemas.microsoft.com/office/drawing/2014/main" val="3037073145"/>
                  </a:ext>
                </a:extLst>
              </a:tr>
              <a:tr h="509973">
                <a:tc>
                  <a:txBody>
                    <a:bodyPr/>
                    <a:lstStyle/>
                    <a:p>
                      <a:pPr algn="ctr"/>
                      <a:r>
                        <a:rPr lang="en-US" altLang="zh-TW" sz="1400" b="0" i="0" baseline="0" dirty="0">
                          <a:latin typeface="微軟正黑體" panose="020B0604030504040204" pitchFamily="34" charset="-120"/>
                          <a:ea typeface="微軟正黑體" panose="020B0604030504040204" pitchFamily="34" charset="-120"/>
                        </a:rPr>
                        <a:t>2025</a:t>
                      </a:r>
                      <a:r>
                        <a:rPr lang="zh-TW" altLang="en-US" sz="1400" b="0" i="0" baseline="0" dirty="0">
                          <a:latin typeface="微軟正黑體" panose="020B0604030504040204" pitchFamily="34" charset="-120"/>
                          <a:ea typeface="微軟正黑體" panose="020B0604030504040204" pitchFamily="34" charset="-120"/>
                        </a:rPr>
                        <a:t>離職人數</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3</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4</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11</a:t>
                      </a:r>
                    </a:p>
                  </a:txBody>
                  <a:tcPr anchor="ctr"/>
                </a:tc>
                <a:extLst>
                  <a:ext uri="{0D108BD9-81ED-4DB2-BD59-A6C34878D82A}">
                    <a16:rowId xmlns:a16="http://schemas.microsoft.com/office/drawing/2014/main" val="2535164591"/>
                  </a:ext>
                </a:extLst>
              </a:tr>
              <a:tr h="710500">
                <a:tc>
                  <a:txBody>
                    <a:bodyPr/>
                    <a:lstStyle/>
                    <a:p>
                      <a:pPr algn="ctr"/>
                      <a:r>
                        <a:rPr lang="en-US" altLang="zh-TW" sz="1400" b="0" i="0" baseline="0" dirty="0">
                          <a:latin typeface="微軟正黑體" panose="020B0604030504040204" pitchFamily="34" charset="-120"/>
                          <a:ea typeface="微軟正黑體" panose="020B0604030504040204" pitchFamily="34" charset="-120"/>
                        </a:rPr>
                        <a:t>2025</a:t>
                      </a:r>
                      <a:r>
                        <a:rPr lang="zh-TW" altLang="en-US" sz="1400" b="0" i="0" baseline="0" dirty="0">
                          <a:latin typeface="微軟正黑體" panose="020B0604030504040204" pitchFamily="34" charset="-120"/>
                          <a:ea typeface="微軟正黑體" panose="020B0604030504040204" pitchFamily="34" charset="-120"/>
                        </a:rPr>
                        <a:t>員工人數（含留停）</a:t>
                      </a:r>
                      <a:endParaRPr lang="en-US" sz="1400" b="0" i="0" baseline="0" dirty="0">
                        <a:latin typeface="微軟正黑體" panose="020B0604030504040204" pitchFamily="34" charset="-120"/>
                        <a:ea typeface="微軟正黑體" panose="020B0604030504040204" pitchFamily="34" charset="-120"/>
                      </a:endParaRP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2</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2</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10</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1</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5</a:t>
                      </a:r>
                    </a:p>
                  </a:txBody>
                  <a:tcPr anchor="ctr"/>
                </a:tc>
                <a:tc>
                  <a:txBody>
                    <a:bodyPr/>
                    <a:lstStyle/>
                    <a:p>
                      <a:pPr algn="ctr"/>
                      <a:r>
                        <a:rPr lang="en-US" sz="1400" b="0" i="0" baseline="0" dirty="0">
                          <a:latin typeface="微軟正黑體" panose="020B0604030504040204" pitchFamily="34" charset="-120"/>
                          <a:ea typeface="微軟正黑體" panose="020B0604030504040204" pitchFamily="34" charset="-120"/>
                        </a:rPr>
                        <a:t>23</a:t>
                      </a:r>
                    </a:p>
                  </a:txBody>
                  <a:tcPr anchor="ctr"/>
                </a:tc>
                <a:extLst>
                  <a:ext uri="{0D108BD9-81ED-4DB2-BD59-A6C34878D82A}">
                    <a16:rowId xmlns:a16="http://schemas.microsoft.com/office/drawing/2014/main" val="2764489901"/>
                  </a:ext>
                </a:extLst>
              </a:tr>
            </a:tbl>
          </a:graphicData>
        </a:graphic>
      </p:graphicFrame>
    </p:spTree>
    <p:extLst>
      <p:ext uri="{BB962C8B-B14F-4D97-AF65-F5344CB8AC3E}">
        <p14:creationId xmlns:p14="http://schemas.microsoft.com/office/powerpoint/2010/main" val="3061108098"/>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9B26-F10D-B153-BB56-E35CB4D7EE89}"/>
            </a:ext>
          </a:extLst>
        </p:cNvPr>
        <p:cNvGrpSpPr/>
        <p:nvPr/>
      </p:nvGrpSpPr>
      <p:grpSpPr>
        <a:xfrm>
          <a:off x="0" y="0"/>
          <a:ext cx="0" cy="0"/>
          <a:chOff x="0" y="0"/>
          <a:chExt cx="0" cy="0"/>
        </a:xfrm>
      </p:grpSpPr>
      <p:sp>
        <p:nvSpPr>
          <p:cNvPr id="16" name="內容版面配置區 2">
            <a:extLst>
              <a:ext uri="{FF2B5EF4-FFF2-40B4-BE49-F238E27FC236}">
                <a16:creationId xmlns:a16="http://schemas.microsoft.com/office/drawing/2014/main" id="{8FC5946F-4AFB-2023-E1B1-84BEB906E97F}"/>
              </a:ext>
            </a:extLst>
          </p:cNvPr>
          <p:cNvSpPr txBox="1">
            <a:spLocks/>
          </p:cNvSpPr>
          <p:nvPr/>
        </p:nvSpPr>
        <p:spPr>
          <a:xfrm>
            <a:off x="119336" y="496400"/>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七</a:t>
            </a:r>
            <a:r>
              <a:rPr lang="en-US" altLang="zh-TW" sz="2800" b="1" dirty="0">
                <a:solidFill>
                  <a:schemeClr val="tx1"/>
                </a:solidFill>
              </a:rPr>
              <a:t>、2025</a:t>
            </a:r>
            <a:r>
              <a:rPr lang="zh-TW" altLang="en-US" sz="2800" b="1" dirty="0">
                <a:solidFill>
                  <a:schemeClr val="tx1"/>
                </a:solidFill>
              </a:rPr>
              <a:t>旺來回顧</a:t>
            </a:r>
            <a:endParaRPr lang="en-US" altLang="zh-TW" sz="2800" b="1" dirty="0">
              <a:solidFill>
                <a:schemeClr val="tx1"/>
              </a:solidFill>
            </a:endParaRPr>
          </a:p>
        </p:txBody>
      </p:sp>
      <p:sp>
        <p:nvSpPr>
          <p:cNvPr id="8" name="文字方塊 7">
            <a:extLst>
              <a:ext uri="{FF2B5EF4-FFF2-40B4-BE49-F238E27FC236}">
                <a16:creationId xmlns:a16="http://schemas.microsoft.com/office/drawing/2014/main" id="{2E5B3DB9-A142-C632-1505-D8CDAFFF3EDD}"/>
              </a:ext>
            </a:extLst>
          </p:cNvPr>
          <p:cNvSpPr txBox="1"/>
          <p:nvPr/>
        </p:nvSpPr>
        <p:spPr>
          <a:xfrm>
            <a:off x="1127448" y="1052736"/>
            <a:ext cx="1944216" cy="1010918"/>
          </a:xfrm>
          <a:prstGeom prst="rect">
            <a:avLst/>
          </a:prstGeom>
          <a:noFill/>
        </p:spPr>
        <p:txBody>
          <a:bodyPr wrap="square">
            <a:spAutoFit/>
          </a:bodyPr>
          <a:lstStyle/>
          <a:p>
            <a:pPr marL="571500">
              <a:lnSpc>
                <a:spcPct val="150000"/>
              </a:lnSpc>
            </a:pPr>
            <a:r>
              <a:rPr lang="zh-TW" altLang="en-US" sz="2400" b="1" dirty="0">
                <a:latin typeface="微軟正黑體" panose="020B0604030504040204" pitchFamily="34" charset="-120"/>
                <a:ea typeface="微軟正黑體" panose="020B0604030504040204" pitchFamily="34" charset="-120"/>
              </a:rPr>
              <a:t>說明：</a:t>
            </a:r>
            <a:r>
              <a:rPr lang="en-US" altLang="zh-TW" b="1" dirty="0">
                <a:latin typeface="微軟正黑體" panose="020B0604030504040204" pitchFamily="34" charset="-120"/>
                <a:ea typeface="微軟正黑體" panose="020B0604030504040204" pitchFamily="34" charset="-120"/>
              </a:rPr>
              <a:t/>
            </a:r>
            <a:br>
              <a:rPr lang="en-US" altLang="zh-TW" b="1" dirty="0">
                <a:latin typeface="微軟正黑體" panose="020B0604030504040204" pitchFamily="34" charset="-120"/>
                <a:ea typeface="微軟正黑體" panose="020B0604030504040204" pitchFamily="34" charset="-120"/>
              </a:rPr>
            </a:br>
            <a:endParaRPr lang="en-US" altLang="zh-TW" b="1" dirty="0">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1BA83D42-9E2F-2CE1-6E3A-85A04CE9625B}"/>
              </a:ext>
            </a:extLst>
          </p:cNvPr>
          <p:cNvSpPr txBox="1"/>
          <p:nvPr/>
        </p:nvSpPr>
        <p:spPr>
          <a:xfrm>
            <a:off x="7752184" y="5292886"/>
            <a:ext cx="2808312" cy="872418"/>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altLang="zh-TW" dirty="0">
                <a:solidFill>
                  <a:srgbClr val="0000FF"/>
                </a:solidFill>
                <a:latin typeface="微軟正黑體" panose="020B0604030504040204" pitchFamily="34" charset="-120"/>
                <a:ea typeface="微軟正黑體" panose="020B0604030504040204" pitchFamily="34" charset="-120"/>
              </a:rPr>
              <a:t>2024</a:t>
            </a:r>
            <a:r>
              <a:rPr lang="zh-TW" altLang="en-US" dirty="0">
                <a:solidFill>
                  <a:srgbClr val="0000FF"/>
                </a:solidFill>
                <a:latin typeface="微軟正黑體" panose="020B0604030504040204" pitchFamily="34" charset="-120"/>
                <a:ea typeface="微軟正黑體" panose="020B0604030504040204" pitchFamily="34" charset="-120"/>
              </a:rPr>
              <a:t>年新增會員</a:t>
            </a:r>
            <a:r>
              <a:rPr lang="en-US" altLang="zh-TW" dirty="0">
                <a:solidFill>
                  <a:srgbClr val="0000FF"/>
                </a:solidFill>
                <a:latin typeface="微軟正黑體" panose="020B0604030504040204" pitchFamily="34" charset="-120"/>
                <a:ea typeface="微軟正黑體" panose="020B0604030504040204" pitchFamily="34" charset="-120"/>
              </a:rPr>
              <a:t>1,243</a:t>
            </a:r>
          </a:p>
          <a:p>
            <a:pPr marL="285750" indent="-285750">
              <a:lnSpc>
                <a:spcPct val="150000"/>
              </a:lnSpc>
              <a:buFont typeface="Wingdings" panose="05000000000000000000" pitchFamily="2" charset="2"/>
              <a:buChar char="ü"/>
            </a:pPr>
            <a:r>
              <a:rPr lang="en-US" altLang="zh-TW" dirty="0">
                <a:solidFill>
                  <a:srgbClr val="0000FF"/>
                </a:solidFill>
                <a:latin typeface="微軟正黑體" panose="020B0604030504040204" pitchFamily="34" charset="-120"/>
                <a:ea typeface="微軟正黑體" panose="020B0604030504040204" pitchFamily="34" charset="-120"/>
              </a:rPr>
              <a:t>2025</a:t>
            </a:r>
            <a:r>
              <a:rPr lang="zh-TW" altLang="en-US" dirty="0">
                <a:solidFill>
                  <a:srgbClr val="0000FF"/>
                </a:solidFill>
                <a:latin typeface="微軟正黑體" panose="020B0604030504040204" pitchFamily="34" charset="-120"/>
                <a:ea typeface="微軟正黑體" panose="020B0604030504040204" pitchFamily="34" charset="-120"/>
              </a:rPr>
              <a:t>年新增會員    </a:t>
            </a:r>
            <a:r>
              <a:rPr lang="en-US" altLang="zh-TW" dirty="0">
                <a:solidFill>
                  <a:srgbClr val="0000FF"/>
                </a:solidFill>
                <a:latin typeface="微軟正黑體" panose="020B0604030504040204" pitchFamily="34" charset="-120"/>
                <a:ea typeface="微軟正黑體" panose="020B0604030504040204" pitchFamily="34" charset="-120"/>
              </a:rPr>
              <a:t>396</a:t>
            </a:r>
          </a:p>
        </p:txBody>
      </p:sp>
      <p:pic>
        <p:nvPicPr>
          <p:cNvPr id="12" name="圖片 11">
            <a:extLst>
              <a:ext uri="{FF2B5EF4-FFF2-40B4-BE49-F238E27FC236}">
                <a16:creationId xmlns:a16="http://schemas.microsoft.com/office/drawing/2014/main" id="{2CEDD445-67E6-0AE1-4AD8-26B92F748E69}"/>
              </a:ext>
            </a:extLst>
          </p:cNvPr>
          <p:cNvPicPr>
            <a:picLocks noChangeAspect="1"/>
          </p:cNvPicPr>
          <p:nvPr/>
        </p:nvPicPr>
        <p:blipFill>
          <a:blip r:embed="rId2"/>
          <a:srcRect r="8263"/>
          <a:stretch>
            <a:fillRect/>
          </a:stretch>
        </p:blipFill>
        <p:spPr>
          <a:xfrm>
            <a:off x="1770719" y="1586104"/>
            <a:ext cx="8650562" cy="3816424"/>
          </a:xfrm>
          <a:prstGeom prst="rect">
            <a:avLst/>
          </a:prstGeom>
        </p:spPr>
      </p:pic>
      <p:pic>
        <p:nvPicPr>
          <p:cNvPr id="14" name="圖片 13">
            <a:extLst>
              <a:ext uri="{FF2B5EF4-FFF2-40B4-BE49-F238E27FC236}">
                <a16:creationId xmlns:a16="http://schemas.microsoft.com/office/drawing/2014/main" id="{44CFB082-D8EF-4491-00FC-779AD86AE3B9}"/>
              </a:ext>
            </a:extLst>
          </p:cNvPr>
          <p:cNvPicPr>
            <a:picLocks noChangeAspect="1"/>
          </p:cNvPicPr>
          <p:nvPr/>
        </p:nvPicPr>
        <p:blipFill>
          <a:blip r:embed="rId3"/>
          <a:srcRect b="11421"/>
          <a:stretch>
            <a:fillRect/>
          </a:stretch>
        </p:blipFill>
        <p:spPr>
          <a:xfrm>
            <a:off x="9745115" y="1373010"/>
            <a:ext cx="676166" cy="661332"/>
          </a:xfrm>
          <a:prstGeom prst="rect">
            <a:avLst/>
          </a:prstGeom>
        </p:spPr>
      </p:pic>
    </p:spTree>
    <p:extLst>
      <p:ext uri="{BB962C8B-B14F-4D97-AF65-F5344CB8AC3E}">
        <p14:creationId xmlns:p14="http://schemas.microsoft.com/office/powerpoint/2010/main" val="1417491887"/>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831BC-6CE4-9E0F-B385-60690751E8B2}"/>
            </a:ext>
          </a:extLst>
        </p:cNvPr>
        <p:cNvGrpSpPr/>
        <p:nvPr/>
      </p:nvGrpSpPr>
      <p:grpSpPr>
        <a:xfrm>
          <a:off x="0" y="0"/>
          <a:ext cx="0" cy="0"/>
          <a:chOff x="0" y="0"/>
          <a:chExt cx="0" cy="0"/>
        </a:xfrm>
      </p:grpSpPr>
      <p:grpSp>
        <p:nvGrpSpPr>
          <p:cNvPr id="20" name="群組 19">
            <a:extLst>
              <a:ext uri="{FF2B5EF4-FFF2-40B4-BE49-F238E27FC236}">
                <a16:creationId xmlns:a16="http://schemas.microsoft.com/office/drawing/2014/main" id="{B83B288D-2C26-0700-2DDF-5CAC8CBF1A10}"/>
              </a:ext>
            </a:extLst>
          </p:cNvPr>
          <p:cNvGrpSpPr/>
          <p:nvPr/>
        </p:nvGrpSpPr>
        <p:grpSpPr>
          <a:xfrm>
            <a:off x="1775520" y="1531156"/>
            <a:ext cx="6048672" cy="4274109"/>
            <a:chOff x="330568" y="1558195"/>
            <a:chExt cx="5681593" cy="4122777"/>
          </a:xfrm>
        </p:grpSpPr>
        <p:pic>
          <p:nvPicPr>
            <p:cNvPr id="17" name="圖片 16">
              <a:extLst>
                <a:ext uri="{FF2B5EF4-FFF2-40B4-BE49-F238E27FC236}">
                  <a16:creationId xmlns:a16="http://schemas.microsoft.com/office/drawing/2014/main" id="{43F86F3B-D74C-78C1-05D5-0F268F1F97FF}"/>
                </a:ext>
              </a:extLst>
            </p:cNvPr>
            <p:cNvPicPr>
              <a:picLocks noChangeAspect="1"/>
            </p:cNvPicPr>
            <p:nvPr/>
          </p:nvPicPr>
          <p:blipFill>
            <a:blip r:embed="rId2"/>
            <a:stretch>
              <a:fillRect/>
            </a:stretch>
          </p:blipFill>
          <p:spPr>
            <a:xfrm>
              <a:off x="330568" y="1558195"/>
              <a:ext cx="4610500" cy="4122777"/>
            </a:xfrm>
            <a:prstGeom prst="rect">
              <a:avLst/>
            </a:prstGeom>
          </p:spPr>
        </p:pic>
        <p:pic>
          <p:nvPicPr>
            <p:cNvPr id="19" name="圖片 18">
              <a:extLst>
                <a:ext uri="{FF2B5EF4-FFF2-40B4-BE49-F238E27FC236}">
                  <a16:creationId xmlns:a16="http://schemas.microsoft.com/office/drawing/2014/main" id="{94D7872C-A958-3FD7-44B8-4C67C55F7084}"/>
                </a:ext>
              </a:extLst>
            </p:cNvPr>
            <p:cNvPicPr>
              <a:picLocks noChangeAspect="1"/>
            </p:cNvPicPr>
            <p:nvPr/>
          </p:nvPicPr>
          <p:blipFill>
            <a:blip r:embed="rId3"/>
            <a:srcRect r="8189"/>
            <a:stretch>
              <a:fillRect/>
            </a:stretch>
          </p:blipFill>
          <p:spPr>
            <a:xfrm>
              <a:off x="4788025" y="1569251"/>
              <a:ext cx="1224136" cy="2785158"/>
            </a:xfrm>
            <a:prstGeom prst="rect">
              <a:avLst/>
            </a:prstGeom>
          </p:spPr>
        </p:pic>
      </p:grpSp>
      <p:sp>
        <p:nvSpPr>
          <p:cNvPr id="16" name="內容版面配置區 2">
            <a:extLst>
              <a:ext uri="{FF2B5EF4-FFF2-40B4-BE49-F238E27FC236}">
                <a16:creationId xmlns:a16="http://schemas.microsoft.com/office/drawing/2014/main" id="{3BFDAD4D-A558-3A96-55F8-A9453DCF2875}"/>
              </a:ext>
            </a:extLst>
          </p:cNvPr>
          <p:cNvSpPr txBox="1">
            <a:spLocks/>
          </p:cNvSpPr>
          <p:nvPr/>
        </p:nvSpPr>
        <p:spPr>
          <a:xfrm>
            <a:off x="191344" y="468926"/>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八</a:t>
            </a:r>
            <a:r>
              <a:rPr lang="en-US" altLang="zh-TW" sz="2800" b="1" dirty="0">
                <a:solidFill>
                  <a:schemeClr val="tx1"/>
                </a:solidFill>
              </a:rPr>
              <a:t>、2025</a:t>
            </a:r>
            <a:r>
              <a:rPr lang="zh-TW" altLang="en-US" sz="2800" b="1" dirty="0">
                <a:solidFill>
                  <a:schemeClr val="tx1"/>
                </a:solidFill>
              </a:rPr>
              <a:t>旺來回顧</a:t>
            </a:r>
            <a:endParaRPr lang="en-US" altLang="zh-TW" sz="2800" b="1" dirty="0">
              <a:solidFill>
                <a:schemeClr val="tx1"/>
              </a:solidFill>
            </a:endParaRPr>
          </a:p>
        </p:txBody>
      </p:sp>
      <p:sp>
        <p:nvSpPr>
          <p:cNvPr id="4" name="文字方塊 3">
            <a:extLst>
              <a:ext uri="{FF2B5EF4-FFF2-40B4-BE49-F238E27FC236}">
                <a16:creationId xmlns:a16="http://schemas.microsoft.com/office/drawing/2014/main" id="{DA67A348-0697-56F6-FFD6-AF5665E0A302}"/>
              </a:ext>
            </a:extLst>
          </p:cNvPr>
          <p:cNvSpPr txBox="1"/>
          <p:nvPr/>
        </p:nvSpPr>
        <p:spPr>
          <a:xfrm>
            <a:off x="8154848" y="1498379"/>
            <a:ext cx="2232248" cy="2534412"/>
          </a:xfrm>
          <a:prstGeom prst="rect">
            <a:avLst/>
          </a:prstGeom>
          <a:noFill/>
        </p:spPr>
        <p:txBody>
          <a:bodyPr wrap="square">
            <a:spAutoFit/>
          </a:bodyPr>
          <a:lstStyle/>
          <a:p>
            <a:pPr>
              <a:lnSpc>
                <a:spcPct val="150000"/>
              </a:lnSpc>
            </a:pPr>
            <a:r>
              <a:rPr lang="zh-TW" altLang="en-US" dirty="0">
                <a:latin typeface="微軟正黑體" panose="020B0604030504040204" pitchFamily="34" charset="-120"/>
                <a:ea typeface="微軟正黑體" panose="020B0604030504040204" pitchFamily="34" charset="-120"/>
              </a:rPr>
              <a:t>解約的前五大原因：</a:t>
            </a:r>
          </a:p>
          <a:p>
            <a:pPr marL="285750" indent="-285750">
              <a:lnSpc>
                <a:spcPct val="150000"/>
              </a:lnSpc>
              <a:buFont typeface="Arial" panose="020B0604020202020204" pitchFamily="34" charset="0"/>
              <a:buChar char="•"/>
            </a:pPr>
            <a:r>
              <a:rPr lang="en-US" altLang="zh-TW" dirty="0">
                <a:latin typeface="微軟正黑體" panose="020B0604030504040204" pitchFamily="34" charset="-120"/>
                <a:ea typeface="微軟正黑體" panose="020B0604030504040204" pitchFamily="34" charset="-120"/>
              </a:rPr>
              <a:t>23.5%</a:t>
            </a:r>
            <a:r>
              <a:rPr lang="zh-TW" altLang="en-US" dirty="0">
                <a:latin typeface="微軟正黑體" panose="020B0604030504040204" pitchFamily="34" charset="-120"/>
                <a:ea typeface="微軟正黑體" panose="020B0604030504040204" pitchFamily="34" charset="-120"/>
              </a:rPr>
              <a:t> 其他，</a:t>
            </a:r>
            <a:endParaRPr lang="en-US" altLang="zh-TW" dirty="0">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en-US" altLang="zh-TW" dirty="0">
                <a:latin typeface="微軟正黑體" panose="020B0604030504040204" pitchFamily="34" charset="-120"/>
                <a:ea typeface="微軟正黑體" panose="020B0604030504040204" pitchFamily="34" charset="-120"/>
              </a:rPr>
              <a:t>21.3%</a:t>
            </a:r>
            <a:r>
              <a:rPr lang="zh-TW" altLang="en-US" dirty="0">
                <a:latin typeface="微軟正黑體" panose="020B0604030504040204" pitchFamily="34" charset="-120"/>
                <a:ea typeface="微軟正黑體" panose="020B0604030504040204" pitchFamily="34" charset="-120"/>
              </a:rPr>
              <a:t> 搬家</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出國，</a:t>
            </a:r>
            <a:endParaRPr lang="en-US" altLang="zh-TW" dirty="0">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en-US" altLang="zh-TW" dirty="0">
                <a:latin typeface="微軟正黑體" panose="020B0604030504040204" pitchFamily="34" charset="-120"/>
                <a:ea typeface="微軟正黑體" panose="020B0604030504040204" pitchFamily="34" charset="-120"/>
              </a:rPr>
              <a:t>10.8%</a:t>
            </a:r>
            <a:r>
              <a:rPr lang="zh-TW" altLang="en-US" dirty="0">
                <a:latin typeface="微軟正黑體" panose="020B0604030504040204" pitchFamily="34" charset="-120"/>
                <a:ea typeface="微軟正黑體" panose="020B0604030504040204" pitchFamily="34" charset="-120"/>
              </a:rPr>
              <a:t> 移居，      </a:t>
            </a:r>
            <a:endParaRPr lang="en-US" altLang="zh-TW" dirty="0">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9%</a:t>
            </a:r>
            <a:r>
              <a:rPr lang="zh-TW" altLang="en-US" dirty="0">
                <a:latin typeface="微軟正黑體" panose="020B0604030504040204" pitchFamily="34" charset="-120"/>
                <a:ea typeface="微軟正黑體" panose="020B0604030504040204" pitchFamily="34" charset="-120"/>
              </a:rPr>
              <a:t> 結束營業，   </a:t>
            </a:r>
            <a:endParaRPr lang="en-US" altLang="zh-TW" dirty="0">
              <a:latin typeface="微軟正黑體" panose="020B0604030504040204" pitchFamily="34" charset="-120"/>
              <a:ea typeface="微軟正黑體" panose="020B0604030504040204" pitchFamily="34" charset="-120"/>
            </a:endParaRPr>
          </a:p>
          <a:p>
            <a:pPr marL="285750" indent="-285750">
              <a:lnSpc>
                <a:spcPct val="150000"/>
              </a:lnSpc>
              <a:buFont typeface="Arial" panose="020B0604020202020204" pitchFamily="34" charset="0"/>
              <a:buChar char="•"/>
            </a:pPr>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6.9%</a:t>
            </a:r>
            <a:r>
              <a:rPr lang="zh-TW" altLang="en-US" dirty="0">
                <a:latin typeface="微軟正黑體" panose="020B0604030504040204" pitchFamily="34" charset="-120"/>
                <a:ea typeface="微軟正黑體" panose="020B0604030504040204" pitchFamily="34" charset="-120"/>
              </a:rPr>
              <a:t> 使用不便</a:t>
            </a:r>
          </a:p>
        </p:txBody>
      </p:sp>
      <p:sp>
        <p:nvSpPr>
          <p:cNvPr id="2" name="文字方塊 1">
            <a:extLst>
              <a:ext uri="{FF2B5EF4-FFF2-40B4-BE49-F238E27FC236}">
                <a16:creationId xmlns:a16="http://schemas.microsoft.com/office/drawing/2014/main" id="{419C8F4F-1C28-CF0D-DFD8-1F15AC328DE0}"/>
              </a:ext>
            </a:extLst>
          </p:cNvPr>
          <p:cNvSpPr txBox="1"/>
          <p:nvPr/>
        </p:nvSpPr>
        <p:spPr>
          <a:xfrm>
            <a:off x="1127448" y="1052736"/>
            <a:ext cx="1944216" cy="1010918"/>
          </a:xfrm>
          <a:prstGeom prst="rect">
            <a:avLst/>
          </a:prstGeom>
          <a:noFill/>
        </p:spPr>
        <p:txBody>
          <a:bodyPr wrap="square">
            <a:spAutoFit/>
          </a:bodyPr>
          <a:lstStyle/>
          <a:p>
            <a:pPr marL="571500">
              <a:lnSpc>
                <a:spcPct val="150000"/>
              </a:lnSpc>
            </a:pPr>
            <a:r>
              <a:rPr lang="zh-TW" altLang="en-US" sz="2400" b="1" dirty="0">
                <a:latin typeface="微軟正黑體" panose="020B0604030504040204" pitchFamily="34" charset="-120"/>
                <a:ea typeface="微軟正黑體" panose="020B0604030504040204" pitchFamily="34" charset="-120"/>
              </a:rPr>
              <a:t>說明：</a:t>
            </a:r>
            <a:r>
              <a:rPr lang="en-US" altLang="zh-TW" b="1" dirty="0">
                <a:latin typeface="微軟正黑體" panose="020B0604030504040204" pitchFamily="34" charset="-120"/>
                <a:ea typeface="微軟正黑體" panose="020B0604030504040204" pitchFamily="34" charset="-120"/>
              </a:rPr>
              <a:t/>
            </a:r>
            <a:br>
              <a:rPr lang="en-US" altLang="zh-TW" b="1" dirty="0">
                <a:latin typeface="微軟正黑體" panose="020B0604030504040204" pitchFamily="34" charset="-120"/>
                <a:ea typeface="微軟正黑體" panose="020B0604030504040204" pitchFamily="34" charset="-120"/>
              </a:rPr>
            </a:br>
            <a:endParaRPr lang="en-US" altLang="zh-TW" b="1" dirty="0">
              <a:latin typeface="微軟正黑體" panose="020B0604030504040204" pitchFamily="34" charset="-120"/>
              <a:ea typeface="微軟正黑體" panose="020B0604030504040204" pitchFamily="34" charset="-120"/>
            </a:endParaRPr>
          </a:p>
        </p:txBody>
      </p:sp>
      <p:sp>
        <p:nvSpPr>
          <p:cNvPr id="21" name="文字方塊 20">
            <a:extLst>
              <a:ext uri="{FF2B5EF4-FFF2-40B4-BE49-F238E27FC236}">
                <a16:creationId xmlns:a16="http://schemas.microsoft.com/office/drawing/2014/main" id="{91DE401D-2390-EA16-BDCB-CA8A2FA7988B}"/>
              </a:ext>
            </a:extLst>
          </p:cNvPr>
          <p:cNvSpPr txBox="1"/>
          <p:nvPr/>
        </p:nvSpPr>
        <p:spPr>
          <a:xfrm>
            <a:off x="7616504" y="4879174"/>
            <a:ext cx="2801824" cy="872418"/>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altLang="zh-TW" dirty="0">
                <a:solidFill>
                  <a:srgbClr val="0000FF"/>
                </a:solidFill>
                <a:latin typeface="微軟正黑體" panose="020B0604030504040204" pitchFamily="34" charset="-120"/>
                <a:ea typeface="微軟正黑體" panose="020B0604030504040204" pitchFamily="34" charset="-120"/>
              </a:rPr>
              <a:t>2024</a:t>
            </a:r>
            <a:r>
              <a:rPr lang="zh-TW" altLang="en-US" dirty="0">
                <a:solidFill>
                  <a:srgbClr val="0000FF"/>
                </a:solidFill>
                <a:latin typeface="微軟正黑體" panose="020B0604030504040204" pitchFamily="34" charset="-120"/>
                <a:ea typeface="微軟正黑體" panose="020B0604030504040204" pitchFamily="34" charset="-120"/>
              </a:rPr>
              <a:t>年解約會員</a:t>
            </a:r>
            <a:r>
              <a:rPr lang="en-US" altLang="zh-TW" dirty="0">
                <a:solidFill>
                  <a:srgbClr val="0000FF"/>
                </a:solidFill>
                <a:latin typeface="微軟正黑體" panose="020B0604030504040204" pitchFamily="34" charset="-120"/>
                <a:ea typeface="微軟正黑體" panose="020B0604030504040204" pitchFamily="34" charset="-120"/>
              </a:rPr>
              <a:t>1,153</a:t>
            </a:r>
          </a:p>
          <a:p>
            <a:pPr marL="285750" indent="-285750">
              <a:lnSpc>
                <a:spcPct val="150000"/>
              </a:lnSpc>
              <a:buFont typeface="Wingdings" panose="05000000000000000000" pitchFamily="2" charset="2"/>
              <a:buChar char="ü"/>
            </a:pPr>
            <a:r>
              <a:rPr lang="en-US" altLang="zh-TW" dirty="0">
                <a:solidFill>
                  <a:srgbClr val="0000FF"/>
                </a:solidFill>
                <a:latin typeface="微軟正黑體" panose="020B0604030504040204" pitchFamily="34" charset="-120"/>
                <a:ea typeface="微軟正黑體" panose="020B0604030504040204" pitchFamily="34" charset="-120"/>
              </a:rPr>
              <a:t>2025</a:t>
            </a:r>
            <a:r>
              <a:rPr lang="zh-TW" altLang="en-US" dirty="0">
                <a:solidFill>
                  <a:srgbClr val="0000FF"/>
                </a:solidFill>
                <a:latin typeface="微軟正黑體" panose="020B0604030504040204" pitchFamily="34" charset="-120"/>
                <a:ea typeface="微軟正黑體" panose="020B0604030504040204" pitchFamily="34" charset="-120"/>
              </a:rPr>
              <a:t>年解約會員    </a:t>
            </a:r>
            <a:r>
              <a:rPr lang="en-US" altLang="zh-TW" dirty="0">
                <a:solidFill>
                  <a:srgbClr val="0000FF"/>
                </a:solidFill>
                <a:latin typeface="微軟正黑體" panose="020B0604030504040204" pitchFamily="34" charset="-120"/>
                <a:ea typeface="微軟正黑體" panose="020B0604030504040204" pitchFamily="34" charset="-120"/>
              </a:rPr>
              <a:t>880</a:t>
            </a:r>
          </a:p>
        </p:txBody>
      </p:sp>
    </p:spTree>
    <p:extLst>
      <p:ext uri="{BB962C8B-B14F-4D97-AF65-F5344CB8AC3E}">
        <p14:creationId xmlns:p14="http://schemas.microsoft.com/office/powerpoint/2010/main" val="27365320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3C6C3-432F-A208-C553-DE4ACB4360A3}"/>
            </a:ext>
          </a:extLst>
        </p:cNvPr>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C3AEC03D-67D8-517C-01FD-4505212BDF28}"/>
              </a:ext>
            </a:extLst>
          </p:cNvPr>
          <p:cNvSpPr txBox="1">
            <a:spLocks/>
          </p:cNvSpPr>
          <p:nvPr/>
        </p:nvSpPr>
        <p:spPr>
          <a:xfrm>
            <a:off x="191344" y="490360"/>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九</a:t>
            </a:r>
            <a:r>
              <a:rPr lang="en-US" altLang="zh-TW" sz="2800" b="1" dirty="0">
                <a:solidFill>
                  <a:schemeClr val="tx1"/>
                </a:solidFill>
              </a:rPr>
              <a:t>、2026年度OKR展望-1</a:t>
            </a:r>
          </a:p>
        </p:txBody>
      </p:sp>
      <p:graphicFrame>
        <p:nvGraphicFramePr>
          <p:cNvPr id="3" name="表格 2">
            <a:extLst>
              <a:ext uri="{FF2B5EF4-FFF2-40B4-BE49-F238E27FC236}">
                <a16:creationId xmlns:a16="http://schemas.microsoft.com/office/drawing/2014/main" id="{E81A16A2-D39C-6C17-5635-7F31B9BDF30D}"/>
              </a:ext>
            </a:extLst>
          </p:cNvPr>
          <p:cNvGraphicFramePr>
            <a:graphicFrameLocks noGrp="1"/>
          </p:cNvGraphicFramePr>
          <p:nvPr/>
        </p:nvGraphicFramePr>
        <p:xfrm>
          <a:off x="1847529" y="1124745"/>
          <a:ext cx="8748001" cy="4968555"/>
        </p:xfrm>
        <a:graphic>
          <a:graphicData uri="http://schemas.openxmlformats.org/drawingml/2006/table">
            <a:tbl>
              <a:tblPr firstRow="1" bandRow="1">
                <a:tableStyleId>{5C22544A-7EE6-4342-B048-85BDC9FD1C3A}</a:tableStyleId>
              </a:tblPr>
              <a:tblGrid>
                <a:gridCol w="494477">
                  <a:extLst>
                    <a:ext uri="{9D8B030D-6E8A-4147-A177-3AD203B41FA5}">
                      <a16:colId xmlns:a16="http://schemas.microsoft.com/office/drawing/2014/main" val="1369220936"/>
                    </a:ext>
                  </a:extLst>
                </a:gridCol>
                <a:gridCol w="2462283">
                  <a:extLst>
                    <a:ext uri="{9D8B030D-6E8A-4147-A177-3AD203B41FA5}">
                      <a16:colId xmlns:a16="http://schemas.microsoft.com/office/drawing/2014/main" val="1019612997"/>
                    </a:ext>
                  </a:extLst>
                </a:gridCol>
                <a:gridCol w="636826">
                  <a:extLst>
                    <a:ext uri="{9D8B030D-6E8A-4147-A177-3AD203B41FA5}">
                      <a16:colId xmlns:a16="http://schemas.microsoft.com/office/drawing/2014/main" val="1763432319"/>
                    </a:ext>
                  </a:extLst>
                </a:gridCol>
                <a:gridCol w="5154415">
                  <a:extLst>
                    <a:ext uri="{9D8B030D-6E8A-4147-A177-3AD203B41FA5}">
                      <a16:colId xmlns:a16="http://schemas.microsoft.com/office/drawing/2014/main" val="789490434"/>
                    </a:ext>
                  </a:extLst>
                </a:gridCol>
              </a:tblGrid>
              <a:tr h="368291">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latin typeface="微軟正黑體" panose="020B0604030504040204" pitchFamily="34" charset="-120"/>
                          <a:ea typeface="微軟正黑體" panose="020B0604030504040204" pitchFamily="34" charset="-120"/>
                        </a:rPr>
                        <a:t>2026 Objectives</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tc gridSpan="2">
                  <a:txBody>
                    <a:bodyPr/>
                    <a:lstStyle/>
                    <a:p>
                      <a:pPr algn="ctr"/>
                      <a:r>
                        <a:rPr lang="en-US" altLang="zh-TW" sz="1600" b="1" dirty="0">
                          <a:solidFill>
                            <a:schemeClr val="tx1"/>
                          </a:solidFill>
                          <a:latin typeface="微軟正黑體" panose="020B0604030504040204" pitchFamily="34" charset="-120"/>
                          <a:ea typeface="微軟正黑體" panose="020B0604030504040204" pitchFamily="34" charset="-120"/>
                        </a:rPr>
                        <a:t>2026 Key Results</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extLst>
                  <a:ext uri="{0D108BD9-81ED-4DB2-BD59-A6C34878D82A}">
                    <a16:rowId xmlns:a16="http://schemas.microsoft.com/office/drawing/2014/main" val="1522600921"/>
                  </a:ext>
                </a:extLst>
              </a:tr>
              <a:tr h="378562">
                <a:tc rowSpan="4">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4">
                  <a:txBody>
                    <a:bodyPr/>
                    <a:lstStyle/>
                    <a:p>
                      <a:pPr algn="l">
                        <a:lnSpc>
                          <a:spcPts val="1300"/>
                        </a:lnSpc>
                      </a:pPr>
                      <a:r>
                        <a:rPr lang="zh-TW" altLang="en-US" sz="1800" b="1" dirty="0">
                          <a:solidFill>
                            <a:schemeClr val="tx1"/>
                          </a:solidFill>
                          <a:latin typeface="微軟正黑體" panose="020B0604030504040204" pitchFamily="34" charset="-120"/>
                          <a:ea typeface="微軟正黑體" panose="020B0604030504040204" pitchFamily="34" charset="-120"/>
                        </a:rPr>
                        <a:t>復興收入</a:t>
                      </a:r>
                      <a:r>
                        <a:rPr lang="en-US" altLang="zh-TW" sz="1800" b="1" dirty="0">
                          <a:solidFill>
                            <a:schemeClr val="tx1"/>
                          </a:solidFill>
                          <a:latin typeface="微軟正黑體" panose="020B0604030504040204" pitchFamily="34" charset="-120"/>
                          <a:ea typeface="微軟正黑體" panose="020B0604030504040204" pitchFamily="34" charset="-120"/>
                        </a:rPr>
                        <a:t>：656</a:t>
                      </a:r>
                      <a:r>
                        <a:rPr lang="zh-TW" altLang="en-US" sz="1800" b="1" dirty="0">
                          <a:solidFill>
                            <a:schemeClr val="tx1"/>
                          </a:solidFill>
                          <a:latin typeface="微軟正黑體" panose="020B0604030504040204" pitchFamily="34" charset="-120"/>
                          <a:ea typeface="微軟正黑體" panose="020B0604030504040204" pitchFamily="34" charset="-120"/>
                        </a:rPr>
                        <a:t>萬</a:t>
                      </a:r>
                      <a:endParaRPr lang="en-US" altLang="zh-TW" sz="1800" dirty="0">
                        <a:solidFill>
                          <a:schemeClr val="tx1"/>
                        </a:solidFill>
                        <a:latin typeface="微軟正黑體" panose="020B0604030504040204" pitchFamily="34" charset="-120"/>
                        <a:ea typeface="微軟正黑體" panose="020B0604030504040204" pitchFamily="34" charset="-120"/>
                      </a:endParaRPr>
                    </a:p>
                    <a:p>
                      <a:pPr algn="l">
                        <a:lnSpc>
                          <a:spcPct val="150000"/>
                        </a:lnSpc>
                      </a:pPr>
                      <a:r>
                        <a:rPr lang="en-US" altLang="zh-TW" sz="1600" dirty="0">
                          <a:solidFill>
                            <a:schemeClr val="tx1"/>
                          </a:solidFill>
                          <a:latin typeface="微軟正黑體" panose="020B0604030504040204" pitchFamily="34" charset="-120"/>
                          <a:ea typeface="微軟正黑體" panose="020B0604030504040204" pitchFamily="34" charset="-120"/>
                        </a:rPr>
                        <a:t>-</a:t>
                      </a:r>
                      <a:r>
                        <a:rPr lang="zh-TW" altLang="en-US" sz="1600" dirty="0">
                          <a:solidFill>
                            <a:schemeClr val="tx1"/>
                          </a:solidFill>
                          <a:latin typeface="微軟正黑體" panose="020B0604030504040204" pitchFamily="34" charset="-120"/>
                          <a:ea typeface="微軟正黑體" panose="020B0604030504040204" pitchFamily="34" charset="-120"/>
                        </a:rPr>
                        <a:t>復興：新案型</a:t>
                      </a:r>
                      <a:endParaRPr lang="en-US" altLang="zh-TW" sz="1600"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新案型會員：</a:t>
                      </a:r>
                      <a:r>
                        <a:rPr lang="en-US" altLang="zh-TW" sz="1800" b="1" kern="1200" dirty="0">
                          <a:solidFill>
                            <a:srgbClr val="FF0000"/>
                          </a:solidFill>
                          <a:latin typeface="微軟正黑體" panose="020B0604030504040204" pitchFamily="34" charset="-120"/>
                          <a:ea typeface="微軟正黑體" panose="020B0604030504040204" pitchFamily="34" charset="-120"/>
                          <a:cs typeface="+mn-cs"/>
                        </a:rPr>
                        <a:t>1,368</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名</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8555103"/>
                  </a:ext>
                </a:extLst>
              </a:tr>
              <a:tr h="378562">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00000"/>
                        </a:lnSpc>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新案型</a:t>
                      </a:r>
                      <a:r>
                        <a:rPr lang="zh-TW" altLang="en-US" sz="1800" b="1" dirty="0">
                          <a:latin typeface="微軟正黑體" panose="020B0604030504040204" pitchFamily="34" charset="-120"/>
                          <a:ea typeface="微軟正黑體" panose="020B0604030504040204" pitchFamily="34" charset="-120"/>
                        </a:rPr>
                        <a:t>首配費及瓦斯費</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396萬</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元</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6486647"/>
                  </a:ext>
                </a:extLst>
              </a:tr>
              <a:tr h="378562">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dirty="0">
                          <a:latin typeface="微軟正黑體" panose="020B0604030504040204" pitchFamily="34" charset="-120"/>
                          <a:ea typeface="微軟正黑體" panose="020B0604030504040204" pitchFamily="34" charset="-120"/>
                        </a:rPr>
                        <a:t>安心用氣安檢（舊用戶）：</a:t>
                      </a:r>
                      <a:r>
                        <a:rPr lang="en-US" altLang="zh-TW" sz="1800" b="1" dirty="0">
                          <a:latin typeface="微軟正黑體" panose="020B0604030504040204" pitchFamily="34" charset="-120"/>
                          <a:ea typeface="微軟正黑體" panose="020B0604030504040204" pitchFamily="34" charset="-120"/>
                        </a:rPr>
                        <a:t>26</a:t>
                      </a:r>
                      <a:r>
                        <a:rPr lang="en-US" altLang="zh-TW" sz="1800" b="1" dirty="0">
                          <a:solidFill>
                            <a:schemeClr val="tx1"/>
                          </a:solidFill>
                          <a:latin typeface="微軟正黑體" panose="020B0604030504040204" pitchFamily="34" charset="-120"/>
                          <a:ea typeface="微軟正黑體" panose="020B0604030504040204" pitchFamily="34" charset="-120"/>
                        </a:rPr>
                        <a:t>0</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萬</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元</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4799357"/>
                  </a:ext>
                </a:extLst>
              </a:tr>
              <a:tr h="378562">
                <a:tc vMerge="1">
                  <a:txBody>
                    <a:bodyPr/>
                    <a:lstStyle/>
                    <a:p>
                      <a:pPr algn="ctr"/>
                      <a:endParaRPr lang="zh-TW" altLang="en-US" sz="1600" b="1" dirty="0">
                        <a:solidFill>
                          <a:schemeClr val="tx1"/>
                        </a:solidFill>
                        <a:latin typeface="Microsoft JhengHei Light" panose="020B0304030504040204" pitchFamily="34" charset="-120"/>
                        <a:ea typeface="Microsoft JhengHei Light" panose="020B03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vMerge="1">
                  <a:txBody>
                    <a:bodyPr/>
                    <a:lstStyle/>
                    <a:p>
                      <a:pPr algn="l">
                        <a:lnSpc>
                          <a:spcPct val="150000"/>
                        </a:lnSpc>
                      </a:pPr>
                      <a:endParaRPr lang="en-US" altLang="zh-TW" sz="1200" dirty="0">
                        <a:solidFill>
                          <a:schemeClr val="tx1"/>
                        </a:solidFill>
                        <a:latin typeface="Microsoft JhengHei Light" panose="020B0304030504040204" pitchFamily="34" charset="-120"/>
                        <a:ea typeface="Microsoft JhengHei Light" panose="020B03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KR4</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舊會員解約 </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&lt;</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 </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1,000</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名用戶</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5305331"/>
                  </a:ext>
                </a:extLst>
              </a:tr>
              <a:tr h="378562">
                <a:tc rowSpan="4">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O2</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4">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通路結盟收入：</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450萬</a:t>
                      </a:r>
                      <a:endParaRPr lang="en-US" altLang="zh-TW" sz="1800" dirty="0">
                        <a:solidFill>
                          <a:schemeClr val="tx1"/>
                        </a:solidFill>
                        <a:latin typeface="微軟正黑體" panose="020B0604030504040204" pitchFamily="34" charset="-120"/>
                        <a:ea typeface="微軟正黑體" panose="020B0604030504040204" pitchFamily="34" charset="-120"/>
                      </a:endParaRPr>
                    </a:p>
                    <a:p>
                      <a:pPr algn="l">
                        <a:lnSpc>
                          <a:spcPct val="150000"/>
                        </a:lnSpc>
                      </a:pP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開發：全國電子及</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大型量販</a:t>
                      </a:r>
                      <a:r>
                        <a:rPr lang="zh-TW" altLang="en-US" sz="1600" dirty="0">
                          <a:solidFill>
                            <a:schemeClr val="tx1"/>
                          </a:solidFill>
                          <a:latin typeface="微軟正黑體" panose="020B0604030504040204" pitchFamily="34" charset="-120"/>
                          <a:ea typeface="微軟正黑體" panose="020B0604030504040204" pitchFamily="34" charset="-120"/>
                        </a:rPr>
                        <a:t>（台中、 桃園、新北）</a:t>
                      </a:r>
                      <a:endParaRPr lang="en-US" altLang="zh-TW" sz="1600"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新增會員：</a:t>
                      </a:r>
                      <a:r>
                        <a:rPr lang="en-US" altLang="zh-TW" sz="1800" b="1" kern="1200" dirty="0">
                          <a:solidFill>
                            <a:srgbClr val="FF0000"/>
                          </a:solidFill>
                          <a:latin typeface="微軟正黑體" panose="020B0604030504040204" pitchFamily="34" charset="-120"/>
                          <a:ea typeface="微軟正黑體" panose="020B0604030504040204" pitchFamily="34" charset="-120"/>
                          <a:cs typeface="+mn-cs"/>
                        </a:rPr>
                        <a:t>1,216</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名</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6565742"/>
                  </a:ext>
                </a:extLst>
              </a:tr>
              <a:tr h="378562">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會員</a:t>
                      </a:r>
                      <a:r>
                        <a:rPr lang="zh-TW" altLang="en-US" sz="1800" b="1" dirty="0">
                          <a:latin typeface="微軟正黑體" panose="020B0604030504040204" pitchFamily="34" charset="-120"/>
                          <a:ea typeface="微軟正黑體" panose="020B0604030504040204" pitchFamily="34" charset="-120"/>
                        </a:rPr>
                        <a:t>首配費及瓦斯費</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680</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萬元</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0641237"/>
                  </a:ext>
                </a:extLst>
              </a:tr>
              <a:tr h="378562">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dirty="0">
                          <a:solidFill>
                            <a:schemeClr val="tx1"/>
                          </a:solidFill>
                          <a:latin typeface="微軟正黑體" panose="020B0604030504040204" pitchFamily="34" charset="-120"/>
                          <a:ea typeface="微軟正黑體" panose="020B0604030504040204" pitchFamily="34" charset="-120"/>
                        </a:rPr>
                        <a:t>全國電子目標：</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A</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級店</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40</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家（每店</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2</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位</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月）</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36082">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KR4</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大型量販</a:t>
                      </a:r>
                      <a:r>
                        <a:rPr lang="zh-TW" altLang="en-US" sz="1800" b="1" dirty="0">
                          <a:solidFill>
                            <a:schemeClr val="tx1"/>
                          </a:solidFill>
                          <a:latin typeface="微軟正黑體" panose="020B0604030504040204" pitchFamily="34" charset="-120"/>
                          <a:ea typeface="微軟正黑體" panose="020B0604030504040204" pitchFamily="34" charset="-120"/>
                        </a:rPr>
                        <a:t>目標：</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A</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級店</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4</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家（每店</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20</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位</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月）</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78562">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O3</a:t>
                      </a:r>
                      <a:endParaRPr lang="zh-TW" altLang="en-US"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9933"/>
                    </a:solidFill>
                  </a:tcPr>
                </a:tc>
                <a:tc rowSpan="4">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同業加盟店數：</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9</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家</a:t>
                      </a:r>
                      <a:endParaRPr lang="en-US" altLang="zh-TW" sz="1800" b="0" kern="1200" dirty="0">
                        <a:solidFill>
                          <a:schemeClr val="tx1"/>
                        </a:solidFill>
                        <a:latin typeface="微軟正黑體" panose="020B0604030504040204" pitchFamily="34" charset="-120"/>
                        <a:ea typeface="微軟正黑體" panose="020B0604030504040204" pitchFamily="34" charset="-120"/>
                        <a:cs typeface="+mn-cs"/>
                      </a:endParaRPr>
                    </a:p>
                    <a:p>
                      <a:pPr marL="0" marR="0" indent="0" algn="l" defTabSz="914400" rtl="0" eaLnBrk="1" fontAlgn="auto" latinLnBrk="0" hangingPunct="1">
                        <a:lnSpc>
                          <a:spcPct val="150000"/>
                        </a:lnSpc>
                        <a:spcBef>
                          <a:spcPts val="0"/>
                        </a:spcBef>
                        <a:spcAft>
                          <a:spcPts val="0"/>
                        </a:spcAft>
                        <a:buClrTx/>
                        <a:buSzTx/>
                        <a:buFontTx/>
                        <a:buNone/>
                        <a:tabLst/>
                        <a:defRPr/>
                      </a:pPr>
                      <a:r>
                        <a:rPr lang="en-US" altLang="zh-TW" sz="160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dirty="0">
                          <a:solidFill>
                            <a:schemeClr val="tx1"/>
                          </a:solidFill>
                          <a:latin typeface="微軟正黑體" panose="020B0604030504040204" pitchFamily="34" charset="-120"/>
                          <a:ea typeface="微軟正黑體" panose="020B0604030504040204" pitchFamily="34" charset="-120"/>
                        </a:rPr>
                        <a:t>開發</a:t>
                      </a:r>
                      <a:r>
                        <a:rPr lang="zh-TW" altLang="en-US" sz="1600" b="0" kern="1200" dirty="0">
                          <a:solidFill>
                            <a:schemeClr val="tx1"/>
                          </a:solidFill>
                          <a:latin typeface="微軟正黑體" panose="020B0604030504040204" pitchFamily="34" charset="-120"/>
                          <a:ea typeface="微軟正黑體" panose="020B0604030504040204" pitchFamily="34" charset="-120"/>
                          <a:cs typeface="+mn-cs"/>
                        </a:rPr>
                        <a:t>：每店</a:t>
                      </a:r>
                      <a:r>
                        <a:rPr lang="en-US" altLang="zh-TW" sz="1600" b="0" kern="1200" dirty="0">
                          <a:solidFill>
                            <a:schemeClr val="tx1"/>
                          </a:solidFill>
                          <a:latin typeface="微軟正黑體" panose="020B0604030504040204" pitchFamily="34" charset="-120"/>
                          <a:ea typeface="微軟正黑體" panose="020B0604030504040204" pitchFamily="34" charset="-120"/>
                          <a:cs typeface="+mn-cs"/>
                        </a:rPr>
                        <a:t>110</a:t>
                      </a:r>
                      <a:r>
                        <a:rPr lang="zh-TW" altLang="en-US" sz="1600" b="0" kern="1200" dirty="0">
                          <a:solidFill>
                            <a:schemeClr val="tx1"/>
                          </a:solidFill>
                          <a:latin typeface="微軟正黑體" panose="020B0604030504040204" pitchFamily="34" charset="-120"/>
                          <a:ea typeface="微軟正黑體" panose="020B0604030504040204" pitchFamily="34" charset="-120"/>
                          <a:cs typeface="+mn-cs"/>
                        </a:rPr>
                        <a:t>萬加盟金</a:t>
                      </a:r>
                      <a:r>
                        <a:rPr lang="en-US" altLang="zh-TW" sz="1600" b="0" kern="1200" dirty="0">
                          <a:solidFill>
                            <a:schemeClr val="tx1"/>
                          </a:solidFill>
                          <a:latin typeface="微軟正黑體" panose="020B0604030504040204" pitchFamily="34" charset="-120"/>
                          <a:ea typeface="微軟正黑體" panose="020B0604030504040204" pitchFamily="34" charset="-120"/>
                          <a:cs typeface="+mn-cs"/>
                        </a:rPr>
                        <a:t/>
                      </a:r>
                      <a:br>
                        <a:rPr lang="en-US" altLang="zh-TW" sz="1600" b="0" kern="1200" dirty="0">
                          <a:solidFill>
                            <a:schemeClr val="tx1"/>
                          </a:solidFill>
                          <a:latin typeface="微軟正黑體" panose="020B0604030504040204" pitchFamily="34" charset="-120"/>
                          <a:ea typeface="微軟正黑體" panose="020B0604030504040204" pitchFamily="34" charset="-120"/>
                          <a:cs typeface="+mn-cs"/>
                        </a:rPr>
                      </a:br>
                      <a:r>
                        <a:rPr lang="zh-TW" altLang="en-US" sz="1600" dirty="0">
                          <a:solidFill>
                            <a:schemeClr val="tx1"/>
                          </a:solidFill>
                          <a:latin typeface="微軟正黑體" panose="020B0604030504040204" pitchFamily="34" charset="-120"/>
                          <a:ea typeface="微軟正黑體" panose="020B0604030504040204" pitchFamily="34" charset="-120"/>
                        </a:rPr>
                        <a:t>（台中、 桃園、新北）</a:t>
                      </a:r>
                      <a:endParaRPr lang="en-US" altLang="zh-TW" sz="1600" b="0"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CC"/>
                    </a:solidFill>
                  </a:tcPr>
                </a:tc>
                <a:tc>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新增會員：</a:t>
                      </a:r>
                      <a:r>
                        <a:rPr lang="en-US" altLang="zh-TW" sz="1800" b="1" kern="1200" dirty="0">
                          <a:solidFill>
                            <a:srgbClr val="FF0000"/>
                          </a:solidFill>
                          <a:latin typeface="微軟正黑體" panose="020B0604030504040204" pitchFamily="34" charset="-120"/>
                          <a:ea typeface="微軟正黑體" panose="020B0604030504040204" pitchFamily="34" charset="-120"/>
                          <a:cs typeface="+mn-cs"/>
                        </a:rPr>
                        <a:t>1,125</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名</a:t>
                      </a: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121909"/>
                  </a:ext>
                </a:extLst>
              </a:tr>
              <a:tr h="378562">
                <a:tc vMerge="1">
                  <a:txBody>
                    <a:bodyPr/>
                    <a:lstStyle/>
                    <a:p>
                      <a:pPr algn="ctr"/>
                      <a:endParaRPr lang="zh-TW" altLang="en-US" sz="1600" b="1" kern="1200" dirty="0">
                        <a:solidFill>
                          <a:schemeClr val="tx1"/>
                        </a:solidFill>
                        <a:latin typeface="+mj-ea"/>
                        <a:ea typeface="+mj-ea"/>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E100"/>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100" b="0" kern="1200" dirty="0">
                        <a:solidFill>
                          <a:schemeClr val="tx1"/>
                        </a:solidFill>
                        <a:latin typeface="+mj-ea"/>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會員</a:t>
                      </a:r>
                      <a:r>
                        <a:rPr lang="zh-TW" altLang="en-US" sz="1800" b="1" dirty="0">
                          <a:latin typeface="微軟正黑體" panose="020B0604030504040204" pitchFamily="34" charset="-120"/>
                          <a:ea typeface="微軟正黑體" panose="020B0604030504040204" pitchFamily="34" charset="-120"/>
                        </a:rPr>
                        <a:t>首配費及瓦斯費</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539</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萬元</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6012242"/>
                  </a:ext>
                </a:extLst>
              </a:tr>
              <a:tr h="378562">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同業加盟台中：</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5</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家／桃園、新北：</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4</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家</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5622728"/>
                  </a:ext>
                </a:extLst>
              </a:tr>
              <a:tr h="37856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b="1" kern="1200" dirty="0">
                        <a:solidFill>
                          <a:schemeClr val="tx1"/>
                        </a:solidFill>
                        <a:latin typeface="Microsoft JhengHei Light" panose="020B0304030504040204" pitchFamily="34" charset="-120"/>
                        <a:ea typeface="Microsoft JhengHei Light" panose="020B03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KR4</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同業潛在客戶：</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5</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家（台中：</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1</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家／桃園：</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4</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家）</a:t>
                      </a: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4015653"/>
                  </a:ext>
                </a:extLst>
              </a:tr>
            </a:tbl>
          </a:graphicData>
        </a:graphic>
      </p:graphicFrame>
    </p:spTree>
    <p:extLst>
      <p:ext uri="{BB962C8B-B14F-4D97-AF65-F5344CB8AC3E}">
        <p14:creationId xmlns:p14="http://schemas.microsoft.com/office/powerpoint/2010/main" val="4277194083"/>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72151-8C45-8823-ACA9-7A683D57F55B}"/>
            </a:ext>
          </a:extLst>
        </p:cNvPr>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39DF834F-D556-3FF3-B9E3-B81DCA7BE792}"/>
              </a:ext>
            </a:extLst>
          </p:cNvPr>
          <p:cNvSpPr txBox="1">
            <a:spLocks/>
          </p:cNvSpPr>
          <p:nvPr/>
        </p:nvSpPr>
        <p:spPr>
          <a:xfrm>
            <a:off x="210802" y="425108"/>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九</a:t>
            </a:r>
            <a:r>
              <a:rPr lang="en-US" altLang="zh-TW" sz="2800" b="1" dirty="0">
                <a:solidFill>
                  <a:schemeClr val="tx1"/>
                </a:solidFill>
              </a:rPr>
              <a:t>、2026年度OKR展望-2</a:t>
            </a:r>
          </a:p>
        </p:txBody>
      </p:sp>
      <p:graphicFrame>
        <p:nvGraphicFramePr>
          <p:cNvPr id="3" name="表格 2">
            <a:extLst>
              <a:ext uri="{FF2B5EF4-FFF2-40B4-BE49-F238E27FC236}">
                <a16:creationId xmlns:a16="http://schemas.microsoft.com/office/drawing/2014/main" id="{513E3AEE-6AED-A12C-30ED-4707B7B1B6D9}"/>
              </a:ext>
            </a:extLst>
          </p:cNvPr>
          <p:cNvGraphicFramePr>
            <a:graphicFrameLocks noGrp="1"/>
          </p:cNvGraphicFramePr>
          <p:nvPr/>
        </p:nvGraphicFramePr>
        <p:xfrm>
          <a:off x="1814476" y="1253924"/>
          <a:ext cx="8601965" cy="4417004"/>
        </p:xfrm>
        <a:graphic>
          <a:graphicData uri="http://schemas.openxmlformats.org/drawingml/2006/table">
            <a:tbl>
              <a:tblPr firstRow="1" bandRow="1">
                <a:tableStyleId>{5C22544A-7EE6-4342-B048-85BDC9FD1C3A}</a:tableStyleId>
              </a:tblPr>
              <a:tblGrid>
                <a:gridCol w="501210">
                  <a:extLst>
                    <a:ext uri="{9D8B030D-6E8A-4147-A177-3AD203B41FA5}">
                      <a16:colId xmlns:a16="http://schemas.microsoft.com/office/drawing/2014/main" val="1369220936"/>
                    </a:ext>
                  </a:extLst>
                </a:gridCol>
                <a:gridCol w="2340155">
                  <a:extLst>
                    <a:ext uri="{9D8B030D-6E8A-4147-A177-3AD203B41FA5}">
                      <a16:colId xmlns:a16="http://schemas.microsoft.com/office/drawing/2014/main" val="1019612997"/>
                    </a:ext>
                  </a:extLst>
                </a:gridCol>
                <a:gridCol w="720080">
                  <a:extLst>
                    <a:ext uri="{9D8B030D-6E8A-4147-A177-3AD203B41FA5}">
                      <a16:colId xmlns:a16="http://schemas.microsoft.com/office/drawing/2014/main" val="1763432319"/>
                    </a:ext>
                  </a:extLst>
                </a:gridCol>
                <a:gridCol w="5040520">
                  <a:extLst>
                    <a:ext uri="{9D8B030D-6E8A-4147-A177-3AD203B41FA5}">
                      <a16:colId xmlns:a16="http://schemas.microsoft.com/office/drawing/2014/main" val="789490434"/>
                    </a:ext>
                  </a:extLst>
                </a:gridCol>
              </a:tblGrid>
              <a:tr h="487048">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TW" sz="1800" b="1" dirty="0">
                          <a:solidFill>
                            <a:schemeClr val="tx1"/>
                          </a:solidFill>
                          <a:latin typeface="微軟正黑體" panose="020B0604030504040204" pitchFamily="34" charset="-120"/>
                          <a:ea typeface="微軟正黑體" panose="020B0604030504040204" pitchFamily="34" charset="-120"/>
                        </a:rPr>
                        <a:t>2026 Objectives</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tc gridSpan="2">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2026 Key Results</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extLst>
                  <a:ext uri="{0D108BD9-81ED-4DB2-BD59-A6C34878D82A}">
                    <a16:rowId xmlns:a16="http://schemas.microsoft.com/office/drawing/2014/main" val="1522600921"/>
                  </a:ext>
                </a:extLst>
              </a:tr>
              <a:tr h="482888">
                <a:tc rowSpan="3">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O4</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marL="0" marR="0" lvl="0" indent="0" algn="l" defTabSz="914400" rtl="0" eaLnBrk="1" fontAlgn="auto" latinLnBrk="0" hangingPunct="1">
                        <a:lnSpc>
                          <a:spcPts val="13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打造旺客</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2.0</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資訊平台</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ct val="100000"/>
                        </a:lnSpc>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完成</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3</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份規格書</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p>
                      <a:pPr marL="0" algn="l" defTabSz="914400" rtl="0" eaLnBrk="1" latinLnBrk="0" hangingPunct="1">
                        <a:lnSpc>
                          <a:spcPct val="100000"/>
                        </a:lnSpc>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（資料交換平台規格書／完成主系統／官網規格書）</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8555103"/>
                  </a:ext>
                </a:extLst>
              </a:tr>
              <a:tr h="482888">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完成</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3</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個平台上線</a:t>
                      </a:r>
                      <a:endParaRPr lang="en-US" altLang="zh-TW" sz="1800" b="1" kern="1200" dirty="0">
                        <a:solidFill>
                          <a:schemeClr val="dk1"/>
                        </a:solidFill>
                        <a:latin typeface="微軟正黑體" panose="020B0604030504040204" pitchFamily="34" charset="-120"/>
                        <a:ea typeface="微軟正黑體" panose="020B0604030504040204" pitchFamily="34" charset="-120"/>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dk1"/>
                          </a:solidFill>
                          <a:latin typeface="微軟正黑體" panose="020B0604030504040204" pitchFamily="34" charset="-120"/>
                          <a:ea typeface="微軟正黑體" panose="020B0604030504040204" pitchFamily="34" charset="-120"/>
                          <a:cs typeface="+mn-cs"/>
                        </a:rPr>
                        <a:t>交換平台</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dk1"/>
                          </a:solidFill>
                          <a:latin typeface="微軟正黑體" panose="020B0604030504040204" pitchFamily="34" charset="-120"/>
                          <a:ea typeface="微軟正黑體" panose="020B0604030504040204" pitchFamily="34" charset="-120"/>
                          <a:cs typeface="+mn-cs"/>
                        </a:rPr>
                        <a:t>營運系統</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dk1"/>
                          </a:solidFill>
                          <a:latin typeface="微軟正黑體" panose="020B0604030504040204" pitchFamily="34" charset="-120"/>
                          <a:ea typeface="微軟正黑體" panose="020B0604030504040204" pitchFamily="34" charset="-120"/>
                          <a:cs typeface="+mn-cs"/>
                        </a:rPr>
                        <a:t>網站應用系統</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a:t>
                      </a:r>
                      <a:endParaRPr lang="en-US" altLang="zh-TW" sz="1600" b="1" kern="1200" dirty="0">
                        <a:solidFill>
                          <a:schemeClr val="dk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2888">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dk1"/>
                          </a:solidFill>
                          <a:latin typeface="微軟正黑體" panose="020B0604030504040204" pitchFamily="34" charset="-120"/>
                          <a:ea typeface="微軟正黑體" panose="020B0604030504040204" pitchFamily="34" charset="-120"/>
                          <a:cs typeface="+mn-cs"/>
                        </a:rPr>
                        <a:t>尋找異質系統策略合作：</a:t>
                      </a:r>
                      <a:r>
                        <a:rPr lang="en-US" altLang="zh-TW" sz="1800" b="1" kern="1200" dirty="0">
                          <a:solidFill>
                            <a:schemeClr val="dk1"/>
                          </a:solidFill>
                          <a:latin typeface="微軟正黑體" panose="020B0604030504040204" pitchFamily="34" charset="-120"/>
                          <a:ea typeface="微軟正黑體" panose="020B0604030504040204" pitchFamily="34" charset="-120"/>
                          <a:cs typeface="+mn-cs"/>
                        </a:rPr>
                        <a:t>1</a:t>
                      </a:r>
                      <a:r>
                        <a:rPr lang="zh-TW" altLang="en-US" sz="1800" b="1" kern="1200" dirty="0">
                          <a:solidFill>
                            <a:schemeClr val="dk1"/>
                          </a:solidFill>
                          <a:latin typeface="微軟正黑體" panose="020B0604030504040204" pitchFamily="34" charset="-120"/>
                          <a:ea typeface="微軟正黑體" panose="020B0604030504040204" pitchFamily="34" charset="-120"/>
                          <a:cs typeface="+mn-cs"/>
                        </a:rPr>
                        <a:t>家</a:t>
                      </a:r>
                      <a:endParaRPr lang="en-US" altLang="zh-TW" sz="1800" b="1" kern="1200" dirty="0">
                        <a:solidFill>
                          <a:schemeClr val="dk1"/>
                        </a:solidFill>
                        <a:latin typeface="微軟正黑體" panose="020B0604030504040204" pitchFamily="34" charset="-120"/>
                        <a:ea typeface="微軟正黑體" panose="020B0604030504040204" pitchFamily="34" charset="-120"/>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kern="1200" dirty="0">
                          <a:solidFill>
                            <a:schemeClr val="dk1"/>
                          </a:solidFill>
                          <a:latin typeface="微軟正黑體" panose="020B0604030504040204" pitchFamily="34" charset="-120"/>
                          <a:ea typeface="微軟正黑體" panose="020B0604030504040204" pitchFamily="34" charset="-120"/>
                          <a:cs typeface="+mn-cs"/>
                        </a:rPr>
                        <a:t>（營運系統或網站應用系統擇一）</a:t>
                      </a:r>
                      <a:endParaRPr lang="en-US" altLang="zh-TW" sz="1600" b="1" kern="1200" dirty="0">
                        <a:solidFill>
                          <a:schemeClr val="dk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6486647"/>
                  </a:ext>
                </a:extLst>
              </a:tr>
              <a:tr h="482888">
                <a:tc rowSpan="4">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O5</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9933"/>
                    </a:solidFill>
                  </a:tcPr>
                </a:tc>
                <a:tc rowSpan="4">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營運優化</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CC"/>
                    </a:solidFill>
                  </a:tcPr>
                </a:tc>
                <a:tc>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dk1"/>
                          </a:solidFill>
                          <a:latin typeface="微軟正黑體" panose="020B0604030504040204" pitchFamily="34" charset="-120"/>
                          <a:ea typeface="微軟正黑體" panose="020B0604030504040204" pitchFamily="34" charset="-120"/>
                          <a:cs typeface="+mn-cs"/>
                        </a:rPr>
                        <a:t>線上付款率：</a:t>
                      </a:r>
                      <a:r>
                        <a:rPr lang="en-US" altLang="zh-TW" sz="1800" b="1" kern="1200" dirty="0">
                          <a:solidFill>
                            <a:schemeClr val="dk1"/>
                          </a:solidFill>
                          <a:latin typeface="微軟正黑體" panose="020B0604030504040204" pitchFamily="34" charset="-120"/>
                          <a:ea typeface="微軟正黑體" panose="020B0604030504040204" pitchFamily="34" charset="-120"/>
                          <a:cs typeface="+mn-cs"/>
                        </a:rPr>
                        <a:t>40%</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dk1"/>
                          </a:solidFill>
                          <a:latin typeface="微軟正黑體" panose="020B0604030504040204" pitchFamily="34" charset="-120"/>
                          <a:ea typeface="微軟正黑體" panose="020B0604030504040204" pitchFamily="34" charset="-120"/>
                          <a:cs typeface="+mn-cs"/>
                        </a:rPr>
                        <a:t>與１家異質系統合作點數轉換</a:t>
                      </a:r>
                      <a:endParaRPr lang="en-US" altLang="zh-TW" sz="1800" b="1" kern="1200" dirty="0">
                        <a:solidFill>
                          <a:schemeClr val="dk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6565742"/>
                  </a:ext>
                </a:extLst>
              </a:tr>
              <a:tr h="482888">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制定連鎖加盟門市與培訓服務標準書１份</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82888">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培養儲備開發或門市店長或區督導至少２位</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82888">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KR4</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b="1" kern="1200" dirty="0">
                          <a:solidFill>
                            <a:schemeClr val="dk1"/>
                          </a:solidFill>
                          <a:latin typeface="微軟正黑體" panose="020B0604030504040204" pitchFamily="34" charset="-120"/>
                          <a:ea typeface="微軟正黑體" panose="020B0604030504040204" pitchFamily="34" charset="-120"/>
                          <a:cs typeface="+mn-cs"/>
                        </a:rPr>
                        <a:t>成立北三都分公司：１家</a:t>
                      </a:r>
                      <a:endParaRPr lang="en-US" altLang="zh-TW" sz="1800" b="1" kern="1200" dirty="0">
                        <a:solidFill>
                          <a:schemeClr val="dk1"/>
                        </a:solidFill>
                        <a:latin typeface="微軟正黑體" panose="020B0604030504040204" pitchFamily="34" charset="-120"/>
                        <a:ea typeface="微軟正黑體" panose="020B0604030504040204" pitchFamily="34" charset="-120"/>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kern="1200" dirty="0">
                          <a:solidFill>
                            <a:schemeClr val="dk1"/>
                          </a:solidFill>
                          <a:latin typeface="微軟正黑體" panose="020B0604030504040204" pitchFamily="34" charset="-120"/>
                          <a:ea typeface="微軟正黑體" panose="020B0604030504040204" pitchFamily="34" charset="-120"/>
                          <a:cs typeface="+mn-cs"/>
                        </a:rPr>
                        <a:t>（統籌合作與委外各項事務）</a:t>
                      </a:r>
                      <a:endParaRPr lang="en-US" altLang="zh-TW" sz="1600" b="1" kern="1200" dirty="0">
                        <a:solidFill>
                          <a:schemeClr val="dk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0641237"/>
                  </a:ext>
                </a:extLst>
              </a:tr>
            </a:tbl>
          </a:graphicData>
        </a:graphic>
      </p:graphicFrame>
    </p:spTree>
    <p:extLst>
      <p:ext uri="{BB962C8B-B14F-4D97-AF65-F5344CB8AC3E}">
        <p14:creationId xmlns:p14="http://schemas.microsoft.com/office/powerpoint/2010/main" val="467151870"/>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698C3-04AC-DBAE-8B06-3BF001EBE376}"/>
            </a:ext>
          </a:extLst>
        </p:cNvPr>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A82FAF25-D5D8-DFC2-EC0A-FAD93BF5FC26}"/>
              </a:ext>
            </a:extLst>
          </p:cNvPr>
          <p:cNvSpPr txBox="1">
            <a:spLocks/>
          </p:cNvSpPr>
          <p:nvPr/>
        </p:nvSpPr>
        <p:spPr>
          <a:xfrm>
            <a:off x="191344" y="444844"/>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a:t>
            </a:r>
            <a:r>
              <a:rPr lang="en-US" altLang="zh-TW" sz="2800" b="1" dirty="0">
                <a:solidFill>
                  <a:schemeClr val="tx1"/>
                </a:solidFill>
              </a:rPr>
              <a:t>、2026年度OKR展望-3  AP</a:t>
            </a:r>
            <a:r>
              <a:rPr lang="zh-TW" altLang="en-US" sz="2800" b="1" dirty="0">
                <a:solidFill>
                  <a:schemeClr val="tx1"/>
                </a:solidFill>
              </a:rPr>
              <a:t>展開</a:t>
            </a:r>
            <a:endParaRPr lang="en-US" altLang="zh-TW" sz="2800" b="1" dirty="0">
              <a:solidFill>
                <a:schemeClr val="tx1"/>
              </a:solidFill>
            </a:endParaRPr>
          </a:p>
        </p:txBody>
      </p:sp>
      <p:graphicFrame>
        <p:nvGraphicFramePr>
          <p:cNvPr id="3" name="表格 2">
            <a:extLst>
              <a:ext uri="{FF2B5EF4-FFF2-40B4-BE49-F238E27FC236}">
                <a16:creationId xmlns:a16="http://schemas.microsoft.com/office/drawing/2014/main" id="{69D0ECE8-4D96-C5F8-757C-ECDE6C5644D3}"/>
              </a:ext>
            </a:extLst>
          </p:cNvPr>
          <p:cNvGraphicFramePr>
            <a:graphicFrameLocks noGrp="1"/>
          </p:cNvGraphicFramePr>
          <p:nvPr/>
        </p:nvGraphicFramePr>
        <p:xfrm>
          <a:off x="1718368" y="1196753"/>
          <a:ext cx="8816198" cy="4860561"/>
        </p:xfrm>
        <a:graphic>
          <a:graphicData uri="http://schemas.openxmlformats.org/drawingml/2006/table">
            <a:tbl>
              <a:tblPr firstRow="1" bandRow="1"/>
              <a:tblGrid>
                <a:gridCol w="479258">
                  <a:extLst>
                    <a:ext uri="{9D8B030D-6E8A-4147-A177-3AD203B41FA5}">
                      <a16:colId xmlns:a16="http://schemas.microsoft.com/office/drawing/2014/main" val="20000"/>
                    </a:ext>
                  </a:extLst>
                </a:gridCol>
                <a:gridCol w="2411298">
                  <a:extLst>
                    <a:ext uri="{9D8B030D-6E8A-4147-A177-3AD203B41FA5}">
                      <a16:colId xmlns:a16="http://schemas.microsoft.com/office/drawing/2014/main" val="20001"/>
                    </a:ext>
                  </a:extLst>
                </a:gridCol>
                <a:gridCol w="2673765">
                  <a:extLst>
                    <a:ext uri="{9D8B030D-6E8A-4147-A177-3AD203B41FA5}">
                      <a16:colId xmlns:a16="http://schemas.microsoft.com/office/drawing/2014/main" val="20002"/>
                    </a:ext>
                  </a:extLst>
                </a:gridCol>
                <a:gridCol w="3251877">
                  <a:extLst>
                    <a:ext uri="{9D8B030D-6E8A-4147-A177-3AD203B41FA5}">
                      <a16:colId xmlns:a16="http://schemas.microsoft.com/office/drawing/2014/main" val="20003"/>
                    </a:ext>
                  </a:extLst>
                </a:gridCol>
              </a:tblGrid>
              <a:tr h="339077">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ts val="2000"/>
                        </a:lnSpc>
                      </a:pPr>
                      <a:endParaRPr lang="zh-TW" altLang="en-US" sz="1400" b="0" dirty="0">
                        <a:latin typeface="微軟正黑體" panose="020B0604030504040204" pitchFamily="34" charset="-120"/>
                        <a:ea typeface="微軟正黑體" panose="020B0604030504040204" pitchFamily="34" charset="-120"/>
                      </a:endParaRPr>
                    </a:p>
                  </a:txBody>
                  <a:tcPr marT="41564" marB="41564">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ts val="2000"/>
                        </a:lnSpc>
                      </a:pPr>
                      <a:r>
                        <a:rPr lang="en-US" altLang="zh-TW" sz="1600" b="0" dirty="0">
                          <a:solidFill>
                            <a:schemeClr val="tx1"/>
                          </a:solidFill>
                          <a:latin typeface="微軟正黑體" panose="020B0604030504040204" pitchFamily="34" charset="-120"/>
                          <a:ea typeface="微軟正黑體" panose="020B0604030504040204" pitchFamily="34" charset="-120"/>
                        </a:rPr>
                        <a:t>O-KR</a:t>
                      </a:r>
                      <a:endParaRPr lang="zh-TW" altLang="en-US" sz="1600" b="0" dirty="0">
                        <a:solidFill>
                          <a:schemeClr val="tx1"/>
                        </a:solidFill>
                        <a:latin typeface="微軟正黑體" panose="020B0604030504040204" pitchFamily="34" charset="-120"/>
                        <a:ea typeface="微軟正黑體" panose="020B0604030504040204" pitchFamily="34" charset="-120"/>
                      </a:endParaRPr>
                    </a:p>
                  </a:txBody>
                  <a:tcPr marT="41564" marB="41564"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ts val="2000"/>
                        </a:lnSpc>
                      </a:pPr>
                      <a:r>
                        <a:rPr lang="en-US" altLang="zh-TW" sz="1600" b="0" dirty="0">
                          <a:solidFill>
                            <a:schemeClr val="tx1"/>
                          </a:solidFill>
                          <a:latin typeface="微軟正黑體" panose="020B0604030504040204" pitchFamily="34" charset="-120"/>
                          <a:ea typeface="微軟正黑體" panose="020B0604030504040204" pitchFamily="34" charset="-120"/>
                        </a:rPr>
                        <a:t>KSF</a:t>
                      </a:r>
                      <a:endParaRPr lang="zh-TW" altLang="en-US" sz="1600" b="0" dirty="0">
                        <a:solidFill>
                          <a:schemeClr val="tx1"/>
                        </a:solidFill>
                        <a:latin typeface="微軟正黑體" panose="020B0604030504040204" pitchFamily="34" charset="-120"/>
                        <a:ea typeface="微軟正黑體" panose="020B0604030504040204" pitchFamily="34" charset="-120"/>
                      </a:endParaRPr>
                    </a:p>
                  </a:txBody>
                  <a:tcPr marT="41564" marB="4156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ts val="2000"/>
                        </a:lnSpc>
                      </a:pPr>
                      <a:r>
                        <a:rPr lang="en-US" altLang="zh-TW" sz="1600" b="0" dirty="0">
                          <a:solidFill>
                            <a:schemeClr val="tx1"/>
                          </a:solidFill>
                          <a:latin typeface="微軟正黑體" panose="020B0604030504040204" pitchFamily="34" charset="-120"/>
                          <a:ea typeface="微軟正黑體" panose="020B0604030504040204" pitchFamily="34" charset="-120"/>
                        </a:rPr>
                        <a:t>AP</a:t>
                      </a:r>
                      <a:endParaRPr lang="zh-TW" altLang="en-US" sz="1600" b="0" dirty="0">
                        <a:solidFill>
                          <a:schemeClr val="tx1"/>
                        </a:solidFill>
                        <a:latin typeface="微軟正黑體" panose="020B0604030504040204" pitchFamily="34" charset="-120"/>
                        <a:ea typeface="微軟正黑體" panose="020B0604030504040204" pitchFamily="34" charset="-120"/>
                      </a:endParaRPr>
                    </a:p>
                  </a:txBody>
                  <a:tcPr marT="41564" marB="41564"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extLst>
                  <a:ext uri="{0D108BD9-81ED-4DB2-BD59-A6C34878D82A}">
                    <a16:rowId xmlns:a16="http://schemas.microsoft.com/office/drawing/2014/main" val="10000"/>
                  </a:ext>
                </a:extLst>
              </a:tr>
              <a:tr h="1533131">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ts val="2000"/>
                        </a:lnSpc>
                      </a:pPr>
                      <a:r>
                        <a:rPr lang="en-US" altLang="zh-TW" sz="1600" b="0" dirty="0">
                          <a:latin typeface="微軟正黑體" panose="020B0604030504040204" pitchFamily="34" charset="-120"/>
                          <a:ea typeface="微軟正黑體" panose="020B0604030504040204" pitchFamily="34" charset="-120"/>
                        </a:rPr>
                        <a:t>1</a:t>
                      </a:r>
                      <a:endParaRPr lang="zh-TW" altLang="en-US" sz="1600" b="0" dirty="0">
                        <a:latin typeface="微軟正黑體" panose="020B0604030504040204" pitchFamily="34" charset="-120"/>
                        <a:ea typeface="微軟正黑體" panose="020B0604030504040204" pitchFamily="34" charset="-120"/>
                      </a:endParaRPr>
                    </a:p>
                  </a:txBody>
                  <a:tcPr marT="41564" marB="41564"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latin typeface="微軟正黑體" panose="020B0604030504040204" pitchFamily="34" charset="-120"/>
                          <a:ea typeface="微軟正黑體" panose="020B0604030504040204" pitchFamily="34" charset="-120"/>
                        </a:rPr>
                        <a:t>O1-KR3</a:t>
                      </a:r>
                      <a:r>
                        <a:rPr lang="zh-TW" altLang="en-US" sz="1400" b="0" dirty="0">
                          <a:latin typeface="微軟正黑體" panose="020B0604030504040204" pitchFamily="34" charset="-120"/>
                          <a:ea typeface="微軟正黑體" panose="020B0604030504040204" pitchFamily="34" charset="-120"/>
                          <a:sym typeface="Wingdings" pitchFamily="2" charset="2"/>
                        </a:rPr>
                        <a:t>：</a:t>
                      </a:r>
                      <a:endParaRPr lang="en-US" altLang="zh-TW" sz="1400" b="0" dirty="0">
                        <a:latin typeface="微軟正黑體" panose="020B0604030504040204" pitchFamily="34" charset="-120"/>
                        <a:ea typeface="微軟正黑體" panose="020B0604030504040204" pitchFamily="34" charset="-120"/>
                        <a:sym typeface="Wingdings" pitchFamily="2" charset="2"/>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dirty="0">
                          <a:latin typeface="微軟正黑體" panose="020B0604030504040204" pitchFamily="34" charset="-120"/>
                          <a:ea typeface="微軟正黑體" panose="020B0604030504040204" pitchFamily="34" charset="-120"/>
                        </a:rPr>
                        <a:t>安心用氣安檢（舊用戶）：</a:t>
                      </a:r>
                      <a:r>
                        <a:rPr lang="en-US" altLang="zh-TW" sz="1400" b="0" dirty="0">
                          <a:latin typeface="微軟正黑體" panose="020B0604030504040204" pitchFamily="34" charset="-120"/>
                          <a:ea typeface="微軟正黑體" panose="020B0604030504040204" pitchFamily="34" charset="-120"/>
                        </a:rPr>
                        <a:t>26</a:t>
                      </a:r>
                      <a:r>
                        <a:rPr lang="en-US" altLang="zh-TW" sz="1400" b="0" dirty="0">
                          <a:solidFill>
                            <a:schemeClr val="tx1"/>
                          </a:solidFill>
                          <a:latin typeface="微軟正黑體" panose="020B0604030504040204" pitchFamily="34" charset="-120"/>
                          <a:ea typeface="微軟正黑體" panose="020B0604030504040204" pitchFamily="34" charset="-120"/>
                        </a:rPr>
                        <a:t>0</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萬</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元</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T="41564" marB="41564"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鎖定高風險舊用戶</a:t>
                      </a:r>
                    </a:p>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安檢項目與收費標準化</a:t>
                      </a:r>
                    </a:p>
                  </a:txBody>
                  <a:tcPr marT="41564" marB="4156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1.1.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建立舊用戶風險分級名單</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1.2.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設定安檢目標戶數與完成率</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2.1.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建立對應收費與說明論述</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2.2.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安檢紀錄與報價文件制式化</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2.3.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建立安檢後續轉換追蹤機制</a:t>
                      </a:r>
                    </a:p>
                  </a:txBody>
                  <a:tcPr marT="41564" marB="41564"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144016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ts val="2000"/>
                        </a:lnSpc>
                      </a:pPr>
                      <a:r>
                        <a:rPr lang="en-US" altLang="zh-TW" sz="1600" b="0" dirty="0">
                          <a:latin typeface="微軟正黑體" panose="020B0604030504040204" pitchFamily="34" charset="-120"/>
                          <a:ea typeface="微軟正黑體" panose="020B0604030504040204" pitchFamily="34" charset="-120"/>
                        </a:rPr>
                        <a:t>2</a:t>
                      </a:r>
                      <a:endParaRPr lang="zh-TW" altLang="en-US" sz="1600" b="0" dirty="0">
                        <a:latin typeface="微軟正黑體" panose="020B0604030504040204" pitchFamily="34" charset="-120"/>
                        <a:ea typeface="微軟正黑體" panose="020B0604030504040204" pitchFamily="34" charset="-120"/>
                      </a:endParaRPr>
                    </a:p>
                  </a:txBody>
                  <a:tcPr marT="41564" marB="41564"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latin typeface="微軟正黑體" panose="020B0604030504040204" pitchFamily="34" charset="-120"/>
                          <a:ea typeface="微軟正黑體" panose="020B0604030504040204" pitchFamily="34" charset="-120"/>
                        </a:rPr>
                        <a:t>O1-KR4：</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舊會員解約 </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&lt;</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 </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1,000</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名用戶</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T="41564" marB="41564"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：清楚掌握解約原因</a:t>
                      </a:r>
                      <a:endParaRPr lang="zh-TW" altLang="en-US" sz="1200" b="0" kern="1200" dirty="0">
                        <a:solidFill>
                          <a:schemeClr val="dk1"/>
                        </a:solidFill>
                        <a:latin typeface="微軟正黑體" panose="020B0604030504040204" pitchFamily="34" charset="-120"/>
                        <a:ea typeface="微軟正黑體" panose="020B0604030504040204" pitchFamily="34" charset="-120"/>
                        <a:cs typeface="+mn-cs"/>
                      </a:endParaRPr>
                    </a:p>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：解約前提供替代方案</a:t>
                      </a:r>
                      <a:endParaRPr lang="zh-TW" altLang="en-US" sz="1200" b="0" dirty="0">
                        <a:latin typeface="微軟正黑體" panose="020B0604030504040204" pitchFamily="34" charset="-120"/>
                        <a:ea typeface="微軟正黑體" panose="020B0604030504040204" pitchFamily="34" charset="-120"/>
                      </a:endParaRPr>
                    </a:p>
                  </a:txBody>
                  <a:tcPr marT="41564" marB="4156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1.1.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建立解約原因固定分類</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1.2.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每月彙整解約數與主要原因，</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作為改善依據</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2.1.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解約來電先說明可行替代方案</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2.2.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成功案件納入追蹤與統計</a:t>
                      </a:r>
                      <a:endPar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T="41564" marB="41564"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15481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ts val="2000"/>
                        </a:lnSpc>
                      </a:pPr>
                      <a:r>
                        <a:rPr lang="en-US" altLang="zh-TW" sz="1600" b="0" dirty="0">
                          <a:latin typeface="微軟正黑體" panose="020B0604030504040204" pitchFamily="34" charset="-120"/>
                          <a:ea typeface="微軟正黑體" panose="020B0604030504040204" pitchFamily="34" charset="-120"/>
                        </a:rPr>
                        <a:t>3</a:t>
                      </a:r>
                      <a:endParaRPr lang="zh-TW" altLang="en-US" sz="1600" b="0" dirty="0">
                        <a:latin typeface="微軟正黑體" panose="020B0604030504040204" pitchFamily="34" charset="-120"/>
                        <a:ea typeface="微軟正黑體" panose="020B0604030504040204" pitchFamily="34" charset="-120"/>
                      </a:endParaRPr>
                    </a:p>
                  </a:txBody>
                  <a:tcPr marT="41564" marB="41564"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latin typeface="微軟正黑體" panose="020B0604030504040204" pitchFamily="34" charset="-120"/>
                          <a:ea typeface="微軟正黑體" panose="020B0604030504040204" pitchFamily="34" charset="-120"/>
                        </a:rPr>
                        <a:t>O2-KR3：</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dirty="0">
                          <a:solidFill>
                            <a:schemeClr val="tx1"/>
                          </a:solidFill>
                          <a:latin typeface="微軟正黑體" panose="020B0604030504040204" pitchFamily="34" charset="-120"/>
                          <a:ea typeface="微軟正黑體" panose="020B0604030504040204" pitchFamily="34" charset="-120"/>
                        </a:rPr>
                        <a:t>全國電子目標：</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A</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級店</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40</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家（每店</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2</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位</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月）</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T="41564" marB="41564"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：門市人員轉介機制</a:t>
                      </a:r>
                      <a:endParaRPr lang="zh-TW" altLang="en-US" sz="1200" b="0" kern="1200" dirty="0">
                        <a:solidFill>
                          <a:schemeClr val="dk1"/>
                        </a:solidFill>
                        <a:latin typeface="微軟正黑體" panose="020B0604030504040204" pitchFamily="34" charset="-120"/>
                        <a:ea typeface="微軟正黑體" panose="020B0604030504040204" pitchFamily="34" charset="-120"/>
                        <a:cs typeface="+mn-cs"/>
                      </a:endParaRPr>
                    </a:p>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：成效回饋與門市激勵到位</a:t>
                      </a:r>
                      <a:endParaRPr lang="zh-TW" altLang="en-US" sz="1200" b="0" dirty="0">
                        <a:latin typeface="微軟正黑體" panose="020B0604030504040204" pitchFamily="34" charset="-120"/>
                        <a:ea typeface="微軟正黑體" panose="020B0604030504040204" pitchFamily="34" charset="-120"/>
                      </a:endParaRPr>
                    </a:p>
                  </a:txBody>
                  <a:tcPr marT="41564" marB="4156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：設計轉介流程</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：提供獎勵或曝光方式</a:t>
                      </a:r>
                      <a:endPar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T="41564" marB="41564"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75015362"/>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31BA1-0E77-89BA-41FA-D65D31DEF438}"/>
            </a:ext>
          </a:extLst>
        </p:cNvPr>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ECF9AC42-12EF-2F91-4642-52A089462AED}"/>
              </a:ext>
            </a:extLst>
          </p:cNvPr>
          <p:cNvSpPr txBox="1">
            <a:spLocks/>
          </p:cNvSpPr>
          <p:nvPr/>
        </p:nvSpPr>
        <p:spPr>
          <a:xfrm>
            <a:off x="124691" y="490364"/>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a:t>
            </a:r>
            <a:r>
              <a:rPr lang="en-US" altLang="zh-TW" sz="2800" b="1" dirty="0">
                <a:solidFill>
                  <a:schemeClr val="tx1"/>
                </a:solidFill>
              </a:rPr>
              <a:t>、2026年度OKR展望-3  AP</a:t>
            </a:r>
            <a:r>
              <a:rPr lang="zh-TW" altLang="en-US" sz="2800" b="1" dirty="0">
                <a:solidFill>
                  <a:schemeClr val="tx1"/>
                </a:solidFill>
              </a:rPr>
              <a:t>展開</a:t>
            </a:r>
            <a:endParaRPr lang="en-US" altLang="zh-TW" sz="2800" b="1" dirty="0">
              <a:solidFill>
                <a:schemeClr val="tx1"/>
              </a:solidFill>
            </a:endParaRPr>
          </a:p>
        </p:txBody>
      </p:sp>
      <p:graphicFrame>
        <p:nvGraphicFramePr>
          <p:cNvPr id="2" name="表格 1">
            <a:extLst>
              <a:ext uri="{FF2B5EF4-FFF2-40B4-BE49-F238E27FC236}">
                <a16:creationId xmlns:a16="http://schemas.microsoft.com/office/drawing/2014/main" id="{4409FF80-827D-098D-D25A-E21D57F3DCA6}"/>
              </a:ext>
            </a:extLst>
          </p:cNvPr>
          <p:cNvGraphicFramePr>
            <a:graphicFrameLocks noGrp="1"/>
          </p:cNvGraphicFramePr>
          <p:nvPr/>
        </p:nvGraphicFramePr>
        <p:xfrm>
          <a:off x="1703512" y="1124744"/>
          <a:ext cx="8784978" cy="4968552"/>
        </p:xfrm>
        <a:graphic>
          <a:graphicData uri="http://schemas.openxmlformats.org/drawingml/2006/table">
            <a:tbl>
              <a:tblPr firstRow="1" bandRow="1"/>
              <a:tblGrid>
                <a:gridCol w="477561">
                  <a:extLst>
                    <a:ext uri="{9D8B030D-6E8A-4147-A177-3AD203B41FA5}">
                      <a16:colId xmlns:a16="http://schemas.microsoft.com/office/drawing/2014/main" val="20000"/>
                    </a:ext>
                  </a:extLst>
                </a:gridCol>
                <a:gridCol w="2474767">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3384378">
                  <a:extLst>
                    <a:ext uri="{9D8B030D-6E8A-4147-A177-3AD203B41FA5}">
                      <a16:colId xmlns:a16="http://schemas.microsoft.com/office/drawing/2014/main" val="20003"/>
                    </a:ext>
                  </a:extLst>
                </a:gridCol>
              </a:tblGrid>
              <a:tr h="441732">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ts val="1600"/>
                        </a:lnSpc>
                      </a:pPr>
                      <a:endParaRPr lang="zh-TW" altLang="en-US" sz="1600" b="0" dirty="0">
                        <a:latin typeface="微軟正黑體" panose="020B0604030504040204" pitchFamily="34" charset="-120"/>
                        <a:ea typeface="微軟正黑體" panose="020B0604030504040204" pitchFamily="34" charset="-120"/>
                      </a:endParaRPr>
                    </a:p>
                  </a:txBody>
                  <a:tcP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ts val="1600"/>
                        </a:lnSpc>
                      </a:pPr>
                      <a:r>
                        <a:rPr lang="en-US" altLang="zh-TW" sz="1600" b="0" dirty="0">
                          <a:solidFill>
                            <a:schemeClr val="tx1"/>
                          </a:solidFill>
                          <a:latin typeface="微軟正黑體" panose="020B0604030504040204" pitchFamily="34" charset="-120"/>
                          <a:ea typeface="微軟正黑體" panose="020B0604030504040204" pitchFamily="34" charset="-120"/>
                        </a:rPr>
                        <a:t>O-KR</a:t>
                      </a:r>
                      <a:endParaRPr lang="zh-TW" altLang="en-US" sz="1600" b="0" dirty="0">
                        <a:solidFill>
                          <a:schemeClr val="tx1"/>
                        </a:solidFill>
                        <a:latin typeface="微軟正黑體" panose="020B0604030504040204" pitchFamily="34" charset="-120"/>
                        <a:ea typeface="微軟正黑體" panose="020B0604030504040204" pitchFamily="34" charset="-120"/>
                      </a:endParaRPr>
                    </a:p>
                  </a:txBody>
                  <a:tcPr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ts val="1600"/>
                        </a:lnSpc>
                      </a:pPr>
                      <a:r>
                        <a:rPr lang="en-US" altLang="zh-TW" sz="1600" b="0" dirty="0">
                          <a:solidFill>
                            <a:schemeClr val="tx1"/>
                          </a:solidFill>
                          <a:latin typeface="微軟正黑體" panose="020B0604030504040204" pitchFamily="34" charset="-120"/>
                          <a:ea typeface="微軟正黑體" panose="020B0604030504040204" pitchFamily="34" charset="-120"/>
                        </a:rPr>
                        <a:t>KSF</a:t>
                      </a:r>
                      <a:endParaRPr lang="zh-TW" altLang="en-US" sz="1600" b="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ts val="1600"/>
                        </a:lnSpc>
                      </a:pPr>
                      <a:r>
                        <a:rPr lang="en-US" altLang="zh-TW" sz="1600" b="0" dirty="0">
                          <a:solidFill>
                            <a:schemeClr val="tx1"/>
                          </a:solidFill>
                          <a:latin typeface="微軟正黑體" panose="020B0604030504040204" pitchFamily="34" charset="-120"/>
                          <a:ea typeface="微軟正黑體" panose="020B0604030504040204" pitchFamily="34" charset="-120"/>
                        </a:rPr>
                        <a:t>AP</a:t>
                      </a:r>
                      <a:endParaRPr lang="zh-TW" altLang="en-US" sz="1600" b="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extLst>
                  <a:ext uri="{0D108BD9-81ED-4DB2-BD59-A6C34878D82A}">
                    <a16:rowId xmlns:a16="http://schemas.microsoft.com/office/drawing/2014/main" val="10000"/>
                  </a:ext>
                </a:extLst>
              </a:tr>
              <a:tr h="1550310">
                <a:tc>
                  <a:txBody>
                    <a:bodyPr/>
                    <a:lstStyle/>
                    <a:p>
                      <a:pPr algn="ctr">
                        <a:lnSpc>
                          <a:spcPts val="1600"/>
                        </a:lnSpc>
                      </a:pPr>
                      <a:r>
                        <a:rPr lang="zh-TW" altLang="en-US" sz="1600" b="0" dirty="0">
                          <a:latin typeface="微軟正黑體" panose="020B0604030504040204" pitchFamily="34" charset="-120"/>
                          <a:ea typeface="微軟正黑體" panose="020B0604030504040204" pitchFamily="34" charset="-120"/>
                        </a:rPr>
                        <a:t>４</a:t>
                      </a:r>
                    </a:p>
                  </a:txBody>
                  <a:tcPr marT="41564" marB="41564"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latin typeface="微軟正黑體" panose="020B0604030504040204" pitchFamily="34" charset="-120"/>
                          <a:ea typeface="微軟正黑體" panose="020B0604030504040204" pitchFamily="34" charset="-120"/>
                        </a:rPr>
                        <a:t>O2-KR4</a:t>
                      </a:r>
                      <a:r>
                        <a:rPr lang="zh-TW" altLang="en-US" sz="1400" b="0" dirty="0">
                          <a:latin typeface="微軟正黑體" panose="020B0604030504040204" pitchFamily="34" charset="-120"/>
                          <a:ea typeface="微軟正黑體" panose="020B0604030504040204" pitchFamily="34" charset="-120"/>
                        </a:rPr>
                        <a:t>：</a:t>
                      </a:r>
                      <a:endParaRPr lang="en-US" altLang="zh-TW" sz="1400" b="0"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大型量販</a:t>
                      </a:r>
                      <a:r>
                        <a:rPr lang="zh-TW" altLang="en-US" sz="1400" b="0" dirty="0">
                          <a:solidFill>
                            <a:schemeClr val="tx1"/>
                          </a:solidFill>
                          <a:latin typeface="微軟正黑體" panose="020B0604030504040204" pitchFamily="34" charset="-120"/>
                          <a:ea typeface="微軟正黑體" panose="020B0604030504040204" pitchFamily="34" charset="-120"/>
                        </a:rPr>
                        <a:t>目標：</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A</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級店</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4</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家</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（每店</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20</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位</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月）</a:t>
                      </a:r>
                    </a:p>
                  </a:txBody>
                  <a:tcPr marT="41564" marB="41564"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spcBef>
                          <a:spcPts val="0"/>
                        </a:spcBef>
                        <a:spcAft>
                          <a:spcPts val="0"/>
                        </a:spcAft>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：高潛力 </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A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級量販精準選店</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endParaRPr>
                    </a:p>
                    <a:p>
                      <a:pPr>
                        <a:lnSpc>
                          <a:spcPts val="2000"/>
                        </a:lnSpc>
                        <a:spcBef>
                          <a:spcPts val="0"/>
                        </a:spcBef>
                        <a:spcAft>
                          <a:spcPts val="0"/>
                        </a:spcAft>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：現場曝光與轉介動線到位</a:t>
                      </a:r>
                      <a:endParaRPr lang="zh-TW" altLang="en-US" sz="1200" b="0" kern="1200" dirty="0">
                        <a:solidFill>
                          <a:schemeClr val="dk1"/>
                        </a:solidFill>
                        <a:latin typeface="微軟正黑體" panose="020B0604030504040204" pitchFamily="34" charset="-120"/>
                        <a:ea typeface="微軟正黑體" panose="020B0604030504040204" pitchFamily="34" charset="-120"/>
                        <a:cs typeface="+mn-cs"/>
                      </a:endParaRPr>
                    </a:p>
                    <a:p>
                      <a:pPr>
                        <a:lnSpc>
                          <a:spcPts val="2000"/>
                        </a:lnSpc>
                        <a:spcBef>
                          <a:spcPts val="0"/>
                        </a:spcBef>
                        <a:spcAft>
                          <a:spcPts val="0"/>
                        </a:spcAft>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3</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：量販合作激勵與成效追蹤</a:t>
                      </a:r>
                      <a:endParaRPr lang="zh-TW" altLang="en-US" sz="1200" b="0" dirty="0">
                        <a:latin typeface="微軟正黑體" panose="020B0604030504040204" pitchFamily="34" charset="-120"/>
                        <a:ea typeface="微軟正黑體" panose="020B0604030504040204" pitchFamily="34" charset="-120"/>
                      </a:endParaRPr>
                    </a:p>
                  </a:txBody>
                  <a:tcPr marT="41564" marB="4156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1.1.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訂定 </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級量販條件</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1.2.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確認量販方 </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4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家優先合作門市</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2.1.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設置固定曝光點</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2.2.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提供清楚易懂的轉介方式</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AP3</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3.1.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達標門市給予合作加碼或宣傳資源     </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3.2.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未達標門市即時調整曝光或轉</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介方式</a:t>
                      </a:r>
                      <a:endPar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T="41564" marB="41564"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774377097"/>
                  </a:ext>
                </a:extLst>
              </a:tr>
              <a:tr h="915915">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ts val="1600"/>
                        </a:lnSpc>
                      </a:pPr>
                      <a:r>
                        <a:rPr lang="en-US" altLang="zh-TW" sz="1600" b="0" dirty="0">
                          <a:latin typeface="微軟正黑體" panose="020B0604030504040204" pitchFamily="34" charset="-120"/>
                          <a:ea typeface="微軟正黑體" panose="020B0604030504040204" pitchFamily="34" charset="-120"/>
                        </a:rPr>
                        <a:t>5</a:t>
                      </a:r>
                      <a:endParaRPr lang="zh-TW" altLang="en-US" sz="1600" b="0" dirty="0">
                        <a:latin typeface="微軟正黑體" panose="020B0604030504040204" pitchFamily="34" charset="-120"/>
                        <a:ea typeface="微軟正黑體" panose="020B0604030504040204" pitchFamily="34" charset="-120"/>
                      </a:endParaRPr>
                    </a:p>
                  </a:txBody>
                  <a:tcPr marT="41564" marB="41564"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latin typeface="微軟正黑體" panose="020B0604030504040204" pitchFamily="34" charset="-120"/>
                          <a:ea typeface="微軟正黑體" panose="020B0604030504040204" pitchFamily="34" charset="-120"/>
                        </a:rPr>
                        <a:t>O3-KR3</a:t>
                      </a:r>
                      <a:r>
                        <a:rPr lang="zh-TW" altLang="en-US" sz="1400" b="0" dirty="0">
                          <a:latin typeface="微軟正黑體" panose="020B0604030504040204" pitchFamily="34" charset="-120"/>
                          <a:ea typeface="微軟正黑體" panose="020B0604030504040204" pitchFamily="34" charset="-120"/>
                        </a:rPr>
                        <a:t>：</a:t>
                      </a:r>
                      <a:endParaRPr lang="en-US" altLang="zh-TW" sz="1400" b="0"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同業加盟台中：</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5</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家／</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桃園、新北：</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4</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家</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T="41564" marB="41564"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spcBef>
                          <a:spcPts val="0"/>
                        </a:spcBef>
                        <a:spcAft>
                          <a:spcPts val="0"/>
                        </a:spcAft>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：合作模組標準化可複製</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endParaRPr>
                    </a:p>
                    <a:p>
                      <a:pPr>
                        <a:lnSpc>
                          <a:spcPts val="2000"/>
                        </a:lnSpc>
                        <a:spcBef>
                          <a:spcPts val="0"/>
                        </a:spcBef>
                        <a:spcAft>
                          <a:spcPts val="0"/>
                        </a:spcAft>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：簽約推進節奏與落地交付</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endParaRPr>
                    </a:p>
                  </a:txBody>
                  <a:tcPr marT="41564" marB="41564"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1.1.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設定加盟門檻</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1.2.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建立三區「優先名單＋備援名單」</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：統一三套合作模式及標準作業</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（純加盟／代灌氣分潤／智取櫃分潤）</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txBody>
                  <a:tcPr marT="41564" marB="41564"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525254363"/>
                  </a:ext>
                </a:extLst>
              </a:tr>
              <a:tr h="924565">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ts val="1600"/>
                        </a:lnSpc>
                      </a:pPr>
                      <a:r>
                        <a:rPr lang="en-US" altLang="zh-TW" sz="1600" b="0" dirty="0">
                          <a:latin typeface="微軟正黑體" panose="020B0604030504040204" pitchFamily="34" charset="-120"/>
                          <a:ea typeface="微軟正黑體" panose="020B0604030504040204" pitchFamily="34" charset="-120"/>
                        </a:rPr>
                        <a:t>6</a:t>
                      </a:r>
                      <a:endParaRPr lang="zh-TW" altLang="en-US" sz="1600" b="0" dirty="0">
                        <a:latin typeface="微軟正黑體" panose="020B0604030504040204" pitchFamily="34" charset="-120"/>
                        <a:ea typeface="微軟正黑體" panose="020B0604030504040204" pitchFamily="34" charset="-120"/>
                      </a:endParaRPr>
                    </a:p>
                  </a:txBody>
                  <a:tcPr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latin typeface="微軟正黑體" panose="020B0604030504040204" pitchFamily="34" charset="-120"/>
                          <a:ea typeface="微軟正黑體" panose="020B0604030504040204" pitchFamily="34" charset="-120"/>
                        </a:rPr>
                        <a:t>O3-KR4：</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同業潛在客戶：</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5</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家</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（台中：</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1</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家／桃園：</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4</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家）</a:t>
                      </a:r>
                    </a:p>
                  </a:txBody>
                  <a:tcPr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spcBef>
                          <a:spcPts val="0"/>
                        </a:spcBef>
                        <a:spcAft>
                          <a:spcPts val="0"/>
                        </a:spcAft>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：既有名單快速可行性確認</a:t>
                      </a:r>
                      <a:endParaRPr lang="zh-TW" altLang="en-US" sz="1200" b="0" dirty="0">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1.1.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首次會談即完成三項確認：</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可合作項目／合作模式／決策時程</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1.2.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明確標記可推進與不適合對象，集</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中資源於可成交名單</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46860731"/>
                  </a:ext>
                </a:extLst>
              </a:tr>
              <a:tr h="113603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ts val="1600"/>
                        </a:lnSpc>
                      </a:pPr>
                      <a:r>
                        <a:rPr lang="en-US" altLang="zh-TW" sz="1600" b="0" dirty="0">
                          <a:latin typeface="微軟正黑體" panose="020B0604030504040204" pitchFamily="34" charset="-120"/>
                          <a:ea typeface="微軟正黑體" panose="020B0604030504040204" pitchFamily="34" charset="-120"/>
                        </a:rPr>
                        <a:t>7</a:t>
                      </a:r>
                      <a:endParaRPr lang="zh-TW" altLang="en-US" sz="1600" b="0" dirty="0">
                        <a:latin typeface="微軟正黑體" panose="020B0604030504040204" pitchFamily="34" charset="-120"/>
                        <a:ea typeface="微軟正黑體" panose="020B0604030504040204" pitchFamily="34" charset="-120"/>
                      </a:endParaRPr>
                    </a:p>
                  </a:txBody>
                  <a:tcPr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latin typeface="微軟正黑體" panose="020B0604030504040204" pitchFamily="34" charset="-120"/>
                          <a:ea typeface="微軟正黑體" panose="020B0604030504040204" pitchFamily="34" charset="-120"/>
                        </a:rPr>
                        <a:t>O4-KR3</a:t>
                      </a:r>
                      <a:r>
                        <a:rPr lang="zh-TW" altLang="en-US" sz="1400" b="0" dirty="0">
                          <a:latin typeface="微軟正黑體" panose="020B0604030504040204" pitchFamily="34" charset="-120"/>
                          <a:ea typeface="微軟正黑體" panose="020B0604030504040204" pitchFamily="34" charset="-120"/>
                          <a:sym typeface="Wingdings" pitchFamily="2" charset="2"/>
                        </a:rPr>
                        <a:t>：</a:t>
                      </a:r>
                      <a:endParaRPr lang="en-US" altLang="zh-TW" sz="1400" b="0" dirty="0">
                        <a:latin typeface="微軟正黑體" panose="020B0604030504040204" pitchFamily="34" charset="-120"/>
                        <a:ea typeface="微軟正黑體" panose="020B0604030504040204" pitchFamily="34" charset="-120"/>
                        <a:sym typeface="Wingdings" pitchFamily="2" charset="2"/>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dirty="0">
                          <a:latin typeface="微軟正黑體" panose="020B0604030504040204" pitchFamily="34" charset="-120"/>
                          <a:ea typeface="微軟正黑體" panose="020B0604030504040204" pitchFamily="34" charset="-120"/>
                          <a:sym typeface="Wingdings" pitchFamily="2" charset="2"/>
                        </a:rPr>
                        <a:t>完成</a:t>
                      </a:r>
                      <a:r>
                        <a:rPr lang="en-US" altLang="zh-TW" sz="1400" b="0" dirty="0">
                          <a:latin typeface="微軟正黑體" panose="020B0604030504040204" pitchFamily="34" charset="-120"/>
                          <a:ea typeface="微軟正黑體" panose="020B0604030504040204" pitchFamily="34" charset="-120"/>
                          <a:sym typeface="Wingdings" pitchFamily="2" charset="2"/>
                        </a:rPr>
                        <a:t>3</a:t>
                      </a:r>
                      <a:r>
                        <a:rPr lang="zh-TW" altLang="en-US" sz="1400" b="0" dirty="0">
                          <a:latin typeface="微軟正黑體" panose="020B0604030504040204" pitchFamily="34" charset="-120"/>
                          <a:ea typeface="微軟正黑體" panose="020B0604030504040204" pitchFamily="34" charset="-120"/>
                          <a:sym typeface="Wingdings" pitchFamily="2" charset="2"/>
                        </a:rPr>
                        <a:t>個平台上線</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dirty="0">
                          <a:latin typeface="微軟正黑體" panose="020B0604030504040204" pitchFamily="34" charset="-120"/>
                          <a:ea typeface="微軟正黑體" panose="020B0604030504040204" pitchFamily="34" charset="-120"/>
                          <a:sym typeface="Wingdings" pitchFamily="2" charset="2"/>
                        </a:rPr>
                        <a:t>（交換平台／營運系統／</a:t>
                      </a:r>
                      <a:endParaRPr lang="en-US" altLang="zh-TW" sz="1400" b="0" dirty="0">
                        <a:latin typeface="微軟正黑體" panose="020B0604030504040204" pitchFamily="34" charset="-120"/>
                        <a:ea typeface="微軟正黑體" panose="020B0604030504040204" pitchFamily="34" charset="-120"/>
                        <a:sym typeface="Wingdings" pitchFamily="2" charset="2"/>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dirty="0">
                          <a:latin typeface="微軟正黑體" panose="020B0604030504040204" pitchFamily="34" charset="-120"/>
                          <a:ea typeface="微軟正黑體" panose="020B0604030504040204" pitchFamily="34" charset="-120"/>
                          <a:sym typeface="Wingdings" pitchFamily="2" charset="2"/>
                        </a:rPr>
                        <a:t>網站應用系統）</a:t>
                      </a:r>
                    </a:p>
                  </a:txBody>
                  <a:tcPr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spcBef>
                          <a:spcPts val="0"/>
                        </a:spcBef>
                        <a:spcAft>
                          <a:spcPts val="0"/>
                        </a:spcAft>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：上線範圍與功能明確</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：跨部門協作與時程控管</a:t>
                      </a:r>
                      <a:endParaRPr lang="zh-TW" altLang="en-US" sz="1200" b="0" kern="1200" dirty="0">
                        <a:solidFill>
                          <a:schemeClr val="dk1"/>
                        </a:solidFill>
                        <a:latin typeface="微軟正黑體" panose="020B0604030504040204" pitchFamily="34" charset="-120"/>
                        <a:ea typeface="微軟正黑體" panose="020B0604030504040204" pitchFamily="34" charset="-120"/>
                        <a:cs typeface="+mn-cs"/>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1.1.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明確定義三個平台的「必備功能清單」</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1.2.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上線標準以「可實際使用」為原則</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2.1.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指定每個平台的單一負責窗口</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2.2.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訂定里程碑與交付時間表</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16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2.3.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每週檢視進度，即時排除卡關</a:t>
                      </a:r>
                      <a:endParaRPr lang="zh-TW" altLang="en-US" sz="1200" b="0" dirty="0">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62864544"/>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EDB53-7D01-439E-9398-C68D9D40FA62}"/>
            </a:ext>
          </a:extLst>
        </p:cNvPr>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0F20251B-981C-BA16-FC2A-DAF7FCADA58D}"/>
              </a:ext>
            </a:extLst>
          </p:cNvPr>
          <p:cNvSpPr txBox="1">
            <a:spLocks/>
          </p:cNvSpPr>
          <p:nvPr/>
        </p:nvSpPr>
        <p:spPr>
          <a:xfrm>
            <a:off x="142200" y="490364"/>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a:t>
            </a:r>
            <a:r>
              <a:rPr lang="en-US" altLang="zh-TW" sz="2800" b="1" dirty="0">
                <a:solidFill>
                  <a:schemeClr val="tx1"/>
                </a:solidFill>
              </a:rPr>
              <a:t>、2026年度OKR展望-3  AP</a:t>
            </a:r>
            <a:r>
              <a:rPr lang="zh-TW" altLang="en-US" sz="2800" b="1" dirty="0">
                <a:solidFill>
                  <a:schemeClr val="tx1"/>
                </a:solidFill>
              </a:rPr>
              <a:t>展開</a:t>
            </a:r>
            <a:endParaRPr lang="en-US" altLang="zh-TW" sz="2800" b="1" dirty="0">
              <a:solidFill>
                <a:schemeClr val="tx1"/>
              </a:solidFill>
            </a:endParaRPr>
          </a:p>
        </p:txBody>
      </p:sp>
      <p:graphicFrame>
        <p:nvGraphicFramePr>
          <p:cNvPr id="2" name="表格 1">
            <a:extLst>
              <a:ext uri="{FF2B5EF4-FFF2-40B4-BE49-F238E27FC236}">
                <a16:creationId xmlns:a16="http://schemas.microsoft.com/office/drawing/2014/main" id="{C08CCCC5-9E20-72A6-0A3E-BA91EFD4BA06}"/>
              </a:ext>
            </a:extLst>
          </p:cNvPr>
          <p:cNvGraphicFramePr>
            <a:graphicFrameLocks noGrp="1"/>
          </p:cNvGraphicFramePr>
          <p:nvPr/>
        </p:nvGraphicFramePr>
        <p:xfrm>
          <a:off x="1703512" y="1196752"/>
          <a:ext cx="8686688" cy="4896544"/>
        </p:xfrm>
        <a:graphic>
          <a:graphicData uri="http://schemas.openxmlformats.org/drawingml/2006/table">
            <a:tbl>
              <a:tblPr firstRow="1" bandRow="1"/>
              <a:tblGrid>
                <a:gridCol w="477561">
                  <a:extLst>
                    <a:ext uri="{9D8B030D-6E8A-4147-A177-3AD203B41FA5}">
                      <a16:colId xmlns:a16="http://schemas.microsoft.com/office/drawing/2014/main" val="20000"/>
                    </a:ext>
                  </a:extLst>
                </a:gridCol>
                <a:gridCol w="2474767">
                  <a:extLst>
                    <a:ext uri="{9D8B030D-6E8A-4147-A177-3AD203B41FA5}">
                      <a16:colId xmlns:a16="http://schemas.microsoft.com/office/drawing/2014/main" val="20001"/>
                    </a:ext>
                  </a:extLst>
                </a:gridCol>
                <a:gridCol w="2566008">
                  <a:extLst>
                    <a:ext uri="{9D8B030D-6E8A-4147-A177-3AD203B41FA5}">
                      <a16:colId xmlns:a16="http://schemas.microsoft.com/office/drawing/2014/main" val="20002"/>
                    </a:ext>
                  </a:extLst>
                </a:gridCol>
                <a:gridCol w="3168352">
                  <a:extLst>
                    <a:ext uri="{9D8B030D-6E8A-4147-A177-3AD203B41FA5}">
                      <a16:colId xmlns:a16="http://schemas.microsoft.com/office/drawing/2014/main" val="20003"/>
                    </a:ext>
                  </a:extLst>
                </a:gridCol>
              </a:tblGrid>
              <a:tr h="56589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nSpc>
                          <a:spcPts val="1600"/>
                        </a:lnSpc>
                      </a:pPr>
                      <a:endParaRPr lang="zh-TW" altLang="en-US" sz="1400" b="0" dirty="0">
                        <a:latin typeface="微軟正黑體" panose="020B0604030504040204" pitchFamily="34" charset="-120"/>
                        <a:ea typeface="微軟正黑體" panose="020B0604030504040204" pitchFamily="34" charset="-120"/>
                      </a:endParaRPr>
                    </a:p>
                  </a:txBody>
                  <a:tcP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ts val="1600"/>
                        </a:lnSpc>
                      </a:pPr>
                      <a:r>
                        <a:rPr lang="en-US" altLang="zh-TW" sz="1600" b="0" dirty="0">
                          <a:solidFill>
                            <a:schemeClr val="tx1"/>
                          </a:solidFill>
                          <a:latin typeface="微軟正黑體" panose="020B0604030504040204" pitchFamily="34" charset="-120"/>
                          <a:ea typeface="微軟正黑體" panose="020B0604030504040204" pitchFamily="34" charset="-120"/>
                        </a:rPr>
                        <a:t>O-KR</a:t>
                      </a:r>
                      <a:endParaRPr lang="zh-TW" altLang="en-US" sz="1600" b="0" dirty="0">
                        <a:solidFill>
                          <a:schemeClr val="tx1"/>
                        </a:solidFill>
                        <a:latin typeface="微軟正黑體" panose="020B0604030504040204" pitchFamily="34" charset="-120"/>
                        <a:ea typeface="微軟正黑體" panose="020B0604030504040204" pitchFamily="34" charset="-120"/>
                      </a:endParaRPr>
                    </a:p>
                  </a:txBody>
                  <a:tcPr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ts val="1600"/>
                        </a:lnSpc>
                      </a:pPr>
                      <a:r>
                        <a:rPr lang="en-US" altLang="zh-TW" sz="1600" b="0" dirty="0">
                          <a:solidFill>
                            <a:schemeClr val="tx1"/>
                          </a:solidFill>
                          <a:latin typeface="微軟正黑體" panose="020B0604030504040204" pitchFamily="34" charset="-120"/>
                          <a:ea typeface="微軟正黑體" panose="020B0604030504040204" pitchFamily="34" charset="-120"/>
                        </a:rPr>
                        <a:t>KSF</a:t>
                      </a:r>
                      <a:endParaRPr lang="zh-TW" altLang="en-US" sz="1600" b="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lnSpc>
                          <a:spcPts val="1600"/>
                        </a:lnSpc>
                      </a:pPr>
                      <a:r>
                        <a:rPr lang="en-US" altLang="zh-TW" sz="1600" b="0" dirty="0">
                          <a:solidFill>
                            <a:schemeClr val="tx1"/>
                          </a:solidFill>
                          <a:latin typeface="微軟正黑體" panose="020B0604030504040204" pitchFamily="34" charset="-120"/>
                          <a:ea typeface="微軟正黑體" panose="020B0604030504040204" pitchFamily="34" charset="-120"/>
                        </a:rPr>
                        <a:t>AP</a:t>
                      </a:r>
                      <a:endParaRPr lang="zh-TW" altLang="en-US" sz="1600" b="0" dirty="0">
                        <a:solidFill>
                          <a:schemeClr val="tx1"/>
                        </a:solidFill>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extLst>
                  <a:ext uri="{0D108BD9-81ED-4DB2-BD59-A6C34878D82A}">
                    <a16:rowId xmlns:a16="http://schemas.microsoft.com/office/drawing/2014/main" val="10000"/>
                  </a:ext>
                </a:extLst>
              </a:tr>
              <a:tr h="1446118">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ts val="1600"/>
                        </a:lnSpc>
                      </a:pPr>
                      <a:r>
                        <a:rPr lang="en-US" altLang="zh-TW" sz="1600" b="0" dirty="0">
                          <a:latin typeface="微軟正黑體" panose="020B0604030504040204" pitchFamily="34" charset="-120"/>
                          <a:ea typeface="微軟正黑體" panose="020B0604030504040204" pitchFamily="34" charset="-120"/>
                        </a:rPr>
                        <a:t>8</a:t>
                      </a:r>
                      <a:endParaRPr lang="zh-TW" altLang="en-US" sz="1600" b="0" dirty="0">
                        <a:latin typeface="微軟正黑體" panose="020B0604030504040204" pitchFamily="34" charset="-120"/>
                        <a:ea typeface="微軟正黑體" panose="020B0604030504040204" pitchFamily="34" charset="-120"/>
                      </a:endParaRPr>
                    </a:p>
                  </a:txBody>
                  <a:tcPr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latin typeface="微軟正黑體" panose="020B0604030504040204" pitchFamily="34" charset="-120"/>
                          <a:ea typeface="微軟正黑體" panose="020B0604030504040204" pitchFamily="34" charset="-120"/>
                        </a:rPr>
                        <a:t>O4-KR4</a:t>
                      </a:r>
                      <a:r>
                        <a:rPr lang="zh-TW" altLang="en-US" sz="1400" b="0" dirty="0">
                          <a:latin typeface="微軟正黑體" panose="020B0604030504040204" pitchFamily="34" charset="-120"/>
                          <a:ea typeface="微軟正黑體" panose="020B0604030504040204" pitchFamily="34" charset="-120"/>
                          <a:sym typeface="Wingdings" pitchFamily="2" charset="2"/>
                        </a:rPr>
                        <a:t>：</a:t>
                      </a:r>
                      <a:endParaRPr lang="en-US" altLang="zh-TW" sz="1400" b="0" dirty="0">
                        <a:latin typeface="微軟正黑體" panose="020B0604030504040204" pitchFamily="34" charset="-120"/>
                        <a:ea typeface="微軟正黑體" panose="020B0604030504040204" pitchFamily="34" charset="-120"/>
                        <a:sym typeface="Wingdings" pitchFamily="2" charset="2"/>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dirty="0">
                          <a:latin typeface="微軟正黑體" panose="020B0604030504040204" pitchFamily="34" charset="-120"/>
                          <a:ea typeface="微軟正黑體" panose="020B0604030504040204" pitchFamily="34" charset="-120"/>
                          <a:sym typeface="Wingdings" pitchFamily="2" charset="2"/>
                        </a:rPr>
                        <a:t>尋找異質系統策略合作：</a:t>
                      </a:r>
                      <a:r>
                        <a:rPr lang="en-US" altLang="zh-TW" sz="1400" b="0" dirty="0">
                          <a:latin typeface="微軟正黑體" panose="020B0604030504040204" pitchFamily="34" charset="-120"/>
                          <a:ea typeface="微軟正黑體" panose="020B0604030504040204" pitchFamily="34" charset="-120"/>
                          <a:sym typeface="Wingdings" pitchFamily="2" charset="2"/>
                        </a:rPr>
                        <a:t>1</a:t>
                      </a:r>
                      <a:r>
                        <a:rPr lang="zh-TW" altLang="en-US" sz="1400" b="0" dirty="0">
                          <a:latin typeface="微軟正黑體" panose="020B0604030504040204" pitchFamily="34" charset="-120"/>
                          <a:ea typeface="微軟正黑體" panose="020B0604030504040204" pitchFamily="34" charset="-120"/>
                          <a:sym typeface="Wingdings" pitchFamily="2" charset="2"/>
                        </a:rPr>
                        <a:t>家</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dirty="0">
                          <a:latin typeface="微軟正黑體" panose="020B0604030504040204" pitchFamily="34" charset="-120"/>
                          <a:ea typeface="微軟正黑體" panose="020B0604030504040204" pitchFamily="34" charset="-120"/>
                          <a:sym typeface="Wingdings" pitchFamily="2" charset="2"/>
                        </a:rPr>
                        <a:t>（營運系統或網站應用系統擇一）</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：合作目標與需求明確</a:t>
                      </a:r>
                      <a:endParaRPr lang="zh-TW" altLang="en-US" sz="1200" b="0" kern="1200" dirty="0">
                        <a:solidFill>
                          <a:schemeClr val="dk1"/>
                        </a:solidFill>
                        <a:latin typeface="微軟正黑體" panose="020B0604030504040204" pitchFamily="34" charset="-120"/>
                        <a:ea typeface="微軟正黑體" panose="020B0604030504040204" pitchFamily="34" charset="-120"/>
                        <a:cs typeface="+mn-cs"/>
                      </a:endParaRPr>
                    </a:p>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：潛在夥伴名單與評估機制</a:t>
                      </a:r>
                      <a:endParaRPr lang="zh-TW" altLang="en-US" sz="1200" b="0" dirty="0">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：明確選定合作系統類型</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（營運系統或網站應用）</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：依契合度、技術可行性、合作彈性</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進行快速評估</a:t>
                      </a:r>
                      <a:endParaRPr lang="zh-TW" altLang="en-US" sz="1200" b="0" dirty="0">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ysClr val="windowText" lastClr="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636105418"/>
                  </a:ext>
                </a:extLst>
              </a:tr>
              <a:tr h="1107488">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ts val="1600"/>
                        </a:lnSpc>
                      </a:pPr>
                      <a:r>
                        <a:rPr lang="en-US" altLang="zh-TW" sz="1600" b="0" dirty="0">
                          <a:latin typeface="微軟正黑體" panose="020B0604030504040204" pitchFamily="34" charset="-120"/>
                          <a:ea typeface="微軟正黑體" panose="020B0604030504040204" pitchFamily="34" charset="-120"/>
                        </a:rPr>
                        <a:t>9</a:t>
                      </a:r>
                      <a:endParaRPr lang="zh-TW" altLang="en-US" sz="1600" b="0" dirty="0">
                        <a:latin typeface="微軟正黑體" panose="020B0604030504040204" pitchFamily="34" charset="-120"/>
                        <a:ea typeface="微軟正黑體" panose="020B0604030504040204" pitchFamily="34" charset="-120"/>
                      </a:endParaRPr>
                    </a:p>
                  </a:txBody>
                  <a:tcPr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solidFill>
                            <a:schemeClr val="tx1"/>
                          </a:solidFill>
                          <a:latin typeface="微軟正黑體" panose="020B0604030504040204" pitchFamily="34" charset="-120"/>
                          <a:ea typeface="微軟正黑體" panose="020B0604030504040204" pitchFamily="34" charset="-120"/>
                        </a:rPr>
                        <a:t>O5-KR2</a:t>
                      </a:r>
                      <a:r>
                        <a:rPr lang="zh-TW" altLang="en-US" sz="1400" b="0" dirty="0">
                          <a:solidFill>
                            <a:schemeClr val="tx1"/>
                          </a:solidFill>
                          <a:latin typeface="微軟正黑體" panose="020B0604030504040204" pitchFamily="34" charset="-120"/>
                          <a:ea typeface="微軟正黑體" panose="020B0604030504040204" pitchFamily="34" charset="-120"/>
                          <a:sym typeface="Wingdings" pitchFamily="2" charset="2"/>
                        </a:rPr>
                        <a:t>：</a:t>
                      </a:r>
                      <a:endParaRPr lang="en-US" altLang="zh-TW" sz="1400" b="0" dirty="0">
                        <a:solidFill>
                          <a:schemeClr val="tx1"/>
                        </a:solidFill>
                        <a:latin typeface="微軟正黑體" panose="020B0604030504040204" pitchFamily="34" charset="-120"/>
                        <a:ea typeface="微軟正黑體" panose="020B0604030504040204" pitchFamily="34" charset="-120"/>
                        <a:sym typeface="Wingdings" pitchFamily="2" charset="2"/>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制定連鎖加盟門市與培訓</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服務標準書１份</a:t>
                      </a: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：標準書範圍與章節架構明確</a:t>
                      </a:r>
                      <a:endParaRPr lang="zh-TW" altLang="en-US" sz="1200" b="0" kern="1200" dirty="0">
                        <a:solidFill>
                          <a:schemeClr val="dk1"/>
                        </a:solidFill>
                        <a:latin typeface="微軟正黑體" panose="020B0604030504040204" pitchFamily="34" charset="-120"/>
                        <a:ea typeface="微軟正黑體" panose="020B0604030504040204" pitchFamily="34" charset="-120"/>
                        <a:cs typeface="+mn-cs"/>
                      </a:endParaRPr>
                    </a:p>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：培訓制度可落地驗收</a:t>
                      </a:r>
                      <a:endParaRPr lang="zh-TW" altLang="en-US" sz="1200" b="0" dirty="0">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：定義標準書涵蓋範圍</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a:t>
                      </a: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2.1.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設計培訓路徑</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            2.2. </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每階段設定考核項目與通過標準</a:t>
                      </a:r>
                      <a:endParaRPr lang="zh-TW" altLang="en-US" sz="1200" b="0" dirty="0">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177704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lnSpc>
                          <a:spcPts val="1600"/>
                        </a:lnSpc>
                      </a:pPr>
                      <a:r>
                        <a:rPr lang="en-US" altLang="zh-TW" sz="1600" b="0" dirty="0">
                          <a:latin typeface="微軟正黑體" panose="020B0604030504040204" pitchFamily="34" charset="-120"/>
                          <a:ea typeface="微軟正黑體" panose="020B0604030504040204" pitchFamily="34" charset="-120"/>
                        </a:rPr>
                        <a:t>10</a:t>
                      </a:r>
                      <a:endParaRPr lang="zh-TW" altLang="en-US" sz="1600" b="0" dirty="0">
                        <a:latin typeface="微軟正黑體" panose="020B0604030504040204" pitchFamily="34" charset="-120"/>
                        <a:ea typeface="微軟正黑體" panose="020B0604030504040204" pitchFamily="34" charset="-120"/>
                      </a:endParaRPr>
                    </a:p>
                  </a:txBody>
                  <a:tcPr anchor="ctr">
                    <a:lnL w="28575" cap="flat" cmpd="sng" algn="ctr">
                      <a:solidFill>
                        <a:schemeClr val="tx1"/>
                      </a:solidFill>
                      <a:prstDash val="solid"/>
                      <a:round/>
                      <a:headEnd type="none" w="med" len="med"/>
                      <a:tailEnd type="none" w="med" len="med"/>
                    </a:lnL>
                    <a:lnR w="28575"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9933"/>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400" b="0" dirty="0">
                          <a:latin typeface="微軟正黑體" panose="020B0604030504040204" pitchFamily="34" charset="-120"/>
                          <a:ea typeface="微軟正黑體" panose="020B0604030504040204" pitchFamily="34" charset="-120"/>
                        </a:rPr>
                        <a:t>O5-KR3</a:t>
                      </a:r>
                      <a:r>
                        <a:rPr lang="zh-TW" altLang="en-US" sz="1400" b="0" dirty="0">
                          <a:latin typeface="微軟正黑體" panose="020B0604030504040204" pitchFamily="34" charset="-120"/>
                          <a:ea typeface="微軟正黑體" panose="020B0604030504040204" pitchFamily="34" charset="-120"/>
                          <a:sym typeface="Wingdings" pitchFamily="2" charset="2"/>
                        </a:rPr>
                        <a:t>：</a:t>
                      </a:r>
                      <a:endParaRPr lang="en-US" altLang="zh-TW" sz="1400" b="0" dirty="0">
                        <a:latin typeface="微軟正黑體" panose="020B0604030504040204" pitchFamily="34" charset="-120"/>
                        <a:ea typeface="微軟正黑體" panose="020B0604030504040204" pitchFamily="34" charset="-120"/>
                        <a:sym typeface="Wingdings" pitchFamily="2" charset="2"/>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400" b="0" dirty="0">
                          <a:latin typeface="微軟正黑體" panose="020B0604030504040204" pitchFamily="34" charset="-120"/>
                          <a:ea typeface="微軟正黑體" panose="020B0604030504040204" pitchFamily="34" charset="-120"/>
                          <a:sym typeface="Wingdings" pitchFamily="2" charset="2"/>
                        </a:rPr>
                        <a:t>培養儲備開發或門市店長或區督導至少２位</a:t>
                      </a:r>
                    </a:p>
                  </a:txBody>
                  <a:tcPr anchor="ctr">
                    <a:lnL w="28575"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：對外招募儲備人選</a:t>
                      </a:r>
                      <a:endParaRPr lang="zh-TW" altLang="en-US" sz="1200" b="0" kern="1200" dirty="0">
                        <a:solidFill>
                          <a:schemeClr val="dk1"/>
                        </a:solidFill>
                        <a:latin typeface="微軟正黑體" panose="020B0604030504040204" pitchFamily="34" charset="-120"/>
                        <a:ea typeface="微軟正黑體" panose="020B0604030504040204" pitchFamily="34" charset="-120"/>
                        <a:cs typeface="+mn-cs"/>
                      </a:endParaRPr>
                    </a:p>
                    <a:p>
                      <a:pPr>
                        <a:lnSpc>
                          <a:spcPts val="2000"/>
                        </a:lnSpc>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KSF 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sym typeface="Wingdings" pitchFamily="2" charset="2"/>
                        </a:rPr>
                        <a:t>：多職能性任務培訓</a:t>
                      </a:r>
                      <a:endParaRPr lang="zh-TW" altLang="en-US" sz="1200" b="0" dirty="0">
                        <a:latin typeface="微軟正黑體" panose="020B0604030504040204" pitchFamily="34" charset="-120"/>
                        <a:ea typeface="微軟正黑體" panose="020B0604030504040204" pitchFamily="34" charset="-12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AP1</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：制定儲備人選條件，透過人力銀行求</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招募</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200" b="0" kern="1200" dirty="0">
                          <a:solidFill>
                            <a:schemeClr val="dk1"/>
                          </a:solidFill>
                          <a:latin typeface="微軟正黑體" panose="020B0604030504040204" pitchFamily="34" charset="-120"/>
                          <a:ea typeface="微軟正黑體" panose="020B0604030504040204" pitchFamily="34" charset="-120"/>
                          <a:cs typeface="+mn-cs"/>
                        </a:rPr>
                        <a:t>AP2</a:t>
                      </a: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：以溝通判斷、執行力、承擔度能力指</a:t>
                      </a:r>
                      <a:endParaRPr lang="en-US" altLang="zh-TW" sz="1200" b="0" kern="1200" dirty="0">
                        <a:solidFill>
                          <a:schemeClr val="dk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200" b="0" kern="1200" dirty="0">
                          <a:solidFill>
                            <a:schemeClr val="dk1"/>
                          </a:solidFill>
                          <a:latin typeface="微軟正黑體" panose="020B0604030504040204" pitchFamily="34" charset="-120"/>
                          <a:ea typeface="微軟正黑體" panose="020B0604030504040204" pitchFamily="34" charset="-120"/>
                          <a:cs typeface="+mn-cs"/>
                        </a:rPr>
                        <a:t>　　　標，進行</a:t>
                      </a:r>
                      <a:r>
                        <a:rPr lang="zh-TW" altLang="en-US" sz="1200" b="0" dirty="0">
                          <a:latin typeface="微軟正黑體" panose="020B0604030504040204" pitchFamily="34" charset="-120"/>
                          <a:ea typeface="微軟正黑體" panose="020B0604030504040204" pitchFamily="34" charset="-120"/>
                        </a:rPr>
                        <a:t>「代理角色／專案負責人」</a:t>
                      </a:r>
                      <a:endParaRPr lang="en-US" altLang="zh-TW" sz="1200" b="0"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200" b="0" dirty="0">
                          <a:latin typeface="微軟正黑體" panose="020B0604030504040204" pitchFamily="34" charset="-120"/>
                          <a:ea typeface="微軟正黑體" panose="020B0604030504040204" pitchFamily="34" charset="-120"/>
                        </a:rPr>
                        <a:t>　　　試行</a:t>
                      </a:r>
                    </a:p>
                  </a:txBody>
                  <a:tcPr anchor="ctr">
                    <a:lnL w="12700" cap="flat" cmpd="sng" algn="ctr">
                      <a:solidFill>
                        <a:sysClr val="windowText" lastClr="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96699605"/>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4B318-63A9-CFD7-41D4-C1777A80134C}"/>
            </a:ext>
          </a:extLst>
        </p:cNvPr>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29461DD9-9ED8-797E-543A-CD7252733783}"/>
              </a:ext>
            </a:extLst>
          </p:cNvPr>
          <p:cNvSpPr txBox="1">
            <a:spLocks/>
          </p:cNvSpPr>
          <p:nvPr/>
        </p:nvSpPr>
        <p:spPr>
          <a:xfrm>
            <a:off x="124484" y="489241"/>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十一</a:t>
            </a:r>
            <a:r>
              <a:rPr lang="en-US" altLang="zh-TW" sz="2800" b="1" dirty="0">
                <a:solidFill>
                  <a:schemeClr val="tx1"/>
                </a:solidFill>
              </a:rPr>
              <a:t>、2026年度OKR展望-</a:t>
            </a:r>
            <a:r>
              <a:rPr lang="zh-TW" altLang="en-US" sz="2800" b="1" dirty="0">
                <a:solidFill>
                  <a:schemeClr val="tx1"/>
                </a:solidFill>
              </a:rPr>
              <a:t>門市課</a:t>
            </a:r>
            <a:endParaRPr lang="en-US" altLang="zh-TW" sz="2800" b="1" dirty="0">
              <a:solidFill>
                <a:schemeClr val="tx1"/>
              </a:solidFill>
            </a:endParaRPr>
          </a:p>
        </p:txBody>
      </p:sp>
      <p:graphicFrame>
        <p:nvGraphicFramePr>
          <p:cNvPr id="3" name="表格 2">
            <a:extLst>
              <a:ext uri="{FF2B5EF4-FFF2-40B4-BE49-F238E27FC236}">
                <a16:creationId xmlns:a16="http://schemas.microsoft.com/office/drawing/2014/main" id="{4818E4DD-B5DF-B44B-1CC9-147D53C8E204}"/>
              </a:ext>
            </a:extLst>
          </p:cNvPr>
          <p:cNvGraphicFramePr>
            <a:graphicFrameLocks noGrp="1"/>
          </p:cNvGraphicFramePr>
          <p:nvPr/>
        </p:nvGraphicFramePr>
        <p:xfrm>
          <a:off x="1713808" y="1124746"/>
          <a:ext cx="8630664" cy="4986564"/>
        </p:xfrm>
        <a:graphic>
          <a:graphicData uri="http://schemas.openxmlformats.org/drawingml/2006/table">
            <a:tbl>
              <a:tblPr firstRow="1" bandRow="1">
                <a:tableStyleId>{5C22544A-7EE6-4342-B048-85BDC9FD1C3A}</a:tableStyleId>
              </a:tblPr>
              <a:tblGrid>
                <a:gridCol w="487845">
                  <a:extLst>
                    <a:ext uri="{9D8B030D-6E8A-4147-A177-3AD203B41FA5}">
                      <a16:colId xmlns:a16="http://schemas.microsoft.com/office/drawing/2014/main" val="1369220936"/>
                    </a:ext>
                  </a:extLst>
                </a:gridCol>
                <a:gridCol w="2429257">
                  <a:extLst>
                    <a:ext uri="{9D8B030D-6E8A-4147-A177-3AD203B41FA5}">
                      <a16:colId xmlns:a16="http://schemas.microsoft.com/office/drawing/2014/main" val="1019612997"/>
                    </a:ext>
                  </a:extLst>
                </a:gridCol>
                <a:gridCol w="628284">
                  <a:extLst>
                    <a:ext uri="{9D8B030D-6E8A-4147-A177-3AD203B41FA5}">
                      <a16:colId xmlns:a16="http://schemas.microsoft.com/office/drawing/2014/main" val="1763432319"/>
                    </a:ext>
                  </a:extLst>
                </a:gridCol>
                <a:gridCol w="5085278">
                  <a:extLst>
                    <a:ext uri="{9D8B030D-6E8A-4147-A177-3AD203B41FA5}">
                      <a16:colId xmlns:a16="http://schemas.microsoft.com/office/drawing/2014/main" val="789490434"/>
                    </a:ext>
                  </a:extLst>
                </a:gridCol>
              </a:tblGrid>
              <a:tr h="405423">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latin typeface="微軟正黑體" panose="020B0604030504040204" pitchFamily="34" charset="-120"/>
                          <a:ea typeface="微軟正黑體" panose="020B0604030504040204" pitchFamily="34" charset="-120"/>
                        </a:rPr>
                        <a:t>2026 Objectives</a:t>
                      </a:r>
                    </a:p>
                  </a:txBody>
                  <a:tcPr marL="68580" marR="68580" marT="34290" marB="34290" anchor="ctr">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tc gridSpan="2">
                  <a:txBody>
                    <a:bodyPr/>
                    <a:lstStyle/>
                    <a:p>
                      <a:pPr algn="ctr"/>
                      <a:r>
                        <a:rPr lang="en-US" altLang="zh-TW" sz="1600" b="1" dirty="0">
                          <a:solidFill>
                            <a:schemeClr val="tx1"/>
                          </a:solidFill>
                          <a:latin typeface="微軟正黑體" panose="020B0604030504040204" pitchFamily="34" charset="-120"/>
                          <a:ea typeface="微軟正黑體" panose="020B0604030504040204" pitchFamily="34" charset="-120"/>
                        </a:rPr>
                        <a:t>2026 Key Results</a:t>
                      </a:r>
                    </a:p>
                  </a:txBody>
                  <a:tcPr marL="68580" marR="68580" marT="34290" marB="34290"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extLst>
                  <a:ext uri="{0D108BD9-81ED-4DB2-BD59-A6C34878D82A}">
                    <a16:rowId xmlns:a16="http://schemas.microsoft.com/office/drawing/2014/main" val="1522600921"/>
                  </a:ext>
                </a:extLst>
              </a:tr>
              <a:tr h="416729">
                <a:tc rowSpan="3">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algn="l">
                        <a:lnSpc>
                          <a:spcPts val="2000"/>
                        </a:lnSpc>
                      </a:pPr>
                      <a:r>
                        <a:rPr lang="zh-TW" altLang="en-US" sz="1800" b="1" dirty="0">
                          <a:solidFill>
                            <a:schemeClr val="tx1"/>
                          </a:solidFill>
                          <a:latin typeface="微軟正黑體" panose="020B0604030504040204" pitchFamily="34" charset="-120"/>
                          <a:ea typeface="微軟正黑體" panose="020B0604030504040204" pitchFamily="34" charset="-120"/>
                        </a:rPr>
                        <a:t>增加會員成長</a:t>
                      </a:r>
                      <a:endParaRPr lang="en-US" altLang="zh-TW"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會員淨成長達 </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+330</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戶</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8555103"/>
                  </a:ext>
                </a:extLst>
              </a:tr>
              <a:tr h="416729">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ts val="2000"/>
                        </a:lnSpc>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舊會員回流率增加</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180</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件</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6486647"/>
                  </a:ext>
                </a:extLst>
              </a:tr>
              <a:tr h="416729">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參與台中各項市集辦理招募活動</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5</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場</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4799357"/>
                  </a:ext>
                </a:extLst>
              </a:tr>
              <a:tr h="416729">
                <a:tc rowSpan="3">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O2</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800" b="1" dirty="0">
                          <a:solidFill>
                            <a:schemeClr val="tx1"/>
                          </a:solidFill>
                          <a:latin typeface="微軟正黑體" panose="020B0604030504040204" pitchFamily="34" charset="-120"/>
                          <a:ea typeface="微軟正黑體" panose="020B0604030504040204" pitchFamily="34" charset="-120"/>
                        </a:rPr>
                        <a:t>提升客服滿意度           與服務效率</a:t>
                      </a:r>
                      <a:r>
                        <a:rPr lang="en-US" altLang="zh-TW" sz="1800" b="1" dirty="0">
                          <a:solidFill>
                            <a:schemeClr val="tx1"/>
                          </a:solidFill>
                          <a:latin typeface="微軟正黑體" panose="020B0604030504040204" pitchFamily="34" charset="-120"/>
                          <a:ea typeface="微軟正黑體" panose="020B0604030504040204" pitchFamily="34" charset="-120"/>
                        </a:rPr>
                        <a:t>95%</a:t>
                      </a:r>
                      <a:r>
                        <a:rPr lang="zh-TW" altLang="en-US" sz="1800" b="1" dirty="0">
                          <a:solidFill>
                            <a:schemeClr val="tx1"/>
                          </a:solidFill>
                          <a:latin typeface="微軟正黑體" panose="020B0604030504040204" pitchFamily="34" charset="-120"/>
                          <a:ea typeface="微軟正黑體" panose="020B0604030504040204" pitchFamily="34" charset="-120"/>
                        </a:rPr>
                        <a:t>以上</a:t>
                      </a:r>
                      <a:endParaRPr lang="en-US" altLang="zh-TW"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電話接單率低於 </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30%</a:t>
                      </a:r>
                      <a:endParaRPr lang="zh-TW" altLang="en-US"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6565742"/>
                  </a:ext>
                </a:extLst>
              </a:tr>
              <a:tr h="416729">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導入線上</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AI</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客服系統到兩個通道</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0641237"/>
                  </a:ext>
                </a:extLst>
              </a:tr>
              <a:tr h="416729">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舉辦</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4</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場用戶聯誼活動</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6729">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O3</a:t>
                      </a:r>
                      <a:endParaRPr lang="zh-TW" altLang="en-US"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4">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儲備主管培訓</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及加盟輔導制度</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研發各項標準書四份（門市、客服、自取櫃</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121909"/>
                  </a:ext>
                </a:extLst>
              </a:tr>
              <a:tr h="812564">
                <a:tc vMerge="1">
                  <a:txBody>
                    <a:bodyPr/>
                    <a:lstStyle/>
                    <a:p>
                      <a:pPr algn="ctr"/>
                      <a:endParaRPr lang="zh-TW" altLang="en-US" sz="1600" b="1" kern="1200" dirty="0">
                        <a:solidFill>
                          <a:schemeClr val="tx1"/>
                        </a:solidFill>
                        <a:latin typeface="+mj-ea"/>
                        <a:ea typeface="+mj-ea"/>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E100"/>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100" b="0" kern="1200" dirty="0">
                        <a:solidFill>
                          <a:schemeClr val="tx1"/>
                        </a:solidFill>
                        <a:latin typeface="+mj-ea"/>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完成加盟輔導書面教材庫</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（招募、安檢、移居、解約、商用儲值、門市清潔、</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　人員排班、</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FAQ</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6012242"/>
                  </a:ext>
                </a:extLst>
              </a:tr>
              <a:tr h="416729">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建置「旺來加盟培訓教室</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1</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間」</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8092439"/>
                  </a:ext>
                </a:extLst>
              </a:tr>
              <a:tr h="416729">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KR4</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儲備主管招募</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2</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位</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5622728"/>
                  </a:ext>
                </a:extLst>
              </a:tr>
            </a:tbl>
          </a:graphicData>
        </a:graphic>
      </p:graphicFrame>
    </p:spTree>
    <p:extLst>
      <p:ext uri="{BB962C8B-B14F-4D97-AF65-F5344CB8AC3E}">
        <p14:creationId xmlns:p14="http://schemas.microsoft.com/office/powerpoint/2010/main" val="2777570259"/>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7D1D7-B17C-C34B-F998-899222ED1139}"/>
            </a:ext>
          </a:extLst>
        </p:cNvPr>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46BBE496-BE24-037D-5833-A1EA8B396B3E}"/>
              </a:ext>
            </a:extLst>
          </p:cNvPr>
          <p:cNvSpPr txBox="1">
            <a:spLocks/>
          </p:cNvSpPr>
          <p:nvPr/>
        </p:nvSpPr>
        <p:spPr>
          <a:xfrm>
            <a:off x="191344" y="425108"/>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十二</a:t>
            </a:r>
            <a:r>
              <a:rPr lang="en-US" altLang="zh-TW" sz="2800" b="1" dirty="0">
                <a:solidFill>
                  <a:schemeClr val="tx1"/>
                </a:solidFill>
              </a:rPr>
              <a:t>、2026年度OKR展望-</a:t>
            </a:r>
            <a:r>
              <a:rPr lang="zh-TW" altLang="en-US" sz="2800" b="1" dirty="0">
                <a:solidFill>
                  <a:schemeClr val="tx1"/>
                </a:solidFill>
              </a:rPr>
              <a:t>開發課</a:t>
            </a:r>
            <a:endParaRPr lang="en-US" altLang="zh-TW" sz="2800" b="1" dirty="0">
              <a:solidFill>
                <a:schemeClr val="tx1"/>
              </a:solidFill>
            </a:endParaRPr>
          </a:p>
        </p:txBody>
      </p:sp>
      <p:graphicFrame>
        <p:nvGraphicFramePr>
          <p:cNvPr id="3" name="表格 2">
            <a:extLst>
              <a:ext uri="{FF2B5EF4-FFF2-40B4-BE49-F238E27FC236}">
                <a16:creationId xmlns:a16="http://schemas.microsoft.com/office/drawing/2014/main" id="{45569863-6687-3BE1-8F3C-A0641882339F}"/>
              </a:ext>
            </a:extLst>
          </p:cNvPr>
          <p:cNvGraphicFramePr>
            <a:graphicFrameLocks noGrp="1"/>
          </p:cNvGraphicFramePr>
          <p:nvPr>
            <p:extLst>
              <p:ext uri="{D42A27DB-BD31-4B8C-83A1-F6EECF244321}">
                <p14:modId xmlns:p14="http://schemas.microsoft.com/office/powerpoint/2010/main" val="2597218146"/>
              </p:ext>
            </p:extLst>
          </p:nvPr>
        </p:nvGraphicFramePr>
        <p:xfrm>
          <a:off x="1775521" y="1094266"/>
          <a:ext cx="8701921" cy="5036209"/>
        </p:xfrm>
        <a:graphic>
          <a:graphicData uri="http://schemas.openxmlformats.org/drawingml/2006/table">
            <a:tbl>
              <a:tblPr firstRow="1" bandRow="1">
                <a:tableStyleId>{5C22544A-7EE6-4342-B048-85BDC9FD1C3A}</a:tableStyleId>
              </a:tblPr>
              <a:tblGrid>
                <a:gridCol w="491873">
                  <a:extLst>
                    <a:ext uri="{9D8B030D-6E8A-4147-A177-3AD203B41FA5}">
                      <a16:colId xmlns:a16="http://schemas.microsoft.com/office/drawing/2014/main" val="1369220936"/>
                    </a:ext>
                  </a:extLst>
                </a:gridCol>
                <a:gridCol w="2449312">
                  <a:extLst>
                    <a:ext uri="{9D8B030D-6E8A-4147-A177-3AD203B41FA5}">
                      <a16:colId xmlns:a16="http://schemas.microsoft.com/office/drawing/2014/main" val="1019612997"/>
                    </a:ext>
                  </a:extLst>
                </a:gridCol>
                <a:gridCol w="633472">
                  <a:extLst>
                    <a:ext uri="{9D8B030D-6E8A-4147-A177-3AD203B41FA5}">
                      <a16:colId xmlns:a16="http://schemas.microsoft.com/office/drawing/2014/main" val="1763432319"/>
                    </a:ext>
                  </a:extLst>
                </a:gridCol>
                <a:gridCol w="5127264">
                  <a:extLst>
                    <a:ext uri="{9D8B030D-6E8A-4147-A177-3AD203B41FA5}">
                      <a16:colId xmlns:a16="http://schemas.microsoft.com/office/drawing/2014/main" val="789490434"/>
                    </a:ext>
                  </a:extLst>
                </a:gridCol>
              </a:tblGrid>
              <a:tr h="335592">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latin typeface="微軟正黑體" panose="020B0604030504040204" pitchFamily="34" charset="-120"/>
                          <a:ea typeface="微軟正黑體" panose="020B0604030504040204" pitchFamily="34" charset="-120"/>
                        </a:rPr>
                        <a:t>2026 Objectives</a:t>
                      </a:r>
                    </a:p>
                  </a:txBody>
                  <a:tcPr marL="68580" marR="68580" marT="34290" marB="34290" anchor="ctr">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tc gridSpan="2">
                  <a:txBody>
                    <a:bodyPr/>
                    <a:lstStyle/>
                    <a:p>
                      <a:pPr algn="ctr"/>
                      <a:r>
                        <a:rPr lang="en-US" altLang="zh-TW" sz="1600" b="1" dirty="0">
                          <a:solidFill>
                            <a:schemeClr val="tx1"/>
                          </a:solidFill>
                          <a:latin typeface="微軟正黑體" panose="020B0604030504040204" pitchFamily="34" charset="-120"/>
                          <a:ea typeface="微軟正黑體" panose="020B0604030504040204" pitchFamily="34" charset="-120"/>
                        </a:rPr>
                        <a:t>2026 Key Results</a:t>
                      </a:r>
                    </a:p>
                  </a:txBody>
                  <a:tcPr marL="68580" marR="68580" marT="34290" marB="34290"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extLst>
                  <a:ext uri="{0D108BD9-81ED-4DB2-BD59-A6C34878D82A}">
                    <a16:rowId xmlns:a16="http://schemas.microsoft.com/office/drawing/2014/main" val="1522600921"/>
                  </a:ext>
                </a:extLst>
              </a:tr>
              <a:tr h="542374">
                <a:tc rowSpan="3">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algn="l">
                        <a:lnSpc>
                          <a:spcPts val="2000"/>
                        </a:lnSpc>
                      </a:pPr>
                      <a:r>
                        <a:rPr lang="zh-TW" altLang="en-US" sz="1800" b="1" dirty="0">
                          <a:solidFill>
                            <a:schemeClr val="tx1"/>
                          </a:solidFill>
                          <a:latin typeface="微軟正黑體" panose="020B0604030504040204" pitchFamily="34" charset="-120"/>
                          <a:ea typeface="微軟正黑體" panose="020B0604030504040204" pitchFamily="34" charset="-120"/>
                        </a:rPr>
                        <a:t>智能智取系統</a:t>
                      </a:r>
                      <a:r>
                        <a:rPr lang="en-US" altLang="zh-TW" sz="1800" b="1" dirty="0">
                          <a:solidFill>
                            <a:schemeClr val="tx1"/>
                          </a:solidFill>
                          <a:latin typeface="微軟正黑體" panose="020B0604030504040204" pitchFamily="34" charset="-120"/>
                          <a:ea typeface="微軟正黑體" panose="020B0604030504040204" pitchFamily="34" charset="-120"/>
                        </a:rPr>
                        <a:t>：9</a:t>
                      </a:r>
                      <a:r>
                        <a:rPr lang="zh-TW" altLang="en-US" sz="1800" b="1" dirty="0">
                          <a:solidFill>
                            <a:schemeClr val="tx1"/>
                          </a:solidFill>
                          <a:latin typeface="微軟正黑體" panose="020B0604030504040204" pitchFamily="34" charset="-120"/>
                          <a:ea typeface="微軟正黑體" panose="020B0604030504040204" pitchFamily="34" charset="-120"/>
                        </a:rPr>
                        <a:t>櫃</a:t>
                      </a:r>
                      <a:endParaRPr lang="en-US" altLang="zh-TW"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合作對象提出：通路*</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5</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（台中*</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3</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、桃園*</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2</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a:t>
                      </a:r>
                      <a:endParaRPr lang="zh-TW" altLang="en-US" sz="1500" b="1" kern="1200" dirty="0">
                        <a:solidFill>
                          <a:schemeClr val="tx1"/>
                        </a:solidFill>
                        <a:latin typeface="微軟正黑體" panose="020B0604030504040204" pitchFamily="34" charset="-120"/>
                        <a:ea typeface="微軟正黑體" panose="020B0604030504040204" pitchFamily="34" charset="-120"/>
                        <a:cs typeface="+mn-cs"/>
                      </a:endParaRPr>
                    </a:p>
                    <a:p>
                      <a:pPr marL="0" marR="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　　　　　　　同業*</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4</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（北誼興、民興、仲美、榮星）</a:t>
                      </a:r>
                      <a:endParaRPr lang="en-US" altLang="zh-TW" sz="15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8555103"/>
                  </a:ext>
                </a:extLst>
              </a:tr>
              <a:tr h="344952">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ts val="2000"/>
                        </a:lnSpc>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預期開發通路：愛買：台中*</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3</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，桃園*</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2</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6486647"/>
                  </a:ext>
                </a:extLst>
              </a:tr>
              <a:tr h="542374">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櫃體區域分佈：桃園：桃園*</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2</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、中壢、平鎮、龜山</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                            台中：北屯、復興、水湳、豐原</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4799357"/>
                  </a:ext>
                </a:extLst>
              </a:tr>
              <a:tr h="2026973">
                <a:tc rowSpan="3">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O2</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800" b="1" dirty="0">
                          <a:solidFill>
                            <a:schemeClr val="tx1"/>
                          </a:solidFill>
                          <a:latin typeface="微軟正黑體" panose="020B0604030504040204" pitchFamily="34" charset="-120"/>
                          <a:ea typeface="微軟正黑體" panose="020B0604030504040204" pitchFamily="34" charset="-120"/>
                        </a:rPr>
                        <a:t>瓦斯同業加盟</a:t>
                      </a:r>
                      <a:r>
                        <a:rPr lang="en-US" altLang="zh-TW" sz="1800" b="1" dirty="0">
                          <a:solidFill>
                            <a:schemeClr val="tx1"/>
                          </a:solidFill>
                          <a:latin typeface="微軟正黑體" panose="020B0604030504040204" pitchFamily="34" charset="-120"/>
                          <a:ea typeface="微軟正黑體" panose="020B0604030504040204" pitchFamily="34" charset="-120"/>
                        </a:rPr>
                        <a:t>：9 </a:t>
                      </a:r>
                      <a:r>
                        <a:rPr lang="zh-TW" altLang="en-US" sz="1800" b="1" dirty="0">
                          <a:solidFill>
                            <a:schemeClr val="tx1"/>
                          </a:solidFill>
                          <a:latin typeface="微軟正黑體" panose="020B0604030504040204" pitchFamily="34" charset="-120"/>
                          <a:ea typeface="微軟正黑體" panose="020B0604030504040204" pitchFamily="34" charset="-120"/>
                        </a:rPr>
                        <a:t>家（</a:t>
                      </a:r>
                      <a:r>
                        <a:rPr lang="en-US" altLang="zh-TW" sz="1800" b="1" dirty="0">
                          <a:solidFill>
                            <a:schemeClr val="tx1"/>
                          </a:solidFill>
                          <a:latin typeface="微軟正黑體" panose="020B0604030504040204" pitchFamily="34" charset="-120"/>
                          <a:ea typeface="微軟正黑體" panose="020B0604030504040204" pitchFamily="34" charset="-120"/>
                        </a:rPr>
                        <a:t>1,125 </a:t>
                      </a:r>
                      <a:r>
                        <a:rPr lang="zh-TW" altLang="en-US" sz="1800" b="1" dirty="0">
                          <a:solidFill>
                            <a:schemeClr val="tx1"/>
                          </a:solidFill>
                          <a:latin typeface="微軟正黑體" panose="020B0604030504040204" pitchFamily="34" charset="-120"/>
                          <a:ea typeface="微軟正黑體" panose="020B0604030504040204" pitchFamily="34" charset="-120"/>
                        </a:rPr>
                        <a:t>會員）</a:t>
                      </a:r>
                      <a:endParaRPr lang="en-US" altLang="zh-TW"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合作模組設計：</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3</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組</a:t>
                      </a:r>
                    </a:p>
                    <a:p>
                      <a:pPr marL="0" marR="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模組</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1</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：同業：智取櫃＋場地＋代配送</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代安裝</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代灌氣</a:t>
                      </a:r>
                    </a:p>
                    <a:p>
                      <a:pPr marL="0" marR="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               旺來：容器、</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Know-how</a:t>
                      </a:r>
                    </a:p>
                    <a:p>
                      <a:pPr marL="0" marR="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模組</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2</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：同業：智取櫃＋代配送</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代安裝</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代灌氣</a:t>
                      </a:r>
                      <a:endParaRPr lang="en-US" altLang="zh-TW" sz="1500" b="1" kern="1200" dirty="0">
                        <a:solidFill>
                          <a:schemeClr val="tx1"/>
                        </a:solidFill>
                        <a:latin typeface="微軟正黑體" panose="020B0604030504040204" pitchFamily="34" charset="-120"/>
                        <a:ea typeface="微軟正黑體" panose="020B0604030504040204" pitchFamily="34" charset="-120"/>
                        <a:cs typeface="+mn-cs"/>
                      </a:endParaRPr>
                    </a:p>
                    <a:p>
                      <a:pPr marL="0" marR="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               旺來：場地、容器、</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Know-how</a:t>
                      </a:r>
                    </a:p>
                    <a:p>
                      <a:pPr marL="0" marR="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模組</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3</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：同業：場地＋代灌氣＋代配送</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代安裝</a:t>
                      </a:r>
                    </a:p>
                    <a:p>
                      <a:pPr marL="0" marR="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               旺來：智取櫃、容器、</a:t>
                      </a:r>
                      <a:r>
                        <a:rPr lang="en-US" altLang="zh-TW" sz="1500" b="1" kern="1200" dirty="0">
                          <a:solidFill>
                            <a:schemeClr val="tx1"/>
                          </a:solidFill>
                          <a:latin typeface="微軟正黑體" panose="020B0604030504040204" pitchFamily="34" charset="-120"/>
                          <a:ea typeface="微軟正黑體" panose="020B0604030504040204" pitchFamily="34" charset="-120"/>
                          <a:cs typeface="+mn-cs"/>
                        </a:rPr>
                        <a:t>Know-how</a:t>
                      </a:r>
                      <a:endParaRPr lang="zh-TW" altLang="en-US" sz="15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6565742"/>
                  </a:ext>
                </a:extLst>
              </a:tr>
              <a:tr h="789807">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合作對象確認：</a:t>
                      </a:r>
                      <a:endParaRPr lang="en-US" altLang="zh-TW" sz="1500" b="1"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分裝場（儲存場所）：民興、榮星、萬隆、北誼興</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瓦斯行：仲美／其它：尚豪、北屯房東</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0641237"/>
                  </a:ext>
                </a:extLst>
              </a:tr>
              <a:tr h="344952">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500" b="1" kern="1200" dirty="0">
                          <a:solidFill>
                            <a:schemeClr val="tx1"/>
                          </a:solidFill>
                          <a:latin typeface="微軟正黑體" panose="020B0604030504040204" pitchFamily="34" charset="-120"/>
                          <a:ea typeface="微軟正黑體" panose="020B0604030504040204" pitchFamily="34" charset="-120"/>
                          <a:cs typeface="+mn-cs"/>
                        </a:rPr>
                        <a:t>同業加盟招募：舉辦同業交流會／加盟展參展</a:t>
                      </a:r>
                      <a:endParaRPr lang="en-US" altLang="zh-TW" sz="15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9119985"/>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EBAE7-2D31-CA08-C2FA-DB8BC8CF0DA1}"/>
            </a:ext>
          </a:extLst>
        </p:cNvPr>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80187566-CBB6-7FA8-1BB5-77464B6F93AB}"/>
              </a:ext>
            </a:extLst>
          </p:cNvPr>
          <p:cNvGraphicFramePr>
            <a:graphicFrameLocks noGrp="1"/>
          </p:cNvGraphicFramePr>
          <p:nvPr>
            <p:extLst>
              <p:ext uri="{D42A27DB-BD31-4B8C-83A1-F6EECF244321}">
                <p14:modId xmlns:p14="http://schemas.microsoft.com/office/powerpoint/2010/main" val="92440589"/>
              </p:ext>
            </p:extLst>
          </p:nvPr>
        </p:nvGraphicFramePr>
        <p:xfrm>
          <a:off x="1584746" y="1643731"/>
          <a:ext cx="8640960" cy="3168351"/>
        </p:xfrm>
        <a:graphic>
          <a:graphicData uri="http://schemas.openxmlformats.org/drawingml/2006/table">
            <a:tbl>
              <a:tblPr firstRow="1" bandRow="1">
                <a:tableStyleId>{5C22544A-7EE6-4342-B048-85BDC9FD1C3A}</a:tableStyleId>
              </a:tblPr>
              <a:tblGrid>
                <a:gridCol w="488427">
                  <a:extLst>
                    <a:ext uri="{9D8B030D-6E8A-4147-A177-3AD203B41FA5}">
                      <a16:colId xmlns:a16="http://schemas.microsoft.com/office/drawing/2014/main" val="1369220936"/>
                    </a:ext>
                  </a:extLst>
                </a:gridCol>
                <a:gridCol w="2432154">
                  <a:extLst>
                    <a:ext uri="{9D8B030D-6E8A-4147-A177-3AD203B41FA5}">
                      <a16:colId xmlns:a16="http://schemas.microsoft.com/office/drawing/2014/main" val="1019612997"/>
                    </a:ext>
                  </a:extLst>
                </a:gridCol>
                <a:gridCol w="629034">
                  <a:extLst>
                    <a:ext uri="{9D8B030D-6E8A-4147-A177-3AD203B41FA5}">
                      <a16:colId xmlns:a16="http://schemas.microsoft.com/office/drawing/2014/main" val="1763432319"/>
                    </a:ext>
                  </a:extLst>
                </a:gridCol>
                <a:gridCol w="5091345">
                  <a:extLst>
                    <a:ext uri="{9D8B030D-6E8A-4147-A177-3AD203B41FA5}">
                      <a16:colId xmlns:a16="http://schemas.microsoft.com/office/drawing/2014/main" val="789490434"/>
                    </a:ext>
                  </a:extLst>
                </a:gridCol>
              </a:tblGrid>
              <a:tr h="775860">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latin typeface="微軟正黑體" panose="020B0604030504040204" pitchFamily="34" charset="-120"/>
                          <a:ea typeface="微軟正黑體" panose="020B0604030504040204" pitchFamily="34" charset="-120"/>
                        </a:rPr>
                        <a:t>2026 Objectives</a:t>
                      </a:r>
                    </a:p>
                  </a:txBody>
                  <a:tcPr marL="68580" marR="68580" marT="34290" marB="34290" anchor="ctr">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tc gridSpan="2">
                  <a:txBody>
                    <a:bodyPr/>
                    <a:lstStyle/>
                    <a:p>
                      <a:pPr algn="ctr"/>
                      <a:r>
                        <a:rPr lang="en-US" altLang="zh-TW" sz="1600" b="1" dirty="0">
                          <a:solidFill>
                            <a:schemeClr val="tx1"/>
                          </a:solidFill>
                          <a:latin typeface="微軟正黑體" panose="020B0604030504040204" pitchFamily="34" charset="-120"/>
                          <a:ea typeface="微軟正黑體" panose="020B0604030504040204" pitchFamily="34" charset="-120"/>
                        </a:rPr>
                        <a:t>2026 Key Results</a:t>
                      </a:r>
                    </a:p>
                  </a:txBody>
                  <a:tcPr marL="68580" marR="68580" marT="34290" marB="34290"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extLst>
                  <a:ext uri="{0D108BD9-81ED-4DB2-BD59-A6C34878D82A}">
                    <a16:rowId xmlns:a16="http://schemas.microsoft.com/office/drawing/2014/main" val="1522600921"/>
                  </a:ext>
                </a:extLst>
              </a:tr>
              <a:tr h="79749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O3</a:t>
                      </a:r>
                      <a:endParaRPr lang="zh-TW" altLang="en-US"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800" b="1" dirty="0">
                          <a:solidFill>
                            <a:schemeClr val="tx1"/>
                          </a:solidFill>
                          <a:latin typeface="微軟正黑體" panose="020B0604030504040204" pitchFamily="34" charset="-120"/>
                          <a:ea typeface="微軟正黑體" panose="020B0604030504040204" pitchFamily="34" charset="-120"/>
                        </a:rPr>
                        <a:t>零售通路結盟</a:t>
                      </a:r>
                      <a:r>
                        <a:rPr lang="en-US" altLang="zh-TW" sz="1800" b="1" dirty="0">
                          <a:solidFill>
                            <a:schemeClr val="tx1"/>
                          </a:solidFill>
                          <a:latin typeface="微軟正黑體" panose="020B0604030504040204" pitchFamily="34" charset="-120"/>
                          <a:ea typeface="微軟正黑體" panose="020B0604030504040204" pitchFamily="34" charset="-120"/>
                        </a:rPr>
                        <a:t>：44</a:t>
                      </a:r>
                      <a:r>
                        <a:rPr lang="zh-TW" altLang="en-US" sz="1800" b="1" dirty="0">
                          <a:solidFill>
                            <a:schemeClr val="tx1"/>
                          </a:solidFill>
                          <a:latin typeface="微軟正黑體" panose="020B0604030504040204" pitchFamily="34" charset="-120"/>
                          <a:ea typeface="微軟正黑體" panose="020B0604030504040204" pitchFamily="34" charset="-120"/>
                        </a:rPr>
                        <a:t>家</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800" b="1" dirty="0">
                          <a:solidFill>
                            <a:schemeClr val="tx1"/>
                          </a:solidFill>
                          <a:latin typeface="微軟正黑體" panose="020B0604030504040204" pitchFamily="34" charset="-120"/>
                          <a:ea typeface="微軟正黑體" panose="020B0604030504040204" pitchFamily="34" charset="-120"/>
                        </a:rPr>
                        <a:t>（</a:t>
                      </a:r>
                      <a:r>
                        <a:rPr lang="en-US" altLang="zh-TW" sz="1800" b="1" dirty="0">
                          <a:solidFill>
                            <a:schemeClr val="tx1"/>
                          </a:solidFill>
                          <a:latin typeface="微軟正黑體" panose="020B0604030504040204" pitchFamily="34" charset="-120"/>
                          <a:ea typeface="微軟正黑體" panose="020B0604030504040204" pitchFamily="34" charset="-120"/>
                        </a:rPr>
                        <a:t>1,216 </a:t>
                      </a:r>
                      <a:r>
                        <a:rPr lang="zh-TW" altLang="en-US" sz="1800" b="1" dirty="0">
                          <a:solidFill>
                            <a:schemeClr val="tx1"/>
                          </a:solidFill>
                          <a:latin typeface="微軟正黑體" panose="020B0604030504040204" pitchFamily="34" charset="-120"/>
                          <a:ea typeface="微軟正黑體" panose="020B0604030504040204" pitchFamily="34" charset="-120"/>
                        </a:rPr>
                        <a:t>會員）</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通路據點完成：全國電子、其他通路等等</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商場型通路</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t>
                      </a:r>
                      <a:endParaRPr lang="zh-TW" altLang="en-US"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121909"/>
                  </a:ext>
                </a:extLst>
              </a:tr>
              <a:tr h="797497">
                <a:tc vMerge="1">
                  <a:txBody>
                    <a:bodyPr/>
                    <a:lstStyle/>
                    <a:p>
                      <a:pPr algn="ctr"/>
                      <a:endParaRPr lang="zh-TW" altLang="en-US" sz="1600" b="1" kern="1200" dirty="0">
                        <a:solidFill>
                          <a:schemeClr val="tx1"/>
                        </a:solidFill>
                        <a:latin typeface="+mj-ea"/>
                        <a:ea typeface="+mj-ea"/>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E100"/>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100" b="0" kern="1200" dirty="0">
                        <a:solidFill>
                          <a:schemeClr val="tx1"/>
                        </a:solidFill>
                        <a:latin typeface="+mj-ea"/>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通路會員招募完成：</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1,216</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位</a:t>
                      </a:r>
                      <a:r>
                        <a:rPr lang="zh-TW" altLang="en-US" sz="1600" b="1" dirty="0">
                          <a:solidFill>
                            <a:schemeClr val="tx1"/>
                          </a:solidFill>
                          <a:latin typeface="微軟正黑體" panose="020B0604030504040204" pitchFamily="34" charset="-120"/>
                          <a:ea typeface="微軟正黑體" panose="020B0604030504040204" pitchFamily="34" charset="-120"/>
                        </a:rPr>
                        <a:t>會員</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6012242"/>
                  </a:ext>
                </a:extLst>
              </a:tr>
              <a:tr h="797497">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啟動替代洽談</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5622728"/>
                  </a:ext>
                </a:extLst>
              </a:tr>
            </a:tbl>
          </a:graphicData>
        </a:graphic>
      </p:graphicFrame>
      <p:sp>
        <p:nvSpPr>
          <p:cNvPr id="4" name="內容版面配置區 2">
            <a:extLst>
              <a:ext uri="{FF2B5EF4-FFF2-40B4-BE49-F238E27FC236}">
                <a16:creationId xmlns:a16="http://schemas.microsoft.com/office/drawing/2014/main" id="{CB107717-0E1B-E1DC-E99D-5F3C25E49357}"/>
              </a:ext>
            </a:extLst>
          </p:cNvPr>
          <p:cNvSpPr txBox="1">
            <a:spLocks/>
          </p:cNvSpPr>
          <p:nvPr/>
        </p:nvSpPr>
        <p:spPr>
          <a:xfrm>
            <a:off x="191344" y="425108"/>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十二</a:t>
            </a:r>
            <a:r>
              <a:rPr lang="en-US" altLang="zh-TW" sz="2800" b="1" dirty="0">
                <a:solidFill>
                  <a:schemeClr val="tx1"/>
                </a:solidFill>
              </a:rPr>
              <a:t>、2026年度OKR展望-</a:t>
            </a:r>
            <a:r>
              <a:rPr lang="zh-TW" altLang="en-US" sz="2800" b="1" dirty="0">
                <a:solidFill>
                  <a:schemeClr val="tx1"/>
                </a:solidFill>
              </a:rPr>
              <a:t>開發課</a:t>
            </a:r>
            <a:endParaRPr lang="en-US" altLang="zh-TW" sz="2800" b="1" dirty="0">
              <a:solidFill>
                <a:schemeClr val="tx1"/>
              </a:solidFill>
            </a:endParaRPr>
          </a:p>
        </p:txBody>
      </p:sp>
    </p:spTree>
    <p:extLst>
      <p:ext uri="{BB962C8B-B14F-4D97-AF65-F5344CB8AC3E}">
        <p14:creationId xmlns:p14="http://schemas.microsoft.com/office/powerpoint/2010/main" val="4123414154"/>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6BDD7-553C-22BD-C673-4B9D7B71F5B6}"/>
            </a:ext>
          </a:extLst>
        </p:cNvPr>
        <p:cNvGrpSpPr/>
        <p:nvPr/>
      </p:nvGrpSpPr>
      <p:grpSpPr>
        <a:xfrm>
          <a:off x="0" y="0"/>
          <a:ext cx="0" cy="0"/>
          <a:chOff x="0" y="0"/>
          <a:chExt cx="0" cy="0"/>
        </a:xfrm>
      </p:grpSpPr>
      <p:sp>
        <p:nvSpPr>
          <p:cNvPr id="5" name="內容版面配置區 2">
            <a:extLst>
              <a:ext uri="{FF2B5EF4-FFF2-40B4-BE49-F238E27FC236}">
                <a16:creationId xmlns:a16="http://schemas.microsoft.com/office/drawing/2014/main" id="{BD56D23B-1EFC-6BB0-B185-AFE07C038D0E}"/>
              </a:ext>
            </a:extLst>
          </p:cNvPr>
          <p:cNvSpPr txBox="1">
            <a:spLocks/>
          </p:cNvSpPr>
          <p:nvPr/>
        </p:nvSpPr>
        <p:spPr>
          <a:xfrm>
            <a:off x="374672" y="504058"/>
            <a:ext cx="6716862"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十三</a:t>
            </a:r>
            <a:r>
              <a:rPr lang="en-US" altLang="zh-TW" sz="2800" b="1" dirty="0">
                <a:solidFill>
                  <a:schemeClr val="tx1"/>
                </a:solidFill>
              </a:rPr>
              <a:t>、2026年度OKR展望-</a:t>
            </a:r>
            <a:r>
              <a:rPr lang="zh-TW" altLang="en-US" sz="2800" b="1" dirty="0">
                <a:solidFill>
                  <a:schemeClr val="tx1"/>
                </a:solidFill>
              </a:rPr>
              <a:t>工程物流課</a:t>
            </a:r>
            <a:endParaRPr lang="en-US" altLang="zh-TW" sz="2800" b="1" dirty="0">
              <a:solidFill>
                <a:schemeClr val="tx1"/>
              </a:solidFill>
            </a:endParaRPr>
          </a:p>
        </p:txBody>
      </p:sp>
      <p:graphicFrame>
        <p:nvGraphicFramePr>
          <p:cNvPr id="3" name="表格 2">
            <a:extLst>
              <a:ext uri="{FF2B5EF4-FFF2-40B4-BE49-F238E27FC236}">
                <a16:creationId xmlns:a16="http://schemas.microsoft.com/office/drawing/2014/main" id="{05276C3B-CCEE-37E1-C733-209B4084FCE1}"/>
              </a:ext>
            </a:extLst>
          </p:cNvPr>
          <p:cNvGraphicFramePr>
            <a:graphicFrameLocks noGrp="1"/>
          </p:cNvGraphicFramePr>
          <p:nvPr/>
        </p:nvGraphicFramePr>
        <p:xfrm>
          <a:off x="1847528" y="1124744"/>
          <a:ext cx="8496944" cy="4680518"/>
        </p:xfrm>
        <a:graphic>
          <a:graphicData uri="http://schemas.openxmlformats.org/drawingml/2006/table">
            <a:tbl>
              <a:tblPr firstRow="1" bandRow="1">
                <a:tableStyleId>{5C22544A-7EE6-4342-B048-85BDC9FD1C3A}</a:tableStyleId>
              </a:tblPr>
              <a:tblGrid>
                <a:gridCol w="476249">
                  <a:extLst>
                    <a:ext uri="{9D8B030D-6E8A-4147-A177-3AD203B41FA5}">
                      <a16:colId xmlns:a16="http://schemas.microsoft.com/office/drawing/2014/main" val="1369220936"/>
                    </a:ext>
                  </a:extLst>
                </a:gridCol>
                <a:gridCol w="2404071">
                  <a:extLst>
                    <a:ext uri="{9D8B030D-6E8A-4147-A177-3AD203B41FA5}">
                      <a16:colId xmlns:a16="http://schemas.microsoft.com/office/drawing/2014/main" val="1019612997"/>
                    </a:ext>
                  </a:extLst>
                </a:gridCol>
                <a:gridCol w="580801">
                  <a:extLst>
                    <a:ext uri="{9D8B030D-6E8A-4147-A177-3AD203B41FA5}">
                      <a16:colId xmlns:a16="http://schemas.microsoft.com/office/drawing/2014/main" val="1763432319"/>
                    </a:ext>
                  </a:extLst>
                </a:gridCol>
                <a:gridCol w="5035823">
                  <a:extLst>
                    <a:ext uri="{9D8B030D-6E8A-4147-A177-3AD203B41FA5}">
                      <a16:colId xmlns:a16="http://schemas.microsoft.com/office/drawing/2014/main" val="789490434"/>
                    </a:ext>
                  </a:extLst>
                </a:gridCol>
              </a:tblGrid>
              <a:tr h="388095">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latin typeface="微軟正黑體" panose="020B0604030504040204" pitchFamily="34" charset="-120"/>
                          <a:ea typeface="微軟正黑體" panose="020B0604030504040204" pitchFamily="34" charset="-120"/>
                        </a:rPr>
                        <a:t>2026 Objectives</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tc gridSpan="2">
                  <a:txBody>
                    <a:bodyPr/>
                    <a:lstStyle/>
                    <a:p>
                      <a:pPr algn="ctr"/>
                      <a:r>
                        <a:rPr lang="en-US" altLang="zh-TW" sz="1600" b="1" dirty="0">
                          <a:solidFill>
                            <a:schemeClr val="tx1"/>
                          </a:solidFill>
                          <a:latin typeface="微軟正黑體" panose="020B0604030504040204" pitchFamily="34" charset="-120"/>
                          <a:ea typeface="微軟正黑體" panose="020B0604030504040204" pitchFamily="34" charset="-120"/>
                        </a:rPr>
                        <a:t>2026 Key Results</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extLst>
                  <a:ext uri="{0D108BD9-81ED-4DB2-BD59-A6C34878D82A}">
                    <a16:rowId xmlns:a16="http://schemas.microsoft.com/office/drawing/2014/main" val="1522600921"/>
                  </a:ext>
                </a:extLst>
              </a:tr>
              <a:tr h="398918">
                <a:tc rowSpan="4">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4">
                  <a:txBody>
                    <a:bodyPr/>
                    <a:lstStyle/>
                    <a:p>
                      <a:pPr algn="l">
                        <a:lnSpc>
                          <a:spcPts val="2000"/>
                        </a:lnSpc>
                      </a:pPr>
                      <a:r>
                        <a:rPr lang="zh-TW" altLang="en-US" sz="1600" b="1" dirty="0">
                          <a:solidFill>
                            <a:schemeClr val="tx1"/>
                          </a:solidFill>
                          <a:latin typeface="微軟正黑體" panose="020B0604030504040204" pitchFamily="34" charset="-120"/>
                          <a:ea typeface="微軟正黑體" panose="020B0604030504040204" pitchFamily="34" charset="-120"/>
                        </a:rPr>
                        <a:t>建立可複製、</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l">
                        <a:lnSpc>
                          <a:spcPts val="2000"/>
                        </a:lnSpc>
                      </a:pPr>
                      <a:r>
                        <a:rPr lang="zh-TW" altLang="en-US" sz="1600" b="1" dirty="0">
                          <a:solidFill>
                            <a:schemeClr val="tx1"/>
                          </a:solidFill>
                          <a:latin typeface="微軟正黑體" panose="020B0604030504040204" pitchFamily="34" charset="-120"/>
                          <a:ea typeface="微軟正黑體" panose="020B0604030504040204" pitchFamily="34" charset="-120"/>
                        </a:rPr>
                        <a:t>可控風險的工程標準系統</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l">
                        <a:lnSpc>
                          <a:spcPts val="2000"/>
                        </a:lnSpc>
                      </a:pPr>
                      <a:r>
                        <a:rPr lang="zh-TW" altLang="en-US" sz="1600" b="1" dirty="0">
                          <a:solidFill>
                            <a:schemeClr val="tx1"/>
                          </a:solidFill>
                          <a:latin typeface="微軟正黑體" panose="020B0604030504040204" pitchFamily="34" charset="-120"/>
                          <a:ea typeface="微軟正黑體" panose="020B0604030504040204" pitchFamily="34" charset="-120"/>
                        </a:rPr>
                        <a:t>（共</a:t>
                      </a:r>
                      <a:r>
                        <a:rPr lang="en-US" altLang="zh-TW" sz="1600" b="1" dirty="0">
                          <a:solidFill>
                            <a:schemeClr val="tx1"/>
                          </a:solidFill>
                          <a:latin typeface="微軟正黑體" panose="020B0604030504040204" pitchFamily="34" charset="-120"/>
                          <a:ea typeface="微軟正黑體" panose="020B0604030504040204" pitchFamily="34" charset="-120"/>
                        </a:rPr>
                        <a:t>2</a:t>
                      </a:r>
                      <a:r>
                        <a:rPr lang="zh-TW" altLang="en-US" sz="1600" b="1" dirty="0">
                          <a:solidFill>
                            <a:schemeClr val="tx1"/>
                          </a:solidFill>
                          <a:latin typeface="微軟正黑體" panose="020B0604030504040204" pitchFamily="34" charset="-120"/>
                          <a:ea typeface="微軟正黑體" panose="020B0604030504040204" pitchFamily="34" charset="-120"/>
                        </a:rPr>
                        <a:t>份驗收作業／</a:t>
                      </a:r>
                      <a:r>
                        <a:rPr lang="en-US" altLang="zh-TW" sz="1600" b="1" dirty="0">
                          <a:solidFill>
                            <a:schemeClr val="tx1"/>
                          </a:solidFill>
                          <a:latin typeface="微軟正黑體" panose="020B0604030504040204" pitchFamily="34" charset="-120"/>
                          <a:ea typeface="微軟正黑體" panose="020B0604030504040204" pitchFamily="34" charset="-120"/>
                        </a:rPr>
                        <a:t>3</a:t>
                      </a:r>
                      <a:r>
                        <a:rPr lang="zh-TW" altLang="en-US" sz="1600" b="1" dirty="0">
                          <a:solidFill>
                            <a:schemeClr val="tx1"/>
                          </a:solidFill>
                          <a:latin typeface="微軟正黑體" panose="020B0604030504040204" pitchFamily="34" charset="-120"/>
                          <a:ea typeface="微軟正黑體" panose="020B0604030504040204" pitchFamily="34" charset="-120"/>
                        </a:rPr>
                        <a:t>套／共</a:t>
                      </a:r>
                      <a:r>
                        <a:rPr lang="en-US" altLang="zh-TW" sz="1600" b="1" dirty="0">
                          <a:solidFill>
                            <a:schemeClr val="tx1"/>
                          </a:solidFill>
                          <a:latin typeface="微軟正黑體" panose="020B0604030504040204" pitchFamily="34" charset="-120"/>
                          <a:ea typeface="微軟正黑體" panose="020B0604030504040204" pitchFamily="34" charset="-120"/>
                        </a:rPr>
                        <a:t>6</a:t>
                      </a:r>
                      <a:r>
                        <a:rPr lang="zh-TW" altLang="en-US" sz="1600" b="1" dirty="0">
                          <a:solidFill>
                            <a:schemeClr val="tx1"/>
                          </a:solidFill>
                          <a:latin typeface="微軟正黑體" panose="020B0604030504040204" pitchFamily="34" charset="-120"/>
                          <a:ea typeface="微軟正黑體" panose="020B0604030504040204" pitchFamily="34" charset="-120"/>
                        </a:rPr>
                        <a:t>個示範點）</a:t>
                      </a:r>
                      <a:endParaRPr lang="en-US" altLang="zh-TW" sz="16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家用配管作業前（用戶現場）個案整理</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8555103"/>
                  </a:ext>
                </a:extLst>
              </a:tr>
              <a:tr h="398918">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重量計價商用配管與安檢標準與驗收作業</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6486647"/>
                  </a:ext>
                </a:extLst>
              </a:tr>
              <a:tr h="398918">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氣量計價商用配管與安檢標準與驗收作業</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4799357"/>
                  </a:ext>
                </a:extLst>
              </a:tr>
              <a:tr h="398918">
                <a:tc vMerge="1">
                  <a:txBody>
                    <a:bodyPr/>
                    <a:lstStyle/>
                    <a:p>
                      <a:pPr algn="ctr"/>
                      <a:endParaRPr lang="zh-TW" altLang="en-US" sz="1600" b="1" dirty="0">
                        <a:solidFill>
                          <a:schemeClr val="tx1"/>
                        </a:solidFill>
                        <a:latin typeface="Microsoft JhengHei Light" panose="020B0304030504040204" pitchFamily="34" charset="-120"/>
                        <a:ea typeface="Microsoft JhengHei Light" panose="020B03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vMerge="1">
                  <a:txBody>
                    <a:bodyPr/>
                    <a:lstStyle/>
                    <a:p>
                      <a:pPr algn="l">
                        <a:lnSpc>
                          <a:spcPct val="150000"/>
                        </a:lnSpc>
                      </a:pPr>
                      <a:endParaRPr lang="en-US" altLang="zh-TW" sz="1200" dirty="0">
                        <a:solidFill>
                          <a:schemeClr val="tx1"/>
                        </a:solidFill>
                        <a:latin typeface="Microsoft JhengHei Light" panose="020B0304030504040204" pitchFamily="34" charset="-120"/>
                        <a:ea typeface="Microsoft JhengHei Light" panose="020B03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KR4</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重量及氣量計價商用配管三個縣市按場域</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6</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個示範點</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5305331"/>
                  </a:ext>
                </a:extLst>
              </a:tr>
              <a:tr h="398918">
                <a:tc rowSpan="3">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O2</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dirty="0">
                          <a:solidFill>
                            <a:schemeClr val="tx1"/>
                          </a:solidFill>
                          <a:latin typeface="微軟正黑體" panose="020B0604030504040204" pitchFamily="34" charset="-120"/>
                          <a:ea typeface="微軟正黑體" panose="020B0604030504040204" pitchFamily="34" charset="-120"/>
                        </a:rPr>
                        <a:t>工程服務項目滿意度</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marL="0" marR="0" indent="0" algn="l" defTabSz="914400" rtl="0" eaLnBrk="1" fontAlgn="auto" latinLnBrk="0" hangingPunct="1">
                        <a:lnSpc>
                          <a:spcPts val="2000"/>
                        </a:lnSpc>
                        <a:spcBef>
                          <a:spcPts val="0"/>
                        </a:spcBef>
                        <a:spcAft>
                          <a:spcPts val="0"/>
                        </a:spcAft>
                        <a:buClrTx/>
                        <a:buSzTx/>
                        <a:buFontTx/>
                        <a:buNone/>
                        <a:tabLst/>
                        <a:defRPr/>
                      </a:pPr>
                      <a:r>
                        <a:rPr lang="en-US" altLang="zh-TW" sz="1600" b="1" dirty="0">
                          <a:solidFill>
                            <a:schemeClr val="tx1"/>
                          </a:solidFill>
                          <a:latin typeface="微軟正黑體" panose="020B0604030504040204" pitchFamily="34" charset="-120"/>
                          <a:ea typeface="微軟正黑體" panose="020B0604030504040204" pitchFamily="34" charset="-120"/>
                        </a:rPr>
                        <a:t>95%</a:t>
                      </a:r>
                      <a:r>
                        <a:rPr lang="zh-TW" altLang="en-US" sz="1600" b="1" dirty="0">
                          <a:solidFill>
                            <a:schemeClr val="tx1"/>
                          </a:solidFill>
                          <a:latin typeface="微軟正黑體" panose="020B0604030504040204" pitchFamily="34" charset="-120"/>
                          <a:ea typeface="微軟正黑體" panose="020B0604030504040204" pitchFamily="34" charset="-120"/>
                        </a:rPr>
                        <a:t>以上</a:t>
                      </a:r>
                      <a:endParaRPr lang="en-US" altLang="zh-TW" sz="16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委外工程資格認定與合約簽訂</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6565742"/>
                  </a:ext>
                </a:extLst>
              </a:tr>
              <a:tr h="398918">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委外工程品質管控標準作業提出與發佈</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0641237"/>
                  </a:ext>
                </a:extLst>
              </a:tr>
              <a:tr h="459530">
                <a:tc vMerge="1">
                  <a:txBody>
                    <a:bodyPr/>
                    <a:lstStyle/>
                    <a:p>
                      <a:endParaRPr lang="zh-TW" altLang="en-US"/>
                    </a:p>
                  </a:txBody>
                  <a:tcPr>
                    <a:lnT w="28575" cap="flat" cmpd="sng" algn="ctr">
                      <a:solidFill>
                        <a:schemeClr val="tx1"/>
                      </a:solidFill>
                      <a:prstDash val="solid"/>
                      <a:round/>
                      <a:headEnd type="none" w="med" len="med"/>
                      <a:tailEnd type="none" w="med" len="med"/>
                    </a:lnT>
                  </a:tcPr>
                </a:tc>
                <a:tc vMerge="1">
                  <a:txBody>
                    <a:bodyPr/>
                    <a:lstStyle/>
                    <a:p>
                      <a:endParaRPr lang="zh-TW" altLang="en-US"/>
                    </a:p>
                  </a:txBody>
                  <a:tcPr>
                    <a:lnT w="28575" cap="flat" cmpd="sng" algn="ctr">
                      <a:solidFill>
                        <a:schemeClr val="tx1"/>
                      </a:solidFill>
                      <a:prstDash val="solid"/>
                      <a:round/>
                      <a:headEnd type="none" w="med" len="med"/>
                      <a:tailEnd type="none" w="med" len="med"/>
                    </a:lnT>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委外工程客戶滿意度</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95%</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（五月起填滿意度調查）</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98918">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O3</a:t>
                      </a:r>
                      <a:endParaRPr lang="zh-TW" altLang="en-US"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9933"/>
                    </a:solidFill>
                  </a:tcPr>
                </a:tc>
                <a:tc rowSpan="3">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深化工程技術能力</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dirty="0">
                          <a:solidFill>
                            <a:schemeClr val="tx1"/>
                          </a:solidFill>
                          <a:latin typeface="微軟正黑體" panose="020B0604030504040204" pitchFamily="34" charset="-120"/>
                          <a:ea typeface="微軟正黑體" panose="020B0604030504040204" pitchFamily="34" charset="-120"/>
                        </a:rPr>
                        <a:t>（</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培養</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2-4</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人次具備</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工程技術職能</a:t>
                      </a:r>
                      <a:r>
                        <a:rPr lang="zh-TW" altLang="en-US" sz="1600" b="1" dirty="0">
                          <a:solidFill>
                            <a:schemeClr val="tx1"/>
                          </a:solidFill>
                          <a:latin typeface="微軟正黑體" panose="020B0604030504040204" pitchFamily="34" charset="-120"/>
                          <a:ea typeface="微軟正黑體" panose="020B0604030504040204" pitchFamily="34" charset="-120"/>
                        </a:rPr>
                        <a:t>）</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每月家用商用個案討論（各</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1</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件以上）</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121909"/>
                  </a:ext>
                </a:extLst>
              </a:tr>
              <a:tr h="398918">
                <a:tc vMerge="1">
                  <a:txBody>
                    <a:bodyPr/>
                    <a:lstStyle/>
                    <a:p>
                      <a:pPr algn="ctr"/>
                      <a:endParaRPr lang="zh-TW" altLang="en-US" sz="1600" b="1" kern="1200" dirty="0">
                        <a:solidFill>
                          <a:schemeClr val="tx1"/>
                        </a:solidFill>
                        <a:latin typeface="+mj-ea"/>
                        <a:ea typeface="+mj-ea"/>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E100"/>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100" b="0" kern="1200" dirty="0">
                        <a:solidFill>
                          <a:schemeClr val="tx1"/>
                        </a:solidFill>
                        <a:latin typeface="+mj-ea"/>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每一年培訓安全技術人員</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1-2</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位（實作</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證照）</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6012242"/>
                  </a:ext>
                </a:extLst>
              </a:tr>
              <a:tr h="64154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b="1" kern="1200" dirty="0">
                        <a:solidFill>
                          <a:schemeClr val="tx1"/>
                        </a:solidFill>
                        <a:latin typeface="Microsoft JhengHei Light" panose="020B0304030504040204" pitchFamily="34" charset="-120"/>
                        <a:ea typeface="Microsoft JhengHei Light" panose="020B03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每年挑選</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1-2</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位參加乙級配管或熱水器裝設或爐具維修或各項有關實務性相關課程</a:t>
                      </a: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4015653"/>
                  </a:ext>
                </a:extLst>
              </a:tr>
            </a:tbl>
          </a:graphicData>
        </a:graphic>
      </p:graphicFrame>
    </p:spTree>
    <p:extLst>
      <p:ext uri="{BB962C8B-B14F-4D97-AF65-F5344CB8AC3E}">
        <p14:creationId xmlns:p14="http://schemas.microsoft.com/office/powerpoint/2010/main" val="382780693"/>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40DE2-992C-A800-B3F7-7FFA0E01930D}"/>
            </a:ext>
          </a:extLst>
        </p:cNvPr>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A7F947F0-0D7F-454A-BC1D-DC27A35AFB8E}"/>
              </a:ext>
            </a:extLst>
          </p:cNvPr>
          <p:cNvGraphicFramePr>
            <a:graphicFrameLocks noGrp="1"/>
          </p:cNvGraphicFramePr>
          <p:nvPr/>
        </p:nvGraphicFramePr>
        <p:xfrm>
          <a:off x="1721930" y="1124745"/>
          <a:ext cx="8748140" cy="4824538"/>
        </p:xfrm>
        <a:graphic>
          <a:graphicData uri="http://schemas.openxmlformats.org/drawingml/2006/table">
            <a:tbl>
              <a:tblPr firstRow="1" bandRow="1">
                <a:tableStyleId>{5C22544A-7EE6-4342-B048-85BDC9FD1C3A}</a:tableStyleId>
              </a:tblPr>
              <a:tblGrid>
                <a:gridCol w="488427">
                  <a:extLst>
                    <a:ext uri="{9D8B030D-6E8A-4147-A177-3AD203B41FA5}">
                      <a16:colId xmlns:a16="http://schemas.microsoft.com/office/drawing/2014/main" val="1369220936"/>
                    </a:ext>
                  </a:extLst>
                </a:gridCol>
                <a:gridCol w="2535908">
                  <a:extLst>
                    <a:ext uri="{9D8B030D-6E8A-4147-A177-3AD203B41FA5}">
                      <a16:colId xmlns:a16="http://schemas.microsoft.com/office/drawing/2014/main" val="1019612997"/>
                    </a:ext>
                  </a:extLst>
                </a:gridCol>
                <a:gridCol w="632460">
                  <a:extLst>
                    <a:ext uri="{9D8B030D-6E8A-4147-A177-3AD203B41FA5}">
                      <a16:colId xmlns:a16="http://schemas.microsoft.com/office/drawing/2014/main" val="1763432319"/>
                    </a:ext>
                  </a:extLst>
                </a:gridCol>
                <a:gridCol w="5091345">
                  <a:extLst>
                    <a:ext uri="{9D8B030D-6E8A-4147-A177-3AD203B41FA5}">
                      <a16:colId xmlns:a16="http://schemas.microsoft.com/office/drawing/2014/main" val="789490434"/>
                    </a:ext>
                  </a:extLst>
                </a:gridCol>
              </a:tblGrid>
              <a:tr h="359377">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latin typeface="微軟正黑體" panose="020B0604030504040204" pitchFamily="34" charset="-120"/>
                          <a:ea typeface="微軟正黑體" panose="020B0604030504040204" pitchFamily="34" charset="-120"/>
                        </a:rPr>
                        <a:t>2026 Objectives</a:t>
                      </a:r>
                    </a:p>
                  </a:txBody>
                  <a:tcPr marL="68580" marR="68580" marT="34290" marB="34290" anchor="ctr">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tc gridSpan="2">
                  <a:txBody>
                    <a:bodyPr/>
                    <a:lstStyle/>
                    <a:p>
                      <a:pPr algn="ctr"/>
                      <a:r>
                        <a:rPr lang="en-US" altLang="zh-TW" sz="1600" b="1" dirty="0">
                          <a:solidFill>
                            <a:schemeClr val="tx1"/>
                          </a:solidFill>
                          <a:latin typeface="微軟正黑體" panose="020B0604030504040204" pitchFamily="34" charset="-120"/>
                          <a:ea typeface="微軟正黑體" panose="020B0604030504040204" pitchFamily="34" charset="-120"/>
                        </a:rPr>
                        <a:t>2026 Key Results</a:t>
                      </a:r>
                    </a:p>
                  </a:txBody>
                  <a:tcPr marL="68580" marR="68580" marT="34290" marB="34290" anchor="ctr">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extLst>
                  <a:ext uri="{0D108BD9-81ED-4DB2-BD59-A6C34878D82A}">
                    <a16:rowId xmlns:a16="http://schemas.microsoft.com/office/drawing/2014/main" val="1522600921"/>
                  </a:ext>
                </a:extLst>
              </a:tr>
              <a:tr h="460909">
                <a:tc rowSpan="3">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algn="l">
                        <a:lnSpc>
                          <a:spcPts val="2000"/>
                        </a:lnSpc>
                      </a:pPr>
                      <a:r>
                        <a:rPr lang="zh-TW" altLang="en-US" sz="1800" b="1" dirty="0">
                          <a:solidFill>
                            <a:schemeClr val="tx1"/>
                          </a:solidFill>
                          <a:latin typeface="微軟正黑體" panose="020B0604030504040204" pitchFamily="34" charset="-120"/>
                          <a:ea typeface="微軟正黑體" panose="020B0604030504040204" pitchFamily="34" charset="-120"/>
                        </a:rPr>
                        <a:t>提升安心物流配送</a:t>
                      </a:r>
                    </a:p>
                    <a:p>
                      <a:pPr algn="l">
                        <a:lnSpc>
                          <a:spcPts val="2000"/>
                        </a:lnSpc>
                      </a:pPr>
                      <a:r>
                        <a:rPr lang="zh-TW" altLang="en-US" sz="1800" b="1" dirty="0">
                          <a:solidFill>
                            <a:schemeClr val="tx1"/>
                          </a:solidFill>
                          <a:latin typeface="微軟正黑體" panose="020B0604030504040204" pitchFamily="34" charset="-120"/>
                          <a:ea typeface="微軟正黑體" panose="020B0604030504040204" pitchFamily="34" charset="-120"/>
                        </a:rPr>
                        <a:t>服務滿意度</a:t>
                      </a:r>
                      <a:r>
                        <a:rPr lang="en-US" altLang="zh-TW" sz="1800" b="1" dirty="0">
                          <a:solidFill>
                            <a:schemeClr val="tx1"/>
                          </a:solidFill>
                          <a:latin typeface="微軟正黑體" panose="020B0604030504040204" pitchFamily="34" charset="-120"/>
                          <a:ea typeface="微軟正黑體" panose="020B0604030504040204" pitchFamily="34" charset="-120"/>
                        </a:rPr>
                        <a:t>95</a:t>
                      </a:r>
                      <a:r>
                        <a:rPr lang="zh-TW" altLang="en-US" sz="1800" b="1" dirty="0">
                          <a:solidFill>
                            <a:schemeClr val="tx1"/>
                          </a:solidFill>
                          <a:latin typeface="微軟正黑體" panose="020B0604030504040204" pitchFamily="34" charset="-120"/>
                          <a:ea typeface="微軟正黑體" panose="020B0604030504040204" pitchFamily="34" charset="-120"/>
                        </a:rPr>
                        <a:t>％</a:t>
                      </a:r>
                      <a:endParaRPr lang="en-US" altLang="zh-TW"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落實物流配送作業標準建立獎勵處罰機制</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8555103"/>
                  </a:ext>
                </a:extLst>
              </a:tr>
              <a:tr h="460909">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培養安全性駕駛習慣及做好車輛維保</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6486647"/>
                  </a:ext>
                </a:extLst>
              </a:tr>
              <a:tr h="566569">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導入安心用氣意識（以個案為例：漏氣處理</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管線地底下爆炸</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黃紅火</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調壓壓器故障）</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4799357"/>
                  </a:ext>
                </a:extLst>
              </a:tr>
              <a:tr h="566569">
                <a:tc rowSpan="3">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O2</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800" b="1" dirty="0">
                          <a:solidFill>
                            <a:schemeClr val="tx1"/>
                          </a:solidFill>
                          <a:latin typeface="微軟正黑體" panose="020B0604030504040204" pitchFamily="34" charset="-120"/>
                          <a:ea typeface="微軟正黑體" panose="020B0604030504040204" pitchFamily="34" charset="-120"/>
                        </a:rPr>
                        <a:t>建立可預期物流補貨</a:t>
                      </a:r>
                      <a:endParaRPr lang="en-US" altLang="zh-TW" sz="1800" b="1" dirty="0">
                        <a:solidFill>
                          <a:schemeClr val="tx1"/>
                        </a:solidFill>
                        <a:latin typeface="微軟正黑體" panose="020B0604030504040204" pitchFamily="34" charset="-120"/>
                        <a:ea typeface="微軟正黑體" panose="020B0604030504040204" pitchFamily="34" charset="-120"/>
                      </a:endParaRPr>
                    </a:p>
                    <a:p>
                      <a:pPr marL="0" marR="0" indent="0" algn="l" defTabSz="914400" rtl="0" eaLnBrk="1" fontAlgn="auto" latinLnBrk="0" hangingPunct="1">
                        <a:lnSpc>
                          <a:spcPts val="2000"/>
                        </a:lnSpc>
                        <a:spcBef>
                          <a:spcPts val="0"/>
                        </a:spcBef>
                        <a:spcAft>
                          <a:spcPts val="0"/>
                        </a:spcAft>
                        <a:buClrTx/>
                        <a:buSzTx/>
                        <a:buFontTx/>
                        <a:buNone/>
                        <a:tabLst/>
                        <a:defRPr/>
                      </a:pPr>
                      <a:r>
                        <a:rPr lang="zh-TW" altLang="en-US" sz="1800" b="1" dirty="0">
                          <a:solidFill>
                            <a:schemeClr val="tx1"/>
                          </a:solidFill>
                          <a:latin typeface="微軟正黑體" panose="020B0604030504040204" pitchFamily="34" charset="-120"/>
                          <a:ea typeface="微軟正黑體" panose="020B0604030504040204" pitchFamily="34" charset="-120"/>
                        </a:rPr>
                        <a:t>調度模型及結案率</a:t>
                      </a:r>
                      <a:r>
                        <a:rPr lang="en-US" altLang="zh-TW" sz="1800" b="1" dirty="0">
                          <a:solidFill>
                            <a:schemeClr val="tx1"/>
                          </a:solidFill>
                          <a:latin typeface="微軟正黑體" panose="020B0604030504040204" pitchFamily="34" charset="-120"/>
                          <a:ea typeface="微軟正黑體" panose="020B0604030504040204" pitchFamily="34" charset="-120"/>
                        </a:rPr>
                        <a:t>99%</a:t>
                      </a: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依每日</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AB</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區出勤人數上下限</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建立「低人力／滿人力」兩種調度模組</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6565742"/>
                  </a:ext>
                </a:extLst>
              </a:tr>
              <a:tr h="460909">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導入每天上班工時十小時制度，有效運用人力</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0641237"/>
                  </a:ext>
                </a:extLst>
              </a:tr>
              <a:tr h="566569">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AB</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區與主巡技能提升（車輛大小貨車綁桶及駕駛技術</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/TC</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作業差異</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智取櫃作業</a:t>
                      </a: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店家作業）</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60909">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O3</a:t>
                      </a:r>
                      <a:endParaRPr lang="zh-TW" altLang="en-US"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3">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建立台中桃園新北物流及工程委外供應商</a:t>
                      </a:r>
                    </a:p>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（每縣市至少各</a:t>
                      </a: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1</a:t>
                      </a:r>
                      <a:r>
                        <a:rPr lang="zh-TW" altLang="en-US" sz="1800" b="1" kern="1200" dirty="0">
                          <a:solidFill>
                            <a:schemeClr val="tx1"/>
                          </a:solidFill>
                          <a:latin typeface="微軟正黑體" panose="020B0604030504040204" pitchFamily="34" charset="-120"/>
                          <a:ea typeface="微軟正黑體" panose="020B0604030504040204" pitchFamily="34" charset="-120"/>
                          <a:cs typeface="+mn-cs"/>
                        </a:rPr>
                        <a:t>家）</a:t>
                      </a:r>
                      <a:endParaRPr lang="en-US" altLang="zh-TW"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品質管控標準作業提出與發佈</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121909"/>
                  </a:ext>
                </a:extLst>
              </a:tr>
              <a:tr h="460909">
                <a:tc vMerge="1">
                  <a:txBody>
                    <a:bodyPr/>
                    <a:lstStyle/>
                    <a:p>
                      <a:pPr algn="ctr"/>
                      <a:endParaRPr lang="zh-TW" altLang="en-US" sz="1600" b="1" kern="1200" dirty="0">
                        <a:solidFill>
                          <a:schemeClr val="tx1"/>
                        </a:solidFill>
                        <a:latin typeface="+mj-ea"/>
                        <a:ea typeface="+mj-ea"/>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E100"/>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100" b="0" kern="1200" dirty="0">
                        <a:solidFill>
                          <a:schemeClr val="tx1"/>
                        </a:solidFill>
                        <a:latin typeface="+mj-ea"/>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桃園物流代運與工程代安裝業者開發與簽約</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6012242"/>
                  </a:ext>
                </a:extLst>
              </a:tr>
              <a:tr h="460909">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新北物流代運與工程代安裝業者開發與簽約</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5622728"/>
                  </a:ext>
                </a:extLst>
              </a:tr>
            </a:tbl>
          </a:graphicData>
        </a:graphic>
      </p:graphicFrame>
      <p:sp>
        <p:nvSpPr>
          <p:cNvPr id="2" name="內容版面配置區 2">
            <a:extLst>
              <a:ext uri="{FF2B5EF4-FFF2-40B4-BE49-F238E27FC236}">
                <a16:creationId xmlns:a16="http://schemas.microsoft.com/office/drawing/2014/main" id="{E2F5E9ED-B2E6-E643-6213-59702E5982EB}"/>
              </a:ext>
            </a:extLst>
          </p:cNvPr>
          <p:cNvSpPr txBox="1">
            <a:spLocks/>
          </p:cNvSpPr>
          <p:nvPr/>
        </p:nvSpPr>
        <p:spPr>
          <a:xfrm>
            <a:off x="374672" y="504058"/>
            <a:ext cx="6716862"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十三</a:t>
            </a:r>
            <a:r>
              <a:rPr lang="en-US" altLang="zh-TW" sz="2800" b="1" dirty="0">
                <a:solidFill>
                  <a:schemeClr val="tx1"/>
                </a:solidFill>
              </a:rPr>
              <a:t>、2026年度OKR展望-</a:t>
            </a:r>
            <a:r>
              <a:rPr lang="zh-TW" altLang="en-US" sz="2800" b="1" dirty="0">
                <a:solidFill>
                  <a:schemeClr val="tx1"/>
                </a:solidFill>
              </a:rPr>
              <a:t>工程物流課</a:t>
            </a:r>
            <a:endParaRPr lang="en-US" altLang="zh-TW" sz="2800" b="1" dirty="0">
              <a:solidFill>
                <a:schemeClr val="tx1"/>
              </a:solidFill>
            </a:endParaRPr>
          </a:p>
        </p:txBody>
      </p:sp>
    </p:spTree>
    <p:extLst>
      <p:ext uri="{BB962C8B-B14F-4D97-AF65-F5344CB8AC3E}">
        <p14:creationId xmlns:p14="http://schemas.microsoft.com/office/powerpoint/2010/main" val="2930084904"/>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39940-8B8C-5D39-DF64-AE2AFC3AA2BC}"/>
            </a:ext>
          </a:extLst>
        </p:cNvPr>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0010FEAC-AD05-C359-8518-D786DC4732FE}"/>
              </a:ext>
            </a:extLst>
          </p:cNvPr>
          <p:cNvGraphicFramePr>
            <a:graphicFrameLocks noGrp="1"/>
          </p:cNvGraphicFramePr>
          <p:nvPr/>
        </p:nvGraphicFramePr>
        <p:xfrm>
          <a:off x="1847528" y="1124744"/>
          <a:ext cx="8496944" cy="4968552"/>
        </p:xfrm>
        <a:graphic>
          <a:graphicData uri="http://schemas.openxmlformats.org/drawingml/2006/table">
            <a:tbl>
              <a:tblPr firstRow="1" bandRow="1">
                <a:tableStyleId>{5C22544A-7EE6-4342-B048-85BDC9FD1C3A}</a:tableStyleId>
              </a:tblPr>
              <a:tblGrid>
                <a:gridCol w="476249">
                  <a:extLst>
                    <a:ext uri="{9D8B030D-6E8A-4147-A177-3AD203B41FA5}">
                      <a16:colId xmlns:a16="http://schemas.microsoft.com/office/drawing/2014/main" val="1369220936"/>
                    </a:ext>
                  </a:extLst>
                </a:gridCol>
                <a:gridCol w="2371520">
                  <a:extLst>
                    <a:ext uri="{9D8B030D-6E8A-4147-A177-3AD203B41FA5}">
                      <a16:colId xmlns:a16="http://schemas.microsoft.com/office/drawing/2014/main" val="1019612997"/>
                    </a:ext>
                  </a:extLst>
                </a:gridCol>
                <a:gridCol w="613352">
                  <a:extLst>
                    <a:ext uri="{9D8B030D-6E8A-4147-A177-3AD203B41FA5}">
                      <a16:colId xmlns:a16="http://schemas.microsoft.com/office/drawing/2014/main" val="1763432319"/>
                    </a:ext>
                  </a:extLst>
                </a:gridCol>
                <a:gridCol w="5035823">
                  <a:extLst>
                    <a:ext uri="{9D8B030D-6E8A-4147-A177-3AD203B41FA5}">
                      <a16:colId xmlns:a16="http://schemas.microsoft.com/office/drawing/2014/main" val="789490434"/>
                    </a:ext>
                  </a:extLst>
                </a:gridCol>
              </a:tblGrid>
              <a:tr h="338575">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latin typeface="微軟正黑體" panose="020B0604030504040204" pitchFamily="34" charset="-120"/>
                          <a:ea typeface="微軟正黑體" panose="020B0604030504040204" pitchFamily="34" charset="-120"/>
                        </a:rPr>
                        <a:t>2026 Objectives</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tc gridSpan="2">
                  <a:txBody>
                    <a:bodyPr/>
                    <a:lstStyle/>
                    <a:p>
                      <a:pPr algn="ctr"/>
                      <a:r>
                        <a:rPr lang="en-US" altLang="zh-TW" sz="1600" b="1" dirty="0">
                          <a:solidFill>
                            <a:schemeClr val="tx1"/>
                          </a:solidFill>
                          <a:latin typeface="微軟正黑體" panose="020B0604030504040204" pitchFamily="34" charset="-120"/>
                          <a:ea typeface="微軟正黑體" panose="020B0604030504040204" pitchFamily="34" charset="-120"/>
                        </a:rPr>
                        <a:t>2026 Key Results</a:t>
                      </a:r>
                    </a:p>
                  </a:txBody>
                  <a:tcPr marL="68580" marR="68580" marT="34290" marB="3429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hMerge="1">
                  <a:txBody>
                    <a:bodyPr/>
                    <a:lstStyle/>
                    <a:p>
                      <a:endParaRPr lang="zh-TW" altLang="en-US" dirty="0"/>
                    </a:p>
                  </a:txBody>
                  <a:tcPr/>
                </a:tc>
                <a:extLst>
                  <a:ext uri="{0D108BD9-81ED-4DB2-BD59-A6C34878D82A}">
                    <a16:rowId xmlns:a16="http://schemas.microsoft.com/office/drawing/2014/main" val="1522600921"/>
                  </a:ext>
                </a:extLst>
              </a:tr>
              <a:tr h="348017">
                <a:tc rowSpan="4">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4">
                  <a:txBody>
                    <a:bodyPr/>
                    <a:lstStyle/>
                    <a:p>
                      <a:pPr algn="l">
                        <a:lnSpc>
                          <a:spcPts val="2000"/>
                        </a:lnSpc>
                      </a:pPr>
                      <a:r>
                        <a:rPr lang="zh-TW" altLang="en-US" sz="1600" b="1" dirty="0">
                          <a:solidFill>
                            <a:schemeClr val="tx1"/>
                          </a:solidFill>
                          <a:latin typeface="微軟正黑體" panose="020B0604030504040204" pitchFamily="34" charset="-120"/>
                          <a:ea typeface="微軟正黑體" panose="020B0604030504040204" pitchFamily="34" charset="-120"/>
                        </a:rPr>
                        <a:t>旺來資訊轉型規劃</a:t>
                      </a:r>
                      <a:endParaRPr lang="en-US" altLang="zh-TW" sz="16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資訊計畫完成定案</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8555103"/>
                  </a:ext>
                </a:extLst>
              </a:tr>
              <a:tr h="348017">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lnSpc>
                          <a:spcPts val="2000"/>
                        </a:lnSpc>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顧問協同專案作業</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6486647"/>
                  </a:ext>
                </a:extLst>
              </a:tr>
              <a:tr h="348017">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完成三項系統規格</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4799357"/>
                  </a:ext>
                </a:extLst>
              </a:tr>
              <a:tr h="348017">
                <a:tc vMerge="1">
                  <a:txBody>
                    <a:bodyPr/>
                    <a:lstStyle/>
                    <a:p>
                      <a:pPr algn="ctr"/>
                      <a:endParaRPr lang="zh-TW" altLang="en-US" sz="1600" b="1" dirty="0">
                        <a:solidFill>
                          <a:schemeClr val="tx1"/>
                        </a:solidFill>
                        <a:latin typeface="Microsoft JhengHei Light" panose="020B0304030504040204" pitchFamily="34" charset="-120"/>
                        <a:ea typeface="Microsoft JhengHei Light" panose="020B03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vMerge="1">
                  <a:txBody>
                    <a:bodyPr/>
                    <a:lstStyle/>
                    <a:p>
                      <a:pPr algn="l">
                        <a:lnSpc>
                          <a:spcPct val="150000"/>
                        </a:lnSpc>
                      </a:pPr>
                      <a:endParaRPr lang="en-US" altLang="zh-TW" sz="1200" dirty="0">
                        <a:solidFill>
                          <a:schemeClr val="tx1"/>
                        </a:solidFill>
                        <a:latin typeface="Microsoft JhengHei Light" panose="020B0304030504040204" pitchFamily="34" charset="-120"/>
                        <a:ea typeface="Microsoft JhengHei Light" panose="020B03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KR4</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完成廠商評選發包</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5305331"/>
                  </a:ext>
                </a:extLst>
              </a:tr>
              <a:tr h="348017">
                <a:tc rowSpan="5">
                  <a:txBody>
                    <a:bodyPr/>
                    <a:lstStyle/>
                    <a:p>
                      <a:pPr algn="ctr"/>
                      <a:r>
                        <a:rPr lang="en-US" altLang="zh-TW" sz="1800" b="1" dirty="0">
                          <a:solidFill>
                            <a:schemeClr val="tx1"/>
                          </a:solidFill>
                          <a:latin typeface="微軟正黑體" panose="020B0604030504040204" pitchFamily="34" charset="-120"/>
                          <a:ea typeface="微軟正黑體" panose="020B0604030504040204" pitchFamily="34" charset="-120"/>
                        </a:rPr>
                        <a:t>O2</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rowSpan="5">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dirty="0">
                          <a:solidFill>
                            <a:schemeClr val="tx1"/>
                          </a:solidFill>
                          <a:latin typeface="微軟正黑體" panose="020B0604030504040204" pitchFamily="34" charset="-120"/>
                          <a:ea typeface="微軟正黑體" panose="020B0604030504040204" pitchFamily="34" charset="-120"/>
                        </a:rPr>
                        <a:t>核心系統全面上線</a:t>
                      </a:r>
                      <a:endParaRPr lang="en-US" altLang="zh-TW" sz="16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交換平台正式上線</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6565742"/>
                  </a:ext>
                </a:extLst>
              </a:tr>
              <a:tr h="348017">
                <a:tc vMerge="1">
                  <a:txBody>
                    <a:bodyPr/>
                    <a:lstStyle/>
                    <a:p>
                      <a:endParaRPr lang="zh-TW" altLang="en-US" dirty="0"/>
                    </a:p>
                  </a:txBody>
                  <a:tcPr/>
                </a:tc>
                <a:tc vMerge="1">
                  <a:txBody>
                    <a:bodyPr/>
                    <a:lstStyle/>
                    <a:p>
                      <a:endParaRPr lang="zh-TW" altLang="en-US" dirty="0"/>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營運系統正式上線</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70641237"/>
                  </a:ext>
                </a:extLst>
              </a:tr>
              <a:tr h="348017">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網站應用系統上線</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00895">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KR4</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智取櫃系統規格書</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00895">
                <a:tc vMerge="1">
                  <a:txBody>
                    <a:bodyPr/>
                    <a:lstStyle/>
                    <a:p>
                      <a:pPr algn="ct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vMerge="1">
                  <a:txBody>
                    <a:bodyPr/>
                    <a:lstStyle/>
                    <a:p>
                      <a:pPr marL="0" marR="0" indent="0" algn="l" defTabSz="914400" rtl="0" eaLnBrk="1" fontAlgn="auto" latinLnBrk="0" hangingPunct="1">
                        <a:lnSpc>
                          <a:spcPts val="2000"/>
                        </a:lnSpc>
                        <a:spcBef>
                          <a:spcPts val="0"/>
                        </a:spcBef>
                        <a:spcAft>
                          <a:spcPts val="0"/>
                        </a:spcAft>
                        <a:buClrTx/>
                        <a:buSzTx/>
                        <a:buFontTx/>
                        <a:buNone/>
                        <a:tabLst/>
                        <a:defRPr/>
                      </a:pPr>
                      <a:endParaRPr lang="en-US" altLang="zh-TW" sz="16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KR5</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en-US" altLang="zh-TW" sz="1600" b="1" kern="1200" dirty="0">
                          <a:solidFill>
                            <a:schemeClr val="tx1"/>
                          </a:solidFill>
                          <a:latin typeface="微軟正黑體" panose="020B0604030504040204" pitchFamily="34" charset="-120"/>
                          <a:ea typeface="微軟正黑體" panose="020B0604030504040204" pitchFamily="34" charset="-120"/>
                          <a:cs typeface="+mn-cs"/>
                        </a:rPr>
                        <a:t>POS</a:t>
                      </a: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系統規格完成</a:t>
                      </a:r>
                    </a:p>
                  </a:txBody>
                  <a:tcPr marL="68580" marR="68580" marT="34290" marB="3429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905453"/>
                  </a:ext>
                </a:extLst>
              </a:tr>
              <a:tr h="348017">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kern="1200" dirty="0">
                          <a:solidFill>
                            <a:schemeClr val="tx1"/>
                          </a:solidFill>
                          <a:latin typeface="微軟正黑體" panose="020B0604030504040204" pitchFamily="34" charset="-120"/>
                          <a:ea typeface="微軟正黑體" panose="020B0604030504040204" pitchFamily="34" charset="-120"/>
                          <a:cs typeface="+mn-cs"/>
                        </a:rPr>
                        <a:t>O3</a:t>
                      </a:r>
                      <a:endParaRPr lang="zh-TW" altLang="en-US" sz="18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9933"/>
                    </a:solidFill>
                  </a:tcPr>
                </a:tc>
                <a:tc rowSpan="4">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異質系統策略合作</a:t>
                      </a:r>
                      <a:endParaRPr lang="en-US" altLang="zh-TW" sz="1600" b="1"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FFFFCC"/>
                    </a:solidFill>
                  </a:tcPr>
                </a:tc>
                <a:tc>
                  <a:txBody>
                    <a:bodyPr/>
                    <a:lstStyle/>
                    <a:p>
                      <a:pPr algn="ctr">
                        <a:lnSpc>
                          <a:spcPts val="2000"/>
                        </a:lnSpc>
                      </a:pPr>
                      <a:r>
                        <a:rPr lang="en-US" altLang="zh-TW" sz="1800" b="1" dirty="0">
                          <a:solidFill>
                            <a:schemeClr val="tx1"/>
                          </a:solidFill>
                          <a:latin typeface="微軟正黑體" panose="020B0604030504040204" pitchFamily="34" charset="-120"/>
                          <a:ea typeface="微軟正黑體" panose="020B0604030504040204" pitchFamily="34" charset="-120"/>
                        </a:rPr>
                        <a:t>KR1</a:t>
                      </a:r>
                      <a:endParaRPr lang="zh-TW" altLang="en-US" sz="1800" b="1" dirty="0">
                        <a:solidFill>
                          <a:schemeClr val="tx1"/>
                        </a:solidFill>
                        <a:latin typeface="微軟正黑體" panose="020B0604030504040204" pitchFamily="34" charset="-120"/>
                        <a:ea typeface="微軟正黑體" panose="020B0604030504040204" pitchFamily="34" charset="-120"/>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鎖定三家合作廠商</a:t>
                      </a: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121909"/>
                  </a:ext>
                </a:extLst>
              </a:tr>
              <a:tr h="348017">
                <a:tc vMerge="1">
                  <a:txBody>
                    <a:bodyPr/>
                    <a:lstStyle/>
                    <a:p>
                      <a:pPr algn="ctr"/>
                      <a:endParaRPr lang="zh-TW" altLang="en-US" sz="1600" b="1" kern="1200" dirty="0">
                        <a:solidFill>
                          <a:schemeClr val="tx1"/>
                        </a:solidFill>
                        <a:latin typeface="+mj-ea"/>
                        <a:ea typeface="+mj-ea"/>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E100"/>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100" b="0" kern="1200" dirty="0">
                        <a:solidFill>
                          <a:schemeClr val="tx1"/>
                        </a:solidFill>
                        <a:latin typeface="+mj-ea"/>
                        <a:ea typeface="+mn-ea"/>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KR2</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完成合作模式定案</a:t>
                      </a: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6012242"/>
                  </a:ext>
                </a:extLst>
              </a:tr>
              <a:tr h="348017">
                <a:tc vMerge="1">
                  <a:txBody>
                    <a:bodyPr/>
                    <a:lstStyle/>
                    <a:p>
                      <a:endParaRPr lang="zh-TW" altLang="en-US"/>
                    </a:p>
                  </a:txBody>
                  <a:tcPr/>
                </a:tc>
                <a:tc vMerge="1">
                  <a:txBody>
                    <a:bodyPr/>
                    <a:lstStyle/>
                    <a:p>
                      <a:endParaRPr lang="zh-TW" altLang="en-US"/>
                    </a:p>
                  </a:txBody>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KR3</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完成合作備忘文件</a:t>
                      </a: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5622728"/>
                  </a:ext>
                </a:extLst>
              </a:tr>
              <a:tr h="34801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b="1" kern="1200" dirty="0">
                        <a:solidFill>
                          <a:schemeClr val="tx1"/>
                        </a:solidFill>
                        <a:latin typeface="Microsoft JhengHei Light" panose="020B0304030504040204" pitchFamily="34" charset="-120"/>
                        <a:ea typeface="Microsoft JhengHei Light" panose="020B03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9933"/>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400" b="0" kern="1200" dirty="0">
                        <a:solidFill>
                          <a:schemeClr val="tx1"/>
                        </a:solidFill>
                        <a:latin typeface="微軟正黑體" panose="020B0604030504040204" pitchFamily="34" charset="-120"/>
                        <a:ea typeface="微軟正黑體" panose="020B0604030504040204" pitchFamily="34" charset="-120"/>
                        <a:cs typeface="+mn-cs"/>
                      </a:endParaRP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CC"/>
                    </a:solidFill>
                  </a:tcPr>
                </a:tc>
                <a:tc>
                  <a:txBody>
                    <a:bodyPr/>
                    <a:lstStyle/>
                    <a:p>
                      <a:pPr marL="0" marR="0" lvl="0" indent="0" algn="ctr" defTabSz="457200" rtl="0" eaLnBrk="1" fontAlgn="auto" latinLnBrk="0" hangingPunct="1">
                        <a:lnSpc>
                          <a:spcPts val="2000"/>
                        </a:lnSpc>
                        <a:spcBef>
                          <a:spcPts val="0"/>
                        </a:spcBef>
                        <a:spcAft>
                          <a:spcPts val="0"/>
                        </a:spcAft>
                        <a:buClrTx/>
                        <a:buSzTx/>
                        <a:buFontTx/>
                        <a:buNone/>
                        <a:tabLst/>
                        <a:defRPr/>
                      </a:pPr>
                      <a:r>
                        <a:rPr kumimoji="0" lang="en-US" altLang="zh-TW"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rPr>
                        <a:t>KR4</a:t>
                      </a:r>
                      <a:endParaRPr kumimoji="0" lang="zh-TW" altLang="en-US" sz="1800" b="1" i="0" u="none" strike="noStrike" kern="1200" cap="none" spc="0" normalizeH="0" baseline="0" noProof="0" dirty="0">
                        <a:ln>
                          <a:noFill/>
                        </a:ln>
                        <a:solidFill>
                          <a:schemeClr val="tx1"/>
                        </a:solidFill>
                        <a:effectLst/>
                        <a:uLnTx/>
                        <a:uFillTx/>
                        <a:latin typeface="微軟正黑體" panose="020B0604030504040204" pitchFamily="34" charset="-120"/>
                        <a:ea typeface="微軟正黑體" panose="020B0604030504040204" pitchFamily="34" charset="-120"/>
                        <a:cs typeface="+mn-cs"/>
                      </a:endParaRPr>
                    </a:p>
                  </a:txBody>
                  <a:tcPr marL="68580" marR="68580" marT="34290" marB="3429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ts val="2000"/>
                        </a:lnSpc>
                        <a:spcBef>
                          <a:spcPts val="0"/>
                        </a:spcBef>
                        <a:spcAft>
                          <a:spcPts val="0"/>
                        </a:spcAft>
                        <a:buClrTx/>
                        <a:buSzTx/>
                        <a:buFontTx/>
                        <a:buNone/>
                        <a:tabLst/>
                        <a:defRPr/>
                      </a:pPr>
                      <a:r>
                        <a:rPr lang="zh-TW" altLang="en-US" sz="1600" b="1" kern="1200" dirty="0">
                          <a:solidFill>
                            <a:schemeClr val="tx1"/>
                          </a:solidFill>
                          <a:latin typeface="微軟正黑體" panose="020B0604030504040204" pitchFamily="34" charset="-120"/>
                          <a:ea typeface="微軟正黑體" panose="020B0604030504040204" pitchFamily="34" charset="-120"/>
                          <a:cs typeface="+mn-cs"/>
                        </a:rPr>
                        <a:t>完成技術整合設計</a:t>
                      </a:r>
                    </a:p>
                  </a:txBody>
                  <a:tcPr marL="68580" marR="68580" marT="34290" marB="3429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4015653"/>
                  </a:ext>
                </a:extLst>
              </a:tr>
            </a:tbl>
          </a:graphicData>
        </a:graphic>
      </p:graphicFrame>
      <p:sp>
        <p:nvSpPr>
          <p:cNvPr id="2" name="內容版面配置區 2">
            <a:extLst>
              <a:ext uri="{FF2B5EF4-FFF2-40B4-BE49-F238E27FC236}">
                <a16:creationId xmlns:a16="http://schemas.microsoft.com/office/drawing/2014/main" id="{58EE454E-19F8-486A-693C-AE38DACA6361}"/>
              </a:ext>
            </a:extLst>
          </p:cNvPr>
          <p:cNvSpPr txBox="1">
            <a:spLocks/>
          </p:cNvSpPr>
          <p:nvPr/>
        </p:nvSpPr>
        <p:spPr>
          <a:xfrm>
            <a:off x="374672" y="504058"/>
            <a:ext cx="6716862"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十四</a:t>
            </a:r>
            <a:r>
              <a:rPr lang="en-US" altLang="zh-TW" sz="2800" b="1" dirty="0">
                <a:solidFill>
                  <a:schemeClr val="tx1"/>
                </a:solidFill>
              </a:rPr>
              <a:t>、2026年度OKR展望-</a:t>
            </a:r>
            <a:r>
              <a:rPr lang="zh-TW" altLang="en-US" sz="2800" b="1" dirty="0">
                <a:solidFill>
                  <a:schemeClr val="tx1"/>
                </a:solidFill>
              </a:rPr>
              <a:t>資訊課</a:t>
            </a:r>
            <a:endParaRPr lang="en-US" altLang="zh-TW" sz="2800" b="1" dirty="0">
              <a:solidFill>
                <a:schemeClr val="tx1"/>
              </a:solidFill>
            </a:endParaRPr>
          </a:p>
        </p:txBody>
      </p:sp>
    </p:spTree>
    <p:extLst>
      <p:ext uri="{BB962C8B-B14F-4D97-AF65-F5344CB8AC3E}">
        <p14:creationId xmlns:p14="http://schemas.microsoft.com/office/powerpoint/2010/main" val="2110854467"/>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5395B-5116-C8FA-1E43-668360721CD7}"/>
            </a:ext>
          </a:extLst>
        </p:cNvPr>
        <p:cNvGrpSpPr/>
        <p:nvPr/>
      </p:nvGrpSpPr>
      <p:grpSpPr>
        <a:xfrm>
          <a:off x="0" y="0"/>
          <a:ext cx="0" cy="0"/>
          <a:chOff x="0" y="0"/>
          <a:chExt cx="0" cy="0"/>
        </a:xfrm>
      </p:grpSpPr>
      <p:sp>
        <p:nvSpPr>
          <p:cNvPr id="8" name="內容版面配置區 2">
            <a:extLst>
              <a:ext uri="{FF2B5EF4-FFF2-40B4-BE49-F238E27FC236}">
                <a16:creationId xmlns:a16="http://schemas.microsoft.com/office/drawing/2014/main" id="{059D7AB1-2D05-622C-7358-E3A1EC274DD2}"/>
              </a:ext>
            </a:extLst>
          </p:cNvPr>
          <p:cNvSpPr txBox="1">
            <a:spLocks/>
          </p:cNvSpPr>
          <p:nvPr/>
        </p:nvSpPr>
        <p:spPr>
          <a:xfrm>
            <a:off x="275994" y="458001"/>
            <a:ext cx="8514857"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十五</a:t>
            </a:r>
            <a:r>
              <a:rPr lang="en-US" altLang="zh-TW" sz="2800" b="1" dirty="0">
                <a:solidFill>
                  <a:schemeClr val="tx1"/>
                </a:solidFill>
              </a:rPr>
              <a:t>、2026</a:t>
            </a:r>
            <a:r>
              <a:rPr lang="zh-TW" altLang="en-US" sz="2800" b="1" dirty="0">
                <a:solidFill>
                  <a:schemeClr val="tx1"/>
                </a:solidFill>
              </a:rPr>
              <a:t>年</a:t>
            </a:r>
            <a:r>
              <a:rPr lang="en-US" altLang="zh-TW" sz="2800" b="1" dirty="0">
                <a:solidFill>
                  <a:schemeClr val="tx1"/>
                </a:solidFill>
              </a:rPr>
              <a:t>_</a:t>
            </a:r>
            <a:r>
              <a:rPr lang="zh-TW" altLang="en-US" sz="2800" b="1" dirty="0">
                <a:solidFill>
                  <a:schemeClr val="tx1"/>
                </a:solidFill>
              </a:rPr>
              <a:t>參數結構</a:t>
            </a:r>
            <a:endParaRPr lang="en-US" altLang="zh-TW" sz="2800" b="1" dirty="0">
              <a:solidFill>
                <a:schemeClr val="tx1"/>
              </a:solidFill>
            </a:endParaRPr>
          </a:p>
        </p:txBody>
      </p:sp>
      <p:graphicFrame>
        <p:nvGraphicFramePr>
          <p:cNvPr id="2" name="表格 1">
            <a:extLst>
              <a:ext uri="{FF2B5EF4-FFF2-40B4-BE49-F238E27FC236}">
                <a16:creationId xmlns:a16="http://schemas.microsoft.com/office/drawing/2014/main" id="{7794E0DD-757E-98E9-45F0-94F58830D946}"/>
              </a:ext>
            </a:extLst>
          </p:cNvPr>
          <p:cNvGraphicFramePr>
            <a:graphicFrameLocks noGrp="1"/>
          </p:cNvGraphicFramePr>
          <p:nvPr>
            <p:extLst>
              <p:ext uri="{D42A27DB-BD31-4B8C-83A1-F6EECF244321}">
                <p14:modId xmlns:p14="http://schemas.microsoft.com/office/powerpoint/2010/main" val="196230269"/>
              </p:ext>
            </p:extLst>
          </p:nvPr>
        </p:nvGraphicFramePr>
        <p:xfrm>
          <a:off x="726001" y="1790276"/>
          <a:ext cx="8575652" cy="3723209"/>
        </p:xfrm>
        <a:graphic>
          <a:graphicData uri="http://schemas.openxmlformats.org/drawingml/2006/table">
            <a:tbl>
              <a:tblPr/>
              <a:tblGrid>
                <a:gridCol w="2068057">
                  <a:extLst>
                    <a:ext uri="{9D8B030D-6E8A-4147-A177-3AD203B41FA5}">
                      <a16:colId xmlns:a16="http://schemas.microsoft.com/office/drawing/2014/main" val="8473122"/>
                    </a:ext>
                  </a:extLst>
                </a:gridCol>
                <a:gridCol w="1301519">
                  <a:extLst>
                    <a:ext uri="{9D8B030D-6E8A-4147-A177-3AD203B41FA5}">
                      <a16:colId xmlns:a16="http://schemas.microsoft.com/office/drawing/2014/main" val="3620797910"/>
                    </a:ext>
                  </a:extLst>
                </a:gridCol>
                <a:gridCol w="1301519">
                  <a:extLst>
                    <a:ext uri="{9D8B030D-6E8A-4147-A177-3AD203B41FA5}">
                      <a16:colId xmlns:a16="http://schemas.microsoft.com/office/drawing/2014/main" val="1770520910"/>
                    </a:ext>
                  </a:extLst>
                </a:gridCol>
                <a:gridCol w="1301519">
                  <a:extLst>
                    <a:ext uri="{9D8B030D-6E8A-4147-A177-3AD203B41FA5}">
                      <a16:colId xmlns:a16="http://schemas.microsoft.com/office/drawing/2014/main" val="3618996203"/>
                    </a:ext>
                  </a:extLst>
                </a:gridCol>
                <a:gridCol w="1301519">
                  <a:extLst>
                    <a:ext uri="{9D8B030D-6E8A-4147-A177-3AD203B41FA5}">
                      <a16:colId xmlns:a16="http://schemas.microsoft.com/office/drawing/2014/main" val="1758897174"/>
                    </a:ext>
                  </a:extLst>
                </a:gridCol>
                <a:gridCol w="1301519">
                  <a:extLst>
                    <a:ext uri="{9D8B030D-6E8A-4147-A177-3AD203B41FA5}">
                      <a16:colId xmlns:a16="http://schemas.microsoft.com/office/drawing/2014/main" val="728845676"/>
                    </a:ext>
                  </a:extLst>
                </a:gridCol>
              </a:tblGrid>
              <a:tr h="531887">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項目</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店家數</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會員數</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 加盟金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首配費</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瓦斯氣價</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0939548"/>
                  </a:ext>
                </a:extLst>
              </a:tr>
              <a:tr h="531887">
                <a:tc>
                  <a:txBody>
                    <a:bodyPr/>
                    <a:lstStyle/>
                    <a:p>
                      <a:pPr algn="l"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1.</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加盟（門市或櫃）</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9</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1,125</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550,000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rowSpan="5">
                  <a:txBody>
                    <a:bodyPr/>
                    <a:lstStyle/>
                    <a:p>
                      <a:pPr algn="ctr" fontAlgn="ct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1,800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rowSpan="5">
                  <a:txBody>
                    <a:bodyPr/>
                    <a:lstStyle/>
                    <a:p>
                      <a:pPr algn="ctr" fontAlgn="ct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500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997820"/>
                  </a:ext>
                </a:extLst>
              </a:tr>
              <a:tr h="531887">
                <a:tc gridSpan="4">
                  <a:txBody>
                    <a:bodyPr/>
                    <a:lstStyle/>
                    <a:p>
                      <a:pPr algn="l"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通路</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4143662874"/>
                  </a:ext>
                </a:extLst>
              </a:tr>
              <a:tr h="531887">
                <a:tc>
                  <a:txBody>
                    <a:bodyPr/>
                    <a:lstStyle/>
                    <a:p>
                      <a:pPr algn="l"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2.1.</a:t>
                      </a: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全國電子</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40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496</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rowSpan="3">
                  <a:txBody>
                    <a:bodyPr/>
                    <a:lstStyle/>
                    <a:p>
                      <a:pPr algn="ctr" fontAlgn="ctr"/>
                      <a:r>
                        <a:rPr lang="zh-TW" altLang="en-US" sz="16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BlToTr w="19050" cap="flat" cmpd="sng" algn="ctr">
                      <a:solidFill>
                        <a:schemeClr val="tx1"/>
                      </a:solidFill>
                      <a:prstDash val="solid"/>
                      <a:round/>
                      <a:headEnd type="none" w="med" len="med"/>
                      <a:tailEnd type="none" w="med" len="med"/>
                    </a:lnBlToTr>
                    <a:no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893729516"/>
                  </a:ext>
                </a:extLst>
              </a:tr>
              <a:tr h="531887">
                <a:tc>
                  <a:txBody>
                    <a:bodyPr/>
                    <a:lstStyle/>
                    <a:p>
                      <a:pPr algn="l" fontAlgn="ctr"/>
                      <a:r>
                        <a:rPr lang="zh-TW" altLang="en-US" sz="16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600" b="1" i="0" u="none" strike="noStrike">
                          <a:solidFill>
                            <a:srgbClr val="000000"/>
                          </a:solidFill>
                          <a:effectLst/>
                          <a:latin typeface="微軟正黑體" panose="020B0604030504040204" pitchFamily="34" charset="-120"/>
                          <a:ea typeface="微軟正黑體" panose="020B0604030504040204" pitchFamily="34" charset="-120"/>
                        </a:rPr>
                        <a:t>2.2.</a:t>
                      </a:r>
                      <a:r>
                        <a:rPr lang="zh-TW" altLang="en-US" sz="1600" b="1" i="0" u="none" strike="noStrike">
                          <a:solidFill>
                            <a:srgbClr val="000000"/>
                          </a:solidFill>
                          <a:effectLst/>
                          <a:latin typeface="微軟正黑體" panose="020B0604030504040204" pitchFamily="34" charset="-120"/>
                          <a:ea typeface="微軟正黑體" panose="020B0604030504040204" pitchFamily="34" charset="-120"/>
                        </a:rPr>
                        <a:t>其他通路</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微軟正黑體" panose="020B0604030504040204" pitchFamily="34" charset="-120"/>
                          <a:ea typeface="微軟正黑體" panose="020B0604030504040204" pitchFamily="34" charset="-120"/>
                        </a:rPr>
                        <a:t>4</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720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2999617268"/>
                  </a:ext>
                </a:extLst>
              </a:tr>
              <a:tr h="531887">
                <a:tc>
                  <a:txBody>
                    <a:bodyPr/>
                    <a:lstStyle/>
                    <a:p>
                      <a:pPr algn="l" fontAlgn="ctr"/>
                      <a:r>
                        <a:rPr lang="en-US" altLang="zh-TW" sz="1600" b="1" i="0" u="none" strike="noStrike">
                          <a:solidFill>
                            <a:srgbClr val="000000"/>
                          </a:solidFill>
                          <a:effectLst/>
                          <a:latin typeface="微軟正黑體" panose="020B0604030504040204" pitchFamily="34" charset="-120"/>
                          <a:ea typeface="微軟正黑體" panose="020B0604030504040204" pitchFamily="34" charset="-120"/>
                        </a:rPr>
                        <a:t>3.</a:t>
                      </a:r>
                      <a:r>
                        <a:rPr lang="zh-TW" altLang="en-US" sz="1600" b="1" i="0" u="none" strike="noStrike">
                          <a:solidFill>
                            <a:srgbClr val="000000"/>
                          </a:solidFill>
                          <a:effectLst/>
                          <a:latin typeface="微軟正黑體" panose="020B0604030504040204" pitchFamily="34" charset="-120"/>
                          <a:ea typeface="微軟正黑體" panose="020B0604030504040204" pitchFamily="34" charset="-120"/>
                        </a:rPr>
                        <a:t>復興門市</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ctr"/>
                      <a:r>
                        <a:rPr lang="zh-TW" altLang="en-US" sz="16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BlToTr w="19050" cap="flat" cmpd="sng" algn="ctr">
                      <a:solidFill>
                        <a:schemeClr val="tx1"/>
                      </a:solidFill>
                      <a:prstDash val="solid"/>
                      <a:round/>
                      <a:headEnd type="none" w="med" len="med"/>
                      <a:tailEnd type="none" w="med" len="med"/>
                    </a:lnBlToTr>
                    <a:noFill/>
                  </a:tcPr>
                </a:tc>
                <a:tc>
                  <a:txBody>
                    <a:bodyPr/>
                    <a:lstStyle/>
                    <a:p>
                      <a:pPr algn="ctr" fontAlgn="ctr"/>
                      <a:r>
                        <a:rPr lang="en-US" altLang="zh-TW" sz="1600" b="0" i="0" u="none" strike="noStrike" dirty="0">
                          <a:solidFill>
                            <a:srgbClr val="000000"/>
                          </a:solidFill>
                          <a:effectLst/>
                          <a:latin typeface="微軟正黑體" panose="020B0604030504040204" pitchFamily="34" charset="-120"/>
                          <a:ea typeface="微軟正黑體" panose="020B0604030504040204" pitchFamily="34" charset="-120"/>
                        </a:rPr>
                        <a:t>1,368</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255128863"/>
                  </a:ext>
                </a:extLst>
              </a:tr>
              <a:tr h="531887">
                <a:tc>
                  <a:txBody>
                    <a:bodyPr/>
                    <a:lstStyle/>
                    <a:p>
                      <a:pPr algn="l" fontAlgn="ctr"/>
                      <a:r>
                        <a:rPr lang="zh-TW" altLang="en-US" sz="1600" b="1" i="0" u="none" strike="noStrike">
                          <a:solidFill>
                            <a:srgbClr val="000000"/>
                          </a:solidFill>
                          <a:effectLst/>
                          <a:latin typeface="微軟正黑體" panose="020B0604030504040204" pitchFamily="34" charset="-120"/>
                          <a:ea typeface="微軟正黑體" panose="020B0604030504040204" pitchFamily="34" charset="-120"/>
                        </a:rPr>
                        <a:t>總計</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tc>
                  <a:txBody>
                    <a:bodyPr/>
                    <a:lstStyle/>
                    <a:p>
                      <a:pPr algn="ctr" fontAlgn="ctr"/>
                      <a:r>
                        <a:rPr lang="zh-TW" altLang="en-US" sz="1600" b="1" i="0" u="none" strike="noStrike">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tc>
                  <a:txBody>
                    <a:bodyPr/>
                    <a:lstStyle/>
                    <a:p>
                      <a:pPr algn="ctr" fontAlgn="ctr"/>
                      <a:r>
                        <a:rPr lang="en-US" altLang="zh-TW" sz="1600" b="1" i="0" u="none" strike="noStrike" dirty="0">
                          <a:solidFill>
                            <a:srgbClr val="000000"/>
                          </a:solidFill>
                          <a:effectLst/>
                          <a:latin typeface="微軟正黑體" panose="020B0604030504040204" pitchFamily="34" charset="-120"/>
                          <a:ea typeface="微軟正黑體" panose="020B0604030504040204" pitchFamily="34" charset="-120"/>
                        </a:rPr>
                        <a:t>3,709</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tc>
                  <a:txBody>
                    <a:bodyPr/>
                    <a:lstStyle/>
                    <a:p>
                      <a:pPr algn="ctr" fontAlgn="ctr"/>
                      <a:r>
                        <a:rPr lang="zh-TW" altLang="en-US" sz="1600" b="1" i="0" u="none" strike="noStrike">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tc>
                  <a:txBody>
                    <a:bodyPr/>
                    <a:lstStyle/>
                    <a:p>
                      <a:pPr algn="ctr" fontAlgn="ctr"/>
                      <a:r>
                        <a:rPr lang="zh-TW" altLang="en-US" sz="1600" b="1"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extLst>
                  <a:ext uri="{0D108BD9-81ED-4DB2-BD59-A6C34878D82A}">
                    <a16:rowId xmlns:a16="http://schemas.microsoft.com/office/drawing/2014/main" val="2566813270"/>
                  </a:ext>
                </a:extLst>
              </a:tr>
            </a:tbl>
          </a:graphicData>
        </a:graphic>
      </p:graphicFrame>
      <p:sp>
        <p:nvSpPr>
          <p:cNvPr id="4" name="文字方塊 3">
            <a:extLst>
              <a:ext uri="{FF2B5EF4-FFF2-40B4-BE49-F238E27FC236}">
                <a16:creationId xmlns:a16="http://schemas.microsoft.com/office/drawing/2014/main" id="{18144D9C-3821-B40C-9F01-CBEFCD748A82}"/>
              </a:ext>
            </a:extLst>
          </p:cNvPr>
          <p:cNvSpPr txBox="1"/>
          <p:nvPr/>
        </p:nvSpPr>
        <p:spPr>
          <a:xfrm>
            <a:off x="275994" y="1440405"/>
            <a:ext cx="5748370" cy="338554"/>
          </a:xfrm>
          <a:prstGeom prst="rect">
            <a:avLst/>
          </a:prstGeom>
          <a:noFill/>
        </p:spPr>
        <p:txBody>
          <a:bodyPr wrap="square">
            <a:spAutoFit/>
          </a:bodyPr>
          <a:lstStyle/>
          <a:p>
            <a:pPr marL="342900" indent="-342900">
              <a:buFont typeface="+mj-lt"/>
              <a:buAutoNum type="arabicPeriod"/>
            </a:pPr>
            <a:r>
              <a:rPr lang="en-US" altLang="zh-TW" sz="1600" b="1" dirty="0">
                <a:latin typeface="微軟正黑體" panose="020B0604030504040204" pitchFamily="34" charset="-120"/>
                <a:ea typeface="微軟正黑體" panose="020B0604030504040204" pitchFamily="34" charset="-120"/>
              </a:rPr>
              <a:t>2026</a:t>
            </a:r>
            <a:r>
              <a:rPr lang="zh-TW" altLang="zh-TW" sz="1600" b="1" dirty="0">
                <a:latin typeface="微軟正黑體" panose="020B0604030504040204" pitchFamily="34" charset="-120"/>
                <a:ea typeface="微軟正黑體" panose="020B0604030504040204" pitchFamily="34" charset="-120"/>
              </a:rPr>
              <a:t>年</a:t>
            </a:r>
            <a:r>
              <a:rPr lang="en-US" altLang="zh-TW" sz="1600" b="1" dirty="0">
                <a:latin typeface="微軟正黑體" panose="020B0604030504040204" pitchFamily="34" charset="-120"/>
                <a:ea typeface="微軟正黑體" panose="020B0604030504040204" pitchFamily="34" charset="-120"/>
              </a:rPr>
              <a:t>_</a:t>
            </a:r>
            <a:r>
              <a:rPr lang="zh-TW" altLang="zh-TW" sz="1600" b="1" dirty="0">
                <a:latin typeface="微軟正黑體" panose="020B0604030504040204" pitchFamily="34" charset="-120"/>
                <a:ea typeface="微軟正黑體" panose="020B0604030504040204" pitchFamily="34" charset="-120"/>
              </a:rPr>
              <a:t>三都（台中、桃園、新北）參數結構如下：</a:t>
            </a:r>
            <a:endParaRPr lang="zh-TW" altLang="en-US" sz="16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57306255"/>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91043-8B0C-B1B7-B793-43C3D1AAB803}"/>
            </a:ext>
          </a:extLst>
        </p:cNvPr>
        <p:cNvGrpSpPr/>
        <p:nvPr/>
      </p:nvGrpSpPr>
      <p:grpSpPr>
        <a:xfrm>
          <a:off x="0" y="0"/>
          <a:ext cx="0" cy="0"/>
          <a:chOff x="0" y="0"/>
          <a:chExt cx="0" cy="0"/>
        </a:xfrm>
      </p:grpSpPr>
      <p:sp>
        <p:nvSpPr>
          <p:cNvPr id="8" name="內容版面配置區 2">
            <a:extLst>
              <a:ext uri="{FF2B5EF4-FFF2-40B4-BE49-F238E27FC236}">
                <a16:creationId xmlns:a16="http://schemas.microsoft.com/office/drawing/2014/main" id="{F043E438-C483-1AF9-6B3F-BD68D6D59029}"/>
              </a:ext>
            </a:extLst>
          </p:cNvPr>
          <p:cNvSpPr txBox="1">
            <a:spLocks/>
          </p:cNvSpPr>
          <p:nvPr/>
        </p:nvSpPr>
        <p:spPr>
          <a:xfrm>
            <a:off x="275994" y="458001"/>
            <a:ext cx="8514857"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十五</a:t>
            </a:r>
            <a:r>
              <a:rPr lang="en-US" altLang="zh-TW" sz="2800" b="1" dirty="0">
                <a:solidFill>
                  <a:schemeClr val="tx1"/>
                </a:solidFill>
              </a:rPr>
              <a:t>、2026</a:t>
            </a:r>
            <a:r>
              <a:rPr lang="zh-TW" altLang="en-US" sz="2800" b="1" dirty="0">
                <a:solidFill>
                  <a:schemeClr val="tx1"/>
                </a:solidFill>
              </a:rPr>
              <a:t>年</a:t>
            </a:r>
            <a:r>
              <a:rPr lang="en-US" altLang="zh-TW" sz="2800" b="1" dirty="0">
                <a:solidFill>
                  <a:schemeClr val="tx1"/>
                </a:solidFill>
              </a:rPr>
              <a:t>_</a:t>
            </a:r>
            <a:r>
              <a:rPr lang="zh-TW" altLang="en-US" sz="2800" b="1" dirty="0">
                <a:solidFill>
                  <a:schemeClr val="tx1"/>
                </a:solidFill>
              </a:rPr>
              <a:t>參數結構</a:t>
            </a:r>
            <a:endParaRPr lang="en-US" altLang="zh-TW" sz="2800" b="1" dirty="0">
              <a:solidFill>
                <a:schemeClr val="tx1"/>
              </a:solidFill>
            </a:endParaRPr>
          </a:p>
        </p:txBody>
      </p:sp>
      <p:sp>
        <p:nvSpPr>
          <p:cNvPr id="5" name="文字方塊 4">
            <a:extLst>
              <a:ext uri="{FF2B5EF4-FFF2-40B4-BE49-F238E27FC236}">
                <a16:creationId xmlns:a16="http://schemas.microsoft.com/office/drawing/2014/main" id="{0A295C3E-C26D-27C1-5BE9-944E16E1C525}"/>
              </a:ext>
            </a:extLst>
          </p:cNvPr>
          <p:cNvSpPr txBox="1"/>
          <p:nvPr/>
        </p:nvSpPr>
        <p:spPr>
          <a:xfrm>
            <a:off x="347630" y="1182044"/>
            <a:ext cx="7894582" cy="3046988"/>
          </a:xfrm>
          <a:prstGeom prst="rect">
            <a:avLst/>
          </a:prstGeom>
          <a:noFill/>
        </p:spPr>
        <p:txBody>
          <a:bodyPr wrap="square">
            <a:spAutoFit/>
          </a:bodyPr>
          <a:lstStyle/>
          <a:p>
            <a:r>
              <a:rPr lang="en-US" altLang="zh-TW" sz="1600" b="1" dirty="0">
                <a:latin typeface="微軟正黑體" panose="020B0604030504040204" pitchFamily="34" charset="-120"/>
                <a:ea typeface="微軟正黑體" panose="020B0604030504040204" pitchFamily="34" charset="-120"/>
              </a:rPr>
              <a:t>2.</a:t>
            </a:r>
            <a:r>
              <a:rPr lang="zh-TW" altLang="en-US" sz="1600" b="1" dirty="0">
                <a:latin typeface="微軟正黑體" panose="020B0604030504040204" pitchFamily="34" charset="-120"/>
                <a:ea typeface="微軟正黑體" panose="020B0604030504040204" pitchFamily="34" charset="-120"/>
              </a:rPr>
              <a:t> </a:t>
            </a:r>
            <a:r>
              <a:rPr lang="en-US" altLang="zh-TW" sz="1600" b="1" dirty="0">
                <a:latin typeface="微軟正黑體" panose="020B0604030504040204" pitchFamily="34" charset="-120"/>
                <a:ea typeface="微軟正黑體" panose="020B0604030504040204" pitchFamily="34" charset="-120"/>
              </a:rPr>
              <a:t>2027</a:t>
            </a:r>
            <a:r>
              <a:rPr lang="zh-TW" altLang="en-US" sz="1600" b="1" dirty="0">
                <a:latin typeface="微軟正黑體" panose="020B0604030504040204" pitchFamily="34" charset="-120"/>
                <a:ea typeface="微軟正黑體" panose="020B0604030504040204" pitchFamily="34" charset="-120"/>
              </a:rPr>
              <a:t>年</a:t>
            </a:r>
            <a:r>
              <a:rPr lang="en-US" altLang="zh-TW" sz="1600" b="1" dirty="0">
                <a:latin typeface="微軟正黑體" panose="020B0604030504040204" pitchFamily="34" charset="-120"/>
                <a:ea typeface="微軟正黑體" panose="020B0604030504040204" pitchFamily="34" charset="-120"/>
              </a:rPr>
              <a:t>_</a:t>
            </a:r>
            <a:r>
              <a:rPr lang="zh-TW" altLang="en-US" sz="1600" b="1" dirty="0">
                <a:latin typeface="微軟正黑體" panose="020B0604030504040204" pitchFamily="34" charset="-120"/>
                <a:ea typeface="微軟正黑體" panose="020B0604030504040204" pitchFamily="34" charset="-120"/>
              </a:rPr>
              <a:t>四都（台中、桃園、新北、台北）參數結構如下：</a:t>
            </a:r>
            <a:endParaRPr lang="en-US" altLang="zh-TW" sz="1600" b="1" dirty="0">
              <a:latin typeface="微軟正黑體" panose="020B0604030504040204" pitchFamily="34" charset="-120"/>
              <a:ea typeface="微軟正黑體" panose="020B0604030504040204" pitchFamily="34" charset="-120"/>
            </a:endParaRPr>
          </a:p>
          <a:p>
            <a:endParaRPr lang="en-US" altLang="zh-TW" sz="1600" b="1" dirty="0">
              <a:latin typeface="微軟正黑體" panose="020B0604030504040204" pitchFamily="34" charset="-120"/>
              <a:ea typeface="微軟正黑體" panose="020B0604030504040204" pitchFamily="34" charset="-120"/>
            </a:endParaRPr>
          </a:p>
          <a:p>
            <a:endParaRPr lang="en-US" altLang="zh-TW" sz="1600" b="1" dirty="0">
              <a:latin typeface="微軟正黑體" panose="020B0604030504040204" pitchFamily="34" charset="-120"/>
              <a:ea typeface="微軟正黑體" panose="020B0604030504040204" pitchFamily="34" charset="-120"/>
            </a:endParaRPr>
          </a:p>
          <a:p>
            <a:endParaRPr lang="en-US" altLang="zh-TW" sz="1600" b="1" dirty="0">
              <a:latin typeface="微軟正黑體" panose="020B0604030504040204" pitchFamily="34" charset="-120"/>
              <a:ea typeface="微軟正黑體" panose="020B0604030504040204" pitchFamily="34" charset="-120"/>
            </a:endParaRPr>
          </a:p>
          <a:p>
            <a:endParaRPr lang="en-US" altLang="zh-TW" sz="1600" b="1" dirty="0">
              <a:latin typeface="微軟正黑體" panose="020B0604030504040204" pitchFamily="34" charset="-120"/>
              <a:ea typeface="微軟正黑體" panose="020B0604030504040204" pitchFamily="34" charset="-120"/>
            </a:endParaRPr>
          </a:p>
          <a:p>
            <a:endParaRPr lang="en-US" altLang="zh-TW" sz="1600" b="1" dirty="0">
              <a:latin typeface="微軟正黑體" panose="020B0604030504040204" pitchFamily="34" charset="-120"/>
              <a:ea typeface="微軟正黑體" panose="020B0604030504040204" pitchFamily="34" charset="-120"/>
            </a:endParaRPr>
          </a:p>
          <a:p>
            <a:endParaRPr lang="en-US" altLang="zh-TW" sz="1600" b="1" dirty="0">
              <a:latin typeface="微軟正黑體" panose="020B0604030504040204" pitchFamily="34" charset="-120"/>
              <a:ea typeface="微軟正黑體" panose="020B0604030504040204" pitchFamily="34" charset="-120"/>
            </a:endParaRPr>
          </a:p>
          <a:p>
            <a:endParaRPr lang="en-US" altLang="zh-TW" sz="1600" b="1" dirty="0">
              <a:latin typeface="微軟正黑體" panose="020B0604030504040204" pitchFamily="34" charset="-120"/>
              <a:ea typeface="微軟正黑體" panose="020B0604030504040204" pitchFamily="34" charset="-120"/>
            </a:endParaRPr>
          </a:p>
          <a:p>
            <a:endParaRPr lang="en-US" altLang="zh-TW" sz="1600" b="1" dirty="0">
              <a:latin typeface="微軟正黑體" panose="020B0604030504040204" pitchFamily="34" charset="-120"/>
              <a:ea typeface="微軟正黑體" panose="020B0604030504040204" pitchFamily="34" charset="-120"/>
            </a:endParaRPr>
          </a:p>
          <a:p>
            <a:endParaRPr lang="en-US" altLang="zh-TW" sz="1600" b="1" dirty="0">
              <a:latin typeface="微軟正黑體" panose="020B0604030504040204" pitchFamily="34" charset="-120"/>
              <a:ea typeface="微軟正黑體" panose="020B0604030504040204" pitchFamily="34" charset="-120"/>
            </a:endParaRPr>
          </a:p>
          <a:p>
            <a:r>
              <a:rPr lang="en-US" altLang="zh-TW" sz="1600" b="1" dirty="0">
                <a:latin typeface="微軟正黑體" panose="020B0604030504040204" pitchFamily="34" charset="-120"/>
                <a:ea typeface="微軟正黑體" panose="020B0604030504040204" pitchFamily="34" charset="-120"/>
              </a:rPr>
              <a:t>3. 2028</a:t>
            </a:r>
            <a:r>
              <a:rPr lang="zh-TW" altLang="zh-TW" sz="1600" b="1" dirty="0">
                <a:latin typeface="微軟正黑體" panose="020B0604030504040204" pitchFamily="34" charset="-120"/>
                <a:ea typeface="微軟正黑體" panose="020B0604030504040204" pitchFamily="34" charset="-120"/>
              </a:rPr>
              <a:t>年</a:t>
            </a:r>
            <a:r>
              <a:rPr lang="en-US" altLang="zh-TW" sz="1600" b="1" dirty="0">
                <a:latin typeface="微軟正黑體" panose="020B0604030504040204" pitchFamily="34" charset="-120"/>
                <a:ea typeface="微軟正黑體" panose="020B0604030504040204" pitchFamily="34" charset="-120"/>
              </a:rPr>
              <a:t>_</a:t>
            </a:r>
            <a:r>
              <a:rPr lang="zh-TW" altLang="zh-TW" sz="1600" b="1" dirty="0">
                <a:latin typeface="微軟正黑體" panose="020B0604030504040204" pitchFamily="34" charset="-120"/>
                <a:ea typeface="微軟正黑體" panose="020B0604030504040204" pitchFamily="34" charset="-120"/>
              </a:rPr>
              <a:t>六都（台中、桃園、新北、台北、高雄、台南）參數結構如下：</a:t>
            </a:r>
            <a:endParaRPr lang="en-US" altLang="zh-TW" sz="1600" b="1" dirty="0">
              <a:latin typeface="微軟正黑體" panose="020B0604030504040204" pitchFamily="34" charset="-120"/>
              <a:ea typeface="微軟正黑體" panose="020B0604030504040204" pitchFamily="34" charset="-120"/>
            </a:endParaRPr>
          </a:p>
          <a:p>
            <a:endParaRPr lang="zh-TW" altLang="en-US" sz="1600" b="1" dirty="0">
              <a:latin typeface="微軟正黑體" panose="020B0604030504040204" pitchFamily="34" charset="-120"/>
              <a:ea typeface="微軟正黑體" panose="020B0604030504040204" pitchFamily="34" charset="-120"/>
            </a:endParaRPr>
          </a:p>
        </p:txBody>
      </p:sp>
      <p:graphicFrame>
        <p:nvGraphicFramePr>
          <p:cNvPr id="7" name="表格 6">
            <a:extLst>
              <a:ext uri="{FF2B5EF4-FFF2-40B4-BE49-F238E27FC236}">
                <a16:creationId xmlns:a16="http://schemas.microsoft.com/office/drawing/2014/main" id="{C1D23A95-9ED3-52FD-F70E-5E1C57802259}"/>
              </a:ext>
            </a:extLst>
          </p:cNvPr>
          <p:cNvGraphicFramePr>
            <a:graphicFrameLocks noGrp="1"/>
          </p:cNvGraphicFramePr>
          <p:nvPr>
            <p:extLst>
              <p:ext uri="{D42A27DB-BD31-4B8C-83A1-F6EECF244321}">
                <p14:modId xmlns:p14="http://schemas.microsoft.com/office/powerpoint/2010/main" val="204651789"/>
              </p:ext>
            </p:extLst>
          </p:nvPr>
        </p:nvGraphicFramePr>
        <p:xfrm>
          <a:off x="676954" y="1510459"/>
          <a:ext cx="4368012" cy="1918539"/>
        </p:xfrm>
        <a:graphic>
          <a:graphicData uri="http://schemas.openxmlformats.org/drawingml/2006/table">
            <a:tbl>
              <a:tblPr/>
              <a:tblGrid>
                <a:gridCol w="2118616">
                  <a:extLst>
                    <a:ext uri="{9D8B030D-6E8A-4147-A177-3AD203B41FA5}">
                      <a16:colId xmlns:a16="http://schemas.microsoft.com/office/drawing/2014/main" val="124206969"/>
                    </a:ext>
                  </a:extLst>
                </a:gridCol>
                <a:gridCol w="1124698">
                  <a:extLst>
                    <a:ext uri="{9D8B030D-6E8A-4147-A177-3AD203B41FA5}">
                      <a16:colId xmlns:a16="http://schemas.microsoft.com/office/drawing/2014/main" val="3012106318"/>
                    </a:ext>
                  </a:extLst>
                </a:gridCol>
                <a:gridCol w="1124698">
                  <a:extLst>
                    <a:ext uri="{9D8B030D-6E8A-4147-A177-3AD203B41FA5}">
                      <a16:colId xmlns:a16="http://schemas.microsoft.com/office/drawing/2014/main" val="392849424"/>
                    </a:ext>
                  </a:extLst>
                </a:gridCol>
              </a:tblGrid>
              <a:tr h="274077">
                <a:tc>
                  <a:txBody>
                    <a:bodyPr/>
                    <a:lstStyle/>
                    <a:p>
                      <a:pPr algn="ctr"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項目</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店家數</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會員數</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932536"/>
                  </a:ext>
                </a:extLst>
              </a:tr>
              <a:tr h="274077">
                <a:tc>
                  <a:txBody>
                    <a:bodyPr/>
                    <a:lstStyle/>
                    <a:p>
                      <a:pPr algn="l" fontAlgn="ctr"/>
                      <a:r>
                        <a:rPr lang="en-US" altLang="zh-TW" sz="1400" b="1" i="0" u="none" strike="noStrike" dirty="0">
                          <a:solidFill>
                            <a:srgbClr val="000000"/>
                          </a:solidFill>
                          <a:effectLst/>
                          <a:latin typeface="微軟正黑體" panose="020B0604030504040204" pitchFamily="34" charset="-120"/>
                          <a:ea typeface="微軟正黑體" panose="020B0604030504040204" pitchFamily="34" charset="-120"/>
                        </a:rPr>
                        <a:t>1.</a:t>
                      </a: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加盟（門市或櫃）</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a:solidFill>
                            <a:srgbClr val="000000"/>
                          </a:solidFill>
                          <a:effectLst/>
                          <a:latin typeface="微軟正黑體" panose="020B0604030504040204" pitchFamily="34" charset="-120"/>
                          <a:ea typeface="微軟正黑體" panose="020B0604030504040204" pitchFamily="34" charset="-120"/>
                        </a:rPr>
                        <a:t>18</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a:solidFill>
                            <a:srgbClr val="000000"/>
                          </a:solidFill>
                          <a:effectLst/>
                          <a:latin typeface="微軟正黑體" panose="020B0604030504040204" pitchFamily="34" charset="-120"/>
                          <a:ea typeface="微軟正黑體" panose="020B0604030504040204" pitchFamily="34" charset="-120"/>
                        </a:rPr>
                        <a:t>5,400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128684"/>
                  </a:ext>
                </a:extLst>
              </a:tr>
              <a:tr h="274077">
                <a:tc gridSpan="3">
                  <a:txBody>
                    <a:bodyPr/>
                    <a:lstStyle/>
                    <a:p>
                      <a:pPr algn="l" fontAlgn="ctr"/>
                      <a:r>
                        <a:rPr lang="en-US" altLang="zh-TW" sz="1400" b="1" i="0" u="none" strike="noStrike">
                          <a:solidFill>
                            <a:srgbClr val="000000"/>
                          </a:solidFill>
                          <a:effectLst/>
                          <a:latin typeface="微軟正黑體" panose="020B0604030504040204" pitchFamily="34" charset="-120"/>
                          <a:ea typeface="微軟正黑體" panose="020B0604030504040204" pitchFamily="34" charset="-120"/>
                        </a:rPr>
                        <a:t>2.</a:t>
                      </a: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通路</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530685430"/>
                  </a:ext>
                </a:extLst>
              </a:tr>
              <a:tr h="274077">
                <a:tc>
                  <a:txBody>
                    <a:bodyPr/>
                    <a:lstStyle/>
                    <a:p>
                      <a:pPr algn="l" fontAlgn="ct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1400" b="1" i="0" u="none" strike="noStrike" dirty="0">
                          <a:solidFill>
                            <a:srgbClr val="000000"/>
                          </a:solidFill>
                          <a:effectLst/>
                          <a:latin typeface="微軟正黑體" panose="020B0604030504040204" pitchFamily="34" charset="-120"/>
                          <a:ea typeface="微軟正黑體" panose="020B0604030504040204" pitchFamily="34" charset="-120"/>
                        </a:rPr>
                        <a:t>2.1.</a:t>
                      </a: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全國電子</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40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a:solidFill>
                            <a:srgbClr val="000000"/>
                          </a:solidFill>
                          <a:effectLst/>
                          <a:latin typeface="微軟正黑體" panose="020B0604030504040204" pitchFamily="34" charset="-120"/>
                          <a:ea typeface="微軟正黑體" panose="020B0604030504040204" pitchFamily="34" charset="-120"/>
                        </a:rPr>
                        <a:t>3,360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3124373"/>
                  </a:ext>
                </a:extLst>
              </a:tr>
              <a:tr h="274077">
                <a:tc>
                  <a:txBody>
                    <a:bodyPr/>
                    <a:lstStyle/>
                    <a:p>
                      <a:pPr algn="l"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400" b="1" i="0" u="none" strike="noStrike">
                          <a:solidFill>
                            <a:srgbClr val="000000"/>
                          </a:solidFill>
                          <a:effectLst/>
                          <a:latin typeface="微軟正黑體" panose="020B0604030504040204" pitchFamily="34" charset="-120"/>
                          <a:ea typeface="微軟正黑體" panose="020B0604030504040204" pitchFamily="34" charset="-120"/>
                        </a:rPr>
                        <a:t>2.2.</a:t>
                      </a: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其他通路</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4</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2,880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309976"/>
                  </a:ext>
                </a:extLst>
              </a:tr>
              <a:tr h="274077">
                <a:tc>
                  <a:txBody>
                    <a:bodyPr/>
                    <a:lstStyle/>
                    <a:p>
                      <a:pPr algn="l" fontAlgn="ctr"/>
                      <a:r>
                        <a:rPr lang="en-US" altLang="zh-TW" sz="1400" b="1" i="0" u="none" strike="noStrike">
                          <a:solidFill>
                            <a:srgbClr val="000000"/>
                          </a:solidFill>
                          <a:effectLst/>
                          <a:latin typeface="微軟正黑體" panose="020B0604030504040204" pitchFamily="34" charset="-120"/>
                          <a:ea typeface="微軟正黑體" panose="020B0604030504040204" pitchFamily="34" charset="-120"/>
                        </a:rPr>
                        <a:t>3.</a:t>
                      </a: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復興門市</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ctr"/>
                      <a:r>
                        <a:rPr lang="zh-TW" altLang="en-US" sz="14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BlToTr w="19050" cap="flat" cmpd="sng" algn="ctr">
                      <a:solidFill>
                        <a:schemeClr val="tx1"/>
                      </a:solidFill>
                      <a:prstDash val="solid"/>
                      <a:round/>
                      <a:headEnd type="none" w="med" len="med"/>
                      <a:tailEnd type="none" w="med" len="med"/>
                    </a:lnBlToTr>
                    <a:noFill/>
                  </a:tcPr>
                </a:tc>
                <a:tc>
                  <a:txBody>
                    <a:bodyPr/>
                    <a:lstStyle/>
                    <a:p>
                      <a:pPr algn="ctr" fontAlgn="ct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2,112</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6890336"/>
                  </a:ext>
                </a:extLst>
              </a:tr>
              <a:tr h="274077">
                <a:tc>
                  <a:txBody>
                    <a:bodyPr/>
                    <a:lstStyle/>
                    <a:p>
                      <a:pPr algn="l"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總計</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tc>
                  <a:txBody>
                    <a:bodyPr/>
                    <a:lstStyle/>
                    <a:p>
                      <a:pPr algn="ctr"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tc>
                  <a:txBody>
                    <a:bodyPr/>
                    <a:lstStyle/>
                    <a:p>
                      <a:pPr algn="ctr" fontAlgn="ctr"/>
                      <a:r>
                        <a:rPr lang="en-US" altLang="zh-TW" sz="1400" b="1" i="0" u="none" strike="noStrike" dirty="0">
                          <a:solidFill>
                            <a:srgbClr val="000000"/>
                          </a:solidFill>
                          <a:effectLst/>
                          <a:latin typeface="微軟正黑體" panose="020B0604030504040204" pitchFamily="34" charset="-120"/>
                          <a:ea typeface="微軟正黑體" panose="020B0604030504040204" pitchFamily="34" charset="-120"/>
                        </a:rPr>
                        <a:t>13,752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extLst>
                  <a:ext uri="{0D108BD9-81ED-4DB2-BD59-A6C34878D82A}">
                    <a16:rowId xmlns:a16="http://schemas.microsoft.com/office/drawing/2014/main" val="2654773349"/>
                  </a:ext>
                </a:extLst>
              </a:tr>
            </a:tbl>
          </a:graphicData>
        </a:graphic>
      </p:graphicFrame>
      <p:graphicFrame>
        <p:nvGraphicFramePr>
          <p:cNvPr id="9" name="表格 8">
            <a:extLst>
              <a:ext uri="{FF2B5EF4-FFF2-40B4-BE49-F238E27FC236}">
                <a16:creationId xmlns:a16="http://schemas.microsoft.com/office/drawing/2014/main" id="{8269A82C-5F6E-9ED1-0355-87EDDF55EF0E}"/>
              </a:ext>
            </a:extLst>
          </p:cNvPr>
          <p:cNvGraphicFramePr>
            <a:graphicFrameLocks noGrp="1"/>
          </p:cNvGraphicFramePr>
          <p:nvPr>
            <p:extLst>
              <p:ext uri="{D42A27DB-BD31-4B8C-83A1-F6EECF244321}">
                <p14:modId xmlns:p14="http://schemas.microsoft.com/office/powerpoint/2010/main" val="1418314015"/>
              </p:ext>
            </p:extLst>
          </p:nvPr>
        </p:nvGraphicFramePr>
        <p:xfrm>
          <a:off x="676954" y="3929259"/>
          <a:ext cx="4368012" cy="2093168"/>
        </p:xfrm>
        <a:graphic>
          <a:graphicData uri="http://schemas.openxmlformats.org/drawingml/2006/table">
            <a:tbl>
              <a:tblPr/>
              <a:tblGrid>
                <a:gridCol w="2118616">
                  <a:extLst>
                    <a:ext uri="{9D8B030D-6E8A-4147-A177-3AD203B41FA5}">
                      <a16:colId xmlns:a16="http://schemas.microsoft.com/office/drawing/2014/main" val="195641806"/>
                    </a:ext>
                  </a:extLst>
                </a:gridCol>
                <a:gridCol w="1124698">
                  <a:extLst>
                    <a:ext uri="{9D8B030D-6E8A-4147-A177-3AD203B41FA5}">
                      <a16:colId xmlns:a16="http://schemas.microsoft.com/office/drawing/2014/main" val="4081551832"/>
                    </a:ext>
                  </a:extLst>
                </a:gridCol>
                <a:gridCol w="1124698">
                  <a:extLst>
                    <a:ext uri="{9D8B030D-6E8A-4147-A177-3AD203B41FA5}">
                      <a16:colId xmlns:a16="http://schemas.microsoft.com/office/drawing/2014/main" val="1416193129"/>
                    </a:ext>
                  </a:extLst>
                </a:gridCol>
              </a:tblGrid>
              <a:tr h="299024">
                <a:tc>
                  <a:txBody>
                    <a:bodyPr/>
                    <a:lstStyle/>
                    <a:p>
                      <a:pPr algn="ctr" fontAlgn="ct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項目</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店家數</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會員數</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5173785"/>
                  </a:ext>
                </a:extLst>
              </a:tr>
              <a:tr h="299024">
                <a:tc>
                  <a:txBody>
                    <a:bodyPr/>
                    <a:lstStyle/>
                    <a:p>
                      <a:pPr algn="l" fontAlgn="ctr"/>
                      <a:r>
                        <a:rPr lang="en-US" altLang="zh-TW" sz="1400" b="1" i="0" u="none" strike="noStrike" dirty="0">
                          <a:solidFill>
                            <a:srgbClr val="000000"/>
                          </a:solidFill>
                          <a:effectLst/>
                          <a:latin typeface="微軟正黑體" panose="020B0604030504040204" pitchFamily="34" charset="-120"/>
                          <a:ea typeface="微軟正黑體" panose="020B0604030504040204" pitchFamily="34" charset="-120"/>
                        </a:rPr>
                        <a:t>1.</a:t>
                      </a: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加盟（門市或櫃）</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a:solidFill>
                            <a:srgbClr val="000000"/>
                          </a:solidFill>
                          <a:effectLst/>
                          <a:latin typeface="微軟正黑體" panose="020B0604030504040204" pitchFamily="34" charset="-120"/>
                          <a:ea typeface="微軟正黑體" panose="020B0604030504040204" pitchFamily="34" charset="-120"/>
                        </a:rPr>
                        <a:t>28</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8,400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8136907"/>
                  </a:ext>
                </a:extLst>
              </a:tr>
              <a:tr h="299024">
                <a:tc gridSpan="3">
                  <a:txBody>
                    <a:bodyPr/>
                    <a:lstStyle/>
                    <a:p>
                      <a:pPr algn="l" fontAlgn="ctr"/>
                      <a:r>
                        <a:rPr lang="en-US" altLang="zh-TW" sz="1400" b="1" i="0" u="none" strike="noStrike" dirty="0">
                          <a:solidFill>
                            <a:srgbClr val="000000"/>
                          </a:solidFill>
                          <a:effectLst/>
                          <a:latin typeface="微軟正黑體" panose="020B0604030504040204" pitchFamily="34" charset="-120"/>
                          <a:ea typeface="微軟正黑體" panose="020B0604030504040204" pitchFamily="34" charset="-120"/>
                        </a:rPr>
                        <a:t>2.</a:t>
                      </a:r>
                      <a:r>
                        <a:rPr lang="zh-TW" altLang="en-US" sz="1400" b="1" i="0" u="none" strike="noStrike" dirty="0">
                          <a:solidFill>
                            <a:srgbClr val="000000"/>
                          </a:solidFill>
                          <a:effectLst/>
                          <a:latin typeface="微軟正黑體" panose="020B0604030504040204" pitchFamily="34" charset="-120"/>
                          <a:ea typeface="微軟正黑體" panose="020B0604030504040204" pitchFamily="34" charset="-120"/>
                        </a:rPr>
                        <a:t>通路</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4112664977"/>
                  </a:ext>
                </a:extLst>
              </a:tr>
              <a:tr h="299024">
                <a:tc>
                  <a:txBody>
                    <a:bodyPr/>
                    <a:lstStyle/>
                    <a:p>
                      <a:pPr algn="l"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400" b="1" i="0" u="none" strike="noStrike">
                          <a:solidFill>
                            <a:srgbClr val="000000"/>
                          </a:solidFill>
                          <a:effectLst/>
                          <a:latin typeface="微軟正黑體" panose="020B0604030504040204" pitchFamily="34" charset="-120"/>
                          <a:ea typeface="微軟正黑體" panose="020B0604030504040204" pitchFamily="34" charset="-120"/>
                        </a:rPr>
                        <a:t>2.1.</a:t>
                      </a: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全國電子</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a:solidFill>
                            <a:srgbClr val="000000"/>
                          </a:solidFill>
                          <a:effectLst/>
                          <a:latin typeface="微軟正黑體" panose="020B0604030504040204" pitchFamily="34" charset="-120"/>
                          <a:ea typeface="微軟正黑體" panose="020B0604030504040204" pitchFamily="34" charset="-120"/>
                        </a:rPr>
                        <a:t>40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6,720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8911476"/>
                  </a:ext>
                </a:extLst>
              </a:tr>
              <a:tr h="299024">
                <a:tc>
                  <a:txBody>
                    <a:bodyPr/>
                    <a:lstStyle/>
                    <a:p>
                      <a:pPr algn="l"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400" b="1" i="0" u="none" strike="noStrike">
                          <a:solidFill>
                            <a:srgbClr val="000000"/>
                          </a:solidFill>
                          <a:effectLst/>
                          <a:latin typeface="微軟正黑體" panose="020B0604030504040204" pitchFamily="34" charset="-120"/>
                          <a:ea typeface="微軟正黑體" panose="020B0604030504040204" pitchFamily="34" charset="-120"/>
                        </a:rPr>
                        <a:t>2.2.</a:t>
                      </a: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其他通路</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a:solidFill>
                            <a:srgbClr val="000000"/>
                          </a:solidFill>
                          <a:effectLst/>
                          <a:latin typeface="微軟正黑體" panose="020B0604030504040204" pitchFamily="34" charset="-120"/>
                          <a:ea typeface="微軟正黑體" panose="020B0604030504040204" pitchFamily="34" charset="-120"/>
                        </a:rPr>
                        <a:t>4</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fontAlgn="ct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4,320</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3332471"/>
                  </a:ext>
                </a:extLst>
              </a:tr>
              <a:tr h="299024">
                <a:tc>
                  <a:txBody>
                    <a:bodyPr/>
                    <a:lstStyle/>
                    <a:p>
                      <a:pPr algn="l" fontAlgn="ctr"/>
                      <a:r>
                        <a:rPr lang="en-US" altLang="zh-TW" sz="1400" b="1" i="0" u="none" strike="noStrike">
                          <a:solidFill>
                            <a:srgbClr val="000000"/>
                          </a:solidFill>
                          <a:effectLst/>
                          <a:latin typeface="微軟正黑體" panose="020B0604030504040204" pitchFamily="34" charset="-120"/>
                          <a:ea typeface="微軟正黑體" panose="020B0604030504040204" pitchFamily="34" charset="-120"/>
                        </a:rPr>
                        <a:t>3.</a:t>
                      </a: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復興門市</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ctr"/>
                      <a:r>
                        <a:rPr lang="zh-TW" altLang="en-US" sz="14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BlToTr w="19050" cap="flat" cmpd="sng" algn="ctr">
                      <a:solidFill>
                        <a:schemeClr val="tx1"/>
                      </a:solidFill>
                      <a:prstDash val="solid"/>
                      <a:round/>
                      <a:headEnd type="none" w="med" len="med"/>
                      <a:tailEnd type="none" w="med" len="med"/>
                    </a:lnBlToTr>
                    <a:noFill/>
                  </a:tcPr>
                </a:tc>
                <a:tc>
                  <a:txBody>
                    <a:bodyPr/>
                    <a:lstStyle/>
                    <a:p>
                      <a:pPr algn="ctr" fontAlgn="ctr"/>
                      <a:r>
                        <a:rPr lang="en-US" altLang="zh-TW" sz="1400" b="0" i="0" u="none" strike="noStrike" dirty="0">
                          <a:solidFill>
                            <a:srgbClr val="000000"/>
                          </a:solidFill>
                          <a:effectLst/>
                          <a:latin typeface="微軟正黑體" panose="020B0604030504040204" pitchFamily="34" charset="-120"/>
                          <a:ea typeface="微軟正黑體" panose="020B0604030504040204" pitchFamily="34" charset="-120"/>
                        </a:rPr>
                        <a:t>2,112</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7234149"/>
                  </a:ext>
                </a:extLst>
              </a:tr>
              <a:tr h="299024">
                <a:tc>
                  <a:txBody>
                    <a:bodyPr/>
                    <a:lstStyle/>
                    <a:p>
                      <a:pPr algn="l"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總計</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tc>
                  <a:txBody>
                    <a:bodyPr/>
                    <a:lstStyle/>
                    <a:p>
                      <a:pPr algn="ctr" fontAlgn="ctr"/>
                      <a:r>
                        <a:rPr lang="zh-TW" altLang="en-US" sz="1400" b="1" i="0" u="none" strike="noStrike">
                          <a:solidFill>
                            <a:srgbClr val="000000"/>
                          </a:solidFill>
                          <a:effectLst/>
                          <a:latin typeface="微軟正黑體" panose="020B0604030504040204" pitchFamily="34" charset="-120"/>
                          <a:ea typeface="微軟正黑體" panose="020B0604030504040204" pitchFamily="34" charset="-120"/>
                        </a:rPr>
                        <a:t>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tc>
                  <a:txBody>
                    <a:bodyPr/>
                    <a:lstStyle/>
                    <a:p>
                      <a:pPr algn="ctr" fontAlgn="ctr"/>
                      <a:r>
                        <a:rPr lang="en-US" altLang="zh-TW" sz="1400" b="1" i="0" u="none" strike="noStrike" dirty="0">
                          <a:solidFill>
                            <a:srgbClr val="000000"/>
                          </a:solidFill>
                          <a:effectLst/>
                          <a:latin typeface="微軟正黑體" panose="020B0604030504040204" pitchFamily="34" charset="-120"/>
                          <a:ea typeface="微軟正黑體" panose="020B0604030504040204" pitchFamily="34" charset="-120"/>
                        </a:rPr>
                        <a:t>21,552 </a:t>
                      </a:r>
                    </a:p>
                  </a:txBody>
                  <a:tcPr marL="7620" marR="7620" marT="762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E699"/>
                    </a:solidFill>
                  </a:tcPr>
                </a:tc>
                <a:extLst>
                  <a:ext uri="{0D108BD9-81ED-4DB2-BD59-A6C34878D82A}">
                    <a16:rowId xmlns:a16="http://schemas.microsoft.com/office/drawing/2014/main" val="2698167337"/>
                  </a:ext>
                </a:extLst>
              </a:tr>
            </a:tbl>
          </a:graphicData>
        </a:graphic>
      </p:graphicFrame>
    </p:spTree>
    <p:extLst>
      <p:ext uri="{BB962C8B-B14F-4D97-AF65-F5344CB8AC3E}">
        <p14:creationId xmlns:p14="http://schemas.microsoft.com/office/powerpoint/2010/main" val="4082089060"/>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內容版面配置區 2">
            <a:extLst>
              <a:ext uri="{FF2B5EF4-FFF2-40B4-BE49-F238E27FC236}">
                <a16:creationId xmlns:a16="http://schemas.microsoft.com/office/drawing/2014/main" id="{49266E23-C16E-1AA0-E761-2217BE78FA00}"/>
              </a:ext>
            </a:extLst>
          </p:cNvPr>
          <p:cNvSpPr txBox="1">
            <a:spLocks/>
          </p:cNvSpPr>
          <p:nvPr/>
        </p:nvSpPr>
        <p:spPr>
          <a:xfrm>
            <a:off x="275995" y="458001"/>
            <a:ext cx="5904656"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十六</a:t>
            </a:r>
            <a:r>
              <a:rPr lang="en-US" altLang="zh-TW" sz="2800" b="1" dirty="0">
                <a:solidFill>
                  <a:schemeClr val="tx1"/>
                </a:solidFill>
              </a:rPr>
              <a:t>、 2026</a:t>
            </a:r>
            <a:r>
              <a:rPr lang="zh-TW" altLang="en-US" sz="2800" b="1" dirty="0">
                <a:solidFill>
                  <a:schemeClr val="tx1"/>
                </a:solidFill>
              </a:rPr>
              <a:t>年營業收入預測表</a:t>
            </a:r>
            <a:endParaRPr lang="en-US" altLang="zh-TW" sz="2800" b="1" dirty="0">
              <a:solidFill>
                <a:schemeClr val="tx1"/>
              </a:solidFill>
            </a:endParaRPr>
          </a:p>
        </p:txBody>
      </p:sp>
      <p:graphicFrame>
        <p:nvGraphicFramePr>
          <p:cNvPr id="2" name="表格 1">
            <a:extLst>
              <a:ext uri="{FF2B5EF4-FFF2-40B4-BE49-F238E27FC236}">
                <a16:creationId xmlns:a16="http://schemas.microsoft.com/office/drawing/2014/main" id="{9434C180-8236-80E7-F3C0-A0D7784B1AF6}"/>
              </a:ext>
            </a:extLst>
          </p:cNvPr>
          <p:cNvGraphicFramePr>
            <a:graphicFrameLocks noGrp="1"/>
          </p:cNvGraphicFramePr>
          <p:nvPr/>
        </p:nvGraphicFramePr>
        <p:xfrm>
          <a:off x="3071664" y="1124745"/>
          <a:ext cx="6048672" cy="4896547"/>
        </p:xfrm>
        <a:graphic>
          <a:graphicData uri="http://schemas.openxmlformats.org/drawingml/2006/table">
            <a:tbl>
              <a:tblPr firstRow="1" bandRow="1">
                <a:tableStyleId>{5C22544A-7EE6-4342-B048-85BDC9FD1C3A}</a:tableStyleId>
              </a:tblPr>
              <a:tblGrid>
                <a:gridCol w="459059">
                  <a:extLst>
                    <a:ext uri="{9D8B030D-6E8A-4147-A177-3AD203B41FA5}">
                      <a16:colId xmlns:a16="http://schemas.microsoft.com/office/drawing/2014/main" val="3454010463"/>
                    </a:ext>
                  </a:extLst>
                </a:gridCol>
                <a:gridCol w="3086714">
                  <a:extLst>
                    <a:ext uri="{9D8B030D-6E8A-4147-A177-3AD203B41FA5}">
                      <a16:colId xmlns:a16="http://schemas.microsoft.com/office/drawing/2014/main" val="2380530155"/>
                    </a:ext>
                  </a:extLst>
                </a:gridCol>
                <a:gridCol w="2502899">
                  <a:extLst>
                    <a:ext uri="{9D8B030D-6E8A-4147-A177-3AD203B41FA5}">
                      <a16:colId xmlns:a16="http://schemas.microsoft.com/office/drawing/2014/main" val="1647764741"/>
                    </a:ext>
                  </a:extLst>
                </a:gridCol>
              </a:tblGrid>
              <a:tr h="486009">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1800" dirty="0">
                          <a:solidFill>
                            <a:schemeClr val="tx1"/>
                          </a:solidFill>
                          <a:latin typeface="微軟正黑體" pitchFamily="34" charset="-120"/>
                          <a:ea typeface="微軟正黑體" pitchFamily="34" charset="-120"/>
                        </a:rPr>
                        <a:t>銷貨收入</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33"/>
                    </a:solidFill>
                  </a:tcPr>
                </a:tc>
                <a:tc hMerge="1">
                  <a:txBody>
                    <a:bodyPr/>
                    <a:lstStyle/>
                    <a:p>
                      <a:pPr algn="ctr"/>
                      <a:endParaRPr lang="zh-TW" altLang="en-US" sz="1600" dirty="0">
                        <a:solidFill>
                          <a:schemeClr val="tx1"/>
                        </a:solidFill>
                        <a:latin typeface="微軟正黑體" pitchFamily="34" charset="-120"/>
                        <a:ea typeface="微軟正黑體" pitchFamily="34" charset="-12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E100"/>
                    </a:solidFill>
                  </a:tcPr>
                </a:tc>
                <a:tc>
                  <a:txBody>
                    <a:bodyPr/>
                    <a:lstStyle/>
                    <a:p>
                      <a:pPr algn="ctr"/>
                      <a:r>
                        <a:rPr lang="en-US" altLang="zh-TW" sz="1800" dirty="0">
                          <a:solidFill>
                            <a:schemeClr val="tx1"/>
                          </a:solidFill>
                          <a:latin typeface="微軟正黑體" pitchFamily="34" charset="-120"/>
                          <a:ea typeface="微軟正黑體" pitchFamily="34" charset="-120"/>
                        </a:rPr>
                        <a:t>2026年</a:t>
                      </a:r>
                      <a:endParaRPr lang="zh-TW" altLang="en-US" sz="1800" dirty="0">
                        <a:solidFill>
                          <a:schemeClr val="tx1"/>
                        </a:solidFill>
                        <a:latin typeface="微軟正黑體" pitchFamily="34" charset="-120"/>
                        <a:ea typeface="微軟正黑體" pitchFamily="34" charset="-120"/>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33"/>
                    </a:solidFill>
                  </a:tcPr>
                </a:tc>
                <a:extLst>
                  <a:ext uri="{0D108BD9-81ED-4DB2-BD59-A6C34878D82A}">
                    <a16:rowId xmlns:a16="http://schemas.microsoft.com/office/drawing/2014/main" val="2759078792"/>
                  </a:ext>
                </a:extLst>
              </a:tr>
              <a:tr h="400958">
                <a:tc>
                  <a:txBody>
                    <a:bodyPr/>
                    <a:lstStyle/>
                    <a:p>
                      <a:pPr algn="ctr"/>
                      <a:r>
                        <a:rPr lang="en-US" altLang="zh-TW" sz="2000" dirty="0">
                          <a:latin typeface="微軟正黑體" panose="020B0604030504040204" pitchFamily="34" charset="-120"/>
                          <a:ea typeface="微軟正黑體" panose="020B0604030504040204" pitchFamily="34" charset="-120"/>
                        </a:rPr>
                        <a:t>1.</a:t>
                      </a:r>
                      <a:endParaRPr lang="zh-TW" altLang="en-US" sz="2000" dirty="0">
                        <a:latin typeface="微軟正黑體" panose="020B0604030504040204" pitchFamily="34" charset="-120"/>
                        <a:ea typeface="微軟正黑體" panose="020B0604030504040204" pitchFamily="34" charset="-120"/>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zh-TW" altLang="en-US" sz="1800" b="1" dirty="0">
                          <a:latin typeface="微軟正黑體" pitchFamily="34" charset="-120"/>
                          <a:ea typeface="微軟正黑體" pitchFamily="34" charset="-120"/>
                        </a:rPr>
                        <a:t>門市或智取櫃－加盟金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800" dirty="0">
                          <a:latin typeface="微軟正黑體" pitchFamily="34" charset="-120"/>
                          <a:ea typeface="微軟正黑體" pitchFamily="34" charset="-120"/>
                        </a:rPr>
                        <a:t>495</a:t>
                      </a:r>
                      <a:r>
                        <a:rPr lang="zh-TW" altLang="en-US" sz="1800" dirty="0">
                          <a:latin typeface="微軟正黑體" pitchFamily="34" charset="-120"/>
                          <a:ea typeface="微軟正黑體" pitchFamily="34" charset="-120"/>
                        </a:rPr>
                        <a:t>萬</a:t>
                      </a:r>
                      <a:endParaRPr lang="en-US" altLang="zh-TW" sz="1800" dirty="0">
                        <a:latin typeface="微軟正黑體" pitchFamily="34" charset="-120"/>
                        <a:ea typeface="微軟正黑體" pitchFamily="34" charset="-120"/>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8174918"/>
                  </a:ext>
                </a:extLst>
              </a:tr>
              <a:tr h="400958">
                <a:tc>
                  <a:txBody>
                    <a:bodyPr/>
                    <a:lstStyle/>
                    <a:p>
                      <a:pPr algn="ctr"/>
                      <a:r>
                        <a:rPr lang="en-US" altLang="zh-TW" sz="2000" dirty="0">
                          <a:latin typeface="微軟正黑體" panose="020B0604030504040204" pitchFamily="34" charset="-120"/>
                          <a:ea typeface="微軟正黑體" panose="020B0604030504040204" pitchFamily="34" charset="-120"/>
                        </a:rPr>
                        <a:t>2.</a:t>
                      </a:r>
                      <a:endParaRPr lang="zh-TW" altLang="en-US" sz="2000" dirty="0">
                        <a:latin typeface="微軟正黑體" panose="020B0604030504040204" pitchFamily="34" charset="-120"/>
                        <a:ea typeface="微軟正黑體" panose="020B0604030504040204" pitchFamily="34" charset="-120"/>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l"/>
                      <a:r>
                        <a:rPr lang="zh-TW" altLang="en-US" sz="1800" b="1" dirty="0">
                          <a:latin typeface="微軟正黑體" pitchFamily="34" charset="-120"/>
                          <a:ea typeface="微軟正黑體" pitchFamily="34" charset="-120"/>
                        </a:rPr>
                        <a:t>門市或智取櫃－首配費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altLang="zh-TW" sz="1800" dirty="0">
                          <a:latin typeface="微軟正黑體" pitchFamily="34" charset="-120"/>
                          <a:ea typeface="微軟正黑體" pitchFamily="34" charset="-120"/>
                        </a:rPr>
                        <a:t>202</a:t>
                      </a:r>
                      <a:r>
                        <a:rPr lang="zh-TW" altLang="en-US" sz="1800" dirty="0">
                          <a:latin typeface="微軟正黑體" pitchFamily="34" charset="-120"/>
                          <a:ea typeface="微軟正黑體" pitchFamily="34" charset="-120"/>
                        </a:rPr>
                        <a:t>萬</a:t>
                      </a:r>
                      <a:endParaRPr lang="en-US" altLang="zh-TW" sz="1800" dirty="0">
                        <a:latin typeface="微軟正黑體" pitchFamily="34" charset="-120"/>
                        <a:ea typeface="微軟正黑體" pitchFamily="34" charset="-120"/>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2387506271"/>
                  </a:ext>
                </a:extLst>
              </a:tr>
              <a:tr h="400958">
                <a:tc>
                  <a:txBody>
                    <a:bodyPr/>
                    <a:lstStyle/>
                    <a:p>
                      <a:pPr algn="ctr"/>
                      <a:r>
                        <a:rPr lang="en-US" altLang="zh-TW" sz="2000" dirty="0">
                          <a:latin typeface="微軟正黑體" panose="020B0604030504040204" pitchFamily="34" charset="-120"/>
                          <a:ea typeface="微軟正黑體" panose="020B0604030504040204" pitchFamily="34" charset="-120"/>
                        </a:rPr>
                        <a:t>3.</a:t>
                      </a:r>
                      <a:endParaRPr lang="zh-TW" altLang="en-US" sz="2000" dirty="0">
                        <a:latin typeface="微軟正黑體" panose="020B0604030504040204" pitchFamily="34" charset="-120"/>
                        <a:ea typeface="微軟正黑體" panose="020B0604030504040204" pitchFamily="34" charset="-120"/>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l"/>
                      <a:r>
                        <a:rPr lang="zh-TW" altLang="en-US" sz="1800" b="1" dirty="0">
                          <a:latin typeface="微軟正黑體" pitchFamily="34" charset="-120"/>
                          <a:ea typeface="微軟正黑體" pitchFamily="34" charset="-120"/>
                        </a:rPr>
                        <a:t>旺來瓦斯－首配費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altLang="zh-TW" sz="1800" dirty="0">
                          <a:latin typeface="微軟正黑體" pitchFamily="34" charset="-120"/>
                          <a:ea typeface="微軟正黑體" pitchFamily="34" charset="-120"/>
                        </a:rPr>
                        <a:t>246</a:t>
                      </a:r>
                      <a:r>
                        <a:rPr lang="zh-TW" altLang="en-US" sz="1800" dirty="0">
                          <a:latin typeface="微軟正黑體" pitchFamily="34" charset="-120"/>
                          <a:ea typeface="微軟正黑體" pitchFamily="34" charset="-120"/>
                        </a:rPr>
                        <a:t>萬</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370588212"/>
                  </a:ext>
                </a:extLst>
              </a:tr>
              <a:tr h="400958">
                <a:tc>
                  <a:txBody>
                    <a:bodyPr/>
                    <a:lstStyle/>
                    <a:p>
                      <a:pPr marL="0" algn="ctr" defTabSz="914400" rtl="0" eaLnBrk="1" latinLnBrk="0" hangingPunct="1"/>
                      <a:r>
                        <a:rPr lang="en-US" altLang="zh-TW" sz="1800" b="1" kern="1200" dirty="0">
                          <a:solidFill>
                            <a:schemeClr val="dk1"/>
                          </a:solidFill>
                          <a:latin typeface="微軟正黑體" pitchFamily="34" charset="-120"/>
                          <a:ea typeface="微軟正黑體" pitchFamily="34" charset="-120"/>
                          <a:cs typeface="+mn-cs"/>
                        </a:rPr>
                        <a:t>4.</a:t>
                      </a:r>
                      <a:endParaRPr lang="zh-TW" altLang="en-US" sz="1800" b="1" kern="1200" dirty="0">
                        <a:solidFill>
                          <a:schemeClr val="dk1"/>
                        </a:solidFill>
                        <a:latin typeface="微軟正黑體" pitchFamily="34" charset="-120"/>
                        <a:ea typeface="微軟正黑體" pitchFamily="34" charset="-120"/>
                        <a:cs typeface="+mn-cs"/>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l"/>
                      <a:r>
                        <a:rPr lang="zh-TW" altLang="en-US" sz="1800" b="1" dirty="0">
                          <a:latin typeface="微軟正黑體" pitchFamily="34" charset="-120"/>
                          <a:ea typeface="微軟正黑體" pitchFamily="34" charset="-120"/>
                        </a:rPr>
                        <a:t>全國電子－首配費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marL="0" algn="ctr" defTabSz="914400" rtl="0" eaLnBrk="1" latinLnBrk="0" hangingPunct="1"/>
                      <a:r>
                        <a:rPr lang="en-US" altLang="zh-TW" sz="1800" dirty="0">
                          <a:latin typeface="微軟正黑體" pitchFamily="34" charset="-120"/>
                          <a:ea typeface="微軟正黑體" pitchFamily="34" charset="-120"/>
                        </a:rPr>
                        <a:t>89</a:t>
                      </a:r>
                      <a:r>
                        <a:rPr lang="zh-TW" altLang="en-US" sz="1800" dirty="0">
                          <a:latin typeface="微軟正黑體" pitchFamily="34" charset="-120"/>
                          <a:ea typeface="微軟正黑體" pitchFamily="34" charset="-120"/>
                        </a:rPr>
                        <a:t>萬</a:t>
                      </a:r>
                      <a:endParaRPr lang="zh-TW" altLang="en-US" sz="1800" kern="1200" dirty="0">
                        <a:solidFill>
                          <a:schemeClr val="dk1"/>
                        </a:solidFill>
                        <a:latin typeface="微軟正黑體" pitchFamily="34" charset="-120"/>
                        <a:ea typeface="微軟正黑體" pitchFamily="34" charset="-120"/>
                        <a:cs typeface="+mn-cs"/>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3897796104"/>
                  </a:ext>
                </a:extLst>
              </a:tr>
              <a:tr h="400958">
                <a:tc>
                  <a:txBody>
                    <a:bodyPr/>
                    <a:lstStyle/>
                    <a:p>
                      <a:pPr algn="ctr"/>
                      <a:r>
                        <a:rPr lang="en-US" altLang="zh-TW" sz="1800" b="1" dirty="0">
                          <a:latin typeface="微軟正黑體" pitchFamily="34" charset="-120"/>
                          <a:ea typeface="微軟正黑體" pitchFamily="34" charset="-120"/>
                        </a:rPr>
                        <a:t>5.</a:t>
                      </a:r>
                      <a:endParaRPr lang="zh-TW" altLang="en-US" sz="1800" b="1" dirty="0">
                        <a:latin typeface="微軟正黑體" pitchFamily="34" charset="-120"/>
                        <a:ea typeface="微軟正黑體" pitchFamily="34" charset="-120"/>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l"/>
                      <a:r>
                        <a:rPr lang="zh-TW" altLang="en-US" sz="1800" b="1" dirty="0">
                          <a:latin typeface="微軟正黑體" pitchFamily="34" charset="-120"/>
                          <a:ea typeface="微軟正黑體" pitchFamily="34" charset="-120"/>
                        </a:rPr>
                        <a:t>其他量販通路－首配費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pPr algn="ctr"/>
                      <a:r>
                        <a:rPr lang="en-US" altLang="zh-TW" sz="1800" dirty="0">
                          <a:latin typeface="微軟正黑體" pitchFamily="34" charset="-120"/>
                          <a:ea typeface="微軟正黑體" pitchFamily="34" charset="-120"/>
                        </a:rPr>
                        <a:t>55</a:t>
                      </a:r>
                      <a:r>
                        <a:rPr lang="zh-TW" altLang="en-US" sz="1800" dirty="0">
                          <a:latin typeface="微軟正黑體" pitchFamily="34" charset="-120"/>
                          <a:ea typeface="微軟正黑體" pitchFamily="34" charset="-120"/>
                        </a:rPr>
                        <a:t>萬</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283288207"/>
                  </a:ext>
                </a:extLst>
              </a:tr>
              <a:tr h="400958">
                <a:tc>
                  <a:txBody>
                    <a:bodyPr/>
                    <a:lstStyle/>
                    <a:p>
                      <a:pPr algn="ctr"/>
                      <a:r>
                        <a:rPr lang="en-US" altLang="zh-TW" sz="1800" b="1" dirty="0">
                          <a:latin typeface="微軟正黑體" pitchFamily="34" charset="-120"/>
                          <a:ea typeface="微軟正黑體" pitchFamily="34" charset="-120"/>
                        </a:rPr>
                        <a:t>6.</a:t>
                      </a:r>
                      <a:endParaRPr lang="zh-TW" altLang="en-US" sz="1800" b="1" dirty="0">
                        <a:latin typeface="微軟正黑體" pitchFamily="34" charset="-120"/>
                        <a:ea typeface="微軟正黑體" pitchFamily="34" charset="-120"/>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a:r>
                        <a:rPr lang="zh-TW" altLang="en-US" sz="1800" b="1" dirty="0">
                          <a:latin typeface="微軟正黑體" pitchFamily="34" charset="-120"/>
                          <a:ea typeface="微軟正黑體" pitchFamily="34" charset="-120"/>
                        </a:rPr>
                        <a:t>門市或智取櫃－氣價費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altLang="zh-TW" sz="1800" dirty="0">
                          <a:latin typeface="微軟正黑體" pitchFamily="34" charset="-120"/>
                          <a:ea typeface="微軟正黑體" pitchFamily="34" charset="-120"/>
                        </a:rPr>
                        <a:t>118</a:t>
                      </a:r>
                      <a:r>
                        <a:rPr lang="zh-TW" altLang="en-US" sz="1800" dirty="0">
                          <a:latin typeface="微軟正黑體" pitchFamily="34" charset="-120"/>
                          <a:ea typeface="微軟正黑體" pitchFamily="34" charset="-120"/>
                        </a:rPr>
                        <a:t>萬</a:t>
                      </a:r>
                      <a:endParaRPr lang="en-US" altLang="zh-TW" sz="1800" dirty="0">
                        <a:latin typeface="微軟正黑體" pitchFamily="34" charset="-120"/>
                        <a:ea typeface="微軟正黑體" pitchFamily="34" charset="-120"/>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827035070"/>
                  </a:ext>
                </a:extLst>
              </a:tr>
              <a:tr h="400958">
                <a:tc>
                  <a:txBody>
                    <a:bodyPr/>
                    <a:lstStyle/>
                    <a:p>
                      <a:pPr algn="ctr"/>
                      <a:r>
                        <a:rPr lang="en-US" altLang="zh-TW" sz="1800" b="1" dirty="0">
                          <a:latin typeface="微軟正黑體" pitchFamily="34" charset="-120"/>
                          <a:ea typeface="微軟正黑體" pitchFamily="34" charset="-120"/>
                        </a:rPr>
                        <a:t>7.</a:t>
                      </a:r>
                      <a:endParaRPr lang="zh-TW" altLang="en-US" sz="1800" b="1" dirty="0">
                        <a:latin typeface="微軟正黑體" pitchFamily="34" charset="-120"/>
                        <a:ea typeface="微軟正黑體" pitchFamily="34" charset="-120"/>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a:r>
                        <a:rPr lang="zh-TW" altLang="en-US" sz="1800" b="1" dirty="0">
                          <a:latin typeface="微軟正黑體" pitchFamily="34" charset="-120"/>
                          <a:ea typeface="微軟正黑體" pitchFamily="34" charset="-120"/>
                        </a:rPr>
                        <a:t>旺來瓦斯－氣價費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altLang="zh-TW" sz="1800" dirty="0">
                          <a:latin typeface="微軟正黑體" pitchFamily="34" charset="-120"/>
                          <a:ea typeface="微軟正黑體" pitchFamily="34" charset="-120"/>
                        </a:rPr>
                        <a:t>179</a:t>
                      </a:r>
                      <a:r>
                        <a:rPr lang="zh-TW" altLang="en-US" sz="1800" dirty="0">
                          <a:latin typeface="微軟正黑體" pitchFamily="34" charset="-120"/>
                          <a:ea typeface="微軟正黑體" pitchFamily="34" charset="-120"/>
                        </a:rPr>
                        <a:t>萬</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3679574"/>
                  </a:ext>
                </a:extLst>
              </a:tr>
              <a:tr h="400958">
                <a:tc>
                  <a:txBody>
                    <a:bodyPr/>
                    <a:lstStyle/>
                    <a:p>
                      <a:pPr algn="ctr"/>
                      <a:r>
                        <a:rPr lang="en-US" altLang="zh-TW" sz="1800" b="1" dirty="0">
                          <a:latin typeface="微軟正黑體" pitchFamily="34" charset="-120"/>
                          <a:ea typeface="微軟正黑體" pitchFamily="34" charset="-120"/>
                        </a:rPr>
                        <a:t>8.</a:t>
                      </a:r>
                      <a:endParaRPr lang="zh-TW" altLang="en-US" sz="1800" b="1" dirty="0">
                        <a:latin typeface="微軟正黑體" pitchFamily="34" charset="-120"/>
                        <a:ea typeface="微軟正黑體" pitchFamily="34" charset="-120"/>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a:r>
                        <a:rPr lang="zh-TW" altLang="en-US" sz="1800" b="1" dirty="0">
                          <a:latin typeface="微軟正黑體" pitchFamily="34" charset="-120"/>
                          <a:ea typeface="微軟正黑體" pitchFamily="34" charset="-120"/>
                        </a:rPr>
                        <a:t>全國電子－氣價費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lang="en-US" altLang="zh-TW" sz="1800" dirty="0">
                          <a:latin typeface="微軟正黑體" pitchFamily="34" charset="-120"/>
                          <a:ea typeface="微軟正黑體" pitchFamily="34" charset="-120"/>
                        </a:rPr>
                        <a:t>129</a:t>
                      </a:r>
                      <a:r>
                        <a:rPr lang="zh-TW" altLang="en-US" sz="1800" dirty="0">
                          <a:latin typeface="微軟正黑體" pitchFamily="34" charset="-120"/>
                          <a:ea typeface="微軟正黑體" pitchFamily="34" charset="-120"/>
                        </a:rPr>
                        <a:t>萬</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7519960"/>
                  </a:ext>
                </a:extLst>
              </a:tr>
              <a:tr h="400958">
                <a:tc>
                  <a:txBody>
                    <a:bodyPr/>
                    <a:lstStyle/>
                    <a:p>
                      <a:pPr algn="ctr"/>
                      <a:r>
                        <a:rPr lang="en-US" altLang="zh-TW" sz="1800" b="1" dirty="0">
                          <a:latin typeface="微軟正黑體" pitchFamily="34" charset="-120"/>
                          <a:ea typeface="微軟正黑體" pitchFamily="34" charset="-120"/>
                        </a:rPr>
                        <a:t>9.</a:t>
                      </a:r>
                      <a:endParaRPr lang="zh-TW" altLang="en-US" sz="1800" b="1" dirty="0">
                        <a:latin typeface="微軟正黑體" pitchFamily="34" charset="-120"/>
                        <a:ea typeface="微軟正黑體" pitchFamily="34" charset="-120"/>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dirty="0">
                          <a:latin typeface="微軟正黑體" pitchFamily="34" charset="-120"/>
                          <a:ea typeface="微軟正黑體" pitchFamily="34" charset="-120"/>
                        </a:rPr>
                        <a:t>其他量販通路－氣價費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微軟正黑體" pitchFamily="34" charset="-120"/>
                          <a:ea typeface="微軟正黑體" pitchFamily="34" charset="-120"/>
                        </a:rPr>
                        <a:t>100</a:t>
                      </a:r>
                      <a:r>
                        <a:rPr lang="zh-TW" altLang="en-US" sz="1800" dirty="0">
                          <a:latin typeface="微軟正黑體" pitchFamily="34" charset="-120"/>
                          <a:ea typeface="微軟正黑體" pitchFamily="34" charset="-120"/>
                        </a:rPr>
                        <a:t>萬</a:t>
                      </a:r>
                      <a:endParaRPr lang="en-US" altLang="zh-TW" sz="1800" dirty="0">
                        <a:latin typeface="微軟正黑體" pitchFamily="34" charset="-120"/>
                        <a:ea typeface="微軟正黑體" pitchFamily="34" charset="-120"/>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47946795"/>
                  </a:ext>
                </a:extLst>
              </a:tr>
              <a:tr h="400958">
                <a:tc>
                  <a:txBody>
                    <a:bodyPr/>
                    <a:lstStyle/>
                    <a:p>
                      <a:pPr algn="ctr"/>
                      <a:r>
                        <a:rPr lang="en-US" altLang="zh-TW" sz="1800" b="1" dirty="0">
                          <a:latin typeface="微軟正黑體" pitchFamily="34" charset="-120"/>
                          <a:ea typeface="微軟正黑體" pitchFamily="34" charset="-120"/>
                        </a:rPr>
                        <a:t>10.</a:t>
                      </a:r>
                      <a:endParaRPr lang="zh-TW" altLang="en-US" sz="1800" b="1" dirty="0">
                        <a:latin typeface="微軟正黑體" pitchFamily="34" charset="-120"/>
                        <a:ea typeface="微軟正黑體" pitchFamily="34" charset="-120"/>
                      </a:endParaRP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b="1" dirty="0">
                          <a:latin typeface="微軟正黑體" pitchFamily="34" charset="-120"/>
                          <a:ea typeface="微軟正黑體" pitchFamily="34" charset="-120"/>
                        </a:rPr>
                        <a:t>舊用戶營收費用</a:t>
                      </a:r>
                      <a:r>
                        <a:rPr lang="zh-TW" altLang="en-US" sz="1200" b="1" dirty="0">
                          <a:latin typeface="微軟正黑體" pitchFamily="34" charset="-120"/>
                          <a:ea typeface="微軟正黑體" pitchFamily="34" charset="-120"/>
                        </a:rPr>
                        <a:t>（依照</a:t>
                      </a:r>
                      <a:r>
                        <a:rPr lang="en-US" altLang="zh-TW" sz="1200" b="1" dirty="0">
                          <a:latin typeface="微軟正黑體" pitchFamily="34" charset="-120"/>
                          <a:ea typeface="微軟正黑體" pitchFamily="34" charset="-120"/>
                        </a:rPr>
                        <a:t>2025</a:t>
                      </a:r>
                      <a:r>
                        <a:rPr lang="zh-TW" altLang="en-US" sz="1200" b="1" dirty="0">
                          <a:latin typeface="微軟正黑體" pitchFamily="34" charset="-120"/>
                          <a:ea typeface="微軟正黑體" pitchFamily="34" charset="-120"/>
                        </a:rPr>
                        <a:t>預估）</a:t>
                      </a:r>
                      <a:endParaRPr lang="zh-TW" altLang="en-US" sz="1800" b="1" dirty="0">
                        <a:latin typeface="微軟正黑體" pitchFamily="34" charset="-120"/>
                        <a:ea typeface="微軟正黑體" pitchFamily="34"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微軟正黑體" pitchFamily="34" charset="-120"/>
                          <a:ea typeface="微軟正黑體" pitchFamily="34" charset="-120"/>
                        </a:rPr>
                        <a:t>4,279</a:t>
                      </a:r>
                      <a:r>
                        <a:rPr lang="zh-TW" altLang="en-US" sz="1800" dirty="0">
                          <a:latin typeface="微軟正黑體" pitchFamily="34" charset="-120"/>
                          <a:ea typeface="微軟正黑體" pitchFamily="34" charset="-120"/>
                        </a:rPr>
                        <a:t>萬</a:t>
                      </a:r>
                      <a:endParaRPr lang="en-US" altLang="zh-TW" sz="1800" dirty="0">
                        <a:latin typeface="微軟正黑體" pitchFamily="34" charset="-120"/>
                        <a:ea typeface="微軟正黑體" pitchFamily="34" charset="-120"/>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108901819"/>
                  </a:ext>
                </a:extLst>
              </a:tr>
              <a:tr h="400958">
                <a:tc gridSpan="2">
                  <a:txBody>
                    <a:bodyPr/>
                    <a:lstStyle/>
                    <a:p>
                      <a:pPr algn="ctr"/>
                      <a:r>
                        <a:rPr lang="zh-TW" altLang="en-US" sz="1800" b="1" dirty="0">
                          <a:solidFill>
                            <a:srgbClr val="0000FF"/>
                          </a:solidFill>
                          <a:latin typeface="微軟正黑體" pitchFamily="34" charset="-120"/>
                          <a:ea typeface="微軟正黑體" pitchFamily="34" charset="-120"/>
                        </a:rPr>
                        <a:t>總計</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hMerge="1">
                  <a:txBody>
                    <a:bodyPr/>
                    <a:lstStyle/>
                    <a:p>
                      <a:pPr marL="0" algn="l" defTabSz="914400" rtl="0" eaLnBrk="1" latinLnBrk="0" hangingPunct="1"/>
                      <a:endParaRPr lang="zh-TW" altLang="en-US" sz="1600" b="1" kern="1200" dirty="0">
                        <a:solidFill>
                          <a:schemeClr val="dk1"/>
                        </a:solidFill>
                        <a:latin typeface="微軟正黑體" pitchFamily="34" charset="-120"/>
                        <a:ea typeface="微軟正黑體" pitchFamily="34" charset="-120"/>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800" b="1" dirty="0">
                          <a:solidFill>
                            <a:srgbClr val="0000FF"/>
                          </a:solidFill>
                          <a:latin typeface="微軟正黑體" pitchFamily="34" charset="-120"/>
                          <a:ea typeface="微軟正黑體" pitchFamily="34" charset="-120"/>
                        </a:rPr>
                        <a:t>5,892</a:t>
                      </a:r>
                      <a:r>
                        <a:rPr lang="zh-TW" altLang="en-US" sz="1800" b="1" dirty="0">
                          <a:solidFill>
                            <a:srgbClr val="0000FF"/>
                          </a:solidFill>
                          <a:latin typeface="微軟正黑體" pitchFamily="34" charset="-120"/>
                          <a:ea typeface="微軟正黑體" pitchFamily="34" charset="-120"/>
                        </a:rPr>
                        <a:t>萬</a:t>
                      </a:r>
                      <a:endParaRPr lang="en-US" altLang="zh-TW" sz="1800" b="1" dirty="0">
                        <a:solidFill>
                          <a:srgbClr val="0000FF"/>
                        </a:solidFill>
                        <a:latin typeface="微軟正黑體" pitchFamily="34" charset="-120"/>
                        <a:ea typeface="微軟正黑體" pitchFamily="34" charset="-120"/>
                      </a:endParaRP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6595421"/>
                  </a:ext>
                </a:extLst>
              </a:tr>
            </a:tbl>
          </a:graphicData>
        </a:graphic>
      </p:graphicFrame>
    </p:spTree>
    <p:extLst>
      <p:ext uri="{BB962C8B-B14F-4D97-AF65-F5344CB8AC3E}">
        <p14:creationId xmlns:p14="http://schemas.microsoft.com/office/powerpoint/2010/main" val="752233451"/>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1B795-D10A-FA4E-BD6E-5F731FC7743A}"/>
            </a:ext>
          </a:extLst>
        </p:cNvPr>
        <p:cNvGrpSpPr/>
        <p:nvPr/>
      </p:nvGrpSpPr>
      <p:grpSpPr>
        <a:xfrm>
          <a:off x="0" y="0"/>
          <a:ext cx="0" cy="0"/>
          <a:chOff x="0" y="0"/>
          <a:chExt cx="0" cy="0"/>
        </a:xfrm>
      </p:grpSpPr>
      <p:sp>
        <p:nvSpPr>
          <p:cNvPr id="8" name="內容版面配置區 2">
            <a:extLst>
              <a:ext uri="{FF2B5EF4-FFF2-40B4-BE49-F238E27FC236}">
                <a16:creationId xmlns:a16="http://schemas.microsoft.com/office/drawing/2014/main" id="{6E2D15ED-5C79-07F7-BE4D-33EA18A59E54}"/>
              </a:ext>
            </a:extLst>
          </p:cNvPr>
          <p:cNvSpPr txBox="1">
            <a:spLocks/>
          </p:cNvSpPr>
          <p:nvPr/>
        </p:nvSpPr>
        <p:spPr>
          <a:xfrm>
            <a:off x="275994" y="458001"/>
            <a:ext cx="8514857"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十七</a:t>
            </a:r>
            <a:r>
              <a:rPr lang="en-US" altLang="zh-TW" sz="2800" b="1" dirty="0">
                <a:solidFill>
                  <a:schemeClr val="tx1"/>
                </a:solidFill>
              </a:rPr>
              <a:t>、2026</a:t>
            </a:r>
            <a:r>
              <a:rPr lang="zh-TW" altLang="en-US" sz="2800" b="1" dirty="0">
                <a:solidFill>
                  <a:schemeClr val="tx1"/>
                </a:solidFill>
              </a:rPr>
              <a:t>年成本結構</a:t>
            </a:r>
            <a:endParaRPr lang="en-US" altLang="zh-TW" sz="2800" b="1" dirty="0">
              <a:solidFill>
                <a:schemeClr val="tx1"/>
              </a:solidFill>
            </a:endParaRPr>
          </a:p>
        </p:txBody>
      </p:sp>
      <p:graphicFrame>
        <p:nvGraphicFramePr>
          <p:cNvPr id="3" name="表格 2">
            <a:extLst>
              <a:ext uri="{FF2B5EF4-FFF2-40B4-BE49-F238E27FC236}">
                <a16:creationId xmlns:a16="http://schemas.microsoft.com/office/drawing/2014/main" id="{D0DFE705-10F8-8C88-2BA9-916BD36F505C}"/>
              </a:ext>
            </a:extLst>
          </p:cNvPr>
          <p:cNvGraphicFramePr>
            <a:graphicFrameLocks noGrp="1"/>
          </p:cNvGraphicFramePr>
          <p:nvPr>
            <p:extLst>
              <p:ext uri="{D42A27DB-BD31-4B8C-83A1-F6EECF244321}">
                <p14:modId xmlns:p14="http://schemas.microsoft.com/office/powerpoint/2010/main" val="1451518996"/>
              </p:ext>
            </p:extLst>
          </p:nvPr>
        </p:nvGraphicFramePr>
        <p:xfrm>
          <a:off x="1454796" y="1109892"/>
          <a:ext cx="9196387" cy="4994513"/>
        </p:xfrm>
        <a:graphic>
          <a:graphicData uri="http://schemas.openxmlformats.org/drawingml/2006/table">
            <a:tbl>
              <a:tblPr/>
              <a:tblGrid>
                <a:gridCol w="1934207">
                  <a:extLst>
                    <a:ext uri="{9D8B030D-6E8A-4147-A177-3AD203B41FA5}">
                      <a16:colId xmlns:a16="http://schemas.microsoft.com/office/drawing/2014/main" val="2390438275"/>
                    </a:ext>
                  </a:extLst>
                </a:gridCol>
                <a:gridCol w="1020503">
                  <a:extLst>
                    <a:ext uri="{9D8B030D-6E8A-4147-A177-3AD203B41FA5}">
                      <a16:colId xmlns:a16="http://schemas.microsoft.com/office/drawing/2014/main" val="2480718693"/>
                    </a:ext>
                  </a:extLst>
                </a:gridCol>
                <a:gridCol w="1020503">
                  <a:extLst>
                    <a:ext uri="{9D8B030D-6E8A-4147-A177-3AD203B41FA5}">
                      <a16:colId xmlns:a16="http://schemas.microsoft.com/office/drawing/2014/main" val="1281818731"/>
                    </a:ext>
                  </a:extLst>
                </a:gridCol>
                <a:gridCol w="1020503">
                  <a:extLst>
                    <a:ext uri="{9D8B030D-6E8A-4147-A177-3AD203B41FA5}">
                      <a16:colId xmlns:a16="http://schemas.microsoft.com/office/drawing/2014/main" val="1015096281"/>
                    </a:ext>
                  </a:extLst>
                </a:gridCol>
                <a:gridCol w="4200671">
                  <a:extLst>
                    <a:ext uri="{9D8B030D-6E8A-4147-A177-3AD203B41FA5}">
                      <a16:colId xmlns:a16="http://schemas.microsoft.com/office/drawing/2014/main" val="2800430303"/>
                    </a:ext>
                  </a:extLst>
                </a:gridCol>
              </a:tblGrid>
              <a:tr h="254822">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會計科目</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2025</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年</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2026</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年</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佔比</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備註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9711513"/>
                  </a:ext>
                </a:extLst>
              </a:tr>
              <a:tr h="254822">
                <a:tc gridSpan="5">
                  <a:txBody>
                    <a:bodyPr/>
                    <a:lstStyle/>
                    <a:p>
                      <a:pPr algn="l" fontAlgn="ct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1.</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成本支出</a:t>
                      </a:r>
                    </a:p>
                  </a:txBody>
                  <a:tcPr marL="4618" marR="4618" marT="461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2442965451"/>
                  </a:ext>
                </a:extLst>
              </a:tr>
              <a:tr h="560609">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1</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）智取櫃費用</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BlToTr w="6350" cap="flat" cmpd="sng" algn="ctr">
                      <a:solidFill>
                        <a:srgbClr val="000000"/>
                      </a:solidFill>
                      <a:prstDash val="solid"/>
                      <a:round/>
                      <a:headEnd type="none" w="med" len="med"/>
                      <a:tailEnd type="none" w="med" len="med"/>
                    </a:lnBlToTr>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1,530,000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2.3%</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a:t>
                      </a: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智取櫃*</a:t>
                      </a: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9</a:t>
                      </a: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櫃（</a:t>
                      </a: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15</a:t>
                      </a: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萬／櫃）</a:t>
                      </a:r>
                      <a:b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b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a:t>
                      </a: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智取櫃零件維修保固零件</a:t>
                      </a: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每櫃</a:t>
                      </a: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20,000*9=180,000)</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1103743"/>
                  </a:ext>
                </a:extLst>
              </a:tr>
              <a:tr h="560609">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2</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）其他費用</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fontAlgn="ct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23,408,618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35.0%</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1.2025/01</a:t>
                      </a:r>
                      <a: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t>氣價</a:t>
                      </a: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18.705</a:t>
                      </a:r>
                      <a: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t>元、</a:t>
                      </a: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2026/01</a:t>
                      </a:r>
                      <a: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t>氣價</a:t>
                      </a: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22.355</a:t>
                      </a:r>
                      <a: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t>元 調漲</a:t>
                      </a: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20%</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8111685"/>
                  </a:ext>
                </a:extLst>
              </a:tr>
              <a:tr h="560609">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1.1.</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營業成本</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_</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小計</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2,187,252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24,938,618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37.3%</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801442083"/>
                  </a:ext>
                </a:extLst>
              </a:tr>
              <a:tr h="254822">
                <a:tc gridSpan="5">
                  <a:txBody>
                    <a:bodyPr/>
                    <a:lstStyle/>
                    <a:p>
                      <a:pPr algn="l" fontAlgn="ct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2.</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費用支出</a:t>
                      </a:r>
                    </a:p>
                  </a:txBody>
                  <a:tcPr marL="4618" marR="4618" marT="461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256556683"/>
                  </a:ext>
                </a:extLst>
              </a:tr>
              <a:tr h="254822">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1</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）軟體開發</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BlToTr w="6350" cap="flat" cmpd="sng" algn="ctr">
                      <a:solidFill>
                        <a:srgbClr val="000000"/>
                      </a:solidFill>
                      <a:prstDash val="solid"/>
                      <a:round/>
                      <a:headEnd type="none" w="med" len="med"/>
                      <a:tailEnd type="none" w="med" len="med"/>
                    </a:lnBlToTr>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692,176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1.2026</a:t>
                      </a: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預估總額</a:t>
                      </a: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250</a:t>
                      </a: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萬</a:t>
                      </a: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軟體開發創意加</a:t>
                      </a: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7308323"/>
                  </a:ext>
                </a:extLst>
              </a:tr>
              <a:tr h="254822">
                <a:tc>
                  <a:txBody>
                    <a:bodyPr/>
                    <a:lstStyle/>
                    <a:p>
                      <a:pPr algn="l"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2</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）顧問費用</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1,257,400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1.9%</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1768288"/>
                  </a:ext>
                </a:extLst>
              </a:tr>
              <a:tr h="254822">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3</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）差旅費用</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437,032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0.7%</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7107527"/>
                  </a:ext>
                </a:extLst>
              </a:tr>
              <a:tr h="254822">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4</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）其他費用</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fontAlgn="ct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34,784,320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52.0%</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6294583"/>
                  </a:ext>
                </a:extLst>
              </a:tr>
              <a:tr h="254822">
                <a:tc>
                  <a:txBody>
                    <a:bodyPr/>
                    <a:lstStyle/>
                    <a:p>
                      <a:pPr algn="l"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2.1.</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固定成本</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_</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小計</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2,187,252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37,170,928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55.6%</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046384342"/>
                  </a:ext>
                </a:extLst>
              </a:tr>
              <a:tr h="254822">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1</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）雜資費用</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BlToTr w="6350" cap="flat" cmpd="sng" algn="ctr">
                      <a:solidFill>
                        <a:srgbClr val="000000"/>
                      </a:solidFill>
                      <a:prstDash val="solid"/>
                      <a:round/>
                      <a:headEnd type="none" w="med" len="med"/>
                      <a:tailEnd type="none" w="med" len="med"/>
                    </a:lnBlToTr>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210,681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0.3%</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智取櫃監視器</a:t>
                      </a: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20,000*5</a:t>
                      </a: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櫃</a:t>
                      </a: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=100,000</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7037045"/>
                  </a:ext>
                </a:extLst>
              </a:tr>
              <a:tr h="254822">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2</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）其他費用</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zh-TW" altLang="en-US"/>
                    </a:p>
                  </a:txBody>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2,929,631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4.4%</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241554"/>
                  </a:ext>
                </a:extLst>
              </a:tr>
              <a:tr h="254822">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2.1.</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變動成本</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_</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小計</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234,693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3,140,312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4.7%</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1482660475"/>
                  </a:ext>
                </a:extLst>
              </a:tr>
              <a:tr h="254822">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2.2.</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營業外費用</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_</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小計</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169,405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1,632,613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2.4%</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zh-TW" altLang="en-US" sz="12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927924942"/>
                  </a:ext>
                </a:extLst>
              </a:tr>
              <a:tr h="254822">
                <a:tc>
                  <a:txBody>
                    <a:bodyPr/>
                    <a:lstStyle/>
                    <a:p>
                      <a:pPr algn="l"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總預算支出費用</a:t>
                      </a:r>
                    </a:p>
                  </a:txBody>
                  <a:tcPr marL="4618" marR="4618" marT="461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4,778,602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altLang="zh-TW" sz="1200" b="0" i="0" u="none" strike="noStrike">
                          <a:solidFill>
                            <a:srgbClr val="000000"/>
                          </a:solidFill>
                          <a:effectLst/>
                          <a:latin typeface="微軟正黑體" panose="020B0604030504040204" pitchFamily="34" charset="-120"/>
                          <a:ea typeface="微軟正黑體" panose="020B0604030504040204" pitchFamily="34" charset="-120"/>
                        </a:rPr>
                        <a:t>66,882,471 </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100.0%</a:t>
                      </a:r>
                    </a:p>
                  </a:txBody>
                  <a:tcPr marL="4618" marR="4618" marT="4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4618" marR="4618" marT="461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1361727315"/>
                  </a:ext>
                </a:extLst>
              </a:tr>
            </a:tbl>
          </a:graphicData>
        </a:graphic>
      </p:graphicFrame>
    </p:spTree>
    <p:extLst>
      <p:ext uri="{BB962C8B-B14F-4D97-AF65-F5344CB8AC3E}">
        <p14:creationId xmlns:p14="http://schemas.microsoft.com/office/powerpoint/2010/main" val="3327543029"/>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C8677-1053-F628-FE1B-80000575823C}"/>
            </a:ext>
          </a:extLst>
        </p:cNvPr>
        <p:cNvGrpSpPr/>
        <p:nvPr/>
      </p:nvGrpSpPr>
      <p:grpSpPr>
        <a:xfrm>
          <a:off x="0" y="0"/>
          <a:ext cx="0" cy="0"/>
          <a:chOff x="0" y="0"/>
          <a:chExt cx="0" cy="0"/>
        </a:xfrm>
      </p:grpSpPr>
      <p:sp>
        <p:nvSpPr>
          <p:cNvPr id="8" name="內容版面配置區 2">
            <a:extLst>
              <a:ext uri="{FF2B5EF4-FFF2-40B4-BE49-F238E27FC236}">
                <a16:creationId xmlns:a16="http://schemas.microsoft.com/office/drawing/2014/main" id="{65D312EB-2631-D94D-6785-D34FEC6B1B14}"/>
              </a:ext>
            </a:extLst>
          </p:cNvPr>
          <p:cNvSpPr txBox="1">
            <a:spLocks/>
          </p:cNvSpPr>
          <p:nvPr/>
        </p:nvSpPr>
        <p:spPr>
          <a:xfrm>
            <a:off x="275994" y="458001"/>
            <a:ext cx="8514857" cy="548680"/>
          </a:xfrm>
          <a:prstGeom prst="rect">
            <a:avLst/>
          </a:prstGeom>
        </p:spPr>
        <p:txBody>
          <a:bodyPr vert="horz" lIns="91440" tIns="45720" rIns="91440" bIns="45720" rtlCol="0" anchor="ctr"/>
          <a:lstStyle>
            <a:defPPr>
              <a:defRPr lang="zh-TW"/>
            </a:defPPr>
            <a:lvl1pPr marL="0" algn="l" defTabSz="914400" rtl="0" eaLnBrk="1" latinLnBrk="0" hangingPunct="1">
              <a:defRPr sz="1200" kern="1200">
                <a:solidFill>
                  <a:schemeClr val="tx1">
                    <a:tint val="75000"/>
                  </a:schemeClr>
                </a:solidFill>
                <a:latin typeface="微軟正黑體" pitchFamily="34" charset="-120"/>
                <a:ea typeface="微軟正黑體"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TW" altLang="en-US" sz="2800" b="1" dirty="0">
                <a:solidFill>
                  <a:schemeClr val="tx1"/>
                </a:solidFill>
              </a:rPr>
              <a:t>十八</a:t>
            </a:r>
            <a:r>
              <a:rPr lang="en-US" altLang="zh-TW" sz="2800" b="1" dirty="0">
                <a:solidFill>
                  <a:schemeClr val="tx1"/>
                </a:solidFill>
              </a:rPr>
              <a:t>、</a:t>
            </a:r>
            <a:r>
              <a:rPr lang="zh-TW" altLang="en-US" sz="2800" b="1" dirty="0">
                <a:solidFill>
                  <a:schemeClr val="tx1"/>
                </a:solidFill>
              </a:rPr>
              <a:t>結語</a:t>
            </a:r>
            <a:endParaRPr lang="en-US" altLang="zh-TW" sz="2800" b="1" dirty="0">
              <a:solidFill>
                <a:schemeClr val="tx1"/>
              </a:solidFill>
            </a:endParaRPr>
          </a:p>
        </p:txBody>
      </p:sp>
      <p:sp>
        <p:nvSpPr>
          <p:cNvPr id="15" name="文字方塊 14">
            <a:extLst>
              <a:ext uri="{FF2B5EF4-FFF2-40B4-BE49-F238E27FC236}">
                <a16:creationId xmlns:a16="http://schemas.microsoft.com/office/drawing/2014/main" id="{39244C3A-B7A3-2FBC-C719-08A586108E92}"/>
              </a:ext>
            </a:extLst>
          </p:cNvPr>
          <p:cNvSpPr txBox="1"/>
          <p:nvPr/>
        </p:nvSpPr>
        <p:spPr>
          <a:xfrm>
            <a:off x="387350" y="1601329"/>
            <a:ext cx="11537950" cy="3585597"/>
          </a:xfrm>
          <a:prstGeom prst="rect">
            <a:avLst/>
          </a:prstGeom>
          <a:noFill/>
        </p:spPr>
        <p:txBody>
          <a:bodyPr wrap="square">
            <a:spAutoFit/>
          </a:bodyPr>
          <a:lstStyle/>
          <a:p>
            <a:pPr marL="304800">
              <a:spcBef>
                <a:spcPts val="600"/>
              </a:spcBef>
              <a:spcAft>
                <a:spcPts val="0"/>
              </a:spcAft>
              <a:buNone/>
            </a:pPr>
            <a:endParaRPr lang="zh-TW" alt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800100" lvl="1" indent="-342900">
              <a:spcBef>
                <a:spcPts val="600"/>
              </a:spcBef>
              <a:spcAft>
                <a:spcPts val="0"/>
              </a:spcAft>
              <a:buSzPts val="1000"/>
              <a:buFont typeface="Symbol" panose="05050102010706020507" pitchFamily="18" charset="2"/>
              <a:buChar char=""/>
              <a:tabLst>
                <a:tab pos="762000" algn="l"/>
              </a:tabLst>
            </a:pPr>
            <a:r>
              <a:rPr lang="zh-TW"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總收入</a:t>
            </a:r>
            <a:r>
              <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 $58,950,868-</a:t>
            </a:r>
            <a:r>
              <a:rPr lang="zh-TW"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總成本</a:t>
            </a:r>
            <a:r>
              <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66,882,471</a:t>
            </a:r>
            <a:r>
              <a:rPr lang="en-US"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 </a:t>
            </a:r>
            <a:r>
              <a:rPr lang="en-US" altLang="zh-TW" sz="2400" b="1" kern="1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$-7,931,603</a:t>
            </a:r>
            <a:r>
              <a:rPr lang="zh-TW" altLang="en-US" sz="2400" b="1" kern="100" dirty="0">
                <a:latin typeface="微軟正黑體" panose="020B0604030504040204" pitchFamily="34" charset="-120"/>
                <a:ea typeface="微軟正黑體" panose="020B0604030504040204" pitchFamily="34" charset="-120"/>
                <a:cs typeface="Times New Roman" panose="02020603050405020304" pitchFamily="18" charset="0"/>
              </a:rPr>
              <a:t>（稅前）</a:t>
            </a:r>
            <a:endParaRPr lang="zh-TW" altLang="zh-TW" sz="2400"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800100" lvl="1" indent="-342900">
              <a:spcBef>
                <a:spcPts val="600"/>
              </a:spcBef>
              <a:spcAft>
                <a:spcPts val="0"/>
              </a:spcAft>
              <a:buSzPts val="1000"/>
              <a:buFont typeface="Symbol" panose="05050102010706020507" pitchFamily="18" charset="2"/>
              <a:buChar char=""/>
              <a:tabLst>
                <a:tab pos="762000" algn="l"/>
              </a:tabLst>
            </a:pPr>
            <a:r>
              <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EBITDA</a:t>
            </a:r>
            <a:r>
              <a:rPr lang="zh-TW"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（排除利息費用</a:t>
            </a:r>
            <a:r>
              <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折舊</a:t>
            </a:r>
            <a:r>
              <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各項攤提）</a:t>
            </a:r>
            <a:r>
              <a:rPr lang="en-US" altLang="zh-TW" sz="2400" b="1" kern="100" dirty="0">
                <a:solidFill>
                  <a:srgbClr val="0000FF"/>
                </a:solidFill>
                <a:effectLst/>
                <a:latin typeface="微軟正黑體" panose="020B0604030504040204" pitchFamily="34" charset="-120"/>
                <a:ea typeface="微軟正黑體" panose="020B0604030504040204" pitchFamily="34" charset="-120"/>
                <a:cs typeface="Times New Roman" panose="02020603050405020304" pitchFamily="18" charset="0"/>
              </a:rPr>
              <a:t>=$229,911</a:t>
            </a:r>
          </a:p>
          <a:p>
            <a:pPr marL="800100" lvl="1" indent="-342900">
              <a:spcBef>
                <a:spcPts val="600"/>
              </a:spcBef>
              <a:spcAft>
                <a:spcPts val="0"/>
              </a:spcAft>
              <a:buSzPts val="1000"/>
              <a:buFont typeface="Symbol" panose="05050102010706020507" pitchFamily="18" charset="2"/>
              <a:buChar char=""/>
              <a:tabLst>
                <a:tab pos="762000" algn="l"/>
              </a:tabLst>
            </a:pPr>
            <a:r>
              <a:rPr lang="zh-TW" altLang="en-US" sz="2400" b="1" kern="100" dirty="0">
                <a:latin typeface="微軟正黑體" panose="020B0604030504040204" pitchFamily="34" charset="-120"/>
                <a:ea typeface="微軟正黑體" panose="020B0604030504040204" pitchFamily="34" charset="-120"/>
                <a:cs typeface="Times New Roman" panose="02020603050405020304" pitchFamily="18" charset="0"/>
              </a:rPr>
              <a:t>自己自足（</a:t>
            </a:r>
            <a:r>
              <a:rPr lang="zh-TW"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排除折舊</a:t>
            </a:r>
            <a:r>
              <a:rPr lang="en-US"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各項攤提</a:t>
            </a:r>
            <a:r>
              <a:rPr lang="zh-TW" altLang="en-US" sz="2400" b="1" kern="1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b="1" kern="100" dirty="0">
                <a:solidFill>
                  <a:srgbClr val="FF0000"/>
                </a:solidFill>
                <a:latin typeface="微軟正黑體" panose="020B0604030504040204" pitchFamily="34" charset="-120"/>
                <a:ea typeface="微軟正黑體" panose="020B0604030504040204" pitchFamily="34" charset="-120"/>
                <a:cs typeface="Times New Roman" panose="02020603050405020304" pitchFamily="18" charset="0"/>
              </a:rPr>
              <a:t>=$ -1,332,702</a:t>
            </a:r>
          </a:p>
          <a:p>
            <a:pPr marL="800100" lvl="1" indent="-342900">
              <a:spcBef>
                <a:spcPts val="600"/>
              </a:spcBef>
              <a:spcAft>
                <a:spcPts val="0"/>
              </a:spcAft>
              <a:buSzPts val="1000"/>
              <a:buFont typeface="Symbol" panose="05050102010706020507" pitchFamily="18" charset="2"/>
              <a:buChar char=""/>
              <a:tabLst>
                <a:tab pos="762000" algn="l"/>
              </a:tabLst>
            </a:pPr>
            <a:r>
              <a:rPr lang="zh-TW" altLang="en-US" sz="2400" b="1" kern="100" dirty="0">
                <a:latin typeface="微軟正黑體" panose="020B0604030504040204" pitchFamily="34" charset="-120"/>
                <a:ea typeface="微軟正黑體" panose="020B0604030504040204" pitchFamily="34" charset="-120"/>
                <a:cs typeface="Times New Roman" panose="02020603050405020304" pitchFamily="18" charset="0"/>
              </a:rPr>
              <a:t>預估收入須達到</a:t>
            </a:r>
            <a:r>
              <a:rPr lang="en-US"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$60,283,570</a:t>
            </a:r>
            <a:endPar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800100" lvl="1" indent="-342900">
              <a:spcBef>
                <a:spcPts val="600"/>
              </a:spcBef>
              <a:spcAft>
                <a:spcPts val="0"/>
              </a:spcAft>
              <a:buSzPts val="1000"/>
              <a:buFont typeface="Symbol" panose="05050102010706020507" pitchFamily="18" charset="2"/>
              <a:buChar char=""/>
              <a:tabLst>
                <a:tab pos="762000" algn="l"/>
              </a:tabLst>
            </a:pPr>
            <a:r>
              <a:rPr lang="zh-TW"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總</a:t>
            </a:r>
            <a:r>
              <a:rPr lang="zh-TW" altLang="en-US" sz="2400" b="1" kern="100" dirty="0">
                <a:latin typeface="微軟正黑體" panose="020B0604030504040204" pitchFamily="34" charset="-120"/>
                <a:ea typeface="微軟正黑體" panose="020B0604030504040204" pitchFamily="34" charset="-120"/>
                <a:cs typeface="Times New Roman" panose="02020603050405020304" pitchFamily="18" charset="0"/>
              </a:rPr>
              <a:t>成本</a:t>
            </a:r>
            <a:r>
              <a:rPr lang="en-US"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 $ 66,882,471 -</a:t>
            </a:r>
            <a:r>
              <a:rPr lang="en-US" altLang="zh-TW" sz="2400" dirty="0">
                <a:solidFill>
                  <a:srgbClr val="000000"/>
                </a:solidFill>
                <a:latin typeface="微軟正黑體" panose="020B0604030504040204" pitchFamily="34" charset="-120"/>
                <a:ea typeface="微軟正黑體" panose="020B0604030504040204" pitchFamily="34" charset="-120"/>
              </a:rPr>
              <a:t> </a:t>
            </a:r>
            <a:r>
              <a:rPr lang="zh-TW" altLang="en-US" sz="2400" b="1" kern="100" dirty="0">
                <a:latin typeface="微軟正黑體" panose="020B0604030504040204" pitchFamily="34" charset="-120"/>
                <a:ea typeface="微軟正黑體" panose="020B0604030504040204" pitchFamily="34" charset="-120"/>
                <a:cs typeface="Times New Roman" panose="02020603050405020304" pitchFamily="18" charset="0"/>
              </a:rPr>
              <a:t>氣體</a:t>
            </a:r>
            <a:r>
              <a:rPr lang="zh-TW"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成本</a:t>
            </a:r>
            <a:r>
              <a:rPr lang="en-US"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 $23,408,618= $43,473,853</a:t>
            </a:r>
            <a:endParaRPr lang="zh-TW" altLang="zh-TW" sz="2400" kern="100" dirty="0">
              <a:solidFill>
                <a:srgbClr val="0000FF"/>
              </a:solidFill>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761365">
              <a:spcBef>
                <a:spcPts val="600"/>
              </a:spcBef>
              <a:spcAft>
                <a:spcPts val="0"/>
              </a:spcAft>
              <a:buNone/>
            </a:pPr>
            <a:r>
              <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（以衡量公司核心經營業務的獲利能力。它排除利息、稅項、折舊及攤銷等</a:t>
            </a:r>
            <a:endPar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a:p>
            <a:pPr marL="761365">
              <a:spcBef>
                <a:spcPts val="600"/>
              </a:spcBef>
              <a:spcAft>
                <a:spcPts val="0"/>
              </a:spcAft>
              <a:buNone/>
            </a:pPr>
            <a:r>
              <a:rPr lang="en-US" altLang="zh-TW" sz="2400" b="1" kern="100" dirty="0">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rPr>
              <a:t>非現金或非經營性因素，反映企業實際產生現金流的能）</a:t>
            </a:r>
            <a:endParaRPr lang="en-US" altLang="zh-TW" sz="2400" b="1" kern="100" dirty="0">
              <a:effectLst/>
              <a:latin typeface="微軟正黑體" panose="020B0604030504040204" pitchFamily="34" charset="-120"/>
              <a:ea typeface="微軟正黑體"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3748259346"/>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629598" y="1916549"/>
            <a:ext cx="7488832" cy="1143000"/>
          </a:xfrm>
        </p:spPr>
        <p:txBody>
          <a:bodyPr>
            <a:normAutofit fontScale="90000"/>
          </a:bodyPr>
          <a:lstStyle/>
          <a:p>
            <a:r>
              <a:rPr lang="en-US" altLang="zh-TW" b="1" dirty="0"/>
              <a:t/>
            </a:r>
            <a:br>
              <a:rPr lang="en-US" altLang="zh-TW" b="1" dirty="0"/>
            </a:br>
            <a:r>
              <a:rPr lang="zh-TW" altLang="en-US" b="1" dirty="0"/>
              <a:t/>
            </a:r>
            <a:br>
              <a:rPr lang="zh-TW" altLang="en-US" b="1" dirty="0"/>
            </a:br>
            <a:r>
              <a:rPr lang="zh-TW" altLang="en-US" b="1" dirty="0"/>
              <a:t>敬請指導</a:t>
            </a:r>
            <a:r>
              <a:rPr lang="en-US" altLang="zh-TW" b="1" dirty="0"/>
              <a:t>~</a:t>
            </a:r>
            <a:endParaRPr lang="zh-TW" altLang="en-US" b="1" dirty="0"/>
          </a:p>
        </p:txBody>
      </p:sp>
    </p:spTree>
    <p:extLst>
      <p:ext uri="{BB962C8B-B14F-4D97-AF65-F5344CB8AC3E}">
        <p14:creationId xmlns:p14="http://schemas.microsoft.com/office/powerpoint/2010/main" val="3121336228"/>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sld>
</file>

<file path=ppt/theme/theme1.xml><?xml version="1.0" encoding="utf-8"?>
<a:theme xmlns:a="http://schemas.openxmlformats.org/drawingml/2006/main" name="旺來瓦斯16比9">
  <a:themeElements>
    <a:clrScheme name="氣流">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自訂 1">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旺來瓦斯16比9" id="{8A00C657-BF24-43A8-A7E9-1731264EB073}" vid="{B2216BFC-4DE3-4109-AF9C-6C63D55D1E1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旺來瓦斯16比9</Template>
  <TotalTime>8132</TotalTime>
  <Words>5568</Words>
  <Application>Microsoft Office PowerPoint</Application>
  <PresentationFormat>寬螢幕</PresentationFormat>
  <Paragraphs>1354</Paragraphs>
  <Slides>44</Slides>
  <Notes>29</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44</vt:i4>
      </vt:variant>
    </vt:vector>
  </HeadingPairs>
  <TitlesOfParts>
    <vt:vector size="53" baseType="lpstr">
      <vt:lpstr>Heiti TC Light</vt:lpstr>
      <vt:lpstr>微軟正黑體</vt:lpstr>
      <vt:lpstr>新細明體</vt:lpstr>
      <vt:lpstr>Arial</vt:lpstr>
      <vt:lpstr>Calibri</vt:lpstr>
      <vt:lpstr>Symbol</vt:lpstr>
      <vt:lpstr>Times New Roman</vt:lpstr>
      <vt:lpstr>Wingdings</vt:lpstr>
      <vt:lpstr>旺來瓦斯16比9</vt:lpstr>
      <vt:lpstr>2026營運計畫摘要</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2026策略共識營會議</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  敬請指導~</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WGTC-James洪志偉</dc:creator>
  <cp:lastModifiedBy>TCF10197</cp:lastModifiedBy>
  <cp:revision>500</cp:revision>
  <cp:lastPrinted>2026-02-06T09:51:56Z</cp:lastPrinted>
  <dcterms:created xsi:type="dcterms:W3CDTF">2023-07-21T03:14:29Z</dcterms:created>
  <dcterms:modified xsi:type="dcterms:W3CDTF">2026-03-30T10:17:19Z</dcterms:modified>
</cp:coreProperties>
</file>